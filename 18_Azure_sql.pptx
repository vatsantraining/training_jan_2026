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36"/>
  </p:notesMasterIdLst>
  <p:sldIdLst>
    <p:sldId id="346" r:id="rId2"/>
    <p:sldId id="384" r:id="rId3"/>
    <p:sldId id="386" r:id="rId4"/>
    <p:sldId id="387" r:id="rId5"/>
    <p:sldId id="388" r:id="rId6"/>
    <p:sldId id="389" r:id="rId7"/>
    <p:sldId id="385" r:id="rId8"/>
    <p:sldId id="390" r:id="rId9"/>
    <p:sldId id="391" r:id="rId10"/>
    <p:sldId id="413" r:id="rId11"/>
    <p:sldId id="414" r:id="rId12"/>
    <p:sldId id="392" r:id="rId13"/>
    <p:sldId id="415" r:id="rId14"/>
    <p:sldId id="416" r:id="rId15"/>
    <p:sldId id="393" r:id="rId16"/>
    <p:sldId id="395" r:id="rId17"/>
    <p:sldId id="394" r:id="rId18"/>
    <p:sldId id="396" r:id="rId19"/>
    <p:sldId id="397" r:id="rId20"/>
    <p:sldId id="426" r:id="rId21"/>
    <p:sldId id="417" r:id="rId22"/>
    <p:sldId id="428" r:id="rId23"/>
    <p:sldId id="427" r:id="rId24"/>
    <p:sldId id="429" r:id="rId25"/>
    <p:sldId id="348" r:id="rId26"/>
    <p:sldId id="364" r:id="rId27"/>
    <p:sldId id="365" r:id="rId28"/>
    <p:sldId id="430" r:id="rId29"/>
    <p:sldId id="431" r:id="rId30"/>
    <p:sldId id="433" r:id="rId31"/>
    <p:sldId id="439" r:id="rId32"/>
    <p:sldId id="436" r:id="rId33"/>
    <p:sldId id="440" r:id="rId34"/>
    <p:sldId id="437" r:id="rId35"/>
  </p:sldIdLst>
  <p:sldSz cx="9144000" cy="6858000" type="screen4x3"/>
  <p:notesSz cx="6858000" cy="9144000"/>
  <p:custShowLst>
    <p:custShow name="Sapient" id="0">
      <p:sldLst>
        <p:sld r:id="rId2"/>
      </p:sldLst>
    </p:custShow>
  </p:custShow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50" autoAdjust="0"/>
    <p:restoredTop sz="92877" autoAdjust="0"/>
  </p:normalViewPr>
  <p:slideViewPr>
    <p:cSldViewPr>
      <p:cViewPr varScale="1">
        <p:scale>
          <a:sx n="104" d="100"/>
          <a:sy n="104" d="100"/>
        </p:scale>
        <p:origin x="512" y="4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5946"/>
    </p:cViewPr>
  </p:sorterViewPr>
  <p:notesViewPr>
    <p:cSldViewPr>
      <p:cViewPr varScale="1">
        <p:scale>
          <a:sx n="96" d="100"/>
          <a:sy n="96" d="100"/>
        </p:scale>
        <p:origin x="3808" y="17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90CDA7B5-84CE-BC47-35D0-6DAA7DD1501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925E5A4F-6E95-0E9D-B761-4A06DECDEA8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2F489A6A-4A57-44DB-3420-BEF67A16CC5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989" name="Rectangle 5">
            <a:extLst>
              <a:ext uri="{FF2B5EF4-FFF2-40B4-BE49-F238E27FC236}">
                <a16:creationId xmlns:a16="http://schemas.microsoft.com/office/drawing/2014/main" id="{8FF7DFC6-0E08-123C-D2D2-3A0864B8C4B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990" name="Rectangle 6">
            <a:extLst>
              <a:ext uri="{FF2B5EF4-FFF2-40B4-BE49-F238E27FC236}">
                <a16:creationId xmlns:a16="http://schemas.microsoft.com/office/drawing/2014/main" id="{E5E5608D-8B4D-1E5C-F069-773EC60B3DE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91" name="Rectangle 7">
            <a:extLst>
              <a:ext uri="{FF2B5EF4-FFF2-40B4-BE49-F238E27FC236}">
                <a16:creationId xmlns:a16="http://schemas.microsoft.com/office/drawing/2014/main" id="{14E89883-9BEC-C3E2-5012-04091FD1EE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anose="02020603050405020304" pitchFamily="18" charset="0"/>
              </a:defRPr>
            </a:lvl1pPr>
          </a:lstStyle>
          <a:p>
            <a:fld id="{798EC9C9-27F2-834F-ADEB-508D93780CE3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>
            <a:extLst>
              <a:ext uri="{FF2B5EF4-FFF2-40B4-BE49-F238E27FC236}">
                <a16:creationId xmlns:a16="http://schemas.microsoft.com/office/drawing/2014/main" id="{13762CB0-E251-CC46-3886-C84D2B554A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3AE99FB-ED68-A34A-9F5F-9CF286948CBD}" type="slidenum">
              <a:rPr lang="en-US" altLang="en-US">
                <a:latin typeface="Times New Roman" panose="02020603050405020304" pitchFamily="18" charset="0"/>
              </a:rPr>
              <a:pPr/>
              <a:t>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F29D4B73-C845-44F1-4451-48D745E0E2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A2FBF9D2-FC21-A2FA-F0E2-5E239C5A62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10102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59795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3237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IN" dirty="0"/>
            </a:br>
            <a:endParaRPr lang="en-I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0588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84802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24037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74810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39952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284994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88520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EC9C9-27F2-834F-ADEB-508D93780CE3}" type="slidenum">
              <a:rPr lang="en-US" altLang="en-US" smtClean="0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6116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77308B0-7116-22B3-CAC1-869DFBAA8DB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57C3D1B-C534-DC8B-5CD6-5DDEDD2C3DB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71E0B38-EDD9-ED15-A95A-E85DCEF7E3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AAD7466-95B0-BD45-9E72-7B3AAF92860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20885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C0A22B-7453-B45F-3E63-A6611A6E25C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2439FE0-5FEA-8733-09A9-E2A023219E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79357CF-BB8E-7568-093B-9FF0F4DEAD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3FD749D-B6D1-D747-B0B5-F3CFA98827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01699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72974AC-D2EA-66CB-6871-28D2186D9B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E47E1DA-71B8-F1CB-B6C0-D445AB9CFD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4C7A3D-CB4C-9F16-DE06-FEB67D2AA7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23E4FFD-09B0-9C45-B5E7-034E3C2773F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74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9BE95A-E3AF-F499-6855-2DE6287EEF0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F3176B-F025-5242-D94E-758A320643A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C04A4-DEB3-E4DD-05C4-1002A206E38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6C4D83-8D77-1D42-A1CF-9A4D8660CD9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0214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AECD182-CF33-86BF-F682-E33A1593A68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0527739-3DEB-CDBC-0466-A3372F86AE4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99434FE-4CFC-6214-29D1-893A70EAC1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C28968C-3380-1F48-ABFD-5B99F06F17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6924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1C4C512-90B9-81EE-EE23-0CAE4F0852C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C1BB4F57-64F8-8DAD-4BCB-9AB7B7BDB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E9C09C0-C592-E1A7-C1D3-A110BBDD3A1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9843002-F668-1C44-BAAE-39E2C1B1811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0243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FBF7B4E-0153-8C06-FF97-39FB5C30B6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75E3409-8C2C-7F79-9AB1-2D96A00A8ED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E8103D3-8F4B-3E8F-57A2-BA8701F8FC5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DE55D2-0803-C84E-B34D-8549E3B204E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57964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99C02-44DD-5B6B-B8CF-B179E376E71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61AC9-D2FB-C975-FA1B-07A9B6ADCBA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40EF96-03FD-1513-401A-AD3B6290CED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82828D-D58D-7641-9692-FE73173E914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94374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3E0E9B-573E-FCD5-A2DA-95F981718F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D9F6F4-F72F-63B9-0CFD-423085EB91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9F9B3-884B-BE8B-411A-C160AFD572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099C85-02A6-6C4E-B78C-FE6BCA97326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94659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897240-C485-25E9-C5E2-B3E0A66CA2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FAE86A3-3F29-0CFF-32ED-A2E62B85D3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D2220FD-0382-B8A6-9EE7-4F6026EC77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2283400-0731-A644-86F2-E20758159D0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0048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668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668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D1EC350-9940-1952-F7D3-EBCFA3C361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3F822E2-DC45-9B97-4277-42CBD9B6DB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7CBCA66-86F2-9D21-99FB-14BB9A9CBE9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C14290F-5370-5640-947F-DF08625C786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6193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4111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66963-F02C-3730-6D7F-C121CF7FAE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D77869-C2EB-37BD-DA32-DD37EDFBE98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029F74-3BC1-7811-1DE9-BE40637A0BF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C01076C-9A1A-A942-855A-A79876A8C82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4997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63D92BE-0FC4-E037-6A6C-AE0C11C600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86FFE1C-6218-096D-2C1C-46049C1B74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66800"/>
            <a:ext cx="8229600" cy="505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</p:txBody>
      </p:sp>
      <p:sp>
        <p:nvSpPr>
          <p:cNvPr id="94212" name="Rectangle 4">
            <a:extLst>
              <a:ext uri="{FF2B5EF4-FFF2-40B4-BE49-F238E27FC236}">
                <a16:creationId xmlns:a16="http://schemas.microsoft.com/office/drawing/2014/main" id="{664851DD-301D-FE7D-29F9-8E76C2B226B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3" name="Rectangle 5">
            <a:extLst>
              <a:ext uri="{FF2B5EF4-FFF2-40B4-BE49-F238E27FC236}">
                <a16:creationId xmlns:a16="http://schemas.microsoft.com/office/drawing/2014/main" id="{210EE37A-DCAC-DBA1-4995-6E19A3585D7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4" name="Rectangle 6">
            <a:extLst>
              <a:ext uri="{FF2B5EF4-FFF2-40B4-BE49-F238E27FC236}">
                <a16:creationId xmlns:a16="http://schemas.microsoft.com/office/drawing/2014/main" id="{EB3FAC77-888F-2FCB-37DC-906887BAA76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236E1D96-7EE2-174C-95ED-BBBA2B0E29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azure.microsoft.com/en-us/product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B7DCAC4C-DE7D-CF98-BC47-D17765C9F03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Azure Databases and Data Services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2EC2C837-DF3F-EB2C-ABDB-925A15BCB54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 err="1"/>
              <a:t>K.Srivatsan</a:t>
            </a:r>
            <a:endParaRPr lang="en-US" altLang="en-US" sz="1800" dirty="0"/>
          </a:p>
          <a:p>
            <a:pPr eaLnBrk="1" hangingPunct="1"/>
            <a:endParaRPr lang="en-US" alt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20372-A238-0E72-279B-1F491887C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Computing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1F949-54EC-5AA1-A6A5-00E73E05F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Computing service availed over the Internet to host and run applications. </a:t>
            </a:r>
          </a:p>
          <a:p>
            <a:r>
              <a:rPr lang="en-IN" sz="2000" dirty="0"/>
              <a:t>Blocks of Cloud Computing</a:t>
            </a:r>
          </a:p>
          <a:p>
            <a:pPr lvl="1"/>
            <a:r>
              <a:rPr lang="en-IN" sz="1800" b="1" dirty="0"/>
              <a:t>Compute</a:t>
            </a:r>
            <a:r>
              <a:rPr lang="en-IN" sz="1800" dirty="0"/>
              <a:t>, </a:t>
            </a:r>
            <a:r>
              <a:rPr lang="en-IN" sz="1800" b="1" dirty="0"/>
              <a:t>Storage</a:t>
            </a:r>
            <a:r>
              <a:rPr lang="en-IN" sz="1800" dirty="0"/>
              <a:t>, </a:t>
            </a:r>
            <a:r>
              <a:rPr lang="en-IN" sz="1800" b="1" dirty="0"/>
              <a:t>Database</a:t>
            </a:r>
            <a:r>
              <a:rPr lang="en-IN" sz="1800" dirty="0"/>
              <a:t>, </a:t>
            </a:r>
            <a:r>
              <a:rPr lang="en-IN" sz="1800" b="1" dirty="0"/>
              <a:t>Networking</a:t>
            </a:r>
            <a:r>
              <a:rPr lang="en-IN" sz="1800" dirty="0"/>
              <a:t>, and </a:t>
            </a:r>
            <a:r>
              <a:rPr lang="en-IN" sz="1800" b="1" dirty="0"/>
              <a:t>Security</a:t>
            </a:r>
            <a:r>
              <a:rPr lang="en-IN" sz="1800" dirty="0"/>
              <a:t>. </a:t>
            </a:r>
          </a:p>
          <a:p>
            <a:r>
              <a:rPr lang="en-IN" sz="2000" b="1" dirty="0"/>
              <a:t>“cloud” 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Refers to the underlying network or servers that run web applications, database, and many others. 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Servers are  hosted on data canters around the world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Cloud service provider will be responsible for managing the underlying infrastructure that runs your websites. 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886230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96F1-BF35-CFF4-57D9-C3C455F1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Characteristics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1BB55-3ABB-FC46-39B6-E0EFD5C40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Agility</a:t>
            </a:r>
          </a:p>
          <a:p>
            <a:pPr lvl="1"/>
            <a:r>
              <a:rPr lang="en-IN" sz="2000" dirty="0"/>
              <a:t>To quickly adapt and deploy services in the most cost effective way in response to changes in business requirements.</a:t>
            </a:r>
          </a:p>
          <a:p>
            <a:r>
              <a:rPr lang="en-IN" sz="2000" b="1" dirty="0"/>
              <a:t>Elasticity</a:t>
            </a:r>
          </a:p>
          <a:p>
            <a:pPr lvl="1"/>
            <a:r>
              <a:rPr lang="en-IN" sz="2000" dirty="0"/>
              <a:t>It allows resources to adjust quickly and to scale back and forth as the business capacity and needs change.</a:t>
            </a:r>
          </a:p>
          <a:p>
            <a:r>
              <a:rPr lang="en-IN" sz="2000" b="1" dirty="0"/>
              <a:t>Cost Savings</a:t>
            </a:r>
          </a:p>
          <a:p>
            <a:pPr lvl="1"/>
            <a:r>
              <a:rPr lang="en-IN" sz="2000" dirty="0"/>
              <a:t>Instead of building and managing own data centre and physical servers, pay only the amount you consume.</a:t>
            </a:r>
          </a:p>
          <a:p>
            <a:r>
              <a:rPr lang="en-IN" sz="2000" b="1" dirty="0"/>
              <a:t>Deploy Globally in Minutes</a:t>
            </a:r>
          </a:p>
          <a:p>
            <a:pPr lvl="1"/>
            <a:r>
              <a:rPr lang="en-IN" sz="2000" dirty="0"/>
              <a:t>Can quickly deploy application to different locations and enhance the experience of users with reduced latency.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4141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1E598-9552-0A55-30C4-907A38471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DEEED-1B3B-ADC4-739D-1F21E3CD2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lvl="1"/>
            <a:r>
              <a:rPr lang="en-IN" sz="2000" dirty="0"/>
              <a:t>Resources are owned and operated by a third-party providers</a:t>
            </a:r>
          </a:p>
          <a:p>
            <a:pPr lvl="1"/>
            <a:r>
              <a:rPr lang="en-IN" sz="2000" dirty="0"/>
              <a:t>AWS, Azure, Google Cloud </a:t>
            </a:r>
          </a:p>
          <a:p>
            <a:pPr lvl="1"/>
            <a:r>
              <a:rPr lang="en-IN" sz="2000" dirty="0"/>
              <a:t>Delivered over the internet.</a:t>
            </a:r>
          </a:p>
          <a:p>
            <a:pPr lvl="1"/>
            <a:endParaRPr lang="en-IN" sz="2000" dirty="0"/>
          </a:p>
          <a:p>
            <a:r>
              <a:rPr lang="en-IN" sz="2000" b="1" dirty="0"/>
              <a:t>Pros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High scalability, cost-effective (pay-as-you-go), </a:t>
            </a:r>
          </a:p>
          <a:p>
            <a:pPr lvl="1"/>
            <a:r>
              <a:rPr lang="en-IN" sz="2000" dirty="0"/>
              <a:t>low maintenance, rapid deployment.</a:t>
            </a:r>
          </a:p>
          <a:p>
            <a:pPr marL="457200" lvl="1" indent="0">
              <a:buNone/>
            </a:pPr>
            <a:endParaRPr lang="en-IN" sz="2000" dirty="0"/>
          </a:p>
          <a:p>
            <a:r>
              <a:rPr lang="en-IN" sz="2000" b="1" dirty="0"/>
              <a:t>Cons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Less control, shared infrastructure raises potential security/compliance concerns.</a:t>
            </a:r>
          </a:p>
          <a:p>
            <a:r>
              <a:rPr lang="en-IN" sz="2000" b="1" dirty="0"/>
              <a:t>Use Case</a:t>
            </a:r>
            <a:endParaRPr lang="en-IN" sz="2000" dirty="0"/>
          </a:p>
          <a:p>
            <a:pPr lvl="1"/>
            <a:r>
              <a:rPr lang="en-IN" sz="2000" dirty="0"/>
              <a:t>Web apps, development/testing, fluctuating demand.</a:t>
            </a:r>
          </a:p>
          <a:p>
            <a:pPr marL="0" indent="0">
              <a:buNone/>
            </a:pPr>
            <a:br>
              <a:rPr lang="en-IN" sz="2000" dirty="0"/>
            </a:br>
            <a:endParaRPr lang="en-IN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14345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EF371-E636-A272-2505-2B5EF8481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Private Cloud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B4C1B-6301-B7BC-D17C-DBFD70B5B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IN" sz="1800" dirty="0"/>
              <a:t>Built and used exclusively by a single organization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On-premises or in a dedicated third-party environment.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Pros</a:t>
            </a:r>
            <a:r>
              <a:rPr lang="en-IN" sz="1800" dirty="0"/>
              <a:t>: 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Maximum control, high security, full customization, data sovereignty.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Cons</a:t>
            </a:r>
            <a:r>
              <a:rPr lang="en-IN" sz="1800" dirty="0"/>
              <a:t>: 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Higher costs (Capex), more management responsibility, limited scalability compared to public.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Use Case</a:t>
            </a:r>
            <a:endParaRPr lang="en-IN" sz="1800" dirty="0"/>
          </a:p>
          <a:p>
            <a:pPr lvl="1">
              <a:lnSpc>
                <a:spcPct val="150000"/>
              </a:lnSpc>
            </a:pPr>
            <a:r>
              <a:rPr lang="en-IN" sz="1800" dirty="0"/>
              <a:t>Sensitive data, strict compliance, mission-critical systems.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38643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0D09-0348-9504-58D4-9D064CB85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IN" b="1" dirty="0"/>
            </a:br>
            <a:r>
              <a:rPr lang="en-IN" b="1" dirty="0"/>
              <a:t>Hybrid Cloud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CEA4F-C23C-5158-9FBB-542821288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Definition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A mix of public and private clouds</a:t>
            </a:r>
          </a:p>
          <a:p>
            <a:pPr lvl="1"/>
            <a:r>
              <a:rPr lang="en-IN" sz="2000" dirty="0"/>
              <a:t>Data and applications to move between them</a:t>
            </a:r>
          </a:p>
          <a:p>
            <a:pPr lvl="1"/>
            <a:r>
              <a:rPr lang="en-IN" sz="2000" dirty="0"/>
              <a:t>Functioning as one integrated environment.</a:t>
            </a:r>
          </a:p>
          <a:p>
            <a:r>
              <a:rPr lang="en-IN" sz="2000" b="1" dirty="0"/>
              <a:t>Pros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Flexibility, cost optimization, scalability (bursting to public cloud), improved disaster recovery.</a:t>
            </a:r>
          </a:p>
          <a:p>
            <a:r>
              <a:rPr lang="en-IN" sz="2000" b="1" dirty="0"/>
              <a:t>Cons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More complex to manage and integrate.</a:t>
            </a:r>
          </a:p>
          <a:p>
            <a:r>
              <a:rPr lang="en-IN" sz="2000" b="1" dirty="0"/>
              <a:t>Best For</a:t>
            </a:r>
            <a:r>
              <a:rPr lang="en-IN" sz="2000" dirty="0"/>
              <a:t>: </a:t>
            </a:r>
          </a:p>
          <a:p>
            <a:pPr lvl="1"/>
            <a:r>
              <a:rPr lang="en-IN" sz="2000" dirty="0"/>
              <a:t>Businesses with varied needs (sensitive vs. non-sensitive workloads), unpredictable demands, hybrid IT strategies.</a:t>
            </a:r>
          </a:p>
        </p:txBody>
      </p:sp>
    </p:spTree>
    <p:extLst>
      <p:ext uri="{BB962C8B-B14F-4D97-AF65-F5344CB8AC3E}">
        <p14:creationId xmlns:p14="http://schemas.microsoft.com/office/powerpoint/2010/main" val="1592387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5C2B5-E8F1-22AE-CAD6-B728DBD9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762000"/>
          </a:xfrm>
        </p:spPr>
        <p:txBody>
          <a:bodyPr/>
          <a:lstStyle/>
          <a:p>
            <a:r>
              <a:rPr lang="en-US" b="1" dirty="0"/>
              <a:t>Service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7A387-5946-01DA-C33F-3B7A4DBA7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Infrastructure as a Service (IaaS)</a:t>
            </a:r>
          </a:p>
          <a:p>
            <a:pPr lvl="1"/>
            <a:r>
              <a:rPr lang="en-IN" sz="2000" dirty="0"/>
              <a:t>Full control of infrastructure without the maintenance and operating costs of the servers. </a:t>
            </a:r>
          </a:p>
          <a:p>
            <a:pPr lvl="1"/>
            <a:r>
              <a:rPr lang="en-IN" sz="2000" dirty="0"/>
              <a:t>Provides access to servers, storage, networking, and operating systems.</a:t>
            </a:r>
          </a:p>
          <a:p>
            <a:r>
              <a:rPr lang="en-IN" sz="2000" b="1" dirty="0"/>
              <a:t>Platform as a Service (PaaS) </a:t>
            </a:r>
          </a:p>
          <a:p>
            <a:pPr lvl="1"/>
            <a:r>
              <a:rPr lang="en-IN" sz="2000" dirty="0"/>
              <a:t>Focus on the deployment and management of applications. </a:t>
            </a:r>
          </a:p>
          <a:p>
            <a:pPr lvl="1"/>
            <a:r>
              <a:rPr lang="en-IN" sz="2000" dirty="0"/>
              <a:t>Eliminates the need to manage the underlying infrastructure.</a:t>
            </a:r>
          </a:p>
          <a:p>
            <a:r>
              <a:rPr lang="en-IN" sz="2000" b="1" dirty="0"/>
              <a:t>Software as a Service (SaaS)</a:t>
            </a:r>
          </a:p>
          <a:p>
            <a:pPr lvl="1"/>
            <a:r>
              <a:rPr lang="en-IN" sz="2000" dirty="0"/>
              <a:t>The software is ready to be used and operated by the service provider.</a:t>
            </a:r>
          </a:p>
          <a:p>
            <a:pPr lvl="1"/>
            <a:r>
              <a:rPr lang="en-IN" sz="2000" dirty="0"/>
              <a:t>Known for end-user applications.</a:t>
            </a:r>
          </a:p>
          <a:p>
            <a:pPr marL="0" indent="0"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2972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C1871-7649-6C19-73EB-D40943DEC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Cloud Service Providers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26165-1B78-1F1A-08E8-1B8D2D3B1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dirty="0"/>
              <a:t>A cloud service provider, or CSP, is an IT company that provides on-demand, scalable computing resource over the internet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The big three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Google Cloud, Microsoft Azure, and Amazon Web Services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Smaller or niche players 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IBM, Alibaba, Oracle, Red Hat, </a:t>
            </a:r>
            <a:r>
              <a:rPr lang="en-IN" sz="2000" dirty="0" err="1"/>
              <a:t>DigitalOcean</a:t>
            </a:r>
            <a:r>
              <a:rPr lang="en-IN" sz="2000" dirty="0"/>
              <a:t>, and Rackspace</a:t>
            </a:r>
            <a:br>
              <a:rPr lang="en-IN" sz="2000" dirty="0"/>
            </a:br>
            <a:endParaRPr lang="en-IN" sz="2000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38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A332F-06AB-CDFB-FDB9-4025BC6C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Data Center and Virtualization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CFF6D-9BA0-71E2-89C2-B25B5F308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dirty="0"/>
              <a:t>Data </a:t>
            </a:r>
            <a:r>
              <a:rPr lang="en-IN" sz="2000" dirty="0" err="1"/>
              <a:t>centers</a:t>
            </a:r>
            <a:r>
              <a:rPr lang="en-IN" sz="2000" dirty="0"/>
              <a:t> rely on dedicated physical servers, storage, and networking,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Low resource utilization, high costs, manual management.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Virtualization uses a hypervisor to create virtual machines (VMs)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Allowing multiple, independent, software-based operating systems to run on a single physical machine. </a:t>
            </a:r>
          </a:p>
          <a:p>
            <a:pPr marL="0" indent="0">
              <a:lnSpc>
                <a:spcPct val="150000"/>
              </a:lnSpc>
              <a:buNone/>
            </a:pPr>
            <a:br>
              <a:rPr lang="en-IN" sz="1800" dirty="0"/>
            </a:br>
            <a:br>
              <a:rPr lang="en-IN" sz="1800" dirty="0"/>
            </a:br>
            <a:endParaRPr lang="en-IN" sz="18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82132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80902-F598-6A56-F8AC-D7614902A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Classic and Virtualized Data </a:t>
            </a:r>
            <a:r>
              <a:rPr lang="en-IN" b="1" dirty="0" err="1"/>
              <a:t>Centers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3DAAE-7095-3CEE-4201-0F25751C5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dirty="0"/>
              <a:t>Resource Utilization:</a:t>
            </a:r>
            <a:r>
              <a:rPr lang="en-IN" sz="1800" dirty="0"/>
              <a:t> </a:t>
            </a:r>
          </a:p>
          <a:p>
            <a:pPr lvl="1"/>
            <a:r>
              <a:rPr lang="en-IN" sz="1800" dirty="0"/>
              <a:t>Classic setups often have &lt;15% utilization due to "one server, one application" rules. Virtualization enables 60-80% utilization by consolidating workloads.</a:t>
            </a:r>
          </a:p>
          <a:p>
            <a:r>
              <a:rPr lang="en-IN" sz="1800" b="1" dirty="0"/>
              <a:t>Flexibility &amp; Scalability:</a:t>
            </a:r>
            <a:r>
              <a:rPr lang="en-IN" sz="1800" dirty="0"/>
              <a:t> </a:t>
            </a:r>
          </a:p>
          <a:p>
            <a:pPr lvl="1"/>
            <a:r>
              <a:rPr lang="en-IN" sz="1800" dirty="0"/>
              <a:t>Traditional environments are rigid, requiring weeks for physical provisioning. Virtualized environments provide rapid, software-defined, on-demand scaling.</a:t>
            </a:r>
          </a:p>
          <a:p>
            <a:r>
              <a:rPr lang="en-IN" sz="1800" b="1" dirty="0"/>
              <a:t>Management:</a:t>
            </a:r>
            <a:r>
              <a:rPr lang="en-IN" sz="1800" dirty="0"/>
              <a:t> </a:t>
            </a:r>
          </a:p>
          <a:p>
            <a:pPr lvl="1"/>
            <a:r>
              <a:rPr lang="en-IN" sz="1800" dirty="0"/>
              <a:t>Traditional data </a:t>
            </a:r>
            <a:r>
              <a:rPr lang="en-IN" sz="1800" dirty="0" err="1"/>
              <a:t>centers</a:t>
            </a:r>
            <a:r>
              <a:rPr lang="en-IN" sz="1800" dirty="0"/>
              <a:t> are managed via physical, manual, and static IP-based, site-specific methods. Virtualization offers centralized management, often via public, private, or hybrid clouds.</a:t>
            </a:r>
          </a:p>
          <a:p>
            <a:r>
              <a:rPr lang="en-IN" sz="1800" b="1" dirty="0"/>
              <a:t>Hardware Dependence:</a:t>
            </a:r>
            <a:r>
              <a:rPr lang="en-IN" sz="1800" dirty="0"/>
              <a:t> </a:t>
            </a:r>
          </a:p>
          <a:p>
            <a:pPr lvl="1"/>
            <a:r>
              <a:rPr lang="en-IN" sz="1800" dirty="0"/>
              <a:t>Classic data </a:t>
            </a:r>
            <a:r>
              <a:rPr lang="en-IN" sz="1800" dirty="0" err="1"/>
              <a:t>centers</a:t>
            </a:r>
            <a:r>
              <a:rPr lang="en-IN" sz="1800" dirty="0"/>
              <a:t> often experience vendor lock-in, while virtualization abstract physical hardware, allowing for more portable and flexible infrastructure. </a:t>
            </a:r>
          </a:p>
        </p:txBody>
      </p:sp>
    </p:spTree>
    <p:extLst>
      <p:ext uri="{BB962C8B-B14F-4D97-AF65-F5344CB8AC3E}">
        <p14:creationId xmlns:p14="http://schemas.microsoft.com/office/powerpoint/2010/main" val="2613627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7BA99-7A5D-038E-26F3-22D1B2C2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Virtualization over Classic Data </a:t>
            </a:r>
            <a:r>
              <a:rPr lang="en-IN" b="1" dirty="0" err="1"/>
              <a:t>Centers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31E96-0EA6-08AD-2550-7389BD7DC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Reduced Costs: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Decreased physical footprint lowers power, cooling, and hardware maintenance expenses.</a:t>
            </a:r>
          </a:p>
          <a:p>
            <a:r>
              <a:rPr lang="en-IN" sz="2000" b="1" dirty="0"/>
              <a:t>Improved Efficiency: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Higher server density reduces hardware sprawl.</a:t>
            </a:r>
          </a:p>
          <a:p>
            <a:r>
              <a:rPr lang="en-IN" sz="2000" b="1" dirty="0"/>
              <a:t>Enhanced Reliability: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VM mobility allows for easier, faster, and sometimes automated disaster recovery and workload migration. 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19862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197F-0E17-6676-C69A-5AEC2F2FB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IN" b="1" dirty="0"/>
            </a:br>
            <a:r>
              <a:rPr lang="en-IN" b="1" dirty="0"/>
              <a:t>Amazon Web Services (AWS) 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38B9C-A800-5A49-99A8-64873BF74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Vast Service Offering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Offers over 200 fully-featured services, providing immense flexibility for diverse application needs.</a:t>
            </a:r>
          </a:p>
          <a:p>
            <a:r>
              <a:rPr lang="en-IN" sz="2000" b="1" dirty="0"/>
              <a:t>Scalability &amp; Performance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Designed for high availability and can scale up or down based on demand, leveraging Amazon's massive infrastructure.</a:t>
            </a:r>
          </a:p>
          <a:p>
            <a:r>
              <a:rPr lang="en-IN" sz="2000" b="1" dirty="0"/>
              <a:t>Maturity &amp; Ecosystem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Being the oldest in the market, it has a vast user community, extensive documentation, and a wide range of third-party integrations. </a:t>
            </a:r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31872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E68DA-DDEE-CC4F-684F-561C0BF8A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IN" b="1" dirty="0"/>
            </a:br>
            <a:r>
              <a:rPr lang="en-IN" b="1" dirty="0"/>
              <a:t>Microsoft Azure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B31C6-A37E-C1F6-41D8-C1B24A22D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sz="2000" dirty="0"/>
          </a:p>
          <a:p>
            <a:r>
              <a:rPr lang="en-IN" sz="2000" b="1" dirty="0"/>
              <a:t>Hybrid Cloud Capabilities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Provides robust solutions like </a:t>
            </a:r>
            <a:r>
              <a:rPr lang="en-IN" sz="2000" dirty="0">
                <a:hlinkClick r:id="rId2"/>
              </a:rPr>
              <a:t>Azure Arc</a:t>
            </a:r>
            <a:r>
              <a:rPr lang="en-IN" sz="2000" dirty="0"/>
              <a:t> and Azure Stack that seamlessly connect on-premises data </a:t>
            </a:r>
            <a:r>
              <a:rPr lang="en-IN" sz="2000" dirty="0" err="1"/>
              <a:t>centers</a:t>
            </a:r>
            <a:r>
              <a:rPr lang="en-IN" sz="2000" dirty="0"/>
              <a:t> with the cloud.</a:t>
            </a:r>
          </a:p>
          <a:p>
            <a:r>
              <a:rPr lang="en-IN" sz="2000" b="1" dirty="0"/>
              <a:t>Enterprise Integration</a:t>
            </a:r>
            <a:r>
              <a:rPr lang="en-IN" sz="2000" dirty="0"/>
              <a:t>:</a:t>
            </a:r>
          </a:p>
          <a:p>
            <a:pPr lvl="1"/>
            <a:r>
              <a:rPr lang="en-IN" sz="2000" dirty="0"/>
              <a:t> Ideal for businesses already using Microsoft software, offering tight integration with Windows Server, Active Directory, and development tools like Visual Studio.</a:t>
            </a:r>
          </a:p>
          <a:p>
            <a:r>
              <a:rPr lang="en-IN" sz="2000" b="1" dirty="0"/>
              <a:t>Compliance &amp; Security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Offers strong security measures and a wide range of compliance certifications, making it suitable for regulated industries. 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94676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70E3D-54A4-5B5F-9195-6F3729237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Google Cloud Platform (GCP) 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FFAB4-2139-1B88-E7F7-995999321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Data Analytics &amp; AI Expertise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Excels in data processing with services like </a:t>
            </a:r>
            <a:r>
              <a:rPr lang="en-IN" sz="2000" dirty="0" err="1"/>
              <a:t>BigQuery</a:t>
            </a:r>
            <a:r>
              <a:rPr lang="en-IN" sz="2000" dirty="0"/>
              <a:t> (a serverless data warehouse) and Vertex AI for building and deploying ML models.</a:t>
            </a:r>
          </a:p>
          <a:p>
            <a:r>
              <a:rPr lang="en-IN" sz="2000" b="1" dirty="0"/>
              <a:t>Networking Performance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Leverages Google's private global </a:t>
            </a:r>
            <a:r>
              <a:rPr lang="en-IN" sz="2000" dirty="0" err="1"/>
              <a:t>fiber</a:t>
            </a:r>
            <a:r>
              <a:rPr lang="en-IN" sz="2000" dirty="0"/>
              <a:t> network to deliver low latency and high-speed data transfer, beneficial for performance-sensitive applications.</a:t>
            </a:r>
          </a:p>
          <a:p>
            <a:r>
              <a:rPr lang="en-IN" sz="2000" b="1" dirty="0"/>
              <a:t>Open-Source &amp; Container Focus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Known as a leader in container management with Google Kubernetes Engine (GKE), making it a top choice for modern, containerized applications and a cloud-agnostic approach. </a:t>
            </a:r>
          </a:p>
          <a:p>
            <a:pPr marL="0" indent="0">
              <a:buNone/>
            </a:pPr>
            <a:br>
              <a:rPr lang="en-IN" sz="2000" dirty="0"/>
            </a:br>
            <a:endParaRPr lang="en-IN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50093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7829E-5D32-CD73-BC17-08672FEBC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Availability Zones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68848-9BC4-5C73-BFC1-79F8B0784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They are the physically separate, fault-tolerant, and highly available data </a:t>
            </a:r>
            <a:r>
              <a:rPr lang="en-IN" sz="1800" dirty="0" err="1"/>
              <a:t>center</a:t>
            </a:r>
            <a:r>
              <a:rPr lang="en-IN" sz="1800" dirty="0"/>
              <a:t> locations within a cloud region</a:t>
            </a:r>
          </a:p>
          <a:p>
            <a:endParaRPr lang="en-IN" sz="1800" dirty="0"/>
          </a:p>
          <a:p>
            <a:r>
              <a:rPr lang="en-IN" sz="1800" dirty="0"/>
              <a:t>Each zone features independent, redundant power, cooling, and networking to ensure that if one fails, others in the region remain operational. </a:t>
            </a:r>
          </a:p>
          <a:p>
            <a:endParaRPr lang="en-IN" sz="1800" dirty="0"/>
          </a:p>
          <a:p>
            <a:r>
              <a:rPr lang="en-IN" sz="1800" dirty="0"/>
              <a:t>They are connected via high-bandwidth, low-latency links, enabling high availability, synchronous replication, and enhanced fault isolation. </a:t>
            </a:r>
          </a:p>
          <a:p>
            <a:endParaRPr lang="en-IN" sz="1800" dirty="0"/>
          </a:p>
          <a:p>
            <a:r>
              <a:rPr lang="en-IN" sz="1800" dirty="0"/>
              <a:t>AZs within a region are located relatively close to each other, they provide low-latency connectivity, allowing for synchronous replication of data.</a:t>
            </a:r>
          </a:p>
          <a:p>
            <a:endParaRPr lang="en-IN" sz="1800" dirty="0"/>
          </a:p>
          <a:p>
            <a:r>
              <a:rPr lang="en-IN" sz="1800" dirty="0"/>
              <a:t>A failure in one zone is isolated from the others.</a:t>
            </a:r>
          </a:p>
        </p:txBody>
      </p:sp>
    </p:spTree>
    <p:extLst>
      <p:ext uri="{BB962C8B-B14F-4D97-AF65-F5344CB8AC3E}">
        <p14:creationId xmlns:p14="http://schemas.microsoft.com/office/powerpoint/2010/main" val="3247324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E19B2-20DB-6134-779D-06D1F7E05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Availability Zones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C06A5-BC88-4184-30CD-063C70B2E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400" dirty="0"/>
              <a:t> </a:t>
            </a:r>
            <a:r>
              <a:rPr lang="en-IN" sz="2000" dirty="0"/>
              <a:t>Cloud region includes at least three, or sometimes more, separate, isolated availability zones.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Usage:</a:t>
            </a:r>
            <a:r>
              <a:rPr lang="en-IN" sz="2000" dirty="0"/>
              <a:t>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They allow for high-availability architectures where applications can be designed to withstand the loss of a data </a:t>
            </a:r>
            <a:r>
              <a:rPr lang="en-IN" sz="2000" dirty="0" err="1"/>
              <a:t>center</a:t>
            </a:r>
            <a:r>
              <a:rPr lang="en-IN" sz="2000" dirty="0"/>
              <a:t> without downtime. 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Region:</a:t>
            </a:r>
            <a:r>
              <a:rPr lang="en-IN" sz="2000" dirty="0"/>
              <a:t>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A geographic area that contains multiple, separate availability zones.</a:t>
            </a:r>
          </a:p>
        </p:txBody>
      </p:sp>
    </p:spTree>
    <p:extLst>
      <p:ext uri="{BB962C8B-B14F-4D97-AF65-F5344CB8AC3E}">
        <p14:creationId xmlns:p14="http://schemas.microsoft.com/office/powerpoint/2010/main" val="1991912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83584-580C-279F-62E5-D885FCA9E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Providers</a:t>
            </a:r>
          </a:p>
        </p:txBody>
      </p:sp>
      <p:pic>
        <p:nvPicPr>
          <p:cNvPr id="6146" name="Picture 2" descr="Radimaging Ltd - Paul Beck's Technical Working Notes for Microsoft  Technology: AWS vs Azure vs GCP Comparison">
            <a:extLst>
              <a:ext uri="{FF2B5EF4-FFF2-40B4-BE49-F238E27FC236}">
                <a16:creationId xmlns:a16="http://schemas.microsoft.com/office/drawing/2014/main" id="{BCBFA1B8-1DAB-A01E-5E34-E080B64E531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066800"/>
            <a:ext cx="8458200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5471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DA8CF-D53D-2469-FDC1-1633AA2C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IN" b="1" dirty="0"/>
            </a:br>
            <a:r>
              <a:rPr lang="en-IN" b="1" dirty="0"/>
              <a:t>Azure Global Infrastructure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2F9D9-838C-F7FF-0134-0BC4FCFAD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Azure provides a secure and expansive global footprint to run applications closer to users</a:t>
            </a:r>
          </a:p>
          <a:p>
            <a:r>
              <a:rPr lang="en-IN" sz="2000" b="1" dirty="0"/>
              <a:t>Regions:</a:t>
            </a:r>
            <a:r>
              <a:rPr lang="en-IN" sz="2000" dirty="0"/>
              <a:t> Over 70+ regions globally, with each region containing multiple data </a:t>
            </a:r>
            <a:r>
              <a:rPr lang="en-IN" sz="2000" dirty="0" err="1"/>
              <a:t>centers</a:t>
            </a:r>
            <a:r>
              <a:rPr lang="en-IN" sz="2000" dirty="0"/>
              <a:t> to ensure high availability and data residency compliance.</a:t>
            </a:r>
          </a:p>
          <a:p>
            <a:r>
              <a:rPr lang="en-IN" sz="2000" b="1" dirty="0"/>
              <a:t>Data </a:t>
            </a:r>
            <a:r>
              <a:rPr lang="en-IN" sz="2000" b="1" dirty="0" err="1"/>
              <a:t>Centers</a:t>
            </a:r>
            <a:r>
              <a:rPr lang="en-IN" sz="2000" b="1" dirty="0"/>
              <a:t>:</a:t>
            </a:r>
            <a:r>
              <a:rPr lang="en-IN" sz="2000" dirty="0"/>
              <a:t> 400+ physical facilities worldwide, housing computing, storage, and networking hardware, connected by a vast, secure, private network.</a:t>
            </a:r>
          </a:p>
          <a:p>
            <a:r>
              <a:rPr lang="en-IN" sz="2000" b="1" dirty="0"/>
              <a:t>Availability Zones:</a:t>
            </a:r>
            <a:r>
              <a:rPr lang="en-IN" sz="2000" dirty="0"/>
              <a:t> Physically separate data </a:t>
            </a:r>
            <a:r>
              <a:rPr lang="en-IN" sz="2000" dirty="0" err="1"/>
              <a:t>centers</a:t>
            </a:r>
            <a:r>
              <a:rPr lang="en-IN" sz="2000" dirty="0"/>
              <a:t> within a region, providing protection against </a:t>
            </a:r>
            <a:r>
              <a:rPr lang="en-IN" sz="2000" dirty="0" err="1"/>
              <a:t>datacenter</a:t>
            </a:r>
            <a:r>
              <a:rPr lang="en-IN" sz="2000" dirty="0"/>
              <a:t> failures.</a:t>
            </a:r>
          </a:p>
          <a:p>
            <a:r>
              <a:rPr lang="en-IN" sz="2000" b="1" dirty="0"/>
              <a:t>Global Network:</a:t>
            </a:r>
            <a:r>
              <a:rPr lang="en-IN" sz="2000" dirty="0"/>
              <a:t> A massive, high-speed </a:t>
            </a:r>
            <a:r>
              <a:rPr lang="en-IN" sz="2000" dirty="0" err="1"/>
              <a:t>fiber</a:t>
            </a:r>
            <a:r>
              <a:rPr lang="en-IN" sz="2000" dirty="0"/>
              <a:t> network connecting all Azure data </a:t>
            </a:r>
            <a:r>
              <a:rPr lang="en-IN" sz="2000" dirty="0" err="1"/>
              <a:t>centers</a:t>
            </a:r>
            <a:r>
              <a:rPr lang="en-IN" sz="2000" dirty="0"/>
              <a:t>, enhancing performance for global applications. </a:t>
            </a:r>
          </a:p>
        </p:txBody>
      </p:sp>
    </p:spTree>
    <p:extLst>
      <p:ext uri="{BB962C8B-B14F-4D97-AF65-F5344CB8AC3E}">
        <p14:creationId xmlns:p14="http://schemas.microsoft.com/office/powerpoint/2010/main" val="423571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1359-F453-E662-330F-49C47785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Portal, CLI, PowerShell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CD6C1-4B76-67F1-8DA0-595924EDE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Azure Resource Manager (ARM)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Control plane and deployment service for Azure. </a:t>
            </a:r>
          </a:p>
          <a:p>
            <a:pPr lvl="1"/>
            <a:r>
              <a:rPr lang="en-IN" sz="2000" dirty="0"/>
              <a:t>It serves as the consistent management layer that authenticates, authorizes, and processes all requests to create, update, or delete resources in Azure, regardless of the tool used to send the request. </a:t>
            </a:r>
          </a:p>
          <a:p>
            <a:endParaRPr lang="en-IN" sz="2000" b="1" dirty="0"/>
          </a:p>
          <a:p>
            <a:r>
              <a:rPr lang="en-IN" sz="2000" b="1" dirty="0"/>
              <a:t>Grouped Deployment and Management: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Resources with a common lifecycle are grouped into a resource group, allowing to deploy, manage, and delete them as a single unit.</a:t>
            </a:r>
          </a:p>
        </p:txBody>
      </p:sp>
    </p:spTree>
    <p:extLst>
      <p:ext uri="{BB962C8B-B14F-4D97-AF65-F5344CB8AC3E}">
        <p14:creationId xmlns:p14="http://schemas.microsoft.com/office/powerpoint/2010/main" val="1774401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ADB84-1521-5FB0-DCF0-45444EBB7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Portal, CLI, PowerShell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7B40B-3697-FE3F-3766-9F8B200CB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Consistency: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All management tools interact with the same ARM API, ensuring consistent results and capabilities across the platform.</a:t>
            </a:r>
          </a:p>
          <a:p>
            <a:r>
              <a:rPr lang="en-IN" sz="2000" b="1" dirty="0"/>
              <a:t>Access Control: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It leverages Azure role-based access control (Azure RBAC) to manage access and security for resources.</a:t>
            </a:r>
          </a:p>
          <a:p>
            <a:r>
              <a:rPr lang="en-IN" sz="2000" b="1" dirty="0"/>
              <a:t>Infrastructure as Code (</a:t>
            </a:r>
            <a:r>
              <a:rPr lang="en-IN" sz="2000" b="1" dirty="0" err="1"/>
              <a:t>IaC</a:t>
            </a:r>
            <a:r>
              <a:rPr lang="en-IN" sz="2000" b="1" dirty="0"/>
              <a:t>):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ARM templates (JSON files) and Bicep are declarative tools that use ARM to deploy infrastructure consistently and repeatedly.</a:t>
            </a:r>
          </a:p>
          <a:p>
            <a:r>
              <a:rPr lang="en-IN" sz="2000" b="1" dirty="0"/>
              <a:t>Organization:</a:t>
            </a:r>
          </a:p>
          <a:p>
            <a:pPr lvl="1"/>
            <a:r>
              <a:rPr lang="en-IN" sz="2000" dirty="0"/>
              <a:t> It enables the use of tags and locks to organize, secure, and categorize resources for tasks like billing and management. </a:t>
            </a: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82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3A7F-4458-05AF-C3FC-D631D444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Azure Management Tools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3552A-75FD-B5F6-9E86-8ABFC59D5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r>
              <a:rPr lang="en-IN" sz="1800" dirty="0"/>
              <a:t>Azure provides various tools to interact with the ARM control plane. </a:t>
            </a:r>
          </a:p>
          <a:p>
            <a:endParaRPr lang="en-IN" sz="1800" b="1" dirty="0"/>
          </a:p>
          <a:p>
            <a:r>
              <a:rPr lang="en-IN" sz="1800" b="1" dirty="0"/>
              <a:t>Azure Portal:</a:t>
            </a:r>
            <a:r>
              <a:rPr lang="en-IN" sz="1800" dirty="0"/>
              <a:t>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Web-based graphical user interface (GUI) that offers a visual way to manage Azure resources, monitor performance, and optimize costs.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 It's ideal for interactive tasks, monitoring, and exploring services. </a:t>
            </a:r>
          </a:p>
          <a:p>
            <a:pPr lvl="1">
              <a:lnSpc>
                <a:spcPct val="150000"/>
              </a:lnSpc>
            </a:pPr>
            <a:r>
              <a:rPr lang="en-IN" sz="2000" dirty="0" err="1"/>
              <a:t>portal.azure.com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4140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4845F-CED9-777F-1247-ACC1C74C0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Azure CLI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D2730-4C31-75C1-FC15-4A18B5B42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dirty="0"/>
              <a:t>Azure CLI (Command-Line Interface):</a:t>
            </a:r>
            <a:r>
              <a:rPr lang="en-IN" sz="1800" dirty="0"/>
              <a:t>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A cross-platform command-line tool -Windows, macOS, Linux 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Concise, efficient syntax for managing resources.</a:t>
            </a:r>
          </a:p>
          <a:p>
            <a:pPr lvl="1">
              <a:lnSpc>
                <a:spcPct val="150000"/>
              </a:lnSpc>
            </a:pPr>
            <a:r>
              <a:rPr lang="en-IN" sz="2000" b="1" dirty="0"/>
              <a:t>Best for:</a:t>
            </a:r>
            <a:r>
              <a:rPr lang="en-IN" sz="2000" dirty="0"/>
              <a:t> Automation, scripting and managing resources with a single, quick command.</a:t>
            </a:r>
          </a:p>
          <a:p>
            <a:pPr lvl="1">
              <a:lnSpc>
                <a:spcPct val="150000"/>
              </a:lnSpc>
            </a:pPr>
            <a:r>
              <a:rPr lang="en-IN" sz="2000" b="1" dirty="0"/>
              <a:t>Output:</a:t>
            </a:r>
            <a:r>
              <a:rPr lang="en-IN" sz="2000" dirty="0"/>
              <a:t> Defaults to JSON, but can be formatted as tables, YAML, etc..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4095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C5A3F-EEF6-6A0E-4813-D77E921AD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PowerShell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722BF-774C-D0C2-99A4-A1044BE3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dirty="0"/>
              <a:t>A set of lightweight command-line commands designed for managing Azure resources from the PowerShell environment.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Best for:</a:t>
            </a:r>
            <a:r>
              <a:rPr lang="en-IN" sz="2000" dirty="0"/>
              <a:t> Users familiar with the PowerShell scripting language, Windows administration, and complex automation workflows.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Output:</a:t>
            </a:r>
            <a:r>
              <a:rPr lang="en-IN" sz="2000" dirty="0"/>
              <a:t> Commands use a "verb-noun" format and return data as PowerShell objects, which simplifies piping and data manipulation.</a:t>
            </a:r>
          </a:p>
          <a:p>
            <a:pPr>
              <a:lnSpc>
                <a:spcPct val="150000"/>
              </a:lnSpc>
            </a:pPr>
            <a:br>
              <a:rPr lang="en-IN" sz="1800" dirty="0"/>
            </a:br>
            <a:endParaRPr lang="en-IN" sz="1800" dirty="0"/>
          </a:p>
          <a:p>
            <a:pPr>
              <a:lnSpc>
                <a:spcPct val="150000"/>
              </a:lnSpc>
            </a:pPr>
            <a:endParaRPr lang="en-US" sz="1800" dirty="0"/>
          </a:p>
          <a:p>
            <a:pPr>
              <a:lnSpc>
                <a:spcPct val="150000"/>
              </a:lnSpc>
            </a:pPr>
            <a:endParaRPr lang="en-US" sz="1800" dirty="0"/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693937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D2C6-D875-0756-9E86-D32A576A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Cloud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15C09-9C73-7003-EA04-EAAA1C771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dirty="0"/>
              <a:t>A browser-based, interactive shell environment that comes pre-configured with both Azure CLI and Azure PowerShell, as well as other utilities like Git and Terraform. </a:t>
            </a:r>
          </a:p>
          <a:p>
            <a:pPr>
              <a:lnSpc>
                <a:spcPct val="150000"/>
              </a:lnSpc>
            </a:pPr>
            <a:r>
              <a:rPr lang="en-IN" sz="1800" dirty="0"/>
              <a:t>It requires no local installation. </a:t>
            </a:r>
          </a:p>
          <a:p>
            <a:pPr>
              <a:lnSpc>
                <a:spcPct val="150000"/>
              </a:lnSpc>
            </a:pPr>
            <a:r>
              <a:rPr lang="en-IN" sz="1800" dirty="0"/>
              <a:t>It's accessible directly from the Azure Portal via an icon in the top toolbar or separately at </a:t>
            </a:r>
            <a:r>
              <a:rPr lang="en-IN" sz="1800" dirty="0" err="1"/>
              <a:t>shell.azure.com</a:t>
            </a:r>
            <a:r>
              <a:rPr lang="en-IN" sz="1800" dirty="0"/>
              <a:t>. 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73040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1A4D-A59C-3D3C-5A38-48C42AD13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Azure SQL Database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740A8-2669-3287-1065-E1D9B1B3A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dirty="0"/>
              <a:t>A </a:t>
            </a:r>
            <a:r>
              <a:rPr lang="en-IN" sz="1800" b="1" dirty="0"/>
              <a:t>fully managed Platform-as-a-Service (PaaS)</a:t>
            </a:r>
            <a:r>
              <a:rPr lang="en-IN" sz="1800" dirty="0"/>
              <a:t> relational database service provided by Microsoft Azure. </a:t>
            </a:r>
          </a:p>
          <a:p>
            <a:pPr lvl="1">
              <a:lnSpc>
                <a:spcPct val="150000"/>
              </a:lnSpc>
            </a:pPr>
            <a:r>
              <a:rPr lang="en-IN" sz="1800" i="1" dirty="0"/>
              <a:t>Microsoft handles the underlying infrastructure management, such as operating system patching, backups, and high availability. </a:t>
            </a:r>
          </a:p>
          <a:p>
            <a:pPr marL="0" indent="0">
              <a:lnSpc>
                <a:spcPct val="150000"/>
              </a:lnSpc>
              <a:buNone/>
            </a:pPr>
            <a:endParaRPr lang="en-IN" sz="1800" b="1" dirty="0"/>
          </a:p>
          <a:p>
            <a:pPr>
              <a:lnSpc>
                <a:spcPct val="150000"/>
              </a:lnSpc>
            </a:pPr>
            <a:r>
              <a:rPr lang="en-IN" sz="1800" dirty="0"/>
              <a:t>Its almost compatible with the latest on-premises SQL Server</a:t>
            </a:r>
          </a:p>
        </p:txBody>
      </p:sp>
    </p:spTree>
    <p:extLst>
      <p:ext uri="{BB962C8B-B14F-4D97-AF65-F5344CB8AC3E}">
        <p14:creationId xmlns:p14="http://schemas.microsoft.com/office/powerpoint/2010/main" val="5872104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850F-FB39-68D5-371E-3A14CCF67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SQL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96FB-F38A-8426-0223-AA0EE9639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dirty="0"/>
              <a:t>Basic Details:</a:t>
            </a:r>
            <a:endParaRPr lang="en-IN" sz="1800" dirty="0"/>
          </a:p>
          <a:p>
            <a:pPr lvl="1"/>
            <a:r>
              <a:rPr lang="en-IN" sz="1800" b="1" dirty="0"/>
              <a:t>Resource Group:</a:t>
            </a:r>
            <a:r>
              <a:rPr lang="en-IN" sz="1800" dirty="0"/>
              <a:t> Create a new one (e.g., </a:t>
            </a:r>
            <a:r>
              <a:rPr lang="en-IN" sz="1800" dirty="0" err="1"/>
              <a:t>MyFreeSQLGroup</a:t>
            </a:r>
            <a:r>
              <a:rPr lang="en-IN" sz="1800" dirty="0"/>
              <a:t>).</a:t>
            </a:r>
          </a:p>
          <a:p>
            <a:pPr lvl="1"/>
            <a:r>
              <a:rPr lang="en-IN" sz="1800" b="1" dirty="0"/>
              <a:t>Database Name:</a:t>
            </a:r>
            <a:r>
              <a:rPr lang="en-IN" sz="1800" dirty="0"/>
              <a:t> Provide a unique name (e.g., </a:t>
            </a:r>
            <a:r>
              <a:rPr lang="en-IN" sz="1800" dirty="0" err="1"/>
              <a:t>MyFreeDB</a:t>
            </a:r>
            <a:r>
              <a:rPr lang="en-IN" sz="1800" dirty="0"/>
              <a:t>).</a:t>
            </a:r>
          </a:p>
          <a:p>
            <a:pPr lvl="1"/>
            <a:r>
              <a:rPr lang="en-IN" sz="1800" b="1" dirty="0"/>
              <a:t>Server:</a:t>
            </a:r>
            <a:r>
              <a:rPr lang="en-IN" sz="1800" dirty="0"/>
              <a:t> Select </a:t>
            </a:r>
            <a:r>
              <a:rPr lang="en-IN" sz="1800" b="1" dirty="0"/>
              <a:t>Create new</a:t>
            </a:r>
            <a:r>
              <a:rPr lang="en-IN" sz="1800" dirty="0"/>
              <a:t>, enter a globally unique server name, and set an </a:t>
            </a:r>
            <a:r>
              <a:rPr lang="en-IN" sz="1800" b="1" dirty="0"/>
              <a:t>Admin login</a:t>
            </a:r>
            <a:r>
              <a:rPr lang="en-IN" sz="1800" dirty="0"/>
              <a:t> and </a:t>
            </a:r>
            <a:r>
              <a:rPr lang="en-IN" sz="1800" b="1" dirty="0"/>
              <a:t>Password</a:t>
            </a:r>
            <a:r>
              <a:rPr lang="en-IN" sz="1800" dirty="0"/>
              <a:t>.</a:t>
            </a:r>
          </a:p>
          <a:p>
            <a:r>
              <a:rPr lang="en-IN" sz="1800" b="1" dirty="0"/>
              <a:t>Compute + Storage:</a:t>
            </a:r>
            <a:r>
              <a:rPr lang="en-IN" sz="1800" dirty="0"/>
              <a:t> The configuration will default to </a:t>
            </a:r>
            <a:r>
              <a:rPr lang="en-IN" sz="1800" b="1" dirty="0"/>
              <a:t>General Purpose: Serverless</a:t>
            </a:r>
            <a:r>
              <a:rPr lang="en-IN" sz="1800" dirty="0"/>
              <a:t>, which is required for the free tier.</a:t>
            </a:r>
          </a:p>
          <a:p>
            <a:r>
              <a:rPr lang="en-IN" sz="1800" b="1" dirty="0"/>
              <a:t>Set Free Limit </a:t>
            </a:r>
            <a:r>
              <a:rPr lang="en-IN" sz="1800" b="1" dirty="0" err="1"/>
              <a:t>Behavior</a:t>
            </a:r>
            <a:r>
              <a:rPr lang="en-IN" sz="1800" b="1" dirty="0"/>
              <a:t>:</a:t>
            </a:r>
            <a:r>
              <a:rPr lang="en-IN" sz="1800" dirty="0"/>
              <a:t> In the Basics tab, choose </a:t>
            </a:r>
            <a:r>
              <a:rPr lang="en-IN" sz="1800" b="1" dirty="0"/>
              <a:t>Auto-pause the database until next month</a:t>
            </a:r>
            <a:r>
              <a:rPr lang="en-IN" sz="1800" dirty="0"/>
              <a:t> to ensure you are never billed if you exceed the free quota.</a:t>
            </a:r>
          </a:p>
          <a:p>
            <a:r>
              <a:rPr lang="en-IN" sz="1800" b="1" dirty="0"/>
              <a:t>Networking:</a:t>
            </a:r>
            <a:r>
              <a:rPr lang="en-IN" sz="1800" dirty="0"/>
              <a:t> Go to the Networking tab and set </a:t>
            </a:r>
            <a:r>
              <a:rPr lang="en-IN" sz="1800" b="1" dirty="0"/>
              <a:t>Connectivity method</a:t>
            </a:r>
            <a:r>
              <a:rPr lang="en-IN" sz="1800" dirty="0"/>
              <a:t> to </a:t>
            </a:r>
            <a:r>
              <a:rPr lang="en-IN" sz="1800" b="1" dirty="0"/>
              <a:t>Public endpoint</a:t>
            </a:r>
            <a:r>
              <a:rPr lang="en-IN" sz="1800" dirty="0"/>
              <a:t>. Set </a:t>
            </a:r>
            <a:r>
              <a:rPr lang="en-IN" sz="1800" b="1" dirty="0"/>
              <a:t>Add current client IP address</a:t>
            </a:r>
            <a:r>
              <a:rPr lang="en-IN" sz="1800" dirty="0"/>
              <a:t> to </a:t>
            </a:r>
            <a:r>
              <a:rPr lang="en-IN" sz="1800" b="1" dirty="0"/>
              <a:t>Yes</a:t>
            </a:r>
            <a:r>
              <a:rPr lang="en-IN" sz="1800" dirty="0"/>
              <a:t> so you can connect from your local machine.</a:t>
            </a:r>
          </a:p>
          <a:p>
            <a:r>
              <a:rPr lang="en-IN" sz="1800" b="1" dirty="0"/>
              <a:t>Review + Create:</a:t>
            </a:r>
          </a:p>
        </p:txBody>
      </p:sp>
    </p:spTree>
    <p:extLst>
      <p:ext uri="{BB962C8B-B14F-4D97-AF65-F5344CB8AC3E}">
        <p14:creationId xmlns:p14="http://schemas.microsoft.com/office/powerpoint/2010/main" val="4066819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DA744-DDA4-E09C-366A-F24C8F13B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AFA5-D327-F1EF-493E-3D1294573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dirty="0"/>
              <a:t>Once database is deployed, use the built-in </a:t>
            </a:r>
            <a:r>
              <a:rPr lang="en-IN" sz="1800" b="1" dirty="0"/>
              <a:t>Query editor</a:t>
            </a:r>
            <a:r>
              <a:rPr lang="en-IN" sz="1800" dirty="0"/>
              <a:t> to create tables without installing external software. 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Open Query Editor:</a:t>
            </a:r>
            <a:r>
              <a:rPr lang="en-IN" sz="1800" dirty="0"/>
              <a:t> Navigate to your new SQL database in the Azure portal and select </a:t>
            </a:r>
            <a:r>
              <a:rPr lang="en-IN" sz="1800" b="1" dirty="0"/>
              <a:t>Query editor (preview)</a:t>
            </a:r>
            <a:r>
              <a:rPr lang="en-IN" sz="1800" dirty="0"/>
              <a:t> from the left-hand menu.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Log In:</a:t>
            </a:r>
            <a:r>
              <a:rPr lang="en-IN" sz="1800" dirty="0"/>
              <a:t> Enter the admin username and password you created during the server setup.</a:t>
            </a:r>
          </a:p>
          <a:p>
            <a:pPr>
              <a:lnSpc>
                <a:spcPct val="150000"/>
              </a:lnSpc>
            </a:pPr>
            <a:r>
              <a:rPr lang="en-IN" sz="1800" b="1" dirty="0"/>
              <a:t>Execute:</a:t>
            </a:r>
            <a:r>
              <a:rPr lang="en-IN" sz="1800" dirty="0"/>
              <a:t> Click </a:t>
            </a:r>
            <a:r>
              <a:rPr lang="en-IN" sz="1800" b="1" dirty="0"/>
              <a:t>Run</a:t>
            </a:r>
            <a:r>
              <a:rPr lang="en-IN" sz="1800" dirty="0"/>
              <a:t>. You can verify the table by expanding the </a:t>
            </a:r>
            <a:r>
              <a:rPr lang="en-IN" sz="1800" b="1" dirty="0"/>
              <a:t>Tables</a:t>
            </a:r>
            <a:r>
              <a:rPr lang="en-IN" sz="1800" dirty="0"/>
              <a:t> folder in the editor's object explorer. </a:t>
            </a:r>
          </a:p>
          <a:p>
            <a:pPr>
              <a:lnSpc>
                <a:spcPct val="150000"/>
              </a:lnSpc>
            </a:pPr>
            <a:endParaRPr lang="en-US" sz="1800" dirty="0"/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1691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1957-8B81-2038-A041-3207FAFB1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427037"/>
          </a:xfrm>
        </p:spPr>
        <p:txBody>
          <a:bodyPr/>
          <a:lstStyle/>
          <a:p>
            <a:r>
              <a:rPr lang="en-US" dirty="0"/>
              <a:t>Cosmos 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B5891-3670-92D8-23E0-1C43984E0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31838"/>
            <a:ext cx="8229600" cy="5394326"/>
          </a:xfrm>
        </p:spPr>
        <p:txBody>
          <a:bodyPr/>
          <a:lstStyle/>
          <a:p>
            <a:r>
              <a:rPr lang="en-IN" sz="2000" dirty="0"/>
              <a:t>Fully managed, globally distributed, multi-model NoSQL database service</a:t>
            </a:r>
          </a:p>
          <a:p>
            <a:pPr lvl="1"/>
            <a:r>
              <a:rPr lang="en-IN" sz="2000" dirty="0"/>
              <a:t>High performance, low latency </a:t>
            </a:r>
          </a:p>
          <a:p>
            <a:pPr lvl="1"/>
            <a:r>
              <a:rPr lang="en-IN" sz="2000" dirty="0"/>
              <a:t>It is used in Azure for modern, mission-critical applications</a:t>
            </a:r>
          </a:p>
          <a:p>
            <a:r>
              <a:rPr lang="en-IN" sz="2000" b="1" dirty="0"/>
              <a:t>Global Distribution: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Data can be instantly replicated across any number of Azure regions worldwide, ensuring low-latency access for global users.</a:t>
            </a:r>
          </a:p>
          <a:p>
            <a:r>
              <a:rPr lang="en-IN" sz="2000" b="1" dirty="0"/>
              <a:t>Multi-Model and API Support: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It supports various data models (document, key-value, graph, columnar) and multiple APIs, including SQL (Core), MongoDB, Cassandra, Gremlin, and Table API.</a:t>
            </a:r>
          </a:p>
          <a:p>
            <a:r>
              <a:rPr lang="en-IN" sz="2000" b="1" dirty="0"/>
              <a:t>AI and Real-time Capabilities:</a:t>
            </a:r>
            <a:r>
              <a:rPr lang="en-IN" sz="2000" dirty="0"/>
              <a:t> </a:t>
            </a:r>
          </a:p>
          <a:p>
            <a:pPr lvl="1"/>
            <a:r>
              <a:rPr lang="en-IN" sz="2000" dirty="0"/>
              <a:t>Features built-in vector search for AI applications and integrates with Azure Synapse Analytics for real-time analytics without ETL (Extract, Transform, Load). </a:t>
            </a:r>
            <a:br>
              <a:rPr lang="en-IN" sz="2000" dirty="0"/>
            </a:br>
            <a:endParaRPr lang="en-IN" sz="20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458409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CEE22-4017-28EE-6E5B-71D9B7B77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Cosmos 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E9B86-0A07-5459-7C97-33DBF18432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It supports multiple data models </a:t>
            </a:r>
          </a:p>
          <a:p>
            <a:pPr lvl="1"/>
            <a:r>
              <a:rPr lang="en-IN" sz="1800" dirty="0"/>
              <a:t>key-value, documents, graphs and columnar</a:t>
            </a:r>
          </a:p>
          <a:p>
            <a:endParaRPr lang="en-IN" sz="1800" dirty="0"/>
          </a:p>
          <a:p>
            <a:r>
              <a:rPr lang="en-IN" sz="1800" dirty="0"/>
              <a:t>Azure Cosmos DB APIs for data access </a:t>
            </a:r>
          </a:p>
          <a:p>
            <a:pPr lvl="1"/>
            <a:r>
              <a:rPr lang="en-IN" sz="1800" dirty="0"/>
              <a:t>API for MongoDB, API for NoSQL, API for Gremlin, and API for Table</a:t>
            </a:r>
          </a:p>
          <a:p>
            <a:endParaRPr lang="en-IN" sz="1800" dirty="0"/>
          </a:p>
          <a:p>
            <a:r>
              <a:rPr lang="en-IN" sz="1800" dirty="0"/>
              <a:t>OpenAI relies on Cosmos DB to dynamically scale their ChatGPT service </a:t>
            </a:r>
          </a:p>
          <a:p>
            <a:endParaRPr lang="en-IN" sz="1800" dirty="0"/>
          </a:p>
          <a:p>
            <a:r>
              <a:rPr lang="en-IN" sz="1800" dirty="0"/>
              <a:t>Azure Cosmos DB takes database administration with automatic management, updates, and patching. </a:t>
            </a:r>
          </a:p>
          <a:p>
            <a:endParaRPr lang="en-IN" sz="1800" dirty="0"/>
          </a:p>
          <a:p>
            <a:r>
              <a:rPr lang="en-IN" sz="1800" dirty="0"/>
              <a:t>It also handles capacity management with cost-effective serverless and automatic scaling options that respond to application needs to match capacity with demand.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2468666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23E8-58EC-8F45-AC80-A15D2C52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Choose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4FCF4-32B4-A65A-75A6-83314B5D4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b="1" dirty="0"/>
              <a:t>When to Choose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Flexible Schema for Iterative Development.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Latency sensitive workloads.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High throughput workloads.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Highly available mission critical workloads.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When Not to Choose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Analytical workloads (OLAP). 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Highly relational apps. </a:t>
            </a:r>
          </a:p>
          <a:p>
            <a:pPr marL="0" indent="0">
              <a:buNone/>
            </a:pPr>
            <a:br>
              <a:rPr lang="en-IN" sz="2000" dirty="0"/>
            </a:br>
            <a:endParaRPr lang="en-IN" sz="20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1373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DC46-695D-4E2E-8C96-B2ABC3DD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8EA7E-570D-48DA-9D57-2E333833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kern="1200" dirty="0"/>
              <a:t>MongoDB API</a:t>
            </a:r>
            <a:r>
              <a:rPr lang="en-IN" sz="1800" kern="1200" dirty="0"/>
              <a:t>: </a:t>
            </a:r>
          </a:p>
          <a:p>
            <a:pPr lvl="1"/>
            <a:r>
              <a:rPr lang="en-IN" sz="1800" kern="1200" dirty="0"/>
              <a:t>Cosmos DB implements the MongoDB wire protocol, which allows existing MongoDB client drivers and tools (like Studio 3T) to connect to Cosmos DB seamlessly, as if it were a native MongoDB instance.</a:t>
            </a:r>
          </a:p>
          <a:p>
            <a:r>
              <a:rPr lang="en-IN" sz="1800" b="1" kern="1200" dirty="0"/>
              <a:t>Cassandra API</a:t>
            </a:r>
            <a:r>
              <a:rPr lang="en-IN" sz="1800" kern="1200" dirty="0"/>
              <a:t>: </a:t>
            </a:r>
          </a:p>
          <a:p>
            <a:pPr lvl="1"/>
            <a:r>
              <a:rPr lang="en-IN" sz="1800" kern="1200" dirty="0"/>
              <a:t>This API supports the Cassandra Query Language (CQL) and Cassandra's drivers, allowing existing Apache Cassandra applications to interact with Cosmos DB as a backend.</a:t>
            </a:r>
          </a:p>
          <a:p>
            <a:r>
              <a:rPr lang="en-IN" sz="1800" b="1" kern="1200" dirty="0"/>
              <a:t>Gremlin API</a:t>
            </a:r>
            <a:r>
              <a:rPr lang="en-IN" sz="1800" kern="1200" dirty="0"/>
              <a:t>: </a:t>
            </a:r>
          </a:p>
          <a:p>
            <a:pPr lvl="1"/>
            <a:r>
              <a:rPr lang="en-IN" sz="1800" kern="1200" dirty="0"/>
              <a:t>Cosmos DB provides a graph database service using the Gremlin query language from the Apache </a:t>
            </a:r>
            <a:r>
              <a:rPr lang="en-IN" sz="1800" kern="1200" dirty="0" err="1"/>
              <a:t>TinkerPop</a:t>
            </a:r>
            <a:r>
              <a:rPr lang="en-IN" sz="1800" kern="1200" dirty="0"/>
              <a:t> framework, enabling integration with applications that use graph models.</a:t>
            </a:r>
          </a:p>
          <a:p>
            <a:r>
              <a:rPr lang="en-IN" sz="1800" b="1" kern="1200" dirty="0"/>
              <a:t>PostgreSQL API</a:t>
            </a:r>
            <a:r>
              <a:rPr lang="en-IN" sz="1800" kern="1200" dirty="0"/>
              <a:t>: </a:t>
            </a:r>
          </a:p>
          <a:p>
            <a:pPr lvl="1"/>
            <a:r>
              <a:rPr lang="en-IN" sz="1800" kern="1200" dirty="0"/>
              <a:t>Cosmos DB for PostgreSQL is a managed service based on the </a:t>
            </a:r>
            <a:r>
              <a:rPr lang="en-IN" sz="1800" kern="1200" dirty="0" err="1"/>
              <a:t>Citus</a:t>
            </a:r>
            <a:r>
              <a:rPr lang="en-IN" sz="1800" kern="1200" dirty="0"/>
              <a:t> extension, allowing for distributed relational database workloads. </a:t>
            </a:r>
            <a:br>
              <a:rPr lang="en-IN" sz="1800" kern="1200" dirty="0"/>
            </a:br>
            <a:endParaRPr lang="en-IN" sz="1800" kern="12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44423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DA2D5-D57A-63F9-062B-A0CDECB47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 Plans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DF4ED-E7B6-06CC-1FC9-904B4A7D5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kern="1200" dirty="0"/>
              <a:t>Has structured process for moving data from a source system into Azure Cosmos DB, or between different configurations within Cosmos DB itself. </a:t>
            </a:r>
          </a:p>
          <a:p>
            <a:endParaRPr lang="en-IN" sz="1800" kern="1200" dirty="0"/>
          </a:p>
          <a:p>
            <a:r>
              <a:rPr lang="en-IN" sz="1800" kern="1200" dirty="0"/>
              <a:t>Done using specific Microsoft-provided </a:t>
            </a:r>
            <a:r>
              <a:rPr lang="en-IN" sz="1800" b="1" kern="1200" dirty="0"/>
              <a:t>tools and services</a:t>
            </a:r>
            <a:r>
              <a:rPr lang="en-IN" sz="1800" kern="1200" dirty="0"/>
              <a:t>, such as the Azure Cosmos DB Data Migration Tool or Azure Database Migration Service (DMS)</a:t>
            </a:r>
          </a:p>
          <a:p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1045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B6824-738C-30E8-63C7-406AA9A06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 Plans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D552D-0236-A412-5FC1-2D9BF83D0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Assessment and Discovery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en-IN" sz="18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Modeling</a:t>
            </a:r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 and Partitioning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Capacity Planning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Tool Selection and Logistics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Backup Data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Data Transformation: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Data Loading: </a:t>
            </a: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</a:p>
          <a:p>
            <a:endParaRPr lang="en-IN" sz="1800" kern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Online vs. Offline:</a:t>
            </a:r>
          </a:p>
          <a:p>
            <a:pPr lvl="1"/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Offline migration involves application downtime, as a static copy of the data is moved.</a:t>
            </a:r>
          </a:p>
          <a:p>
            <a:pPr lvl="1"/>
            <a:r>
              <a:rPr lang="en-IN" sz="1800" kern="1200" dirty="0">
                <a:latin typeface="Arial" panose="020B0604020202020204" pitchFamily="34" charset="0"/>
                <a:cs typeface="Arial" panose="020B0604020202020204" pitchFamily="34" charset="0"/>
              </a:rPr>
              <a:t>Online migration (often using Change Data Capture or CDC) allows source and target databases to stay in sync with minimal downtime, which is ideal for production workloads. </a:t>
            </a:r>
          </a:p>
          <a:p>
            <a:endParaRPr lang="en-IN" sz="1800" b="1" kern="1200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4013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6AD8-68F4-4A57-0576-9420673CF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1"/>
            <a:ext cx="8229600" cy="579436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7DCCB-D301-7E62-08E5-15D6CBB838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31836"/>
            <a:ext cx="8229600" cy="5394327"/>
          </a:xfrm>
        </p:spPr>
        <p:txBody>
          <a:bodyPr/>
          <a:lstStyle/>
          <a:p>
            <a:pPr marL="45720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interface</a:t>
            </a:r>
            <a:r>
              <a:rPr lang="en-IN" sz="2000" dirty="0"/>
              <a:t> </a:t>
            </a:r>
            <a:r>
              <a:rPr lang="en-IN" sz="2000" dirty="0" err="1"/>
              <a:t>ReviewRepository</a:t>
            </a:r>
            <a:r>
              <a:rPr lang="en-IN" sz="2000" dirty="0"/>
              <a:t> </a:t>
            </a:r>
            <a:r>
              <a:rPr lang="en-IN" sz="2000" b="1" dirty="0"/>
              <a:t>extends </a:t>
            </a:r>
            <a:r>
              <a:rPr lang="en-IN" sz="2000" dirty="0" err="1"/>
              <a:t>MongoRepository</a:t>
            </a:r>
            <a:r>
              <a:rPr lang="en-IN" sz="2000" dirty="0"/>
              <a:t>&lt;Review, String&gt; { }</a:t>
            </a:r>
          </a:p>
          <a:p>
            <a:pPr marL="457200" lvl="1" indent="0">
              <a:buNone/>
            </a:pPr>
            <a:endParaRPr lang="en-IN" sz="2000" b="1" dirty="0"/>
          </a:p>
          <a:p>
            <a:pPr marL="457200" lvl="1" indent="0">
              <a:buNone/>
            </a:pPr>
            <a:r>
              <a:rPr lang="en-IN" sz="2000" b="1" dirty="0"/>
              <a:t>import</a:t>
            </a:r>
            <a:r>
              <a:rPr lang="en-IN" sz="2000" dirty="0"/>
              <a:t> </a:t>
            </a:r>
            <a:r>
              <a:rPr lang="en-IN" sz="2000" u="sng" dirty="0" err="1"/>
              <a:t>org.springframework.data.annotation.Id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r>
              <a:rPr lang="en-IN" sz="2000" dirty="0"/>
              <a:t>@Document("reviews")</a:t>
            </a:r>
          </a:p>
          <a:p>
            <a:pPr marL="45720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class</a:t>
            </a:r>
            <a:r>
              <a:rPr lang="en-IN" sz="2000" dirty="0"/>
              <a:t> Review {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@Id</a:t>
            </a:r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String id;</a:t>
            </a:r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String </a:t>
            </a:r>
            <a:r>
              <a:rPr lang="en-IN" sz="2000" dirty="0" err="1"/>
              <a:t>hotelName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b="1" dirty="0"/>
              <a:t>double</a:t>
            </a:r>
            <a:r>
              <a:rPr lang="en-IN" sz="2000" dirty="0"/>
              <a:t> rating;</a:t>
            </a:r>
          </a:p>
          <a:p>
            <a:pPr marL="457200" lvl="1" indent="0">
              <a:buNone/>
            </a:pPr>
            <a:r>
              <a:rPr lang="en-IN" sz="2000" dirty="0"/>
              <a:t>}</a:t>
            </a:r>
          </a:p>
          <a:p>
            <a:pPr lvl="1"/>
            <a:endParaRPr lang="en-US" sz="400" dirty="0"/>
          </a:p>
          <a:p>
            <a:pPr marL="400050" lvl="1" indent="0">
              <a:buNone/>
            </a:pPr>
            <a:r>
              <a:rPr lang="en-IN" sz="1800" u="sng" dirty="0" err="1">
                <a:solidFill>
                  <a:srgbClr val="C00000"/>
                </a:solidFill>
              </a:rPr>
              <a:t>spring.mongodb.uri</a:t>
            </a:r>
            <a:r>
              <a:rPr lang="en-IN" sz="1800" dirty="0">
                <a:solidFill>
                  <a:srgbClr val="C00000"/>
                </a:solidFill>
              </a:rPr>
              <a:t>=${</a:t>
            </a:r>
            <a:r>
              <a:rPr lang="en-IN" sz="1800" dirty="0" err="1">
                <a:solidFill>
                  <a:srgbClr val="C00000"/>
                </a:solidFill>
              </a:rPr>
              <a:t>url</a:t>
            </a:r>
            <a:r>
              <a:rPr lang="en-IN" sz="1800" dirty="0">
                <a:solidFill>
                  <a:srgbClr val="C00000"/>
                </a:solidFill>
              </a:rPr>
              <a:t>}</a:t>
            </a:r>
          </a:p>
          <a:p>
            <a:pPr marL="400050" lvl="1" indent="0">
              <a:buNone/>
            </a:pPr>
            <a:r>
              <a:rPr lang="en-IN" sz="1800" u="sng" dirty="0" err="1">
                <a:solidFill>
                  <a:srgbClr val="C00000"/>
                </a:solidFill>
              </a:rPr>
              <a:t>spring.mongodb.database</a:t>
            </a:r>
            <a:r>
              <a:rPr lang="en-IN" sz="1800" dirty="0">
                <a:solidFill>
                  <a:srgbClr val="C00000"/>
                </a:solidFill>
              </a:rPr>
              <a:t>=</a:t>
            </a:r>
            <a:r>
              <a:rPr lang="en-IN" sz="1800" dirty="0" err="1">
                <a:solidFill>
                  <a:srgbClr val="C00000"/>
                </a:solidFill>
              </a:rPr>
              <a:t>hoteldb</a:t>
            </a:r>
            <a:endParaRPr lang="en-IN" sz="1800" dirty="0">
              <a:solidFill>
                <a:srgbClr val="C00000"/>
              </a:solidFill>
            </a:endParaRPr>
          </a:p>
          <a:p>
            <a:pPr lvl="1"/>
            <a:endParaRPr lang="en-US" sz="400" dirty="0"/>
          </a:p>
        </p:txBody>
      </p:sp>
    </p:spTree>
    <p:extLst>
      <p:ext uri="{BB962C8B-B14F-4D97-AF65-F5344CB8AC3E}">
        <p14:creationId xmlns:p14="http://schemas.microsoft.com/office/powerpoint/2010/main" val="3569967414"/>
      </p:ext>
    </p:extLst>
  </p:cSld>
  <p:clrMapOvr>
    <a:masterClrMapping/>
  </p:clrMapOvr>
</p:sld>
</file>

<file path=ppt/theme/theme1.xml><?xml version="1.0" encoding="utf-8"?>
<a:theme xmlns:a="http://schemas.openxmlformats.org/drawingml/2006/main" name="vees">
  <a:themeElements>
    <a:clrScheme name="vees 14">
      <a:dk1>
        <a:srgbClr val="000000"/>
      </a:dk1>
      <a:lt1>
        <a:srgbClr val="FF99CC"/>
      </a:lt1>
      <a:dk2>
        <a:srgbClr val="1C1C1C"/>
      </a:dk2>
      <a:lt2>
        <a:srgbClr val="4D4D4D"/>
      </a:lt2>
      <a:accent1>
        <a:srgbClr val="FF0000"/>
      </a:accent1>
      <a:accent2>
        <a:srgbClr val="FF99CC"/>
      </a:accent2>
      <a:accent3>
        <a:srgbClr val="FFCAE2"/>
      </a:accent3>
      <a:accent4>
        <a:srgbClr val="000000"/>
      </a:accent4>
      <a:accent5>
        <a:srgbClr val="FFAAAA"/>
      </a:accent5>
      <a:accent6>
        <a:srgbClr val="E78AB9"/>
      </a:accent6>
      <a:hlink>
        <a:srgbClr val="9933FF"/>
      </a:hlink>
      <a:folHlink>
        <a:srgbClr val="44C63A"/>
      </a:folHlink>
    </a:clrScheme>
    <a:fontScheme name="ve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vees 1">
        <a:dk1>
          <a:srgbClr val="C0C0C0"/>
        </a:dk1>
        <a:lt1>
          <a:srgbClr val="FFFFFF"/>
        </a:lt1>
        <a:dk2>
          <a:srgbClr val="000099"/>
        </a:dk2>
        <a:lt2>
          <a:srgbClr val="CCECFF"/>
        </a:lt2>
        <a:accent1>
          <a:srgbClr val="FF3399"/>
        </a:accent1>
        <a:accent2>
          <a:srgbClr val="99CCFF"/>
        </a:accent2>
        <a:accent3>
          <a:srgbClr val="AAAACA"/>
        </a:accent3>
        <a:accent4>
          <a:srgbClr val="DADADA"/>
        </a:accent4>
        <a:accent5>
          <a:srgbClr val="FFADCA"/>
        </a:accent5>
        <a:accent6>
          <a:srgbClr val="8AB9E7"/>
        </a:accent6>
        <a:hlink>
          <a:srgbClr val="FF505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2">
        <a:dk1>
          <a:srgbClr val="000000"/>
        </a:dk1>
        <a:lt1>
          <a:srgbClr val="99CCFF"/>
        </a:lt1>
        <a:dk2>
          <a:srgbClr val="1C1C1C"/>
        </a:dk2>
        <a:lt2>
          <a:srgbClr val="4D4D4D"/>
        </a:lt2>
        <a:accent1>
          <a:srgbClr val="CC0066"/>
        </a:accent1>
        <a:accent2>
          <a:srgbClr val="3366FF"/>
        </a:accent2>
        <a:accent3>
          <a:srgbClr val="CAE2FF"/>
        </a:accent3>
        <a:accent4>
          <a:srgbClr val="000000"/>
        </a:accent4>
        <a:accent5>
          <a:srgbClr val="E2AAB8"/>
        </a:accent5>
        <a:accent6>
          <a:srgbClr val="2D5CE7"/>
        </a:accent6>
        <a:hlink>
          <a:srgbClr val="FF0000"/>
        </a:hlink>
        <a:folHlink>
          <a:srgbClr val="FF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3">
        <a:dk1>
          <a:srgbClr val="C0C0C0"/>
        </a:dk1>
        <a:lt1>
          <a:srgbClr val="FFFFFF"/>
        </a:lt1>
        <a:dk2>
          <a:srgbClr val="800000"/>
        </a:dk2>
        <a:lt2>
          <a:srgbClr val="FFCC99"/>
        </a:lt2>
        <a:accent1>
          <a:srgbClr val="FF9900"/>
        </a:accent1>
        <a:accent2>
          <a:srgbClr val="CC00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B90000"/>
        </a:accent6>
        <a:hlink>
          <a:srgbClr val="FF33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4">
        <a:dk1>
          <a:srgbClr val="000000"/>
        </a:dk1>
        <a:lt1>
          <a:srgbClr val="FF9966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6699"/>
        </a:accent2>
        <a:accent3>
          <a:srgbClr val="FFCAB8"/>
        </a:accent3>
        <a:accent4>
          <a:srgbClr val="000000"/>
        </a:accent4>
        <a:accent5>
          <a:srgbClr val="FFAAAA"/>
        </a:accent5>
        <a:accent6>
          <a:srgbClr val="E75C8A"/>
        </a:accent6>
        <a:hlink>
          <a:srgbClr val="CC00CC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5">
        <a:dk1>
          <a:srgbClr val="C0C0C0"/>
        </a:dk1>
        <a:lt1>
          <a:srgbClr val="FFFFFF"/>
        </a:lt1>
        <a:dk2>
          <a:srgbClr val="008000"/>
        </a:dk2>
        <a:lt2>
          <a:srgbClr val="CCECFF"/>
        </a:lt2>
        <a:accent1>
          <a:srgbClr val="0066FF"/>
        </a:accent1>
        <a:accent2>
          <a:srgbClr val="00FF00"/>
        </a:accent2>
        <a:accent3>
          <a:srgbClr val="AAC0AA"/>
        </a:accent3>
        <a:accent4>
          <a:srgbClr val="DADADA"/>
        </a:accent4>
        <a:accent5>
          <a:srgbClr val="AAB8FF"/>
        </a:accent5>
        <a:accent6>
          <a:srgbClr val="00E700"/>
        </a:accent6>
        <a:hlink>
          <a:srgbClr val="A29E00"/>
        </a:hlink>
        <a:folHlink>
          <a:srgbClr val="EA8B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6">
        <a:dk1>
          <a:srgbClr val="000000"/>
        </a:dk1>
        <a:lt1>
          <a:srgbClr val="97E183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99FF99"/>
        </a:accent2>
        <a:accent3>
          <a:srgbClr val="C9EEC1"/>
        </a:accent3>
        <a:accent4>
          <a:srgbClr val="000000"/>
        </a:accent4>
        <a:accent5>
          <a:srgbClr val="AAB8FF"/>
        </a:accent5>
        <a:accent6>
          <a:srgbClr val="8AE78A"/>
        </a:accent6>
        <a:hlink>
          <a:srgbClr val="CC9900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7">
        <a:dk1>
          <a:srgbClr val="C0C0C0"/>
        </a:dk1>
        <a:lt1>
          <a:srgbClr val="FFFFFF"/>
        </a:lt1>
        <a:dk2>
          <a:srgbClr val="008080"/>
        </a:dk2>
        <a:lt2>
          <a:srgbClr val="CCECFF"/>
        </a:lt2>
        <a:accent1>
          <a:srgbClr val="29A329"/>
        </a:accent1>
        <a:accent2>
          <a:srgbClr val="00FFFF"/>
        </a:accent2>
        <a:accent3>
          <a:srgbClr val="AAC0C0"/>
        </a:accent3>
        <a:accent4>
          <a:srgbClr val="DADADA"/>
        </a:accent4>
        <a:accent5>
          <a:srgbClr val="ACCEAC"/>
        </a:accent5>
        <a:accent6>
          <a:srgbClr val="00E7E7"/>
        </a:accent6>
        <a:hlink>
          <a:srgbClr val="3B6AFF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8">
        <a:dk1>
          <a:srgbClr val="000000"/>
        </a:dk1>
        <a:lt1>
          <a:srgbClr val="64F0BE"/>
        </a:lt1>
        <a:dk2>
          <a:srgbClr val="1C1C1C"/>
        </a:dk2>
        <a:lt2>
          <a:srgbClr val="4D4D4D"/>
        </a:lt2>
        <a:accent1>
          <a:srgbClr val="008000"/>
        </a:accent1>
        <a:accent2>
          <a:srgbClr val="00FFFF"/>
        </a:accent2>
        <a:accent3>
          <a:srgbClr val="B8F6DB"/>
        </a:accent3>
        <a:accent4>
          <a:srgbClr val="000000"/>
        </a:accent4>
        <a:accent5>
          <a:srgbClr val="AAC0AA"/>
        </a:accent5>
        <a:accent6>
          <a:srgbClr val="00E7E7"/>
        </a:accent6>
        <a:hlink>
          <a:srgbClr val="3366FF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9">
        <a:dk1>
          <a:srgbClr val="C0C0C0"/>
        </a:dk1>
        <a:lt1>
          <a:srgbClr val="FFFFFF"/>
        </a:lt1>
        <a:dk2>
          <a:srgbClr val="CC9900"/>
        </a:dk2>
        <a:lt2>
          <a:srgbClr val="FFFFCC"/>
        </a:lt2>
        <a:accent1>
          <a:srgbClr val="FF3300"/>
        </a:accent1>
        <a:accent2>
          <a:srgbClr val="FFCC66"/>
        </a:accent2>
        <a:accent3>
          <a:srgbClr val="E2CAAA"/>
        </a:accent3>
        <a:accent4>
          <a:srgbClr val="DADADA"/>
        </a:accent4>
        <a:accent5>
          <a:srgbClr val="FFADAA"/>
        </a:accent5>
        <a:accent6>
          <a:srgbClr val="E7B95C"/>
        </a:accent6>
        <a:hlink>
          <a:srgbClr val="008080"/>
        </a:hlink>
        <a:folHlink>
          <a:srgbClr val="33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0">
        <a:dk1>
          <a:srgbClr val="000000"/>
        </a:dk1>
        <a:lt1>
          <a:srgbClr val="EFF274"/>
        </a:lt1>
        <a:dk2>
          <a:srgbClr val="1C1C1C"/>
        </a:dk2>
        <a:lt2>
          <a:srgbClr val="4D4D4D"/>
        </a:lt2>
        <a:accent1>
          <a:srgbClr val="9966FF"/>
        </a:accent1>
        <a:accent2>
          <a:srgbClr val="FFFFCC"/>
        </a:accent2>
        <a:accent3>
          <a:srgbClr val="F6F7BC"/>
        </a:accent3>
        <a:accent4>
          <a:srgbClr val="000000"/>
        </a:accent4>
        <a:accent5>
          <a:srgbClr val="CAB8FF"/>
        </a:accent5>
        <a:accent6>
          <a:srgbClr val="E7E7B9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1">
        <a:dk1>
          <a:srgbClr val="C0C0C0"/>
        </a:dk1>
        <a:lt1>
          <a:srgbClr val="FFFFFF"/>
        </a:lt1>
        <a:dk2>
          <a:srgbClr val="6600CC"/>
        </a:dk2>
        <a:lt2>
          <a:srgbClr val="CCCCFF"/>
        </a:lt2>
        <a:accent1>
          <a:srgbClr val="D60093"/>
        </a:accent1>
        <a:accent2>
          <a:srgbClr val="9999FF"/>
        </a:accent2>
        <a:accent3>
          <a:srgbClr val="B8AAE2"/>
        </a:accent3>
        <a:accent4>
          <a:srgbClr val="DADADA"/>
        </a:accent4>
        <a:accent5>
          <a:srgbClr val="E8AAC8"/>
        </a:accent5>
        <a:accent6>
          <a:srgbClr val="8A8AE7"/>
        </a:accent6>
        <a:hlink>
          <a:srgbClr val="008000"/>
        </a:hlink>
        <a:folHlink>
          <a:srgbClr val="FF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2">
        <a:dk1>
          <a:srgbClr val="000000"/>
        </a:dk1>
        <a:lt1>
          <a:srgbClr val="CC99FF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CCCCFF"/>
        </a:accent2>
        <a:accent3>
          <a:srgbClr val="E2CAFF"/>
        </a:accent3>
        <a:accent4>
          <a:srgbClr val="000000"/>
        </a:accent4>
        <a:accent5>
          <a:srgbClr val="AAB8FF"/>
        </a:accent5>
        <a:accent6>
          <a:srgbClr val="B9B9E7"/>
        </a:accent6>
        <a:hlink>
          <a:srgbClr val="FF0066"/>
        </a:hlink>
        <a:folHlink>
          <a:srgbClr val="66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3">
        <a:dk1>
          <a:srgbClr val="C0C0C0"/>
        </a:dk1>
        <a:lt1>
          <a:srgbClr val="FFFFFF"/>
        </a:lt1>
        <a:dk2>
          <a:srgbClr val="CC0066"/>
        </a:dk2>
        <a:lt2>
          <a:srgbClr val="FFCCCC"/>
        </a:lt2>
        <a:accent1>
          <a:srgbClr val="993366"/>
        </a:accent1>
        <a:accent2>
          <a:srgbClr val="FF9999"/>
        </a:accent2>
        <a:accent3>
          <a:srgbClr val="E2AAB8"/>
        </a:accent3>
        <a:accent4>
          <a:srgbClr val="DADADA"/>
        </a:accent4>
        <a:accent5>
          <a:srgbClr val="CAADB8"/>
        </a:accent5>
        <a:accent6>
          <a:srgbClr val="E78A8A"/>
        </a:accent6>
        <a:hlink>
          <a:srgbClr val="009999"/>
        </a:hlink>
        <a:folHlink>
          <a:srgbClr val="FF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4">
        <a:dk1>
          <a:srgbClr val="000000"/>
        </a:dk1>
        <a:lt1>
          <a:srgbClr val="FF99CC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99CC"/>
        </a:accent2>
        <a:accent3>
          <a:srgbClr val="FFCAE2"/>
        </a:accent3>
        <a:accent4>
          <a:srgbClr val="000000"/>
        </a:accent4>
        <a:accent5>
          <a:srgbClr val="FFAAAA"/>
        </a:accent5>
        <a:accent6>
          <a:srgbClr val="E78AB9"/>
        </a:accent6>
        <a:hlink>
          <a:srgbClr val="9933FF"/>
        </a:hlink>
        <a:folHlink>
          <a:srgbClr val="44C63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5">
        <a:dk1>
          <a:srgbClr val="C0C0C0"/>
        </a:dk1>
        <a:lt1>
          <a:srgbClr val="FFFFFF"/>
        </a:lt1>
        <a:dk2>
          <a:srgbClr val="000000"/>
        </a:dk2>
        <a:lt2>
          <a:srgbClr val="DDDDDD"/>
        </a:lt2>
        <a:accent1>
          <a:srgbClr val="4D4D4D"/>
        </a:accent1>
        <a:accent2>
          <a:srgbClr val="C0C0C0"/>
        </a:accent2>
        <a:accent3>
          <a:srgbClr val="AAAAAA"/>
        </a:accent3>
        <a:accent4>
          <a:srgbClr val="DADADA"/>
        </a:accent4>
        <a:accent5>
          <a:srgbClr val="B2B2B2"/>
        </a:accent5>
        <a:accent6>
          <a:srgbClr val="AEAEAE"/>
        </a:accent6>
        <a:hlink>
          <a:srgbClr val="777777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6">
        <a:dk1>
          <a:srgbClr val="000000"/>
        </a:dk1>
        <a:lt1>
          <a:srgbClr val="FFFFFF"/>
        </a:lt1>
        <a:dk2>
          <a:srgbClr val="1C1C1C"/>
        </a:dk2>
        <a:lt2>
          <a:srgbClr val="4D4D4D"/>
        </a:lt2>
        <a:accent1>
          <a:srgbClr val="4D4D4D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B2B2B2"/>
        </a:accent5>
        <a:accent6>
          <a:srgbClr val="C8C8C8"/>
        </a:accent6>
        <a:hlink>
          <a:srgbClr val="808080"/>
        </a:hlink>
        <a:folHlink>
          <a:srgbClr val="F8F8F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9505</TotalTime>
  <Words>2546</Words>
  <Application>Microsoft Macintosh PowerPoint</Application>
  <PresentationFormat>On-screen Show (4:3)</PresentationFormat>
  <Paragraphs>285</Paragraphs>
  <Slides>34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  <vt:variant>
        <vt:lpstr>Custom Shows</vt:lpstr>
      </vt:variant>
      <vt:variant>
        <vt:i4>1</vt:i4>
      </vt:variant>
    </vt:vector>
  </HeadingPairs>
  <TitlesOfParts>
    <vt:vector size="38" baseType="lpstr">
      <vt:lpstr>Arial</vt:lpstr>
      <vt:lpstr>Times New Roman</vt:lpstr>
      <vt:lpstr>vees</vt:lpstr>
      <vt:lpstr>Azure Databases and Data Services</vt:lpstr>
      <vt:lpstr>Cloud Computing</vt:lpstr>
      <vt:lpstr>Characteristics</vt:lpstr>
      <vt:lpstr>Public Cloud</vt:lpstr>
      <vt:lpstr>Private Cloud </vt:lpstr>
      <vt:lpstr> Hybrid Cloud </vt:lpstr>
      <vt:lpstr>Service Model</vt:lpstr>
      <vt:lpstr> Cloud Service Providers </vt:lpstr>
      <vt:lpstr> Data Center and Virtualization </vt:lpstr>
      <vt:lpstr>Classic and Virtualized Data Centers</vt:lpstr>
      <vt:lpstr>Virtualization over Classic Data Centers</vt:lpstr>
      <vt:lpstr> Amazon Web Services (AWS)  </vt:lpstr>
      <vt:lpstr> Microsoft Azure </vt:lpstr>
      <vt:lpstr>Google Cloud Platform (GCP)  </vt:lpstr>
      <vt:lpstr>Availability Zones</vt:lpstr>
      <vt:lpstr>Availability Zones</vt:lpstr>
      <vt:lpstr>Comparison of Providers</vt:lpstr>
      <vt:lpstr> Azure Global Infrastructure </vt:lpstr>
      <vt:lpstr> Portal, CLI, PowerShell </vt:lpstr>
      <vt:lpstr> Portal, CLI, PowerShell </vt:lpstr>
      <vt:lpstr>Azure Management Tools </vt:lpstr>
      <vt:lpstr>Azure CLI</vt:lpstr>
      <vt:lpstr>Azure PowerShell</vt:lpstr>
      <vt:lpstr>Azure Cloud Shell</vt:lpstr>
      <vt:lpstr>Azure SQL Database</vt:lpstr>
      <vt:lpstr>Azure SQL Database</vt:lpstr>
      <vt:lpstr>Create Tables</vt:lpstr>
      <vt:lpstr>Cosmos DB</vt:lpstr>
      <vt:lpstr>Cosmos DB</vt:lpstr>
      <vt:lpstr>When to Choose</vt:lpstr>
      <vt:lpstr>Multi Model </vt:lpstr>
      <vt:lpstr>Migration Plans</vt:lpstr>
      <vt:lpstr>Migration Plans</vt:lpstr>
      <vt:lpstr>Demo</vt:lpstr>
      <vt:lpstr>Sapient</vt:lpstr>
    </vt:vector>
  </TitlesOfParts>
  <Company>Meta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</dc:title>
  <dc:subject>Spring Core Package</dc:subject>
  <dc:creator>K.Srivatsan</dc:creator>
  <cp:lastModifiedBy>Srivatsan Krishnamachari</cp:lastModifiedBy>
  <cp:revision>585</cp:revision>
  <dcterms:created xsi:type="dcterms:W3CDTF">1998-10-26T19:35:11Z</dcterms:created>
  <dcterms:modified xsi:type="dcterms:W3CDTF">2026-02-04T17:03:05Z</dcterms:modified>
</cp:coreProperties>
</file>