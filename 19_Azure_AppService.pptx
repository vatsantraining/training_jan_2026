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23"/>
  </p:notesMasterIdLst>
  <p:sldIdLst>
    <p:sldId id="405" r:id="rId2"/>
    <p:sldId id="406" r:id="rId3"/>
    <p:sldId id="407" r:id="rId4"/>
    <p:sldId id="408" r:id="rId5"/>
    <p:sldId id="409" r:id="rId6"/>
    <p:sldId id="353" r:id="rId7"/>
    <p:sldId id="372" r:id="rId8"/>
    <p:sldId id="373" r:id="rId9"/>
    <p:sldId id="423" r:id="rId10"/>
    <p:sldId id="424" r:id="rId11"/>
    <p:sldId id="350" r:id="rId12"/>
    <p:sldId id="420" r:id="rId13"/>
    <p:sldId id="422" r:id="rId14"/>
    <p:sldId id="421" r:id="rId15"/>
    <p:sldId id="425" r:id="rId16"/>
    <p:sldId id="430" r:id="rId17"/>
    <p:sldId id="426" r:id="rId18"/>
    <p:sldId id="427" r:id="rId19"/>
    <p:sldId id="428" r:id="rId20"/>
    <p:sldId id="429" r:id="rId21"/>
    <p:sldId id="431" r:id="rId22"/>
  </p:sldIdLst>
  <p:sldSz cx="9144000" cy="6858000" type="screen4x3"/>
  <p:notesSz cx="6858000" cy="9144000"/>
  <p:custShowLst>
    <p:custShow name="Sapient" id="0">
      <p:sldLst/>
    </p:custShow>
  </p:custShow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57" autoAdjust="0"/>
    <p:restoredTop sz="92877" autoAdjust="0"/>
  </p:normalViewPr>
  <p:slideViewPr>
    <p:cSldViewPr>
      <p:cViewPr varScale="1">
        <p:scale>
          <a:sx n="118" d="100"/>
          <a:sy n="118" d="100"/>
        </p:scale>
        <p:origin x="1208"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5946"/>
    </p:cViewPr>
  </p:sorterViewPr>
  <p:notesViewPr>
    <p:cSldViewPr>
      <p:cViewPr varScale="1">
        <p:scale>
          <a:sx n="96" d="100"/>
          <a:sy n="96" d="100"/>
        </p:scale>
        <p:origin x="3808" y="-3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0CDA7B5-84CE-BC47-35D0-6DAA7DD1501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41987" name="Rectangle 3">
            <a:extLst>
              <a:ext uri="{FF2B5EF4-FFF2-40B4-BE49-F238E27FC236}">
                <a16:creationId xmlns:a16="http://schemas.microsoft.com/office/drawing/2014/main" id="{925E5A4F-6E95-0E9D-B761-4A06DECDEA8B}"/>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48132" name="Rectangle 4">
            <a:extLst>
              <a:ext uri="{FF2B5EF4-FFF2-40B4-BE49-F238E27FC236}">
                <a16:creationId xmlns:a16="http://schemas.microsoft.com/office/drawing/2014/main" id="{2F489A6A-4A57-44DB-3420-BEF67A16CC5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9" name="Rectangle 5">
            <a:extLst>
              <a:ext uri="{FF2B5EF4-FFF2-40B4-BE49-F238E27FC236}">
                <a16:creationId xmlns:a16="http://schemas.microsoft.com/office/drawing/2014/main" id="{8FF7DFC6-0E08-123C-D2D2-3A0864B8C4B1}"/>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990" name="Rectangle 6">
            <a:extLst>
              <a:ext uri="{FF2B5EF4-FFF2-40B4-BE49-F238E27FC236}">
                <a16:creationId xmlns:a16="http://schemas.microsoft.com/office/drawing/2014/main" id="{E5E5608D-8B4D-1E5C-F069-773EC60B3DEC}"/>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41991" name="Rectangle 7">
            <a:extLst>
              <a:ext uri="{FF2B5EF4-FFF2-40B4-BE49-F238E27FC236}">
                <a16:creationId xmlns:a16="http://schemas.microsoft.com/office/drawing/2014/main" id="{14E89883-9BEC-C3E2-5012-04091FD1EEA8}"/>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defRPr>
            </a:lvl1pPr>
          </a:lstStyle>
          <a:p>
            <a:fld id="{798EC9C9-27F2-834F-ADEB-508D93780CE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dirty="0"/>
            </a:br>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1</a:t>
            </a:fld>
            <a:endParaRPr lang="en-US" altLang="en-US"/>
          </a:p>
        </p:txBody>
      </p:sp>
    </p:spTree>
    <p:extLst>
      <p:ext uri="{BB962C8B-B14F-4D97-AF65-F5344CB8AC3E}">
        <p14:creationId xmlns:p14="http://schemas.microsoft.com/office/powerpoint/2010/main" val="3695648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dirty="0"/>
            </a:br>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6</a:t>
            </a:fld>
            <a:endParaRPr lang="en-US" altLang="en-US"/>
          </a:p>
        </p:txBody>
      </p:sp>
    </p:spTree>
    <p:extLst>
      <p:ext uri="{BB962C8B-B14F-4D97-AF65-F5344CB8AC3E}">
        <p14:creationId xmlns:p14="http://schemas.microsoft.com/office/powerpoint/2010/main" val="1500683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9</a:t>
            </a:fld>
            <a:endParaRPr lang="en-US" altLang="en-US"/>
          </a:p>
        </p:txBody>
      </p:sp>
    </p:spTree>
    <p:extLst>
      <p:ext uri="{BB962C8B-B14F-4D97-AF65-F5344CB8AC3E}">
        <p14:creationId xmlns:p14="http://schemas.microsoft.com/office/powerpoint/2010/main" val="4131232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12</a:t>
            </a:fld>
            <a:endParaRPr lang="en-US" altLang="en-US"/>
          </a:p>
        </p:txBody>
      </p:sp>
    </p:spTree>
    <p:extLst>
      <p:ext uri="{BB962C8B-B14F-4D97-AF65-F5344CB8AC3E}">
        <p14:creationId xmlns:p14="http://schemas.microsoft.com/office/powerpoint/2010/main" val="654926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13</a:t>
            </a:fld>
            <a:endParaRPr lang="en-US" altLang="en-US"/>
          </a:p>
        </p:txBody>
      </p:sp>
    </p:spTree>
    <p:extLst>
      <p:ext uri="{BB962C8B-B14F-4D97-AF65-F5344CB8AC3E}">
        <p14:creationId xmlns:p14="http://schemas.microsoft.com/office/powerpoint/2010/main" val="1995438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14</a:t>
            </a:fld>
            <a:endParaRPr lang="en-US" altLang="en-US"/>
          </a:p>
        </p:txBody>
      </p:sp>
    </p:spTree>
    <p:extLst>
      <p:ext uri="{BB962C8B-B14F-4D97-AF65-F5344CB8AC3E}">
        <p14:creationId xmlns:p14="http://schemas.microsoft.com/office/powerpoint/2010/main" val="1437220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5334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15</a:t>
            </a:fld>
            <a:endParaRPr lang="en-US" altLang="en-US"/>
          </a:p>
        </p:txBody>
      </p:sp>
    </p:spTree>
    <p:extLst>
      <p:ext uri="{BB962C8B-B14F-4D97-AF65-F5344CB8AC3E}">
        <p14:creationId xmlns:p14="http://schemas.microsoft.com/office/powerpoint/2010/main" val="720890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17</a:t>
            </a:fld>
            <a:endParaRPr lang="en-US" altLang="en-US"/>
          </a:p>
        </p:txBody>
      </p:sp>
    </p:spTree>
    <p:extLst>
      <p:ext uri="{BB962C8B-B14F-4D97-AF65-F5344CB8AC3E}">
        <p14:creationId xmlns:p14="http://schemas.microsoft.com/office/powerpoint/2010/main" val="756888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18</a:t>
            </a:fld>
            <a:endParaRPr lang="en-US" altLang="en-US"/>
          </a:p>
        </p:txBody>
      </p:sp>
    </p:spTree>
    <p:extLst>
      <p:ext uri="{BB962C8B-B14F-4D97-AF65-F5344CB8AC3E}">
        <p14:creationId xmlns:p14="http://schemas.microsoft.com/office/powerpoint/2010/main" val="1946456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19</a:t>
            </a:fld>
            <a:endParaRPr lang="en-US" altLang="en-US"/>
          </a:p>
        </p:txBody>
      </p:sp>
    </p:spTree>
    <p:extLst>
      <p:ext uri="{BB962C8B-B14F-4D97-AF65-F5344CB8AC3E}">
        <p14:creationId xmlns:p14="http://schemas.microsoft.com/office/powerpoint/2010/main" val="3372208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EC9C9-27F2-834F-ADEB-508D93780CE3}" type="slidenum">
              <a:rPr lang="en-US" altLang="en-US" smtClean="0"/>
              <a:pPr/>
              <a:t>20</a:t>
            </a:fld>
            <a:endParaRPr lang="en-US" altLang="en-US"/>
          </a:p>
        </p:txBody>
      </p:sp>
    </p:spTree>
    <p:extLst>
      <p:ext uri="{BB962C8B-B14F-4D97-AF65-F5344CB8AC3E}">
        <p14:creationId xmlns:p14="http://schemas.microsoft.com/office/powerpoint/2010/main" val="452860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277308B0-7116-22B3-CAC1-869DFBAA8DB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57C3D1B-C534-DC8B-5CD6-5DDEDD2C3DB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71E0B38-EDD9-ED15-A95A-E85DCEF7E384}"/>
              </a:ext>
            </a:extLst>
          </p:cNvPr>
          <p:cNvSpPr>
            <a:spLocks noGrp="1" noChangeArrowheads="1"/>
          </p:cNvSpPr>
          <p:nvPr>
            <p:ph type="sldNum" sz="quarter" idx="12"/>
          </p:nvPr>
        </p:nvSpPr>
        <p:spPr>
          <a:ln/>
        </p:spPr>
        <p:txBody>
          <a:bodyPr/>
          <a:lstStyle>
            <a:lvl1pPr>
              <a:defRPr/>
            </a:lvl1pPr>
          </a:lstStyle>
          <a:p>
            <a:fld id="{4AAD7466-95B0-BD45-9E72-7B3AAF928602}" type="slidenum">
              <a:rPr lang="en-US" altLang="en-US"/>
              <a:pPr/>
              <a:t>‹#›</a:t>
            </a:fld>
            <a:endParaRPr lang="en-US" altLang="en-US"/>
          </a:p>
        </p:txBody>
      </p:sp>
    </p:spTree>
    <p:extLst>
      <p:ext uri="{BB962C8B-B14F-4D97-AF65-F5344CB8AC3E}">
        <p14:creationId xmlns:p14="http://schemas.microsoft.com/office/powerpoint/2010/main" val="4120885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FC0A22B-7453-B45F-3E63-A6611A6E25C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2439FE0-5FEA-8733-09A9-E2A023219EC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79357CF-BB8E-7568-093B-9FF0F4DEAD2C}"/>
              </a:ext>
            </a:extLst>
          </p:cNvPr>
          <p:cNvSpPr>
            <a:spLocks noGrp="1" noChangeArrowheads="1"/>
          </p:cNvSpPr>
          <p:nvPr>
            <p:ph type="sldNum" sz="quarter" idx="12"/>
          </p:nvPr>
        </p:nvSpPr>
        <p:spPr>
          <a:ln/>
        </p:spPr>
        <p:txBody>
          <a:bodyPr/>
          <a:lstStyle>
            <a:lvl1pPr>
              <a:defRPr/>
            </a:lvl1pPr>
          </a:lstStyle>
          <a:p>
            <a:fld id="{63FD749D-B6D1-D747-B0B5-F3CFA98827A8}" type="slidenum">
              <a:rPr lang="en-US" altLang="en-US"/>
              <a:pPr/>
              <a:t>‹#›</a:t>
            </a:fld>
            <a:endParaRPr lang="en-US" altLang="en-US"/>
          </a:p>
        </p:txBody>
      </p:sp>
    </p:spTree>
    <p:extLst>
      <p:ext uri="{BB962C8B-B14F-4D97-AF65-F5344CB8AC3E}">
        <p14:creationId xmlns:p14="http://schemas.microsoft.com/office/powerpoint/2010/main" val="3101699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B72974AC-D2EA-66CB-6871-28D2186D9BA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E47E1DA-71B8-F1CB-B6C0-D445AB9CFDE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24C7A3D-CB4C-9F16-DE06-FEB67D2AA7E3}"/>
              </a:ext>
            </a:extLst>
          </p:cNvPr>
          <p:cNvSpPr>
            <a:spLocks noGrp="1" noChangeArrowheads="1"/>
          </p:cNvSpPr>
          <p:nvPr>
            <p:ph type="sldNum" sz="quarter" idx="12"/>
          </p:nvPr>
        </p:nvSpPr>
        <p:spPr>
          <a:ln/>
        </p:spPr>
        <p:txBody>
          <a:bodyPr/>
          <a:lstStyle>
            <a:lvl1pPr>
              <a:defRPr/>
            </a:lvl1pPr>
          </a:lstStyle>
          <a:p>
            <a:fld id="{923E4FFD-09B0-9C45-B5E7-034E3C2773F7}" type="slidenum">
              <a:rPr lang="en-US" altLang="en-US"/>
              <a:pPr/>
              <a:t>‹#›</a:t>
            </a:fld>
            <a:endParaRPr lang="en-US" altLang="en-US"/>
          </a:p>
        </p:txBody>
      </p:sp>
    </p:spTree>
    <p:extLst>
      <p:ext uri="{BB962C8B-B14F-4D97-AF65-F5344CB8AC3E}">
        <p14:creationId xmlns:p14="http://schemas.microsoft.com/office/powerpoint/2010/main" val="37774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66800"/>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66800"/>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A9BE95A-E3AF-F499-6855-2DE6287EEF0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0F3176B-F025-5242-D94E-758A320643A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F0C04A4-DEB3-E4DD-05C4-1002A206E388}"/>
              </a:ext>
            </a:extLst>
          </p:cNvPr>
          <p:cNvSpPr>
            <a:spLocks noGrp="1" noChangeArrowheads="1"/>
          </p:cNvSpPr>
          <p:nvPr>
            <p:ph type="sldNum" sz="quarter" idx="12"/>
          </p:nvPr>
        </p:nvSpPr>
        <p:spPr>
          <a:ln/>
        </p:spPr>
        <p:txBody>
          <a:bodyPr/>
          <a:lstStyle>
            <a:lvl1pPr>
              <a:defRPr/>
            </a:lvl1pPr>
          </a:lstStyle>
          <a:p>
            <a:fld id="{F46C4D83-8D77-1D42-A1CF-9A4D8660CD9E}" type="slidenum">
              <a:rPr lang="en-US" altLang="en-US"/>
              <a:pPr/>
              <a:t>‹#›</a:t>
            </a:fld>
            <a:endParaRPr lang="en-US" altLang="en-US"/>
          </a:p>
        </p:txBody>
      </p:sp>
    </p:spTree>
    <p:extLst>
      <p:ext uri="{BB962C8B-B14F-4D97-AF65-F5344CB8AC3E}">
        <p14:creationId xmlns:p14="http://schemas.microsoft.com/office/powerpoint/2010/main" val="1302147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DAECD182-CF33-86BF-F682-E33A1593A685}"/>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A0527739-3DEB-CDBC-0466-A3372F86AE4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699434FE-4CFC-6214-29D1-893A70EAC13B}"/>
              </a:ext>
            </a:extLst>
          </p:cNvPr>
          <p:cNvSpPr>
            <a:spLocks noGrp="1" noChangeArrowheads="1"/>
          </p:cNvSpPr>
          <p:nvPr>
            <p:ph type="sldNum" sz="quarter" idx="12"/>
          </p:nvPr>
        </p:nvSpPr>
        <p:spPr>
          <a:ln/>
        </p:spPr>
        <p:txBody>
          <a:bodyPr/>
          <a:lstStyle>
            <a:lvl1pPr>
              <a:defRPr/>
            </a:lvl1pPr>
          </a:lstStyle>
          <a:p>
            <a:fld id="{CC28968C-3380-1F48-ABFD-5B99F06F17DD}" type="slidenum">
              <a:rPr lang="en-US" altLang="en-US"/>
              <a:pPr/>
              <a:t>‹#›</a:t>
            </a:fld>
            <a:endParaRPr lang="en-US" altLang="en-US"/>
          </a:p>
        </p:txBody>
      </p:sp>
    </p:spTree>
    <p:extLst>
      <p:ext uri="{BB962C8B-B14F-4D97-AF65-F5344CB8AC3E}">
        <p14:creationId xmlns:p14="http://schemas.microsoft.com/office/powerpoint/2010/main" val="1269241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1C4C512-90B9-81EE-EE23-0CAE4F0852C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1BB4F57-64F8-8DAD-4BCB-9AB7B7BDB22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E9C09C0-C592-E1A7-C1D3-A110BBDD3A1B}"/>
              </a:ext>
            </a:extLst>
          </p:cNvPr>
          <p:cNvSpPr>
            <a:spLocks noGrp="1" noChangeArrowheads="1"/>
          </p:cNvSpPr>
          <p:nvPr>
            <p:ph type="sldNum" sz="quarter" idx="12"/>
          </p:nvPr>
        </p:nvSpPr>
        <p:spPr>
          <a:ln/>
        </p:spPr>
        <p:txBody>
          <a:bodyPr/>
          <a:lstStyle>
            <a:lvl1pPr>
              <a:defRPr/>
            </a:lvl1pPr>
          </a:lstStyle>
          <a:p>
            <a:fld id="{69843002-F668-1C44-BAAE-39E2C1B1811F}" type="slidenum">
              <a:rPr lang="en-US" altLang="en-US"/>
              <a:pPr/>
              <a:t>‹#›</a:t>
            </a:fld>
            <a:endParaRPr lang="en-US" altLang="en-US"/>
          </a:p>
        </p:txBody>
      </p:sp>
    </p:spTree>
    <p:extLst>
      <p:ext uri="{BB962C8B-B14F-4D97-AF65-F5344CB8AC3E}">
        <p14:creationId xmlns:p14="http://schemas.microsoft.com/office/powerpoint/2010/main" val="1480243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FBF7B4E-0153-8C06-FF97-39FB5C30B65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675E3409-8C2C-7F79-9AB1-2D96A00A8E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2E8103D3-8F4B-3E8F-57A2-BA8701F8FC5D}"/>
              </a:ext>
            </a:extLst>
          </p:cNvPr>
          <p:cNvSpPr>
            <a:spLocks noGrp="1" noChangeArrowheads="1"/>
          </p:cNvSpPr>
          <p:nvPr>
            <p:ph type="sldNum" sz="quarter" idx="12"/>
          </p:nvPr>
        </p:nvSpPr>
        <p:spPr>
          <a:ln/>
        </p:spPr>
        <p:txBody>
          <a:bodyPr/>
          <a:lstStyle>
            <a:lvl1pPr>
              <a:defRPr/>
            </a:lvl1pPr>
          </a:lstStyle>
          <a:p>
            <a:fld id="{B5DE55D2-0803-C84E-B34D-8549E3B204E5}" type="slidenum">
              <a:rPr lang="en-US" altLang="en-US"/>
              <a:pPr/>
              <a:t>‹#›</a:t>
            </a:fld>
            <a:endParaRPr lang="en-US" altLang="en-US"/>
          </a:p>
        </p:txBody>
      </p:sp>
    </p:spTree>
    <p:extLst>
      <p:ext uri="{BB962C8B-B14F-4D97-AF65-F5344CB8AC3E}">
        <p14:creationId xmlns:p14="http://schemas.microsoft.com/office/powerpoint/2010/main" val="3057964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4E99C02-44DD-5B6B-B8CF-B179E376E71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CE61AC9-D2FB-C975-FA1B-07A9B6ADCBA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640EF96-03FD-1513-401A-AD3B6290CEDA}"/>
              </a:ext>
            </a:extLst>
          </p:cNvPr>
          <p:cNvSpPr>
            <a:spLocks noGrp="1" noChangeArrowheads="1"/>
          </p:cNvSpPr>
          <p:nvPr>
            <p:ph type="sldNum" sz="quarter" idx="12"/>
          </p:nvPr>
        </p:nvSpPr>
        <p:spPr>
          <a:ln/>
        </p:spPr>
        <p:txBody>
          <a:bodyPr/>
          <a:lstStyle>
            <a:lvl1pPr>
              <a:defRPr/>
            </a:lvl1pPr>
          </a:lstStyle>
          <a:p>
            <a:fld id="{3D82828D-D58D-7641-9692-FE73173E9141}" type="slidenum">
              <a:rPr lang="en-US" altLang="en-US"/>
              <a:pPr/>
              <a:t>‹#›</a:t>
            </a:fld>
            <a:endParaRPr lang="en-US" altLang="en-US"/>
          </a:p>
        </p:txBody>
      </p:sp>
    </p:spTree>
    <p:extLst>
      <p:ext uri="{BB962C8B-B14F-4D97-AF65-F5344CB8AC3E}">
        <p14:creationId xmlns:p14="http://schemas.microsoft.com/office/powerpoint/2010/main" val="1494374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43E0E9B-573E-FCD5-A2DA-95F981718F0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5D9F6F4-F72F-63B9-0CFD-423085EB91D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1D9F9B3-884B-BE8B-411A-C160AFD57277}"/>
              </a:ext>
            </a:extLst>
          </p:cNvPr>
          <p:cNvSpPr>
            <a:spLocks noGrp="1" noChangeArrowheads="1"/>
          </p:cNvSpPr>
          <p:nvPr>
            <p:ph type="sldNum" sz="quarter" idx="12"/>
          </p:nvPr>
        </p:nvSpPr>
        <p:spPr>
          <a:ln/>
        </p:spPr>
        <p:txBody>
          <a:bodyPr/>
          <a:lstStyle>
            <a:lvl1pPr>
              <a:defRPr/>
            </a:lvl1pPr>
          </a:lstStyle>
          <a:p>
            <a:fld id="{F5099C85-02A6-6C4E-B78C-FE6BCA97326E}" type="slidenum">
              <a:rPr lang="en-US" altLang="en-US"/>
              <a:pPr/>
              <a:t>‹#›</a:t>
            </a:fld>
            <a:endParaRPr lang="en-US" altLang="en-US"/>
          </a:p>
        </p:txBody>
      </p:sp>
    </p:spTree>
    <p:extLst>
      <p:ext uri="{BB962C8B-B14F-4D97-AF65-F5344CB8AC3E}">
        <p14:creationId xmlns:p14="http://schemas.microsoft.com/office/powerpoint/2010/main" val="1494659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0897240-C485-25E9-C5E2-B3E0A66CA29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FAE86A3-3F29-0CFF-32ED-A2E62B85D38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D2220FD-0382-B8A6-9EE7-4F6026EC7798}"/>
              </a:ext>
            </a:extLst>
          </p:cNvPr>
          <p:cNvSpPr>
            <a:spLocks noGrp="1" noChangeArrowheads="1"/>
          </p:cNvSpPr>
          <p:nvPr>
            <p:ph type="sldNum" sz="quarter" idx="12"/>
          </p:nvPr>
        </p:nvSpPr>
        <p:spPr>
          <a:ln/>
        </p:spPr>
        <p:txBody>
          <a:bodyPr/>
          <a:lstStyle>
            <a:lvl1pPr>
              <a:defRPr/>
            </a:lvl1pPr>
          </a:lstStyle>
          <a:p>
            <a:fld id="{D2283400-0731-A644-86F2-E20758159D0F}" type="slidenum">
              <a:rPr lang="en-US" altLang="en-US"/>
              <a:pPr/>
              <a:t>‹#›</a:t>
            </a:fld>
            <a:endParaRPr lang="en-US" altLang="en-US"/>
          </a:p>
        </p:txBody>
      </p:sp>
    </p:spTree>
    <p:extLst>
      <p:ext uri="{BB962C8B-B14F-4D97-AF65-F5344CB8AC3E}">
        <p14:creationId xmlns:p14="http://schemas.microsoft.com/office/powerpoint/2010/main" val="3900481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668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668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D1EC350-9940-1952-F7D3-EBCFA3C361B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3F822E2-DC45-9B97-4277-42CBD9B6DB8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7CBCA66-86F2-9D21-99FB-14BB9A9CBE9F}"/>
              </a:ext>
            </a:extLst>
          </p:cNvPr>
          <p:cNvSpPr>
            <a:spLocks noGrp="1" noChangeArrowheads="1"/>
          </p:cNvSpPr>
          <p:nvPr>
            <p:ph type="sldNum" sz="quarter" idx="12"/>
          </p:nvPr>
        </p:nvSpPr>
        <p:spPr>
          <a:ln/>
        </p:spPr>
        <p:txBody>
          <a:bodyPr/>
          <a:lstStyle>
            <a:lvl1pPr>
              <a:defRPr/>
            </a:lvl1pPr>
          </a:lstStyle>
          <a:p>
            <a:fld id="{CC14290F-5370-5640-947F-DF08625C7866}" type="slidenum">
              <a:rPr lang="en-US" altLang="en-US"/>
              <a:pPr/>
              <a:t>‹#›</a:t>
            </a:fld>
            <a:endParaRPr lang="en-US" altLang="en-US"/>
          </a:p>
        </p:txBody>
      </p:sp>
    </p:spTree>
    <p:extLst>
      <p:ext uri="{BB962C8B-B14F-4D97-AF65-F5344CB8AC3E}">
        <p14:creationId xmlns:p14="http://schemas.microsoft.com/office/powerpoint/2010/main" val="3126193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11163"/>
          </a:xfrm>
        </p:spPr>
        <p:txBody>
          <a:bodyPr/>
          <a:lstStyle/>
          <a:p>
            <a:r>
              <a:rPr lang="en-US"/>
              <a:t>Click to edit Master title style</a:t>
            </a:r>
          </a:p>
        </p:txBody>
      </p:sp>
      <p:sp>
        <p:nvSpPr>
          <p:cNvPr id="3" name="Text Placeholder 2"/>
          <p:cNvSpPr>
            <a:spLocks noGrp="1"/>
          </p:cNvSpPr>
          <p:nvPr>
            <p:ph type="body" sz="half" idx="1"/>
          </p:nvPr>
        </p:nvSpPr>
        <p:spPr>
          <a:xfrm>
            <a:off x="457200" y="1066800"/>
            <a:ext cx="4038600" cy="5059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66800"/>
            <a:ext cx="4038600" cy="5059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DB66963-F02C-3730-6D7F-C121CF7FAE1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FD77869-C2EB-37BD-DA32-DD37EDFBE9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1029F74-3BC1-7811-1DE9-BE40637A0BFA}"/>
              </a:ext>
            </a:extLst>
          </p:cNvPr>
          <p:cNvSpPr>
            <a:spLocks noGrp="1" noChangeArrowheads="1"/>
          </p:cNvSpPr>
          <p:nvPr>
            <p:ph type="sldNum" sz="quarter" idx="12"/>
          </p:nvPr>
        </p:nvSpPr>
        <p:spPr>
          <a:ln/>
        </p:spPr>
        <p:txBody>
          <a:bodyPr/>
          <a:lstStyle>
            <a:lvl1pPr>
              <a:defRPr/>
            </a:lvl1pPr>
          </a:lstStyle>
          <a:p>
            <a:fld id="{2C01076C-9A1A-A942-855A-A79876A8C820}" type="slidenum">
              <a:rPr lang="en-US" altLang="en-US"/>
              <a:pPr/>
              <a:t>‹#›</a:t>
            </a:fld>
            <a:endParaRPr lang="en-US" altLang="en-US"/>
          </a:p>
        </p:txBody>
      </p:sp>
    </p:spTree>
    <p:extLst>
      <p:ext uri="{BB962C8B-B14F-4D97-AF65-F5344CB8AC3E}">
        <p14:creationId xmlns:p14="http://schemas.microsoft.com/office/powerpoint/2010/main" val="2794997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63D92BE-0FC4-E037-6A6C-AE0C11C60033}"/>
              </a:ext>
            </a:extLst>
          </p:cNvPr>
          <p:cNvSpPr>
            <a:spLocks noGrp="1" noChangeArrowheads="1"/>
          </p:cNvSpPr>
          <p:nvPr>
            <p:ph type="title"/>
          </p:nvPr>
        </p:nvSpPr>
        <p:spPr bwMode="auto">
          <a:xfrm>
            <a:off x="457200" y="457200"/>
            <a:ext cx="82296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86FFE1C-6218-096D-2C1C-46049C1B7482}"/>
              </a:ext>
            </a:extLst>
          </p:cNvPr>
          <p:cNvSpPr>
            <a:spLocks noGrp="1" noChangeArrowheads="1"/>
          </p:cNvSpPr>
          <p:nvPr>
            <p:ph type="body" idx="1"/>
          </p:nvPr>
        </p:nvSpPr>
        <p:spPr bwMode="auto">
          <a:xfrm>
            <a:off x="457200" y="1066800"/>
            <a:ext cx="8229600"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94212" name="Rectangle 4">
            <a:extLst>
              <a:ext uri="{FF2B5EF4-FFF2-40B4-BE49-F238E27FC236}">
                <a16:creationId xmlns:a16="http://schemas.microsoft.com/office/drawing/2014/main" id="{664851DD-301D-FE7D-29F9-8E76C2B226B7}"/>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94213" name="Rectangle 5">
            <a:extLst>
              <a:ext uri="{FF2B5EF4-FFF2-40B4-BE49-F238E27FC236}">
                <a16:creationId xmlns:a16="http://schemas.microsoft.com/office/drawing/2014/main" id="{210EE37A-DCAC-DBA1-4995-6E19A3585D7A}"/>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94214" name="Rectangle 6">
            <a:extLst>
              <a:ext uri="{FF2B5EF4-FFF2-40B4-BE49-F238E27FC236}">
                <a16:creationId xmlns:a16="http://schemas.microsoft.com/office/drawing/2014/main" id="{EB3FAC77-888F-2FCB-37DC-906887BAA764}"/>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236E1D96-7EE2-174C-95ED-BBBA2B0E29D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3200">
          <a:solidFill>
            <a:schemeClr val="tx2"/>
          </a:solidFill>
          <a:latin typeface="Arial" charset="0"/>
        </a:defRPr>
      </a:lvl6pPr>
      <a:lvl7pPr marL="914400" algn="ctr" rtl="0" fontAlgn="base">
        <a:spcBef>
          <a:spcPct val="0"/>
        </a:spcBef>
        <a:spcAft>
          <a:spcPct val="0"/>
        </a:spcAft>
        <a:defRPr sz="3200">
          <a:solidFill>
            <a:schemeClr val="tx2"/>
          </a:solidFill>
          <a:latin typeface="Arial" charset="0"/>
        </a:defRPr>
      </a:lvl7pPr>
      <a:lvl8pPr marL="1371600" algn="ctr" rtl="0" fontAlgn="base">
        <a:spcBef>
          <a:spcPct val="0"/>
        </a:spcBef>
        <a:spcAft>
          <a:spcPct val="0"/>
        </a:spcAft>
        <a:defRPr sz="3200">
          <a:solidFill>
            <a:schemeClr val="tx2"/>
          </a:solidFill>
          <a:latin typeface="Arial" charset="0"/>
        </a:defRPr>
      </a:lvl8pPr>
      <a:lvl9pPr marL="1828800" algn="ctr" rtl="0" fontAlgn="base">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A1980-9E09-72F9-BCF8-596BB6975457}"/>
              </a:ext>
            </a:extLst>
          </p:cNvPr>
          <p:cNvSpPr>
            <a:spLocks noGrp="1"/>
          </p:cNvSpPr>
          <p:nvPr>
            <p:ph type="title"/>
          </p:nvPr>
        </p:nvSpPr>
        <p:spPr/>
        <p:txBody>
          <a:bodyPr/>
          <a:lstStyle/>
          <a:p>
            <a:r>
              <a:rPr lang="en-IN" b="1" dirty="0"/>
              <a:t>Azure App Services</a:t>
            </a:r>
            <a:endParaRPr lang="en-US" dirty="0"/>
          </a:p>
        </p:txBody>
      </p:sp>
      <p:sp>
        <p:nvSpPr>
          <p:cNvPr id="3" name="Content Placeholder 2">
            <a:extLst>
              <a:ext uri="{FF2B5EF4-FFF2-40B4-BE49-F238E27FC236}">
                <a16:creationId xmlns:a16="http://schemas.microsoft.com/office/drawing/2014/main" id="{4827ECD9-C966-5452-57DA-D7A2EE7C8BA6}"/>
              </a:ext>
            </a:extLst>
          </p:cNvPr>
          <p:cNvSpPr>
            <a:spLocks noGrp="1"/>
          </p:cNvSpPr>
          <p:nvPr>
            <p:ph idx="1"/>
          </p:nvPr>
        </p:nvSpPr>
        <p:spPr>
          <a:xfrm>
            <a:off x="457200" y="868364"/>
            <a:ext cx="8229600" cy="5257800"/>
          </a:xfrm>
        </p:spPr>
        <p:txBody>
          <a:bodyPr/>
          <a:lstStyle/>
          <a:p>
            <a:r>
              <a:rPr lang="en-IN" sz="2000" dirty="0"/>
              <a:t>Fully managed Platform as a Service (PaaS) for hosting web apps, APIs, and mobile backends. </a:t>
            </a:r>
          </a:p>
          <a:p>
            <a:endParaRPr lang="en-IN" sz="2000" dirty="0"/>
          </a:p>
          <a:p>
            <a:r>
              <a:rPr lang="en-IN" sz="2000" dirty="0"/>
              <a:t>It is language-agnostic and supports various languages, including Java, .NET, Node.js, and Python. </a:t>
            </a:r>
          </a:p>
          <a:p>
            <a:endParaRPr lang="en-IN" sz="2000" dirty="0"/>
          </a:p>
          <a:p>
            <a:pPr lvl="1"/>
            <a:r>
              <a:rPr lang="en-IN" sz="2000" i="1" dirty="0"/>
              <a:t>Server management, Scaling, Security and operations are taken care by Azure ,</a:t>
            </a:r>
          </a:p>
          <a:p>
            <a:endParaRPr lang="en-IN" sz="2000" dirty="0"/>
          </a:p>
          <a:p>
            <a:r>
              <a:rPr lang="en-IN" sz="2000" dirty="0"/>
              <a:t>It also supports</a:t>
            </a:r>
          </a:p>
          <a:p>
            <a:pPr lvl="1"/>
            <a:r>
              <a:rPr lang="en-IN" sz="1800" dirty="0"/>
              <a:t>CI/CD integration</a:t>
            </a:r>
          </a:p>
          <a:p>
            <a:pPr lvl="1"/>
            <a:r>
              <a:rPr lang="en-IN" sz="1800" dirty="0"/>
              <a:t>Custom domains</a:t>
            </a:r>
          </a:p>
          <a:p>
            <a:pPr lvl="1"/>
            <a:r>
              <a:rPr lang="en-IN" sz="1800" dirty="0"/>
              <a:t>SSL</a:t>
            </a:r>
          </a:p>
          <a:p>
            <a:pPr lvl="1"/>
            <a:r>
              <a:rPr lang="en-IN" sz="1800" dirty="0"/>
              <a:t>Autoscaling</a:t>
            </a:r>
          </a:p>
          <a:p>
            <a:pPr lvl="1"/>
            <a:r>
              <a:rPr lang="en-IN" sz="1800" dirty="0"/>
              <a:t>Staging environments</a:t>
            </a:r>
          </a:p>
          <a:p>
            <a:endParaRPr lang="en-IN" sz="2000" dirty="0"/>
          </a:p>
          <a:p>
            <a:br>
              <a:rPr lang="en-IN" sz="2000" dirty="0"/>
            </a:br>
            <a:endParaRPr lang="en-US" sz="2000" dirty="0"/>
          </a:p>
        </p:txBody>
      </p:sp>
    </p:spTree>
    <p:extLst>
      <p:ext uri="{BB962C8B-B14F-4D97-AF65-F5344CB8AC3E}">
        <p14:creationId xmlns:p14="http://schemas.microsoft.com/office/powerpoint/2010/main" val="1078677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3DD3B-AEB3-8A39-81E6-91CC85AEBA2E}"/>
              </a:ext>
            </a:extLst>
          </p:cNvPr>
          <p:cNvSpPr>
            <a:spLocks noGrp="1"/>
          </p:cNvSpPr>
          <p:nvPr>
            <p:ph type="title"/>
          </p:nvPr>
        </p:nvSpPr>
        <p:spPr/>
        <p:txBody>
          <a:bodyPr/>
          <a:lstStyle/>
          <a:p>
            <a:br>
              <a:rPr lang="en-IN" b="1" dirty="0"/>
            </a:br>
            <a:r>
              <a:rPr lang="en-IN" b="1" dirty="0"/>
              <a:t>Azure Container Instances (ACI)</a:t>
            </a:r>
            <a:br>
              <a:rPr lang="en-IN" b="1" dirty="0"/>
            </a:br>
            <a:endParaRPr lang="en-US" dirty="0"/>
          </a:p>
        </p:txBody>
      </p:sp>
      <p:sp>
        <p:nvSpPr>
          <p:cNvPr id="3" name="Content Placeholder 2">
            <a:extLst>
              <a:ext uri="{FF2B5EF4-FFF2-40B4-BE49-F238E27FC236}">
                <a16:creationId xmlns:a16="http://schemas.microsoft.com/office/drawing/2014/main" id="{4A3B27A5-75FA-0F1F-C883-4263EEF66075}"/>
              </a:ext>
            </a:extLst>
          </p:cNvPr>
          <p:cNvSpPr>
            <a:spLocks noGrp="1"/>
          </p:cNvSpPr>
          <p:nvPr>
            <p:ph idx="1"/>
          </p:nvPr>
        </p:nvSpPr>
        <p:spPr/>
        <p:txBody>
          <a:bodyPr/>
          <a:lstStyle/>
          <a:p>
            <a:r>
              <a:rPr lang="en-IN" sz="2400" dirty="0"/>
              <a:t>Can execute programs in containers using Azure Container Instances without having to build servers or other infrastructure. </a:t>
            </a:r>
          </a:p>
          <a:p>
            <a:endParaRPr lang="en-IN" sz="2400" b="1" dirty="0"/>
          </a:p>
          <a:p>
            <a:r>
              <a:rPr lang="en-IN" sz="2400" b="1" dirty="0"/>
              <a:t>Best for:</a:t>
            </a:r>
            <a:r>
              <a:rPr lang="en-IN" sz="2400" dirty="0"/>
              <a:t> Short-lived tasks, background jobs, quick container deployment</a:t>
            </a:r>
          </a:p>
          <a:p>
            <a:endParaRPr lang="en-IN" sz="2400" dirty="0"/>
          </a:p>
          <a:p>
            <a:r>
              <a:rPr lang="en-IN" sz="2400" dirty="0"/>
              <a:t>A application to handle PDFs uploaded by users. </a:t>
            </a:r>
          </a:p>
          <a:p>
            <a:endParaRPr lang="en-IN" sz="2400" dirty="0"/>
          </a:p>
          <a:p>
            <a:r>
              <a:rPr lang="en-IN" sz="2400" dirty="0"/>
              <a:t>On-demand container spinning, file processing, and automated shutdown are all possible with ACI.</a:t>
            </a:r>
          </a:p>
          <a:p>
            <a:pPr marL="0" indent="0">
              <a:buNone/>
            </a:pPr>
            <a:br>
              <a:rPr lang="en-IN" sz="2400" dirty="0"/>
            </a:br>
            <a:endParaRPr lang="en-US" sz="2400" dirty="0"/>
          </a:p>
        </p:txBody>
      </p:sp>
    </p:spTree>
    <p:extLst>
      <p:ext uri="{BB962C8B-B14F-4D97-AF65-F5344CB8AC3E}">
        <p14:creationId xmlns:p14="http://schemas.microsoft.com/office/powerpoint/2010/main" val="3234317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3200-8BD8-C95D-0014-1D8BF3835D83}"/>
              </a:ext>
            </a:extLst>
          </p:cNvPr>
          <p:cNvSpPr>
            <a:spLocks noGrp="1"/>
          </p:cNvSpPr>
          <p:nvPr>
            <p:ph type="title"/>
          </p:nvPr>
        </p:nvSpPr>
        <p:spPr/>
        <p:txBody>
          <a:bodyPr/>
          <a:lstStyle/>
          <a:p>
            <a:br>
              <a:rPr lang="en-IN" b="1" dirty="0"/>
            </a:br>
            <a:r>
              <a:rPr lang="en-IN" b="1" dirty="0"/>
              <a:t>Azure Container Apps</a:t>
            </a:r>
            <a:br>
              <a:rPr lang="en-IN" b="1" dirty="0"/>
            </a:br>
            <a:endParaRPr lang="en-US" dirty="0"/>
          </a:p>
        </p:txBody>
      </p:sp>
      <p:sp>
        <p:nvSpPr>
          <p:cNvPr id="3" name="Content Placeholder 2">
            <a:extLst>
              <a:ext uri="{FF2B5EF4-FFF2-40B4-BE49-F238E27FC236}">
                <a16:creationId xmlns:a16="http://schemas.microsoft.com/office/drawing/2014/main" id="{1EB2DA35-90E1-BAC7-BA4B-273B8F439623}"/>
              </a:ext>
            </a:extLst>
          </p:cNvPr>
          <p:cNvSpPr>
            <a:spLocks noGrp="1"/>
          </p:cNvSpPr>
          <p:nvPr>
            <p:ph idx="1"/>
          </p:nvPr>
        </p:nvSpPr>
        <p:spPr/>
        <p:txBody>
          <a:bodyPr/>
          <a:lstStyle/>
          <a:p>
            <a:r>
              <a:rPr lang="en-IN" sz="2000" dirty="0"/>
              <a:t>Used to work with several microservices, or tiny apps, that scale on their own according to demand.</a:t>
            </a:r>
          </a:p>
          <a:p>
            <a:r>
              <a:rPr lang="en-IN" sz="2000" dirty="0"/>
              <a:t>Used for creating adaptable, event-driven systems without having to handle intricate infrastructure.</a:t>
            </a:r>
          </a:p>
          <a:p>
            <a:r>
              <a:rPr lang="en-IN" sz="2000" b="1" dirty="0"/>
              <a:t>Best for:</a:t>
            </a:r>
            <a:r>
              <a:rPr lang="en-IN" sz="2000" dirty="0"/>
              <a:t> Microservices, event-driven apps, background processing</a:t>
            </a:r>
          </a:p>
          <a:p>
            <a:r>
              <a:rPr lang="en-IN" sz="2000" b="1" dirty="0"/>
              <a:t>A </a:t>
            </a:r>
            <a:r>
              <a:rPr lang="en-IN" sz="2000" dirty="0"/>
              <a:t> microservices design, in which each service manages a distinct task—like inventory control, payment processing, or shipping updates—is frequently used in modern systems. </a:t>
            </a:r>
          </a:p>
          <a:p>
            <a:r>
              <a:rPr lang="en-IN" sz="2000" dirty="0"/>
              <a:t>Each microservice may be set up in its own container using Azure Container Apps, allowing for autonomous lifecycle management and scaling.</a:t>
            </a:r>
          </a:p>
        </p:txBody>
      </p:sp>
    </p:spTree>
    <p:extLst>
      <p:ext uri="{BB962C8B-B14F-4D97-AF65-F5344CB8AC3E}">
        <p14:creationId xmlns:p14="http://schemas.microsoft.com/office/powerpoint/2010/main" val="2007416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08D61-7E96-5158-9D8F-4BFC2C06B2BF}"/>
              </a:ext>
            </a:extLst>
          </p:cNvPr>
          <p:cNvSpPr>
            <a:spLocks noGrp="1"/>
          </p:cNvSpPr>
          <p:nvPr>
            <p:ph type="title"/>
          </p:nvPr>
        </p:nvSpPr>
        <p:spPr/>
        <p:txBody>
          <a:bodyPr/>
          <a:lstStyle/>
          <a:p>
            <a:br>
              <a:rPr lang="en-IN" b="1" dirty="0"/>
            </a:br>
            <a:r>
              <a:rPr lang="en-IN" b="1" dirty="0"/>
              <a:t>Azure Kubernetes Service (AKS)</a:t>
            </a:r>
            <a:br>
              <a:rPr lang="en-IN" b="1" dirty="0"/>
            </a:br>
            <a:endParaRPr lang="en-US" dirty="0"/>
          </a:p>
        </p:txBody>
      </p:sp>
      <p:sp>
        <p:nvSpPr>
          <p:cNvPr id="3" name="Content Placeholder 2">
            <a:extLst>
              <a:ext uri="{FF2B5EF4-FFF2-40B4-BE49-F238E27FC236}">
                <a16:creationId xmlns:a16="http://schemas.microsoft.com/office/drawing/2014/main" id="{CB3A89DC-A519-7372-A4E8-578BD750B924}"/>
              </a:ext>
            </a:extLst>
          </p:cNvPr>
          <p:cNvSpPr>
            <a:spLocks noGrp="1"/>
          </p:cNvSpPr>
          <p:nvPr>
            <p:ph idx="1"/>
          </p:nvPr>
        </p:nvSpPr>
        <p:spPr/>
        <p:txBody>
          <a:bodyPr/>
          <a:lstStyle/>
          <a:p>
            <a:r>
              <a:rPr lang="en-IN" sz="2000" dirty="0"/>
              <a:t>Azure Kubernetes Service to have a complete control over the operation and management of several containers across numerous computers. </a:t>
            </a:r>
          </a:p>
          <a:p>
            <a:r>
              <a:rPr lang="en-IN" sz="2000" dirty="0"/>
              <a:t>Large, intricate programs that require great speed, scalability, and customization are best suited for the program.</a:t>
            </a:r>
          </a:p>
          <a:p>
            <a:r>
              <a:rPr lang="en-IN" sz="2000" b="1" dirty="0"/>
              <a:t>Best for:</a:t>
            </a:r>
            <a:r>
              <a:rPr lang="en-IN" sz="2000" dirty="0"/>
              <a:t> Complex, large-scale containerized applications</a:t>
            </a:r>
          </a:p>
          <a:p>
            <a:r>
              <a:rPr lang="en-IN" sz="2000" dirty="0"/>
              <a:t>AKS provides </a:t>
            </a:r>
            <a:r>
              <a:rPr lang="en-IN" sz="2000" b="1" dirty="0"/>
              <a:t>enterprise-grade orchestration</a:t>
            </a:r>
            <a:r>
              <a:rPr lang="en-IN" sz="2000" dirty="0"/>
              <a:t> for containers with complete control over configuration and scaling. Features include:</a:t>
            </a:r>
          </a:p>
          <a:p>
            <a:pPr lvl="1"/>
            <a:r>
              <a:rPr lang="en-IN" sz="1800" dirty="0"/>
              <a:t>Ingress controllers</a:t>
            </a:r>
          </a:p>
          <a:p>
            <a:pPr lvl="1"/>
            <a:r>
              <a:rPr lang="en-IN" sz="1800" dirty="0"/>
              <a:t>Helm charts</a:t>
            </a:r>
          </a:p>
          <a:p>
            <a:pPr lvl="1"/>
            <a:r>
              <a:rPr lang="en-IN" sz="1800" dirty="0"/>
              <a:t>Azure DevOps pipelines</a:t>
            </a:r>
          </a:p>
          <a:p>
            <a:pPr lvl="1"/>
            <a:r>
              <a:rPr lang="en-IN" sz="1800" dirty="0"/>
              <a:t>Full Kubernetes API access</a:t>
            </a:r>
          </a:p>
          <a:p>
            <a:br>
              <a:rPr lang="en-IN" sz="2000" b="1" dirty="0"/>
            </a:br>
            <a:br>
              <a:rPr lang="en-IN" sz="2000" dirty="0"/>
            </a:br>
            <a:endParaRPr lang="en-US" sz="2000" dirty="0"/>
          </a:p>
        </p:txBody>
      </p:sp>
    </p:spTree>
    <p:extLst>
      <p:ext uri="{BB962C8B-B14F-4D97-AF65-F5344CB8AC3E}">
        <p14:creationId xmlns:p14="http://schemas.microsoft.com/office/powerpoint/2010/main" val="2902149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BAF7F-3629-A3C8-8885-856325BD1490}"/>
              </a:ext>
            </a:extLst>
          </p:cNvPr>
          <p:cNvSpPr>
            <a:spLocks noGrp="1"/>
          </p:cNvSpPr>
          <p:nvPr>
            <p:ph type="title"/>
          </p:nvPr>
        </p:nvSpPr>
        <p:spPr/>
        <p:txBody>
          <a:bodyPr/>
          <a:lstStyle/>
          <a:p>
            <a:r>
              <a:rPr lang="en-US" dirty="0"/>
              <a:t>Comparison</a:t>
            </a:r>
          </a:p>
        </p:txBody>
      </p:sp>
      <p:pic>
        <p:nvPicPr>
          <p:cNvPr id="10242" name="Picture 2" descr="Choosing the Best Azure Service">
            <a:extLst>
              <a:ext uri="{FF2B5EF4-FFF2-40B4-BE49-F238E27FC236}">
                <a16:creationId xmlns:a16="http://schemas.microsoft.com/office/drawing/2014/main" id="{7EE3274D-6485-FEB8-385D-80B5C23F34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868362"/>
            <a:ext cx="7620000" cy="5303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9107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FDD1A-A361-70CD-667A-BDE6A189D4AE}"/>
              </a:ext>
            </a:extLst>
          </p:cNvPr>
          <p:cNvSpPr>
            <a:spLocks noGrp="1"/>
          </p:cNvSpPr>
          <p:nvPr>
            <p:ph type="title"/>
          </p:nvPr>
        </p:nvSpPr>
        <p:spPr/>
        <p:txBody>
          <a:bodyPr/>
          <a:lstStyle/>
          <a:p>
            <a:r>
              <a:rPr lang="en-US" dirty="0"/>
              <a:t>Azure Web App </a:t>
            </a:r>
          </a:p>
        </p:txBody>
      </p:sp>
      <p:sp>
        <p:nvSpPr>
          <p:cNvPr id="3" name="Content Placeholder 2">
            <a:extLst>
              <a:ext uri="{FF2B5EF4-FFF2-40B4-BE49-F238E27FC236}">
                <a16:creationId xmlns:a16="http://schemas.microsoft.com/office/drawing/2014/main" id="{76596374-3DB6-90FD-2119-86858242C0F5}"/>
              </a:ext>
            </a:extLst>
          </p:cNvPr>
          <p:cNvSpPr>
            <a:spLocks noGrp="1"/>
          </p:cNvSpPr>
          <p:nvPr>
            <p:ph idx="1"/>
          </p:nvPr>
        </p:nvSpPr>
        <p:spPr/>
        <p:txBody>
          <a:bodyPr/>
          <a:lstStyle/>
          <a:p>
            <a:r>
              <a:rPr lang="en-IN" sz="1800" b="1" dirty="0"/>
              <a:t>Maven Plugin for Azure App Service</a:t>
            </a:r>
          </a:p>
          <a:p>
            <a:pPr lvl="1"/>
            <a:r>
              <a:rPr lang="en-IN" sz="1800" dirty="0"/>
              <a:t>Automates the Process to create and deploy a Spring Boot application to an Azure Web App </a:t>
            </a:r>
          </a:p>
          <a:p>
            <a:endParaRPr lang="en-IN" sz="1800" b="1" dirty="0"/>
          </a:p>
          <a:p>
            <a:r>
              <a:rPr lang="en-IN" sz="1800" b="1" dirty="0"/>
              <a:t>Prepare Your Spring Boot Application</a:t>
            </a:r>
          </a:p>
          <a:p>
            <a:pPr lvl="1"/>
            <a:endParaRPr lang="en-IN" sz="1800" dirty="0"/>
          </a:p>
          <a:p>
            <a:pPr lvl="1"/>
            <a:r>
              <a:rPr lang="en-IN" sz="1800" dirty="0" err="1"/>
              <a:t>mvn</a:t>
            </a:r>
            <a:r>
              <a:rPr lang="en-IN" sz="1800" dirty="0"/>
              <a:t> clean package</a:t>
            </a:r>
          </a:p>
          <a:p>
            <a:pPr lvl="1"/>
            <a:r>
              <a:rPr lang="en-IN" sz="1800" dirty="0"/>
              <a:t>java -jar target/&lt;your-app-name&gt;-*.jar</a:t>
            </a:r>
          </a:p>
          <a:p>
            <a:pPr lvl="1"/>
            <a:endParaRPr lang="en-IN" sz="1800" dirty="0"/>
          </a:p>
          <a:p>
            <a:pPr lvl="1"/>
            <a:r>
              <a:rPr lang="en-IN" sz="1800" dirty="0" err="1"/>
              <a:t>mvn</a:t>
            </a:r>
            <a:r>
              <a:rPr lang="en-IN" sz="1800" dirty="0"/>
              <a:t> com.microsoft.azure:azure-webapp-maven-plugin:2.14.1:config</a:t>
            </a:r>
          </a:p>
          <a:p>
            <a:pPr lvl="1"/>
            <a:endParaRPr lang="en-IN" sz="1800" dirty="0"/>
          </a:p>
        </p:txBody>
      </p:sp>
    </p:spTree>
    <p:extLst>
      <p:ext uri="{BB962C8B-B14F-4D97-AF65-F5344CB8AC3E}">
        <p14:creationId xmlns:p14="http://schemas.microsoft.com/office/powerpoint/2010/main" val="439242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4F0F0-23A0-46DE-E2D5-8F7173678628}"/>
              </a:ext>
            </a:extLst>
          </p:cNvPr>
          <p:cNvSpPr>
            <a:spLocks noGrp="1"/>
          </p:cNvSpPr>
          <p:nvPr>
            <p:ph type="title"/>
          </p:nvPr>
        </p:nvSpPr>
        <p:spPr/>
        <p:txBody>
          <a:bodyPr/>
          <a:lstStyle/>
          <a:p>
            <a:r>
              <a:rPr lang="en-US" dirty="0"/>
              <a:t>Azure Webapp Plugin</a:t>
            </a:r>
          </a:p>
        </p:txBody>
      </p:sp>
      <p:sp>
        <p:nvSpPr>
          <p:cNvPr id="3" name="Content Placeholder 2">
            <a:extLst>
              <a:ext uri="{FF2B5EF4-FFF2-40B4-BE49-F238E27FC236}">
                <a16:creationId xmlns:a16="http://schemas.microsoft.com/office/drawing/2014/main" id="{66ABF4BA-BD95-530C-1699-BF7AC890A5F1}"/>
              </a:ext>
            </a:extLst>
          </p:cNvPr>
          <p:cNvSpPr>
            <a:spLocks noGrp="1"/>
          </p:cNvSpPr>
          <p:nvPr>
            <p:ph idx="1"/>
          </p:nvPr>
        </p:nvSpPr>
        <p:spPr/>
        <p:txBody>
          <a:bodyPr/>
          <a:lstStyle/>
          <a:p>
            <a:pPr lvl="1"/>
            <a:r>
              <a:rPr lang="en-US" dirty="0"/>
              <a:t>Add this entries to </a:t>
            </a:r>
            <a:r>
              <a:rPr lang="en-US" dirty="0" err="1"/>
              <a:t>pom.xml</a:t>
            </a:r>
            <a:r>
              <a:rPr lang="en-US" dirty="0"/>
              <a:t> and invoke the maven goal</a:t>
            </a:r>
          </a:p>
          <a:p>
            <a:pPr lvl="1"/>
            <a:endParaRPr lang="en-US" dirty="0"/>
          </a:p>
          <a:p>
            <a:pPr marL="457200" lvl="1" indent="0">
              <a:buNone/>
            </a:pPr>
            <a:r>
              <a:rPr lang="en-US" dirty="0"/>
              <a:t>&lt;build&gt;</a:t>
            </a:r>
          </a:p>
          <a:p>
            <a:pPr marL="457200" lvl="1" indent="0">
              <a:buNone/>
            </a:pPr>
            <a:r>
              <a:rPr lang="en-US" dirty="0"/>
              <a:t>    &lt;plugins&gt;</a:t>
            </a:r>
          </a:p>
          <a:p>
            <a:pPr marL="457200" lvl="1" indent="0">
              <a:buNone/>
            </a:pPr>
            <a:r>
              <a:rPr lang="en-US" dirty="0"/>
              <a:t>        &lt;plugin&gt;</a:t>
            </a:r>
          </a:p>
          <a:p>
            <a:pPr marL="457200" lvl="1" indent="0">
              <a:buNone/>
            </a:pPr>
            <a:r>
              <a:rPr lang="en-US" dirty="0"/>
              <a:t>            &lt;</a:t>
            </a:r>
            <a:r>
              <a:rPr lang="en-US" dirty="0" err="1"/>
              <a:t>groupId</a:t>
            </a:r>
            <a:r>
              <a:rPr lang="en-US" dirty="0"/>
              <a:t>&gt;</a:t>
            </a:r>
            <a:r>
              <a:rPr lang="en-US" dirty="0" err="1"/>
              <a:t>com.microsoft.azure</a:t>
            </a:r>
            <a:r>
              <a:rPr lang="en-US" dirty="0"/>
              <a:t>&lt;/</a:t>
            </a:r>
            <a:r>
              <a:rPr lang="en-US" dirty="0" err="1"/>
              <a:t>groupId</a:t>
            </a:r>
            <a:r>
              <a:rPr lang="en-US" dirty="0"/>
              <a:t>&gt;</a:t>
            </a:r>
          </a:p>
          <a:p>
            <a:pPr marL="457200" lvl="1" indent="0">
              <a:buNone/>
            </a:pPr>
            <a:r>
              <a:rPr lang="en-US" dirty="0"/>
              <a:t>            &lt;</a:t>
            </a:r>
            <a:r>
              <a:rPr lang="en-US" dirty="0" err="1"/>
              <a:t>artifactId</a:t>
            </a:r>
            <a:r>
              <a:rPr lang="en-US" dirty="0"/>
              <a:t>&gt;&gt;azure-webapp-maven-plugin&lt;/</a:t>
            </a:r>
            <a:r>
              <a:rPr lang="en-US" dirty="0" err="1"/>
              <a:t>artifactId</a:t>
            </a:r>
            <a:r>
              <a:rPr lang="en-US" dirty="0"/>
              <a:t>&gt;</a:t>
            </a:r>
          </a:p>
          <a:p>
            <a:pPr marL="457200" lvl="1" indent="0">
              <a:buNone/>
            </a:pPr>
            <a:r>
              <a:rPr lang="en-US" dirty="0"/>
              <a:t>            &lt;version&gt;2.14.1&lt;/version&gt;</a:t>
            </a:r>
          </a:p>
          <a:p>
            <a:pPr marL="457200" lvl="1" indent="0">
              <a:buNone/>
            </a:pPr>
            <a:r>
              <a:rPr lang="en-US" dirty="0"/>
              <a:t>&lt;/plugin&gt;</a:t>
            </a:r>
          </a:p>
          <a:p>
            <a:pPr marL="457200" lvl="1" indent="0">
              <a:buNone/>
            </a:pPr>
            <a:r>
              <a:rPr lang="en-US" dirty="0"/>
              <a:t>    &lt;/plugins&gt;</a:t>
            </a:r>
          </a:p>
          <a:p>
            <a:pPr marL="457200" lvl="1" indent="0">
              <a:buNone/>
            </a:pPr>
            <a:r>
              <a:rPr lang="en-US" dirty="0"/>
              <a:t>&lt;/build&gt;</a:t>
            </a:r>
          </a:p>
          <a:p>
            <a:pPr marL="457200" lvl="1" indent="0">
              <a:buNone/>
            </a:pPr>
            <a:endParaRPr lang="en-US" dirty="0"/>
          </a:p>
          <a:p>
            <a:pPr marL="457200" lvl="1" indent="0">
              <a:buNone/>
            </a:pPr>
            <a:endParaRPr lang="en-US" dirty="0"/>
          </a:p>
          <a:p>
            <a:pPr lvl="1"/>
            <a:r>
              <a:rPr lang="en-US" dirty="0" err="1">
                <a:solidFill>
                  <a:srgbClr val="C00000"/>
                </a:solidFill>
              </a:rPr>
              <a:t>azure-webapp:config</a:t>
            </a:r>
            <a:endParaRPr lang="en-US" dirty="0">
              <a:solidFill>
                <a:srgbClr val="C00000"/>
              </a:solidFill>
            </a:endParaRPr>
          </a:p>
          <a:p>
            <a:pPr marL="457200" lvl="1" indent="0">
              <a:buNone/>
            </a:pPr>
            <a:endParaRPr lang="en-US" dirty="0"/>
          </a:p>
        </p:txBody>
      </p:sp>
    </p:spTree>
    <p:extLst>
      <p:ext uri="{BB962C8B-B14F-4D97-AF65-F5344CB8AC3E}">
        <p14:creationId xmlns:p14="http://schemas.microsoft.com/office/powerpoint/2010/main" val="760376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0B90-F8F9-7F8E-23C4-3BA80721338A}"/>
              </a:ext>
            </a:extLst>
          </p:cNvPr>
          <p:cNvSpPr>
            <a:spLocks noGrp="1"/>
          </p:cNvSpPr>
          <p:nvPr>
            <p:ph type="title"/>
          </p:nvPr>
        </p:nvSpPr>
        <p:spPr>
          <a:xfrm>
            <a:off x="457200" y="457200"/>
            <a:ext cx="8229600" cy="274637"/>
          </a:xfrm>
        </p:spPr>
        <p:txBody>
          <a:bodyPr/>
          <a:lstStyle/>
          <a:p>
            <a:r>
              <a:rPr lang="en-US" dirty="0" err="1"/>
              <a:t>pom.xml</a:t>
            </a:r>
            <a:endParaRPr lang="en-US" dirty="0"/>
          </a:p>
        </p:txBody>
      </p:sp>
      <p:sp>
        <p:nvSpPr>
          <p:cNvPr id="3" name="Content Placeholder 2">
            <a:extLst>
              <a:ext uri="{FF2B5EF4-FFF2-40B4-BE49-F238E27FC236}">
                <a16:creationId xmlns:a16="http://schemas.microsoft.com/office/drawing/2014/main" id="{E5D45867-CF48-8A75-4105-C2C9A78E5C77}"/>
              </a:ext>
            </a:extLst>
          </p:cNvPr>
          <p:cNvSpPr>
            <a:spLocks noGrp="1"/>
          </p:cNvSpPr>
          <p:nvPr>
            <p:ph idx="1"/>
          </p:nvPr>
        </p:nvSpPr>
        <p:spPr>
          <a:xfrm>
            <a:off x="457200" y="838200"/>
            <a:ext cx="8229600" cy="5287963"/>
          </a:xfrm>
        </p:spPr>
        <p:txBody>
          <a:bodyPr/>
          <a:lstStyle/>
          <a:p>
            <a:pPr lvl="1"/>
            <a:r>
              <a:rPr lang="en-IN" dirty="0"/>
              <a:t>Update the following properties in the generated content , as per the requirements </a:t>
            </a:r>
          </a:p>
          <a:p>
            <a:pPr marL="457200" lvl="1" indent="0">
              <a:buNone/>
            </a:pPr>
            <a:endParaRPr lang="en-IN" dirty="0"/>
          </a:p>
          <a:p>
            <a:pPr marL="457200" lvl="1" indent="0">
              <a:buNone/>
            </a:pPr>
            <a:r>
              <a:rPr lang="en-IN" dirty="0"/>
              <a:t>&lt;</a:t>
            </a:r>
            <a:r>
              <a:rPr lang="en-IN" dirty="0" err="1"/>
              <a:t>resourceGroup</a:t>
            </a:r>
            <a:r>
              <a:rPr lang="en-IN" dirty="0"/>
              <a:t>&gt;</a:t>
            </a:r>
            <a:r>
              <a:rPr lang="en-IN" dirty="0" err="1">
                <a:solidFill>
                  <a:srgbClr val="C00000"/>
                </a:solidFill>
              </a:rPr>
              <a:t>myrg</a:t>
            </a:r>
            <a:r>
              <a:rPr lang="en-IN" dirty="0"/>
              <a:t>&lt;/</a:t>
            </a:r>
            <a:r>
              <a:rPr lang="en-IN" dirty="0" err="1"/>
              <a:t>resourceGroup</a:t>
            </a:r>
            <a:r>
              <a:rPr lang="en-IN" dirty="0"/>
              <a:t>&gt;</a:t>
            </a:r>
          </a:p>
          <a:p>
            <a:pPr marL="457200" lvl="1" indent="0">
              <a:buNone/>
            </a:pPr>
            <a:r>
              <a:rPr lang="en-IN" dirty="0"/>
              <a:t>&lt;</a:t>
            </a:r>
            <a:r>
              <a:rPr lang="en-IN" dirty="0" err="1"/>
              <a:t>appName</a:t>
            </a:r>
            <a:r>
              <a:rPr lang="en-IN" dirty="0"/>
              <a:t>&gt;dockerize-spring-app-1770025294212&lt;/</a:t>
            </a:r>
            <a:r>
              <a:rPr lang="en-IN" dirty="0" err="1"/>
              <a:t>appName</a:t>
            </a:r>
            <a:r>
              <a:rPr lang="en-IN" dirty="0"/>
              <a:t>&gt;</a:t>
            </a:r>
          </a:p>
          <a:p>
            <a:pPr marL="457200" lvl="1" indent="0">
              <a:buNone/>
            </a:pPr>
            <a:r>
              <a:rPr lang="en-IN" dirty="0"/>
              <a:t>&lt;</a:t>
            </a:r>
            <a:r>
              <a:rPr lang="en-IN" dirty="0" err="1"/>
              <a:t>pricingTier</a:t>
            </a:r>
            <a:r>
              <a:rPr lang="en-IN" dirty="0"/>
              <a:t>&gt;</a:t>
            </a:r>
            <a:r>
              <a:rPr lang="en-IN" dirty="0">
                <a:solidFill>
                  <a:srgbClr val="C00000"/>
                </a:solidFill>
              </a:rPr>
              <a:t>F1</a:t>
            </a:r>
            <a:r>
              <a:rPr lang="en-IN" dirty="0"/>
              <a:t>&lt;/</a:t>
            </a:r>
            <a:r>
              <a:rPr lang="en-IN" dirty="0" err="1"/>
              <a:t>pricingTier</a:t>
            </a:r>
            <a:r>
              <a:rPr lang="en-IN" dirty="0"/>
              <a:t>&gt;</a:t>
            </a:r>
          </a:p>
          <a:p>
            <a:pPr marL="457200" lvl="1" indent="0">
              <a:buNone/>
            </a:pPr>
            <a:r>
              <a:rPr lang="en-IN" dirty="0"/>
              <a:t>&lt;region&gt;</a:t>
            </a:r>
            <a:r>
              <a:rPr lang="en-IN" dirty="0" err="1">
                <a:solidFill>
                  <a:srgbClr val="C00000"/>
                </a:solidFill>
              </a:rPr>
              <a:t>southindia</a:t>
            </a:r>
            <a:r>
              <a:rPr lang="en-IN" dirty="0"/>
              <a:t>&lt;/region&gt;</a:t>
            </a:r>
          </a:p>
          <a:p>
            <a:pPr marL="457200" lvl="1" indent="0">
              <a:buNone/>
            </a:pPr>
            <a:r>
              <a:rPr lang="en-IN" dirty="0"/>
              <a:t>&lt;runtime&gt;</a:t>
            </a:r>
          </a:p>
          <a:p>
            <a:pPr marL="457200" lvl="1" indent="0">
              <a:buNone/>
            </a:pPr>
            <a:r>
              <a:rPr lang="en-IN" dirty="0"/>
              <a:t>&lt;</a:t>
            </a:r>
            <a:r>
              <a:rPr lang="en-IN" dirty="0" err="1"/>
              <a:t>os</a:t>
            </a:r>
            <a:r>
              <a:rPr lang="en-IN" dirty="0"/>
              <a:t>&gt;Linux&lt;/</a:t>
            </a:r>
            <a:r>
              <a:rPr lang="en-IN" dirty="0" err="1"/>
              <a:t>os</a:t>
            </a:r>
            <a:r>
              <a:rPr lang="en-IN" dirty="0"/>
              <a:t>&gt;</a:t>
            </a:r>
          </a:p>
          <a:p>
            <a:pPr marL="457200" lvl="1" indent="0">
              <a:buNone/>
            </a:pPr>
            <a:r>
              <a:rPr lang="en-IN" dirty="0"/>
              <a:t>&lt;</a:t>
            </a:r>
            <a:r>
              <a:rPr lang="en-IN" dirty="0" err="1"/>
              <a:t>javaVersion</a:t>
            </a:r>
            <a:r>
              <a:rPr lang="en-IN" dirty="0"/>
              <a:t>&gt;</a:t>
            </a:r>
            <a:r>
              <a:rPr lang="en-IN" dirty="0">
                <a:solidFill>
                  <a:srgbClr val="C00000"/>
                </a:solidFill>
              </a:rPr>
              <a:t>Java 17</a:t>
            </a:r>
            <a:r>
              <a:rPr lang="en-IN" dirty="0"/>
              <a:t>&lt;/</a:t>
            </a:r>
            <a:r>
              <a:rPr lang="en-IN" dirty="0" err="1"/>
              <a:t>javaVersion</a:t>
            </a:r>
            <a:r>
              <a:rPr lang="en-IN" dirty="0"/>
              <a:t>&gt;</a:t>
            </a:r>
          </a:p>
          <a:p>
            <a:pPr marL="457200" lvl="1" indent="0">
              <a:buNone/>
            </a:pPr>
            <a:r>
              <a:rPr lang="en-IN" dirty="0"/>
              <a:t>&lt;</a:t>
            </a:r>
            <a:r>
              <a:rPr lang="en-IN" dirty="0" err="1"/>
              <a:t>webContainer</a:t>
            </a:r>
            <a:r>
              <a:rPr lang="en-IN" dirty="0"/>
              <a:t>&gt;Java SE&lt;/</a:t>
            </a:r>
            <a:r>
              <a:rPr lang="en-IN" dirty="0" err="1"/>
              <a:t>webContainer</a:t>
            </a:r>
            <a:r>
              <a:rPr lang="en-IN" dirty="0"/>
              <a:t>&gt;</a:t>
            </a:r>
          </a:p>
          <a:p>
            <a:pPr marL="457200" lvl="1" indent="0">
              <a:buNone/>
            </a:pPr>
            <a:r>
              <a:rPr lang="en-IN" dirty="0"/>
              <a:t>&lt;/runtime&gt;</a:t>
            </a:r>
          </a:p>
          <a:p>
            <a:pPr marL="457200" lvl="1" indent="0">
              <a:buNone/>
            </a:pPr>
            <a:endParaRPr lang="en-IN" dirty="0"/>
          </a:p>
          <a:p>
            <a:r>
              <a:rPr lang="en-US" sz="1800" dirty="0" err="1"/>
              <a:t>mvn</a:t>
            </a:r>
            <a:r>
              <a:rPr lang="en-US" sz="1800" dirty="0"/>
              <a:t> clean package</a:t>
            </a:r>
          </a:p>
          <a:p>
            <a:r>
              <a:rPr lang="en-US" sz="1800" dirty="0" err="1"/>
              <a:t>mvn</a:t>
            </a:r>
            <a:r>
              <a:rPr lang="en-US" sz="1800" dirty="0"/>
              <a:t> </a:t>
            </a:r>
            <a:r>
              <a:rPr lang="en-US" sz="1800" dirty="0" err="1"/>
              <a:t>azure-webapp:deploy</a:t>
            </a:r>
            <a:endParaRPr lang="en-US" sz="1800" dirty="0"/>
          </a:p>
          <a:p>
            <a:r>
              <a:rPr lang="en-US" sz="1800" dirty="0"/>
              <a:t>Visit the azure portal and access resource group and web app and invoke the endpoint using default domain</a:t>
            </a:r>
          </a:p>
          <a:p>
            <a:pPr marL="457200" lvl="1" indent="0">
              <a:buNone/>
            </a:pPr>
            <a:endParaRPr lang="en-IN" dirty="0"/>
          </a:p>
          <a:p>
            <a:pPr marL="914400" lvl="2" indent="0">
              <a:buNone/>
            </a:pPr>
            <a:endParaRPr lang="en-US" dirty="0"/>
          </a:p>
        </p:txBody>
      </p:sp>
    </p:spTree>
    <p:extLst>
      <p:ext uri="{BB962C8B-B14F-4D97-AF65-F5344CB8AC3E}">
        <p14:creationId xmlns:p14="http://schemas.microsoft.com/office/powerpoint/2010/main" val="1248082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61363-F738-0A20-1C7A-B93A80AD367E}"/>
              </a:ext>
            </a:extLst>
          </p:cNvPr>
          <p:cNvSpPr>
            <a:spLocks noGrp="1"/>
          </p:cNvSpPr>
          <p:nvPr>
            <p:ph type="title"/>
          </p:nvPr>
        </p:nvSpPr>
        <p:spPr/>
        <p:txBody>
          <a:bodyPr/>
          <a:lstStyle/>
          <a:p>
            <a:r>
              <a:rPr lang="en-US" dirty="0"/>
              <a:t>Push a Docker Image </a:t>
            </a:r>
          </a:p>
        </p:txBody>
      </p:sp>
      <p:sp>
        <p:nvSpPr>
          <p:cNvPr id="3" name="Content Placeholder 2">
            <a:extLst>
              <a:ext uri="{FF2B5EF4-FFF2-40B4-BE49-F238E27FC236}">
                <a16:creationId xmlns:a16="http://schemas.microsoft.com/office/drawing/2014/main" id="{9EC7883B-37EB-8AC2-F589-202100FE4C5F}"/>
              </a:ext>
            </a:extLst>
          </p:cNvPr>
          <p:cNvSpPr>
            <a:spLocks noGrp="1"/>
          </p:cNvSpPr>
          <p:nvPr>
            <p:ph idx="1"/>
          </p:nvPr>
        </p:nvSpPr>
        <p:spPr/>
        <p:txBody>
          <a:bodyPr/>
          <a:lstStyle/>
          <a:p>
            <a:r>
              <a:rPr lang="en-IN" sz="1800" b="1" dirty="0"/>
              <a:t>Azure Container Apps</a:t>
            </a:r>
            <a:r>
              <a:rPr lang="en-IN" sz="1800" dirty="0"/>
              <a:t> supports images built for the </a:t>
            </a:r>
            <a:r>
              <a:rPr lang="en-IN" sz="1800" b="1" dirty="0" err="1"/>
              <a:t>linux</a:t>
            </a:r>
            <a:r>
              <a:rPr lang="en-IN" sz="1800" b="1" dirty="0"/>
              <a:t>/amd64</a:t>
            </a:r>
            <a:r>
              <a:rPr lang="en-IN" sz="1800" dirty="0"/>
              <a:t> (x86-64) architecture.</a:t>
            </a:r>
          </a:p>
          <a:p>
            <a:pPr lvl="1"/>
            <a:r>
              <a:rPr lang="en-IN" sz="1800" dirty="0"/>
              <a:t>In Apple Silicon (M1/M2/M3), Docker defaults to creating a </a:t>
            </a:r>
            <a:r>
              <a:rPr lang="en-IN" sz="1800" b="1" dirty="0" err="1"/>
              <a:t>linux</a:t>
            </a:r>
            <a:r>
              <a:rPr lang="en-IN" sz="1800" b="1" dirty="0"/>
              <a:t>/arm64</a:t>
            </a:r>
            <a:r>
              <a:rPr lang="en-IN" sz="1800" dirty="0"/>
              <a:t> image,</a:t>
            </a:r>
            <a:br>
              <a:rPr lang="en-IN" sz="1800" dirty="0"/>
            </a:br>
            <a:endParaRPr lang="en-US" sz="1800" dirty="0"/>
          </a:p>
          <a:p>
            <a:pPr lvl="1"/>
            <a:r>
              <a:rPr lang="en-US" sz="2000" dirty="0"/>
              <a:t>docker build --platform </a:t>
            </a:r>
            <a:r>
              <a:rPr lang="en-US" sz="2000" dirty="0" err="1"/>
              <a:t>linux</a:t>
            </a:r>
            <a:r>
              <a:rPr lang="en-US" sz="2000" dirty="0"/>
              <a:t>/amd64 -t </a:t>
            </a:r>
            <a:r>
              <a:rPr lang="en-US" sz="2000" dirty="0" err="1"/>
              <a:t>vatsank</a:t>
            </a:r>
            <a:r>
              <a:rPr lang="en-US" sz="2000" dirty="0"/>
              <a:t>/springrest:1.0 .</a:t>
            </a:r>
          </a:p>
          <a:p>
            <a:pPr marL="0" indent="0">
              <a:buNone/>
            </a:pPr>
            <a:br>
              <a:rPr lang="en-IN" dirty="0"/>
            </a:br>
            <a:endParaRPr lang="en-IN" dirty="0"/>
          </a:p>
          <a:p>
            <a:endParaRPr lang="en-US" dirty="0"/>
          </a:p>
          <a:p>
            <a:endParaRPr lang="en-US" dirty="0"/>
          </a:p>
          <a:p>
            <a:endParaRPr lang="en-US" dirty="0"/>
          </a:p>
        </p:txBody>
      </p:sp>
    </p:spTree>
    <p:extLst>
      <p:ext uri="{BB962C8B-B14F-4D97-AF65-F5344CB8AC3E}">
        <p14:creationId xmlns:p14="http://schemas.microsoft.com/office/powerpoint/2010/main" val="4246748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C6EB8-D472-6D1A-6BD4-25EFB0DC8574}"/>
              </a:ext>
            </a:extLst>
          </p:cNvPr>
          <p:cNvSpPr>
            <a:spLocks noGrp="1"/>
          </p:cNvSpPr>
          <p:nvPr>
            <p:ph type="title"/>
          </p:nvPr>
        </p:nvSpPr>
        <p:spPr/>
        <p:txBody>
          <a:bodyPr/>
          <a:lstStyle/>
          <a:p>
            <a:br>
              <a:rPr lang="en-IN" b="1" dirty="0"/>
            </a:br>
            <a:r>
              <a:rPr lang="en-IN" b="1" dirty="0"/>
              <a:t>Common Deployment Sources in Azure</a:t>
            </a:r>
            <a:r>
              <a:rPr lang="en-IN" dirty="0"/>
              <a:t>:</a:t>
            </a:r>
            <a:br>
              <a:rPr lang="en-IN" dirty="0"/>
            </a:br>
            <a:endParaRPr lang="en-US" dirty="0"/>
          </a:p>
        </p:txBody>
      </p:sp>
      <p:sp>
        <p:nvSpPr>
          <p:cNvPr id="3" name="Content Placeholder 2">
            <a:extLst>
              <a:ext uri="{FF2B5EF4-FFF2-40B4-BE49-F238E27FC236}">
                <a16:creationId xmlns:a16="http://schemas.microsoft.com/office/drawing/2014/main" id="{06060628-6CE8-BA14-3555-227970DA76C0}"/>
              </a:ext>
            </a:extLst>
          </p:cNvPr>
          <p:cNvSpPr>
            <a:spLocks noGrp="1"/>
          </p:cNvSpPr>
          <p:nvPr>
            <p:ph idx="1"/>
          </p:nvPr>
        </p:nvSpPr>
        <p:spPr/>
        <p:txBody>
          <a:bodyPr/>
          <a:lstStyle/>
          <a:p>
            <a:r>
              <a:rPr lang="en-IN" sz="1800" b="1" dirty="0"/>
              <a:t>Azure Container Registry (ACR)</a:t>
            </a:r>
            <a:r>
              <a:rPr lang="en-IN" sz="1800" dirty="0"/>
              <a:t>: </a:t>
            </a:r>
          </a:p>
          <a:p>
            <a:pPr lvl="1"/>
            <a:r>
              <a:rPr lang="en-IN" sz="1800" dirty="0"/>
              <a:t>Ideal for private, production-grade deployments with robust security and management features.</a:t>
            </a:r>
          </a:p>
          <a:p>
            <a:r>
              <a:rPr lang="en-IN" sz="1800" b="1" dirty="0"/>
              <a:t>Docker Hub</a:t>
            </a:r>
            <a:r>
              <a:rPr lang="en-IN" sz="1800" dirty="0"/>
              <a:t>: </a:t>
            </a:r>
          </a:p>
          <a:p>
            <a:pPr lvl="1"/>
            <a:r>
              <a:rPr lang="en-IN" sz="1800" dirty="0"/>
              <a:t>Suitable for both public and private images. For private images, you'll need to provide credentials to Azure services like App Service or ACI.</a:t>
            </a:r>
          </a:p>
          <a:p>
            <a:r>
              <a:rPr lang="en-IN" sz="1800" b="1" dirty="0"/>
              <a:t>Other Private Registries</a:t>
            </a:r>
            <a:r>
              <a:rPr lang="en-IN" sz="1800" dirty="0"/>
              <a:t>: </a:t>
            </a:r>
          </a:p>
          <a:p>
            <a:pPr lvl="1"/>
            <a:r>
              <a:rPr lang="en-IN" sz="1800" dirty="0"/>
              <a:t>You can use other third-party container registries by specifying the login server, username, and password during deployment configuration.</a:t>
            </a:r>
          </a:p>
          <a:p>
            <a:r>
              <a:rPr lang="en-IN" sz="1800" b="1" dirty="0" err="1"/>
              <a:t>Quickstart</a:t>
            </a:r>
            <a:r>
              <a:rPr lang="en-IN" sz="1800" b="1" dirty="0"/>
              <a:t> Images</a:t>
            </a:r>
            <a:r>
              <a:rPr lang="en-IN" sz="1800" dirty="0"/>
              <a:t>: </a:t>
            </a:r>
          </a:p>
          <a:p>
            <a:pPr lvl="1"/>
            <a:r>
              <a:rPr lang="en-IN" sz="1800" dirty="0"/>
              <a:t>For testing purposes, Azure services often provide </a:t>
            </a:r>
            <a:r>
              <a:rPr lang="en-IN" sz="1800" dirty="0" err="1"/>
              <a:t>quickstart</a:t>
            </a:r>
            <a:r>
              <a:rPr lang="en-IN" sz="1800" dirty="0"/>
              <a:t> images (e.g., </a:t>
            </a:r>
            <a:r>
              <a:rPr lang="en-IN" sz="1800" dirty="0" err="1"/>
              <a:t>mcr.microsoft.com</a:t>
            </a:r>
            <a:r>
              <a:rPr lang="en-IN" sz="1800" dirty="0"/>
              <a:t>/</a:t>
            </a:r>
            <a:r>
              <a:rPr lang="en-IN" sz="1800" dirty="0" err="1"/>
              <a:t>azuredocs</a:t>
            </a:r>
            <a:r>
              <a:rPr lang="en-IN" sz="1800" dirty="0"/>
              <a:t>/</a:t>
            </a:r>
            <a:r>
              <a:rPr lang="en-IN" sz="1800" dirty="0" err="1"/>
              <a:t>aci-helloworld</a:t>
            </a:r>
            <a:r>
              <a:rPr lang="en-IN" sz="1800" dirty="0"/>
              <a:t>) which are publicly available. </a:t>
            </a:r>
          </a:p>
          <a:p>
            <a:pPr lvl="1"/>
            <a:r>
              <a:rPr lang="en-IN" sz="1800" dirty="0"/>
              <a:t>ACR is considered a best practice for production and private container image management within the Azure ecosystem. </a:t>
            </a:r>
          </a:p>
          <a:p>
            <a:endParaRPr lang="en-US" sz="1800" dirty="0"/>
          </a:p>
        </p:txBody>
      </p:sp>
    </p:spTree>
    <p:extLst>
      <p:ext uri="{BB962C8B-B14F-4D97-AF65-F5344CB8AC3E}">
        <p14:creationId xmlns:p14="http://schemas.microsoft.com/office/powerpoint/2010/main" val="3344062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7A128-1824-1E57-6ED1-2B3B2D8B26AF}"/>
              </a:ext>
            </a:extLst>
          </p:cNvPr>
          <p:cNvSpPr>
            <a:spLocks noGrp="1"/>
          </p:cNvSpPr>
          <p:nvPr>
            <p:ph type="title"/>
          </p:nvPr>
        </p:nvSpPr>
        <p:spPr/>
        <p:txBody>
          <a:bodyPr/>
          <a:lstStyle/>
          <a:p>
            <a:r>
              <a:rPr lang="en-IN" b="1" dirty="0"/>
              <a:t>Azure CLI</a:t>
            </a:r>
            <a:endParaRPr lang="en-US" dirty="0"/>
          </a:p>
        </p:txBody>
      </p:sp>
      <p:sp>
        <p:nvSpPr>
          <p:cNvPr id="3" name="Content Placeholder 2">
            <a:extLst>
              <a:ext uri="{FF2B5EF4-FFF2-40B4-BE49-F238E27FC236}">
                <a16:creationId xmlns:a16="http://schemas.microsoft.com/office/drawing/2014/main" id="{867C39EA-2246-75E0-062A-FAE9C6074E2F}"/>
              </a:ext>
            </a:extLst>
          </p:cNvPr>
          <p:cNvSpPr>
            <a:spLocks noGrp="1"/>
          </p:cNvSpPr>
          <p:nvPr>
            <p:ph idx="1"/>
          </p:nvPr>
        </p:nvSpPr>
        <p:spPr/>
        <p:txBody>
          <a:bodyPr/>
          <a:lstStyle/>
          <a:p>
            <a:r>
              <a:rPr lang="en-IN" sz="2000" dirty="0"/>
              <a:t>Cross-platform command-line tool to connect to Azure and execute administrative commands </a:t>
            </a:r>
          </a:p>
          <a:p>
            <a:pPr lvl="1"/>
            <a:r>
              <a:rPr lang="en-IN" sz="1800" dirty="0"/>
              <a:t>Fast, efficient way to manage cloud resources</a:t>
            </a:r>
          </a:p>
          <a:p>
            <a:pPr lvl="1"/>
            <a:r>
              <a:rPr lang="en-IN" sz="1800" dirty="0"/>
              <a:t>Used for repetitive or automated tasks. </a:t>
            </a:r>
          </a:p>
          <a:p>
            <a:endParaRPr lang="en-IN" sz="2000" dirty="0"/>
          </a:p>
          <a:p>
            <a:r>
              <a:rPr lang="en-IN" sz="2000" dirty="0">
                <a:solidFill>
                  <a:srgbClr val="C00000"/>
                </a:solidFill>
              </a:rPr>
              <a:t>brew install azure-cli</a:t>
            </a:r>
          </a:p>
          <a:p>
            <a:endParaRPr lang="en-IN" sz="2000" b="1" dirty="0"/>
          </a:p>
          <a:p>
            <a:r>
              <a:rPr lang="en-IN" sz="2000" b="1" dirty="0"/>
              <a:t>On successful  installation </a:t>
            </a:r>
          </a:p>
          <a:p>
            <a:pPr lvl="1">
              <a:lnSpc>
                <a:spcPct val="150000"/>
              </a:lnSpc>
            </a:pPr>
            <a:r>
              <a:rPr lang="en-IN" sz="2000" dirty="0" err="1"/>
              <a:t>az</a:t>
            </a:r>
            <a:r>
              <a:rPr lang="en-IN" sz="2000" dirty="0"/>
              <a:t> version</a:t>
            </a:r>
          </a:p>
          <a:p>
            <a:pPr lvl="1">
              <a:lnSpc>
                <a:spcPct val="150000"/>
              </a:lnSpc>
            </a:pPr>
            <a:r>
              <a:rPr lang="en-IN" sz="2000" dirty="0" err="1"/>
              <a:t>az</a:t>
            </a:r>
            <a:r>
              <a:rPr lang="en-IN" sz="2000" dirty="0"/>
              <a:t> login</a:t>
            </a:r>
          </a:p>
          <a:p>
            <a:endParaRPr lang="en-US" dirty="0"/>
          </a:p>
        </p:txBody>
      </p:sp>
    </p:spTree>
    <p:extLst>
      <p:ext uri="{BB962C8B-B14F-4D97-AF65-F5344CB8AC3E}">
        <p14:creationId xmlns:p14="http://schemas.microsoft.com/office/powerpoint/2010/main" val="1449964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79EA7-4D7D-6BD7-5EC0-7CA6D430862A}"/>
              </a:ext>
            </a:extLst>
          </p:cNvPr>
          <p:cNvSpPr>
            <a:spLocks noGrp="1"/>
          </p:cNvSpPr>
          <p:nvPr>
            <p:ph type="title"/>
          </p:nvPr>
        </p:nvSpPr>
        <p:spPr/>
        <p:txBody>
          <a:bodyPr/>
          <a:lstStyle/>
          <a:p>
            <a:r>
              <a:rPr lang="en-US" dirty="0"/>
              <a:t>Azure Container Registry</a:t>
            </a:r>
          </a:p>
        </p:txBody>
      </p:sp>
      <p:sp>
        <p:nvSpPr>
          <p:cNvPr id="3" name="Content Placeholder 2">
            <a:extLst>
              <a:ext uri="{FF2B5EF4-FFF2-40B4-BE49-F238E27FC236}">
                <a16:creationId xmlns:a16="http://schemas.microsoft.com/office/drawing/2014/main" id="{D4DF29C0-D0C6-75C7-4769-06C0D64ECF84}"/>
              </a:ext>
            </a:extLst>
          </p:cNvPr>
          <p:cNvSpPr>
            <a:spLocks noGrp="1"/>
          </p:cNvSpPr>
          <p:nvPr>
            <p:ph idx="1"/>
          </p:nvPr>
        </p:nvSpPr>
        <p:spPr/>
        <p:txBody>
          <a:bodyPr/>
          <a:lstStyle/>
          <a:p>
            <a:r>
              <a:rPr lang="en-US" sz="2000" dirty="0"/>
              <a:t>docker build --platform </a:t>
            </a:r>
            <a:r>
              <a:rPr lang="en-US" sz="2000" dirty="0" err="1"/>
              <a:t>linux</a:t>
            </a:r>
            <a:r>
              <a:rPr lang="en-US" sz="2000" dirty="0"/>
              <a:t>/amd64 -t </a:t>
            </a:r>
            <a:r>
              <a:rPr lang="en-US" sz="2000" dirty="0" err="1"/>
              <a:t>vatsank</a:t>
            </a:r>
            <a:r>
              <a:rPr lang="en-US" sz="2000" dirty="0"/>
              <a:t>/springrest:1.0 .</a:t>
            </a:r>
          </a:p>
          <a:p>
            <a:endParaRPr lang="en-IN" sz="2000" dirty="0"/>
          </a:p>
          <a:p>
            <a:r>
              <a:rPr lang="en-IN" sz="2000" dirty="0" err="1"/>
              <a:t>az</a:t>
            </a:r>
            <a:r>
              <a:rPr lang="en-IN" sz="2000" dirty="0"/>
              <a:t> </a:t>
            </a:r>
            <a:r>
              <a:rPr lang="en-IN" sz="2000" dirty="0" err="1"/>
              <a:t>acr</a:t>
            </a:r>
            <a:r>
              <a:rPr lang="en-IN" sz="2000" dirty="0"/>
              <a:t> login --name </a:t>
            </a:r>
            <a:r>
              <a:rPr lang="en-IN" sz="2000" dirty="0" err="1"/>
              <a:t>myuniqueregistry</a:t>
            </a:r>
            <a:endParaRPr lang="en-IN" sz="2000" dirty="0"/>
          </a:p>
          <a:p>
            <a:endParaRPr lang="en-IN" sz="2000" b="1" dirty="0"/>
          </a:p>
          <a:p>
            <a:r>
              <a:rPr lang="en-IN" sz="2000" dirty="0"/>
              <a:t>docker build -t spring-boot-app .</a:t>
            </a:r>
          </a:p>
          <a:p>
            <a:endParaRPr lang="en-IN" sz="2000" dirty="0"/>
          </a:p>
          <a:p>
            <a:r>
              <a:rPr lang="en-IN" sz="2000" dirty="0"/>
              <a:t>docker tag spring-boot-app </a:t>
            </a:r>
            <a:r>
              <a:rPr lang="en-IN" sz="2000" dirty="0" err="1"/>
              <a:t>myuniqueregistry.azurecr.io</a:t>
            </a:r>
            <a:r>
              <a:rPr lang="en-IN" sz="2000" dirty="0"/>
              <a:t>/spring-boot-app:v1</a:t>
            </a:r>
          </a:p>
          <a:p>
            <a:endParaRPr lang="en-IN" sz="2000" dirty="0"/>
          </a:p>
          <a:p>
            <a:r>
              <a:rPr lang="en-IN" sz="2000" dirty="0"/>
              <a:t>docker push </a:t>
            </a:r>
            <a:r>
              <a:rPr lang="en-IN" sz="2000" dirty="0" err="1"/>
              <a:t>myuniqueregistry.azurecr.io</a:t>
            </a:r>
            <a:r>
              <a:rPr lang="en-IN" sz="2000" dirty="0"/>
              <a:t>/spring-boot-app:v1</a:t>
            </a:r>
          </a:p>
          <a:p>
            <a:r>
              <a:rPr lang="en-IN" sz="2000" dirty="0" err="1"/>
              <a:t>az</a:t>
            </a:r>
            <a:r>
              <a:rPr lang="en-IN" sz="2000" dirty="0"/>
              <a:t> </a:t>
            </a:r>
            <a:r>
              <a:rPr lang="en-IN" sz="2000" dirty="0" err="1"/>
              <a:t>acr</a:t>
            </a:r>
            <a:r>
              <a:rPr lang="en-IN" sz="2000" dirty="0"/>
              <a:t> repository list --name </a:t>
            </a:r>
            <a:r>
              <a:rPr lang="en-IN" sz="2000" dirty="0" err="1"/>
              <a:t>myuniqueregistry</a:t>
            </a:r>
            <a:r>
              <a:rPr lang="en-IN" sz="2000" dirty="0"/>
              <a:t> --output table</a:t>
            </a:r>
          </a:p>
          <a:p>
            <a:r>
              <a:rPr lang="en-IN" sz="1800" dirty="0" err="1"/>
              <a:t>az</a:t>
            </a:r>
            <a:r>
              <a:rPr lang="en-IN" sz="1800" dirty="0"/>
              <a:t> </a:t>
            </a:r>
            <a:r>
              <a:rPr lang="en-IN" sz="1800" dirty="0" err="1"/>
              <a:t>acr</a:t>
            </a:r>
            <a:r>
              <a:rPr lang="en-IN" sz="1800" dirty="0"/>
              <a:t> repository list –name </a:t>
            </a:r>
            <a:r>
              <a:rPr lang="en-IN" sz="1800" b="1" dirty="0" err="1"/>
              <a:t>vatsandemoreg</a:t>
            </a:r>
            <a:r>
              <a:rPr lang="en-IN" sz="1800" b="1" dirty="0"/>
              <a:t> –output table</a:t>
            </a:r>
          </a:p>
          <a:p>
            <a:endParaRPr lang="en-US" sz="2000" dirty="0"/>
          </a:p>
          <a:p>
            <a:endParaRPr lang="en-US" sz="2000" dirty="0"/>
          </a:p>
        </p:txBody>
      </p:sp>
    </p:spTree>
    <p:extLst>
      <p:ext uri="{BB962C8B-B14F-4D97-AF65-F5344CB8AC3E}">
        <p14:creationId xmlns:p14="http://schemas.microsoft.com/office/powerpoint/2010/main" val="29452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382C2-0FE3-F00D-9B0B-52170BC489C2}"/>
              </a:ext>
            </a:extLst>
          </p:cNvPr>
          <p:cNvSpPr>
            <a:spLocks noGrp="1"/>
          </p:cNvSpPr>
          <p:nvPr>
            <p:ph type="title"/>
          </p:nvPr>
        </p:nvSpPr>
        <p:spPr/>
        <p:txBody>
          <a:bodyPr/>
          <a:lstStyle/>
          <a:p>
            <a:r>
              <a:rPr lang="en-US" sz="2800" dirty="0"/>
              <a:t>Azure Container Repository vs Docker Registry</a:t>
            </a:r>
          </a:p>
        </p:txBody>
      </p:sp>
      <p:sp>
        <p:nvSpPr>
          <p:cNvPr id="3" name="Content Placeholder 2">
            <a:extLst>
              <a:ext uri="{FF2B5EF4-FFF2-40B4-BE49-F238E27FC236}">
                <a16:creationId xmlns:a16="http://schemas.microsoft.com/office/drawing/2014/main" id="{E1DC5EF4-FDF8-4E81-9CB3-9DF23B9B98EA}"/>
              </a:ext>
            </a:extLst>
          </p:cNvPr>
          <p:cNvSpPr>
            <a:spLocks noGrp="1"/>
          </p:cNvSpPr>
          <p:nvPr>
            <p:ph idx="1"/>
          </p:nvPr>
        </p:nvSpPr>
        <p:spPr/>
        <p:txBody>
          <a:bodyPr/>
          <a:lstStyle/>
          <a:p>
            <a:r>
              <a:rPr lang="en-IN" sz="1800" dirty="0"/>
              <a:t>ACR is a private registry for managing proprietary container images, whereas Docker Hub is primarily for public sharing even though it supports private images </a:t>
            </a:r>
          </a:p>
          <a:p>
            <a:endParaRPr lang="en-IN" sz="1800" dirty="0"/>
          </a:p>
          <a:p>
            <a:r>
              <a:rPr lang="en-IN" sz="1800" dirty="0"/>
              <a:t>ACR offers enhanced security features like Azure role-based access control (Azure RBAC), geo-replication, and seamless integration with other Azure services like Azure Kubernetes Service (AKS), Azure Container Instances (ACI), and Azure DevOps.</a:t>
            </a:r>
          </a:p>
          <a:p>
            <a:endParaRPr lang="en-IN" sz="1800" dirty="0"/>
          </a:p>
          <a:p>
            <a:r>
              <a:rPr lang="en-IN" sz="1800" dirty="0"/>
              <a:t>Keeping registry network-close to your container deployment in the same Azure region can reduce latency and network egress fees.</a:t>
            </a:r>
          </a:p>
          <a:p>
            <a:endParaRPr lang="en-IN" sz="1800" b="1" dirty="0"/>
          </a:p>
          <a:p>
            <a:r>
              <a:rPr lang="en-IN" sz="1800" dirty="0"/>
              <a:t>Using a private, managed registry like ACR avoids potential issues with public registry rate limits and external network dependencies, ensuring more reliable deployments. </a:t>
            </a:r>
          </a:p>
          <a:p>
            <a:pPr marL="0" indent="0">
              <a:buNone/>
            </a:pPr>
            <a:br>
              <a:rPr lang="en-IN" dirty="0"/>
            </a:br>
            <a:endParaRPr lang="en-IN" dirty="0"/>
          </a:p>
          <a:p>
            <a:endParaRPr lang="en-US" dirty="0"/>
          </a:p>
          <a:p>
            <a:endParaRPr lang="en-US" dirty="0"/>
          </a:p>
        </p:txBody>
      </p:sp>
    </p:spTree>
    <p:extLst>
      <p:ext uri="{BB962C8B-B14F-4D97-AF65-F5344CB8AC3E}">
        <p14:creationId xmlns:p14="http://schemas.microsoft.com/office/powerpoint/2010/main" val="4050388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386F9-8749-0FB7-A0B3-13A4833A17A6}"/>
              </a:ext>
            </a:extLst>
          </p:cNvPr>
          <p:cNvSpPr>
            <a:spLocks noGrp="1"/>
          </p:cNvSpPr>
          <p:nvPr>
            <p:ph type="title"/>
          </p:nvPr>
        </p:nvSpPr>
        <p:spPr/>
        <p:txBody>
          <a:bodyPr/>
          <a:lstStyle/>
          <a:p>
            <a:r>
              <a:rPr lang="en-US" dirty="0"/>
              <a:t>Azure Container Registry</a:t>
            </a:r>
          </a:p>
        </p:txBody>
      </p:sp>
      <p:sp>
        <p:nvSpPr>
          <p:cNvPr id="3" name="Content Placeholder 2">
            <a:extLst>
              <a:ext uri="{FF2B5EF4-FFF2-40B4-BE49-F238E27FC236}">
                <a16:creationId xmlns:a16="http://schemas.microsoft.com/office/drawing/2014/main" id="{95032275-19B5-8846-EE63-9E47963E060E}"/>
              </a:ext>
            </a:extLst>
          </p:cNvPr>
          <p:cNvSpPr>
            <a:spLocks noGrp="1"/>
          </p:cNvSpPr>
          <p:nvPr>
            <p:ph idx="1"/>
          </p:nvPr>
        </p:nvSpPr>
        <p:spPr/>
        <p:txBody>
          <a:bodyPr/>
          <a:lstStyle/>
          <a:p>
            <a:r>
              <a:rPr lang="en-IN" sz="1800" dirty="0"/>
              <a:t>Can deploy and connect  to an Azure App Service, two ways </a:t>
            </a:r>
          </a:p>
          <a:p>
            <a:pPr lvl="1"/>
            <a:r>
              <a:rPr lang="en-IN" sz="1800" dirty="0"/>
              <a:t>Azure Portal or the Azure CLI. </a:t>
            </a:r>
          </a:p>
          <a:p>
            <a:endParaRPr lang="en-IN" sz="1800" b="1" dirty="0"/>
          </a:p>
          <a:p>
            <a:r>
              <a:rPr lang="en-IN" sz="1800" dirty="0"/>
              <a:t>In the Azure Portal select </a:t>
            </a:r>
            <a:r>
              <a:rPr lang="en-IN" sz="1800" b="1" dirty="0"/>
              <a:t>Create a Resource</a:t>
            </a:r>
            <a:r>
              <a:rPr lang="en-IN" sz="1800" dirty="0"/>
              <a:t> &gt; </a:t>
            </a:r>
            <a:r>
              <a:rPr lang="en-IN" sz="1800" b="1" dirty="0"/>
              <a:t>Web App</a:t>
            </a:r>
            <a:r>
              <a:rPr lang="en-IN" sz="1800" dirty="0"/>
              <a:t>.</a:t>
            </a:r>
          </a:p>
          <a:p>
            <a:r>
              <a:rPr lang="en-IN" sz="1800" b="1" dirty="0"/>
              <a:t>Basics:</a:t>
            </a:r>
            <a:r>
              <a:rPr lang="en-IN" sz="1800" dirty="0"/>
              <a:t> Choose subscription and resource group. </a:t>
            </a:r>
          </a:p>
          <a:p>
            <a:r>
              <a:rPr lang="en-IN" sz="1800" dirty="0"/>
              <a:t>Select </a:t>
            </a:r>
            <a:r>
              <a:rPr lang="en-IN" sz="1800" b="1" dirty="0"/>
              <a:t>Container</a:t>
            </a:r>
            <a:r>
              <a:rPr lang="en-IN" sz="1800" dirty="0"/>
              <a:t> as the publish option and </a:t>
            </a:r>
            <a:r>
              <a:rPr lang="en-IN" sz="1800" b="1" dirty="0"/>
              <a:t>Linux</a:t>
            </a:r>
            <a:r>
              <a:rPr lang="en-IN" sz="1800" dirty="0"/>
              <a:t> as the OS.</a:t>
            </a:r>
          </a:p>
          <a:p>
            <a:r>
              <a:rPr lang="en-IN" sz="1800" b="1" dirty="0"/>
              <a:t>Container Tab:</a:t>
            </a:r>
            <a:endParaRPr lang="en-IN" sz="1800" dirty="0"/>
          </a:p>
          <a:p>
            <a:pPr lvl="1"/>
            <a:r>
              <a:rPr lang="en-IN" sz="1800" b="1" dirty="0"/>
              <a:t>Image Source:</a:t>
            </a:r>
            <a:r>
              <a:rPr lang="en-IN" sz="1800" dirty="0"/>
              <a:t> Select </a:t>
            </a:r>
            <a:r>
              <a:rPr lang="en-IN" sz="1800" b="1" dirty="0"/>
              <a:t>Azure Container Registry</a:t>
            </a:r>
            <a:r>
              <a:rPr lang="en-IN" sz="1800" dirty="0"/>
              <a:t>.</a:t>
            </a:r>
          </a:p>
          <a:p>
            <a:pPr lvl="1"/>
            <a:r>
              <a:rPr lang="en-IN" sz="1800" b="1" dirty="0"/>
              <a:t>Registry Details:</a:t>
            </a:r>
            <a:r>
              <a:rPr lang="en-IN" sz="1800" dirty="0"/>
              <a:t> Select your registry from the dropdown.</a:t>
            </a:r>
          </a:p>
          <a:p>
            <a:r>
              <a:rPr lang="en-IN" sz="1800" b="1" dirty="0"/>
              <a:t>Review + Create</a:t>
            </a:r>
          </a:p>
          <a:p>
            <a:endParaRPr lang="en-US" sz="1800" dirty="0"/>
          </a:p>
          <a:p>
            <a:endParaRPr lang="en-US" sz="1800" dirty="0"/>
          </a:p>
        </p:txBody>
      </p:sp>
    </p:spTree>
    <p:extLst>
      <p:ext uri="{BB962C8B-B14F-4D97-AF65-F5344CB8AC3E}">
        <p14:creationId xmlns:p14="http://schemas.microsoft.com/office/powerpoint/2010/main" val="1198358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1E1B1-4CB8-0751-C303-9AB8432CE41E}"/>
              </a:ext>
            </a:extLst>
          </p:cNvPr>
          <p:cNvSpPr>
            <a:spLocks noGrp="1"/>
          </p:cNvSpPr>
          <p:nvPr>
            <p:ph type="title"/>
          </p:nvPr>
        </p:nvSpPr>
        <p:spPr/>
        <p:txBody>
          <a:bodyPr/>
          <a:lstStyle/>
          <a:p>
            <a:r>
              <a:rPr lang="en-US" dirty="0"/>
              <a:t>Azure API Management </a:t>
            </a:r>
          </a:p>
        </p:txBody>
      </p:sp>
      <p:sp>
        <p:nvSpPr>
          <p:cNvPr id="3" name="Content Placeholder 2">
            <a:extLst>
              <a:ext uri="{FF2B5EF4-FFF2-40B4-BE49-F238E27FC236}">
                <a16:creationId xmlns:a16="http://schemas.microsoft.com/office/drawing/2014/main" id="{99F17886-B135-8C2C-808A-7154B4D1C27E}"/>
              </a:ext>
            </a:extLst>
          </p:cNvPr>
          <p:cNvSpPr>
            <a:spLocks noGrp="1"/>
          </p:cNvSpPr>
          <p:nvPr>
            <p:ph idx="1"/>
          </p:nvPr>
        </p:nvSpPr>
        <p:spPr/>
        <p:txBody>
          <a:bodyPr/>
          <a:lstStyle/>
          <a:p>
            <a:r>
              <a:rPr lang="en-IN" sz="2000" b="1" dirty="0"/>
              <a:t>A Platform-as-a-Service (PaaS)</a:t>
            </a:r>
            <a:r>
              <a:rPr lang="en-IN" sz="2000" dirty="0"/>
              <a:t> offering from Microsoft t</a:t>
            </a:r>
          </a:p>
          <a:p>
            <a:pPr lvl="1"/>
            <a:r>
              <a:rPr lang="en-IN" sz="2000" dirty="0"/>
              <a:t>Can publish, secure, transform, maintain, and monitor APIs. </a:t>
            </a:r>
          </a:p>
          <a:p>
            <a:r>
              <a:rPr lang="en-IN" sz="2000" dirty="0"/>
              <a:t>A façade between API consumers and back-end services, centralizing the management of the entire API lifecycle cloud environments. </a:t>
            </a:r>
            <a:br>
              <a:rPr lang="en-IN" sz="2000" dirty="0"/>
            </a:br>
            <a:endParaRPr lang="en-IN" sz="2000" dirty="0"/>
          </a:p>
          <a:p>
            <a:r>
              <a:rPr lang="en-IN" sz="1800" b="1" dirty="0"/>
              <a:t>API Gateway</a:t>
            </a:r>
            <a:r>
              <a:rPr lang="en-IN" sz="1800" dirty="0"/>
              <a:t>: </a:t>
            </a:r>
          </a:p>
          <a:p>
            <a:pPr lvl="1"/>
            <a:r>
              <a:rPr lang="en-IN" sz="2000" dirty="0"/>
              <a:t>Single entry point for all API calls. </a:t>
            </a:r>
          </a:p>
          <a:p>
            <a:pPr lvl="1"/>
            <a:r>
              <a:rPr lang="en-IN" sz="2000" dirty="0"/>
              <a:t>It intercepts incoming requests, enforces policies (like authentication, rate limits, and caching)</a:t>
            </a:r>
          </a:p>
          <a:p>
            <a:pPr lvl="1"/>
            <a:r>
              <a:rPr lang="en-IN" sz="2000" dirty="0"/>
              <a:t>Routes requests to the appropriate back-end services, and emits metrics and logs for monitoring. </a:t>
            </a:r>
          </a:p>
          <a:p>
            <a:pPr lvl="1"/>
            <a:r>
              <a:rPr lang="en-IN" sz="2000" dirty="0"/>
              <a:t>Managed by Azure </a:t>
            </a:r>
          </a:p>
          <a:p>
            <a:endParaRPr lang="en-US" sz="1800" dirty="0"/>
          </a:p>
          <a:p>
            <a:endParaRPr lang="en-US" sz="1800" dirty="0"/>
          </a:p>
        </p:txBody>
      </p:sp>
    </p:spTree>
    <p:extLst>
      <p:ext uri="{BB962C8B-B14F-4D97-AF65-F5344CB8AC3E}">
        <p14:creationId xmlns:p14="http://schemas.microsoft.com/office/powerpoint/2010/main" val="104517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00543-BDB2-FD0A-00FA-0F53071B5915}"/>
              </a:ext>
            </a:extLst>
          </p:cNvPr>
          <p:cNvSpPr>
            <a:spLocks noGrp="1"/>
          </p:cNvSpPr>
          <p:nvPr>
            <p:ph type="title"/>
          </p:nvPr>
        </p:nvSpPr>
        <p:spPr/>
        <p:txBody>
          <a:bodyPr/>
          <a:lstStyle/>
          <a:p>
            <a:r>
              <a:rPr lang="en-US" dirty="0"/>
              <a:t>Azure API Management </a:t>
            </a:r>
          </a:p>
        </p:txBody>
      </p:sp>
      <p:sp>
        <p:nvSpPr>
          <p:cNvPr id="3" name="Content Placeholder 2">
            <a:extLst>
              <a:ext uri="{FF2B5EF4-FFF2-40B4-BE49-F238E27FC236}">
                <a16:creationId xmlns:a16="http://schemas.microsoft.com/office/drawing/2014/main" id="{B2694779-FCCE-9156-1F2C-68214FE98BC8}"/>
              </a:ext>
            </a:extLst>
          </p:cNvPr>
          <p:cNvSpPr>
            <a:spLocks noGrp="1"/>
          </p:cNvSpPr>
          <p:nvPr>
            <p:ph idx="1"/>
          </p:nvPr>
        </p:nvSpPr>
        <p:spPr>
          <a:xfrm>
            <a:off x="457200" y="868364"/>
            <a:ext cx="8229600" cy="5257800"/>
          </a:xfrm>
        </p:spPr>
        <p:txBody>
          <a:bodyPr/>
          <a:lstStyle/>
          <a:p>
            <a:pPr>
              <a:lnSpc>
                <a:spcPct val="150000"/>
              </a:lnSpc>
            </a:pPr>
            <a:r>
              <a:rPr lang="en-IN" sz="2000" b="1" dirty="0"/>
              <a:t>Management Plane</a:t>
            </a:r>
            <a:r>
              <a:rPr lang="en-IN" sz="2000" dirty="0"/>
              <a:t>: </a:t>
            </a:r>
          </a:p>
          <a:p>
            <a:pPr lvl="1">
              <a:lnSpc>
                <a:spcPct val="150000"/>
              </a:lnSpc>
            </a:pPr>
            <a:r>
              <a:rPr lang="en-IN" sz="2000" dirty="0"/>
              <a:t>The administrative interface </a:t>
            </a:r>
          </a:p>
          <a:p>
            <a:pPr lvl="1">
              <a:lnSpc>
                <a:spcPct val="150000"/>
              </a:lnSpc>
            </a:pPr>
            <a:r>
              <a:rPr lang="en-IN" sz="2000" dirty="0"/>
              <a:t>Used in Azure portal, CLI, </a:t>
            </a:r>
            <a:r>
              <a:rPr lang="en-IN" sz="2000" dirty="0" err="1"/>
              <a:t>PowerShel</a:t>
            </a:r>
            <a:endParaRPr lang="en-IN" sz="2000" dirty="0"/>
          </a:p>
          <a:p>
            <a:pPr lvl="1">
              <a:lnSpc>
                <a:spcPct val="150000"/>
              </a:lnSpc>
            </a:pPr>
            <a:r>
              <a:rPr lang="en-IN" sz="2000" dirty="0"/>
              <a:t>API configurations , API settings, policies, and get analytics insights.</a:t>
            </a:r>
          </a:p>
          <a:p>
            <a:pPr>
              <a:lnSpc>
                <a:spcPct val="150000"/>
              </a:lnSpc>
            </a:pPr>
            <a:r>
              <a:rPr lang="en-IN" sz="2000" b="1" dirty="0"/>
              <a:t>Developer Portal</a:t>
            </a:r>
            <a:r>
              <a:rPr lang="en-IN" sz="2000" dirty="0"/>
              <a:t>: </a:t>
            </a:r>
          </a:p>
          <a:p>
            <a:pPr lvl="1">
              <a:lnSpc>
                <a:spcPct val="150000"/>
              </a:lnSpc>
            </a:pPr>
            <a:r>
              <a:rPr lang="en-IN" sz="2000" dirty="0"/>
              <a:t>An automatically generated, customizable website that serves as the main presence for developers. </a:t>
            </a:r>
          </a:p>
          <a:p>
            <a:pPr lvl="1">
              <a:lnSpc>
                <a:spcPct val="150000"/>
              </a:lnSpc>
            </a:pPr>
            <a:r>
              <a:rPr lang="en-IN" sz="2000" dirty="0"/>
              <a:t>Discover available APIs, view documentation, subscribe to products to get API keys, and test APIs via an interactive console. </a:t>
            </a:r>
          </a:p>
        </p:txBody>
      </p:sp>
    </p:spTree>
    <p:extLst>
      <p:ext uri="{BB962C8B-B14F-4D97-AF65-F5344CB8AC3E}">
        <p14:creationId xmlns:p14="http://schemas.microsoft.com/office/powerpoint/2010/main" val="611672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1D4A-CDB3-9500-3CD6-67086D7326A5}"/>
              </a:ext>
            </a:extLst>
          </p:cNvPr>
          <p:cNvSpPr>
            <a:spLocks noGrp="1"/>
          </p:cNvSpPr>
          <p:nvPr>
            <p:ph type="title"/>
          </p:nvPr>
        </p:nvSpPr>
        <p:spPr/>
        <p:txBody>
          <a:bodyPr/>
          <a:lstStyle/>
          <a:p>
            <a:br>
              <a:rPr lang="en-US" dirty="0"/>
            </a:br>
            <a:r>
              <a:rPr lang="en-US" dirty="0"/>
              <a:t>API Gateways vs Application Gateways</a:t>
            </a:r>
            <a:br>
              <a:rPr lang="en-US" dirty="0"/>
            </a:br>
            <a:endParaRPr lang="en-US" dirty="0"/>
          </a:p>
        </p:txBody>
      </p:sp>
      <p:sp>
        <p:nvSpPr>
          <p:cNvPr id="3" name="Content Placeholder 2">
            <a:extLst>
              <a:ext uri="{FF2B5EF4-FFF2-40B4-BE49-F238E27FC236}">
                <a16:creationId xmlns:a16="http://schemas.microsoft.com/office/drawing/2014/main" id="{1D45CD31-8D84-5CD1-2D54-64FB0493C533}"/>
              </a:ext>
            </a:extLst>
          </p:cNvPr>
          <p:cNvSpPr>
            <a:spLocks noGrp="1"/>
          </p:cNvSpPr>
          <p:nvPr>
            <p:ph idx="1"/>
          </p:nvPr>
        </p:nvSpPr>
        <p:spPr/>
        <p:txBody>
          <a:bodyPr/>
          <a:lstStyle/>
          <a:p>
            <a:r>
              <a:rPr lang="en-IN" sz="1800" dirty="0"/>
              <a:t>An </a:t>
            </a:r>
            <a:r>
              <a:rPr lang="en-IN" sz="1800" b="1" dirty="0"/>
              <a:t>API Gateway</a:t>
            </a:r>
            <a:r>
              <a:rPr lang="en-IN" sz="1800" dirty="0"/>
              <a:t> manages the full lifecycle and exposure of APIs to developers, handling tasks like authentication, rate limiting, and documentation, </a:t>
            </a:r>
          </a:p>
          <a:p>
            <a:r>
              <a:rPr lang="en-IN" sz="1800" b="1" dirty="0"/>
              <a:t>Application Gateway</a:t>
            </a:r>
            <a:r>
              <a:rPr lang="en-IN" sz="1800" dirty="0"/>
              <a:t> is primarily a Layer 7 load balancer with a Web Application Firewall (WAF) for general web traffic security and distribution. </a:t>
            </a:r>
            <a:br>
              <a:rPr lang="en-IN" sz="1800" dirty="0"/>
            </a:br>
            <a:endParaRPr lang="en-IN" sz="1800" dirty="0"/>
          </a:p>
          <a:p>
            <a:r>
              <a:rPr lang="en-IN" sz="1800" b="1" dirty="0"/>
              <a:t>API Gateway</a:t>
            </a:r>
            <a:r>
              <a:rPr lang="en-IN" sz="1800" dirty="0"/>
              <a:t> </a:t>
            </a:r>
          </a:p>
          <a:p>
            <a:pPr lvl="1"/>
            <a:r>
              <a:rPr lang="en-IN" sz="2000" dirty="0"/>
              <a:t>To expose backend services as managed, versioned APIs to internal or external developers. </a:t>
            </a:r>
          </a:p>
          <a:p>
            <a:pPr lvl="1"/>
            <a:r>
              <a:rPr lang="en-IN" sz="2000" dirty="0"/>
              <a:t>It is ideal for microservices architectures, enabling consistent policy enforcement, detailed analytics, and partner onboarding.</a:t>
            </a:r>
          </a:p>
          <a:p>
            <a:r>
              <a:rPr lang="en-IN" sz="1800" b="1" dirty="0"/>
              <a:t>Use an Application Gateway</a:t>
            </a:r>
            <a:r>
              <a:rPr lang="en-IN" sz="1800" dirty="0"/>
              <a:t> </a:t>
            </a:r>
          </a:p>
          <a:p>
            <a:pPr lvl="1"/>
            <a:r>
              <a:rPr lang="en-IN" sz="2000" dirty="0"/>
              <a:t>To provide high-performance load balancing and robust security for general web applications. </a:t>
            </a:r>
          </a:p>
        </p:txBody>
      </p:sp>
    </p:spTree>
    <p:extLst>
      <p:ext uri="{BB962C8B-B14F-4D97-AF65-F5344CB8AC3E}">
        <p14:creationId xmlns:p14="http://schemas.microsoft.com/office/powerpoint/2010/main" val="882353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47BB3-29C3-6A2C-C0CA-AEF9BC821485}"/>
              </a:ext>
            </a:extLst>
          </p:cNvPr>
          <p:cNvSpPr>
            <a:spLocks noGrp="1"/>
          </p:cNvSpPr>
          <p:nvPr>
            <p:ph type="title"/>
          </p:nvPr>
        </p:nvSpPr>
        <p:spPr/>
        <p:txBody>
          <a:bodyPr/>
          <a:lstStyle/>
          <a:p>
            <a:r>
              <a:rPr lang="en-US" dirty="0"/>
              <a:t>API Policies </a:t>
            </a:r>
          </a:p>
        </p:txBody>
      </p:sp>
      <p:sp>
        <p:nvSpPr>
          <p:cNvPr id="3" name="Content Placeholder 2">
            <a:extLst>
              <a:ext uri="{FF2B5EF4-FFF2-40B4-BE49-F238E27FC236}">
                <a16:creationId xmlns:a16="http://schemas.microsoft.com/office/drawing/2014/main" id="{DD21088B-A264-639D-6DCB-3758CCAEAA73}"/>
              </a:ext>
            </a:extLst>
          </p:cNvPr>
          <p:cNvSpPr>
            <a:spLocks noGrp="1"/>
          </p:cNvSpPr>
          <p:nvPr>
            <p:ph idx="1"/>
          </p:nvPr>
        </p:nvSpPr>
        <p:spPr/>
        <p:txBody>
          <a:bodyPr/>
          <a:lstStyle/>
          <a:p>
            <a:r>
              <a:rPr lang="en-IN" sz="2000" b="1" dirty="0"/>
              <a:t>API policies</a:t>
            </a:r>
          </a:p>
          <a:p>
            <a:pPr lvl="1"/>
            <a:r>
              <a:rPr lang="en-IN" sz="2000" dirty="0"/>
              <a:t>Define the rules and guidelines for how APIs are designed, secured, and managed, </a:t>
            </a:r>
          </a:p>
          <a:p>
            <a:pPr lvl="1"/>
            <a:r>
              <a:rPr lang="en-IN" sz="2000" dirty="0"/>
              <a:t>Provide structure and control across the API lifecycle. </a:t>
            </a:r>
          </a:p>
          <a:p>
            <a:pPr marL="0" indent="0">
              <a:buNone/>
            </a:pPr>
            <a:endParaRPr lang="en-IN" sz="2000" b="1" dirty="0"/>
          </a:p>
          <a:p>
            <a:r>
              <a:rPr lang="en-IN" sz="2000" b="1" dirty="0"/>
              <a:t>API versioning</a:t>
            </a:r>
            <a:r>
              <a:rPr lang="en-IN" sz="2000" dirty="0"/>
              <a:t> </a:t>
            </a:r>
          </a:p>
          <a:p>
            <a:pPr lvl="1"/>
            <a:r>
              <a:rPr lang="en-IN" sz="2000" dirty="0"/>
              <a:t>Process of handling and communicating changes to an API over time without disrupting existing users. </a:t>
            </a:r>
          </a:p>
          <a:p>
            <a:pPr lvl="1"/>
            <a:r>
              <a:rPr lang="en-IN" sz="2000" dirty="0"/>
              <a:t>Ensures stability and predictability as an API evolves. </a:t>
            </a:r>
          </a:p>
        </p:txBody>
      </p:sp>
    </p:spTree>
    <p:extLst>
      <p:ext uri="{BB962C8B-B14F-4D97-AF65-F5344CB8AC3E}">
        <p14:creationId xmlns:p14="http://schemas.microsoft.com/office/powerpoint/2010/main" val="663848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0CCAF-0552-B311-92BC-88AE16CFA1EB}"/>
              </a:ext>
            </a:extLst>
          </p:cNvPr>
          <p:cNvSpPr>
            <a:spLocks noGrp="1"/>
          </p:cNvSpPr>
          <p:nvPr>
            <p:ph type="title"/>
          </p:nvPr>
        </p:nvSpPr>
        <p:spPr/>
        <p:txBody>
          <a:bodyPr/>
          <a:lstStyle/>
          <a:p>
            <a:r>
              <a:rPr lang="en-US" dirty="0"/>
              <a:t>Developer Portal</a:t>
            </a:r>
          </a:p>
        </p:txBody>
      </p:sp>
      <p:sp>
        <p:nvSpPr>
          <p:cNvPr id="3" name="Content Placeholder 2">
            <a:extLst>
              <a:ext uri="{FF2B5EF4-FFF2-40B4-BE49-F238E27FC236}">
                <a16:creationId xmlns:a16="http://schemas.microsoft.com/office/drawing/2014/main" id="{757E8B1C-F646-7D2A-0E67-11552749806E}"/>
              </a:ext>
            </a:extLst>
          </p:cNvPr>
          <p:cNvSpPr>
            <a:spLocks noGrp="1"/>
          </p:cNvSpPr>
          <p:nvPr>
            <p:ph idx="1"/>
          </p:nvPr>
        </p:nvSpPr>
        <p:spPr/>
        <p:txBody>
          <a:bodyPr/>
          <a:lstStyle/>
          <a:p>
            <a:r>
              <a:rPr lang="en-IN" sz="2000" dirty="0"/>
              <a:t>A centralized hub for API documentation, testing, and performance monitoring, allowing developers to track usage patterns, error rates (e.g., 500 errors), and latency. </a:t>
            </a:r>
          </a:p>
          <a:p>
            <a:endParaRPr lang="en-IN" sz="2000" dirty="0"/>
          </a:p>
          <a:p>
            <a:r>
              <a:rPr lang="en-IN" sz="2000" dirty="0"/>
              <a:t>These portals improve developer experience by offering interactive dashboards, API key management, and insights into API adoption. </a:t>
            </a:r>
          </a:p>
          <a:p>
            <a:endParaRPr lang="en-IN" sz="2000" dirty="0"/>
          </a:p>
          <a:p>
            <a:r>
              <a:rPr lang="en-IN" sz="2000" dirty="0"/>
              <a:t>IBM API Connect</a:t>
            </a:r>
          </a:p>
          <a:p>
            <a:r>
              <a:rPr lang="en-IN" sz="2000" dirty="0"/>
              <a:t>Kong Konnect</a:t>
            </a:r>
          </a:p>
          <a:p>
            <a:r>
              <a:rPr lang="en-IN" sz="2000" dirty="0"/>
              <a:t>Azure API Management</a:t>
            </a:r>
          </a:p>
        </p:txBody>
      </p:sp>
    </p:spTree>
    <p:extLst>
      <p:ext uri="{BB962C8B-B14F-4D97-AF65-F5344CB8AC3E}">
        <p14:creationId xmlns:p14="http://schemas.microsoft.com/office/powerpoint/2010/main" val="996832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552C7-8E29-C919-7CF1-53541A041E47}"/>
              </a:ext>
            </a:extLst>
          </p:cNvPr>
          <p:cNvSpPr>
            <a:spLocks noGrp="1"/>
          </p:cNvSpPr>
          <p:nvPr>
            <p:ph type="title"/>
          </p:nvPr>
        </p:nvSpPr>
        <p:spPr/>
        <p:txBody>
          <a:bodyPr/>
          <a:lstStyle/>
          <a:p>
            <a:r>
              <a:rPr lang="en-US" dirty="0"/>
              <a:t>API Composition Pattern</a:t>
            </a:r>
          </a:p>
        </p:txBody>
      </p:sp>
      <p:sp>
        <p:nvSpPr>
          <p:cNvPr id="3" name="Content Placeholder 2">
            <a:extLst>
              <a:ext uri="{FF2B5EF4-FFF2-40B4-BE49-F238E27FC236}">
                <a16:creationId xmlns:a16="http://schemas.microsoft.com/office/drawing/2014/main" id="{8C814577-A234-A15B-B465-0B17077B1F65}"/>
              </a:ext>
            </a:extLst>
          </p:cNvPr>
          <p:cNvSpPr>
            <a:spLocks noGrp="1"/>
          </p:cNvSpPr>
          <p:nvPr>
            <p:ph idx="1"/>
          </p:nvPr>
        </p:nvSpPr>
        <p:spPr/>
        <p:txBody>
          <a:bodyPr/>
          <a:lstStyle/>
          <a:p>
            <a:r>
              <a:rPr lang="en-IN" sz="1800" dirty="0"/>
              <a:t>Used to aggregate responses from multiple microservices into a single API endpoint.</a:t>
            </a:r>
          </a:p>
          <a:p>
            <a:endParaRPr lang="en-IN" sz="1800" dirty="0"/>
          </a:p>
          <a:p>
            <a:r>
              <a:rPr lang="en-IN" sz="1800" dirty="0"/>
              <a:t>The API Composition Pattern creates intermediary layer that orchestrates calls to the relevant microservices, compiles their responses, and presents a unified response to the client.</a:t>
            </a:r>
          </a:p>
          <a:p>
            <a:endParaRPr lang="en-IN" sz="1800" dirty="0"/>
          </a:p>
          <a:p>
            <a:r>
              <a:rPr lang="en-IN" sz="1800" dirty="0"/>
              <a:t>This pattern can be implemented using a dedicated API gateway or a composition service that fetches data asynchronously, ensuring that the client receives all necessary information in one call.</a:t>
            </a:r>
          </a:p>
          <a:p>
            <a:pPr marL="0" indent="0">
              <a:buNone/>
            </a:pPr>
            <a:br>
              <a:rPr lang="en-IN" sz="1800" dirty="0"/>
            </a:br>
            <a:endParaRPr lang="en-US" sz="1800" dirty="0"/>
          </a:p>
          <a:p>
            <a:endParaRPr lang="en-US" sz="1800" dirty="0"/>
          </a:p>
        </p:txBody>
      </p:sp>
    </p:spTree>
    <p:extLst>
      <p:ext uri="{BB962C8B-B14F-4D97-AF65-F5344CB8AC3E}">
        <p14:creationId xmlns:p14="http://schemas.microsoft.com/office/powerpoint/2010/main" val="910182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ECB5-8634-7670-D406-FEBC79445E32}"/>
              </a:ext>
            </a:extLst>
          </p:cNvPr>
          <p:cNvSpPr>
            <a:spLocks noGrp="1"/>
          </p:cNvSpPr>
          <p:nvPr>
            <p:ph type="title"/>
          </p:nvPr>
        </p:nvSpPr>
        <p:spPr/>
        <p:txBody>
          <a:bodyPr/>
          <a:lstStyle/>
          <a:p>
            <a:br>
              <a:rPr lang="en-IN" dirty="0"/>
            </a:br>
            <a:r>
              <a:rPr lang="en-IN" b="1" dirty="0"/>
              <a:t>API Composition</a:t>
            </a:r>
            <a:br>
              <a:rPr lang="en-IN" b="1" dirty="0"/>
            </a:br>
            <a:endParaRPr lang="en-US" dirty="0"/>
          </a:p>
        </p:txBody>
      </p:sp>
      <p:sp>
        <p:nvSpPr>
          <p:cNvPr id="3" name="Content Placeholder 2">
            <a:extLst>
              <a:ext uri="{FF2B5EF4-FFF2-40B4-BE49-F238E27FC236}">
                <a16:creationId xmlns:a16="http://schemas.microsoft.com/office/drawing/2014/main" id="{C32E1DED-4A97-52BE-2A56-A3BBBC62234F}"/>
              </a:ext>
            </a:extLst>
          </p:cNvPr>
          <p:cNvSpPr>
            <a:spLocks noGrp="1" noRot="1" noMove="1" noResize="1" noEditPoints="1" noAdjustHandles="1" noChangeArrowheads="1" noChangeShapeType="1"/>
          </p:cNvSpPr>
          <p:nvPr>
            <p:ph idx="1"/>
          </p:nvPr>
        </p:nvSpPr>
        <p:spPr/>
        <p:txBody>
          <a:bodyPr/>
          <a:lstStyle/>
          <a:p>
            <a:r>
              <a:rPr lang="en-IN" sz="1800" b="1" dirty="0"/>
              <a:t>Client Request:</a:t>
            </a:r>
            <a:r>
              <a:rPr lang="en-IN" sz="1800" dirty="0"/>
              <a:t> </a:t>
            </a:r>
          </a:p>
          <a:p>
            <a:r>
              <a:rPr lang="en-IN" sz="1800" b="1" dirty="0"/>
              <a:t>Request Parsing:</a:t>
            </a:r>
            <a:r>
              <a:rPr lang="en-IN" sz="1800" dirty="0"/>
              <a:t> </a:t>
            </a:r>
          </a:p>
          <a:p>
            <a:r>
              <a:rPr lang="en-IN" sz="1800" b="1" dirty="0"/>
              <a:t>Service Calls:</a:t>
            </a:r>
            <a:r>
              <a:rPr lang="en-IN" sz="1800" dirty="0"/>
              <a:t> The composition layer makes calls to the relevant microservices. These calls can be done in parallel or sequentially, depending on the dependencies between the services and the design of the composition layer. </a:t>
            </a:r>
          </a:p>
          <a:p>
            <a:r>
              <a:rPr lang="en-IN" sz="1800" b="1" dirty="0"/>
              <a:t>Data Aggregation:</a:t>
            </a:r>
            <a:r>
              <a:rPr lang="en-IN" sz="1800" dirty="0"/>
              <a:t> .</a:t>
            </a:r>
          </a:p>
          <a:p>
            <a:r>
              <a:rPr lang="en-IN" sz="1800" b="1" dirty="0"/>
              <a:t>Response Formatting: </a:t>
            </a:r>
          </a:p>
          <a:p>
            <a:r>
              <a:rPr lang="en-IN" sz="1800" b="1" dirty="0"/>
              <a:t>Return Response:</a:t>
            </a:r>
            <a:r>
              <a:rPr lang="en-IN" sz="1800" dirty="0"/>
              <a:t> </a:t>
            </a:r>
          </a:p>
          <a:p>
            <a:r>
              <a:rPr lang="en-IN" sz="1800" b="1" dirty="0"/>
              <a:t>Caching:</a:t>
            </a:r>
            <a:r>
              <a:rPr lang="en-IN" sz="1800" dirty="0"/>
              <a:t> </a:t>
            </a:r>
          </a:p>
          <a:p>
            <a:r>
              <a:rPr lang="en-IN" sz="1800" b="1" dirty="0"/>
              <a:t>Security and Monitoring</a:t>
            </a:r>
            <a:r>
              <a:rPr lang="en-IN" sz="1800" b="1"/>
              <a:t>:</a:t>
            </a:r>
            <a:r>
              <a:rPr lang="en-IN" sz="1800"/>
              <a:t>  </a:t>
            </a:r>
            <a:r>
              <a:rPr lang="en-IN" sz="1800" dirty="0"/>
              <a:t>C</a:t>
            </a:r>
            <a:r>
              <a:rPr lang="en-IN" sz="1800"/>
              <a:t>an </a:t>
            </a:r>
            <a:r>
              <a:rPr lang="en-IN" sz="1800" dirty="0"/>
              <a:t>enforce security protocols (like authentication and authorization) and monitor requests for performance metrics, enabling centralized control over these aspects.</a:t>
            </a:r>
          </a:p>
          <a:p>
            <a:endParaRPr lang="en-US" sz="1800" dirty="0"/>
          </a:p>
        </p:txBody>
      </p:sp>
    </p:spTree>
    <p:extLst>
      <p:ext uri="{BB962C8B-B14F-4D97-AF65-F5344CB8AC3E}">
        <p14:creationId xmlns:p14="http://schemas.microsoft.com/office/powerpoint/2010/main" val="3653689535"/>
      </p:ext>
    </p:extLst>
  </p:cSld>
  <p:clrMapOvr>
    <a:masterClrMapping/>
  </p:clrMapOvr>
</p:sld>
</file>

<file path=ppt/theme/theme1.xml><?xml version="1.0" encoding="utf-8"?>
<a:theme xmlns:a="http://schemas.openxmlformats.org/drawingml/2006/main" name="vees">
  <a:themeElements>
    <a:clrScheme name="vees 14">
      <a:dk1>
        <a:srgbClr val="000000"/>
      </a:dk1>
      <a:lt1>
        <a:srgbClr val="FF99CC"/>
      </a:lt1>
      <a:dk2>
        <a:srgbClr val="1C1C1C"/>
      </a:dk2>
      <a:lt2>
        <a:srgbClr val="4D4D4D"/>
      </a:lt2>
      <a:accent1>
        <a:srgbClr val="FF0000"/>
      </a:accent1>
      <a:accent2>
        <a:srgbClr val="FF99CC"/>
      </a:accent2>
      <a:accent3>
        <a:srgbClr val="FFCAE2"/>
      </a:accent3>
      <a:accent4>
        <a:srgbClr val="000000"/>
      </a:accent4>
      <a:accent5>
        <a:srgbClr val="FFAAAA"/>
      </a:accent5>
      <a:accent6>
        <a:srgbClr val="E78AB9"/>
      </a:accent6>
      <a:hlink>
        <a:srgbClr val="9933FF"/>
      </a:hlink>
      <a:folHlink>
        <a:srgbClr val="44C63A"/>
      </a:folHlink>
    </a:clrScheme>
    <a:fontScheme name="ve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vees 1">
        <a:dk1>
          <a:srgbClr val="C0C0C0"/>
        </a:dk1>
        <a:lt1>
          <a:srgbClr val="FFFFFF"/>
        </a:lt1>
        <a:dk2>
          <a:srgbClr val="000099"/>
        </a:dk2>
        <a:lt2>
          <a:srgbClr val="CCECFF"/>
        </a:lt2>
        <a:accent1>
          <a:srgbClr val="FF3399"/>
        </a:accent1>
        <a:accent2>
          <a:srgbClr val="99CCFF"/>
        </a:accent2>
        <a:accent3>
          <a:srgbClr val="AAAACA"/>
        </a:accent3>
        <a:accent4>
          <a:srgbClr val="DADADA"/>
        </a:accent4>
        <a:accent5>
          <a:srgbClr val="FFADCA"/>
        </a:accent5>
        <a:accent6>
          <a:srgbClr val="8AB9E7"/>
        </a:accent6>
        <a:hlink>
          <a:srgbClr val="FF5050"/>
        </a:hlink>
        <a:folHlink>
          <a:srgbClr val="FFFF99"/>
        </a:folHlink>
      </a:clrScheme>
      <a:clrMap bg1="dk2" tx1="lt1" bg2="dk1" tx2="lt2" accent1="accent1" accent2="accent2" accent3="accent3" accent4="accent4" accent5="accent5" accent6="accent6" hlink="hlink" folHlink="folHlink"/>
    </a:extraClrScheme>
    <a:extraClrScheme>
      <a:clrScheme name="vees 2">
        <a:dk1>
          <a:srgbClr val="000000"/>
        </a:dk1>
        <a:lt1>
          <a:srgbClr val="99CCFF"/>
        </a:lt1>
        <a:dk2>
          <a:srgbClr val="1C1C1C"/>
        </a:dk2>
        <a:lt2>
          <a:srgbClr val="4D4D4D"/>
        </a:lt2>
        <a:accent1>
          <a:srgbClr val="CC0066"/>
        </a:accent1>
        <a:accent2>
          <a:srgbClr val="3366FF"/>
        </a:accent2>
        <a:accent3>
          <a:srgbClr val="CAE2FF"/>
        </a:accent3>
        <a:accent4>
          <a:srgbClr val="000000"/>
        </a:accent4>
        <a:accent5>
          <a:srgbClr val="E2AAB8"/>
        </a:accent5>
        <a:accent6>
          <a:srgbClr val="2D5CE7"/>
        </a:accent6>
        <a:hlink>
          <a:srgbClr val="FF0000"/>
        </a:hlink>
        <a:folHlink>
          <a:srgbClr val="FFFF00"/>
        </a:folHlink>
      </a:clrScheme>
      <a:clrMap bg1="lt1" tx1="dk1" bg2="lt2" tx2="dk2" accent1="accent1" accent2="accent2" accent3="accent3" accent4="accent4" accent5="accent5" accent6="accent6" hlink="hlink" folHlink="folHlink"/>
    </a:extraClrScheme>
    <a:extraClrScheme>
      <a:clrScheme name="vees 3">
        <a:dk1>
          <a:srgbClr val="C0C0C0"/>
        </a:dk1>
        <a:lt1>
          <a:srgbClr val="FFFFFF"/>
        </a:lt1>
        <a:dk2>
          <a:srgbClr val="800000"/>
        </a:dk2>
        <a:lt2>
          <a:srgbClr val="FFCC99"/>
        </a:lt2>
        <a:accent1>
          <a:srgbClr val="FF9900"/>
        </a:accent1>
        <a:accent2>
          <a:srgbClr val="CC0000"/>
        </a:accent2>
        <a:accent3>
          <a:srgbClr val="C0AAAA"/>
        </a:accent3>
        <a:accent4>
          <a:srgbClr val="DADADA"/>
        </a:accent4>
        <a:accent5>
          <a:srgbClr val="FFCAAA"/>
        </a:accent5>
        <a:accent6>
          <a:srgbClr val="B90000"/>
        </a:accent6>
        <a:hlink>
          <a:srgbClr val="FF33CC"/>
        </a:hlink>
        <a:folHlink>
          <a:srgbClr val="FFCC00"/>
        </a:folHlink>
      </a:clrScheme>
      <a:clrMap bg1="dk2" tx1="lt1" bg2="dk1" tx2="lt2" accent1="accent1" accent2="accent2" accent3="accent3" accent4="accent4" accent5="accent5" accent6="accent6" hlink="hlink" folHlink="folHlink"/>
    </a:extraClrScheme>
    <a:extraClrScheme>
      <a:clrScheme name="vees 4">
        <a:dk1>
          <a:srgbClr val="000000"/>
        </a:dk1>
        <a:lt1>
          <a:srgbClr val="FF9966"/>
        </a:lt1>
        <a:dk2>
          <a:srgbClr val="1C1C1C"/>
        </a:dk2>
        <a:lt2>
          <a:srgbClr val="4D4D4D"/>
        </a:lt2>
        <a:accent1>
          <a:srgbClr val="FF0000"/>
        </a:accent1>
        <a:accent2>
          <a:srgbClr val="FF6699"/>
        </a:accent2>
        <a:accent3>
          <a:srgbClr val="FFCAB8"/>
        </a:accent3>
        <a:accent4>
          <a:srgbClr val="000000"/>
        </a:accent4>
        <a:accent5>
          <a:srgbClr val="FFAAAA"/>
        </a:accent5>
        <a:accent6>
          <a:srgbClr val="E75C8A"/>
        </a:accent6>
        <a:hlink>
          <a:srgbClr val="CC00CC"/>
        </a:hlink>
        <a:folHlink>
          <a:srgbClr val="FFCC00"/>
        </a:folHlink>
      </a:clrScheme>
      <a:clrMap bg1="lt1" tx1="dk1" bg2="lt2" tx2="dk2" accent1="accent1" accent2="accent2" accent3="accent3" accent4="accent4" accent5="accent5" accent6="accent6" hlink="hlink" folHlink="folHlink"/>
    </a:extraClrScheme>
    <a:extraClrScheme>
      <a:clrScheme name="vees 5">
        <a:dk1>
          <a:srgbClr val="C0C0C0"/>
        </a:dk1>
        <a:lt1>
          <a:srgbClr val="FFFFFF"/>
        </a:lt1>
        <a:dk2>
          <a:srgbClr val="008000"/>
        </a:dk2>
        <a:lt2>
          <a:srgbClr val="CCECFF"/>
        </a:lt2>
        <a:accent1>
          <a:srgbClr val="0066FF"/>
        </a:accent1>
        <a:accent2>
          <a:srgbClr val="00FF00"/>
        </a:accent2>
        <a:accent3>
          <a:srgbClr val="AAC0AA"/>
        </a:accent3>
        <a:accent4>
          <a:srgbClr val="DADADA"/>
        </a:accent4>
        <a:accent5>
          <a:srgbClr val="AAB8FF"/>
        </a:accent5>
        <a:accent6>
          <a:srgbClr val="00E700"/>
        </a:accent6>
        <a:hlink>
          <a:srgbClr val="A29E00"/>
        </a:hlink>
        <a:folHlink>
          <a:srgbClr val="EA8B00"/>
        </a:folHlink>
      </a:clrScheme>
      <a:clrMap bg1="dk2" tx1="lt1" bg2="dk1" tx2="lt2" accent1="accent1" accent2="accent2" accent3="accent3" accent4="accent4" accent5="accent5" accent6="accent6" hlink="hlink" folHlink="folHlink"/>
    </a:extraClrScheme>
    <a:extraClrScheme>
      <a:clrScheme name="vees 6">
        <a:dk1>
          <a:srgbClr val="000000"/>
        </a:dk1>
        <a:lt1>
          <a:srgbClr val="97E183"/>
        </a:lt1>
        <a:dk2>
          <a:srgbClr val="1C1C1C"/>
        </a:dk2>
        <a:lt2>
          <a:srgbClr val="4D4D4D"/>
        </a:lt2>
        <a:accent1>
          <a:srgbClr val="0066FF"/>
        </a:accent1>
        <a:accent2>
          <a:srgbClr val="99FF99"/>
        </a:accent2>
        <a:accent3>
          <a:srgbClr val="C9EEC1"/>
        </a:accent3>
        <a:accent4>
          <a:srgbClr val="000000"/>
        </a:accent4>
        <a:accent5>
          <a:srgbClr val="AAB8FF"/>
        </a:accent5>
        <a:accent6>
          <a:srgbClr val="8AE78A"/>
        </a:accent6>
        <a:hlink>
          <a:srgbClr val="CC9900"/>
        </a:hlink>
        <a:folHlink>
          <a:srgbClr val="FFCC66"/>
        </a:folHlink>
      </a:clrScheme>
      <a:clrMap bg1="lt1" tx1="dk1" bg2="lt2" tx2="dk2" accent1="accent1" accent2="accent2" accent3="accent3" accent4="accent4" accent5="accent5" accent6="accent6" hlink="hlink" folHlink="folHlink"/>
    </a:extraClrScheme>
    <a:extraClrScheme>
      <a:clrScheme name="vees 7">
        <a:dk1>
          <a:srgbClr val="C0C0C0"/>
        </a:dk1>
        <a:lt1>
          <a:srgbClr val="FFFFFF"/>
        </a:lt1>
        <a:dk2>
          <a:srgbClr val="008080"/>
        </a:dk2>
        <a:lt2>
          <a:srgbClr val="CCECFF"/>
        </a:lt2>
        <a:accent1>
          <a:srgbClr val="29A329"/>
        </a:accent1>
        <a:accent2>
          <a:srgbClr val="00FFFF"/>
        </a:accent2>
        <a:accent3>
          <a:srgbClr val="AAC0C0"/>
        </a:accent3>
        <a:accent4>
          <a:srgbClr val="DADADA"/>
        </a:accent4>
        <a:accent5>
          <a:srgbClr val="ACCEAC"/>
        </a:accent5>
        <a:accent6>
          <a:srgbClr val="00E7E7"/>
        </a:accent6>
        <a:hlink>
          <a:srgbClr val="3B6AFF"/>
        </a:hlink>
        <a:folHlink>
          <a:srgbClr val="FF9900"/>
        </a:folHlink>
      </a:clrScheme>
      <a:clrMap bg1="dk2" tx1="lt1" bg2="dk1" tx2="lt2" accent1="accent1" accent2="accent2" accent3="accent3" accent4="accent4" accent5="accent5" accent6="accent6" hlink="hlink" folHlink="folHlink"/>
    </a:extraClrScheme>
    <a:extraClrScheme>
      <a:clrScheme name="vees 8">
        <a:dk1>
          <a:srgbClr val="000000"/>
        </a:dk1>
        <a:lt1>
          <a:srgbClr val="64F0BE"/>
        </a:lt1>
        <a:dk2>
          <a:srgbClr val="1C1C1C"/>
        </a:dk2>
        <a:lt2>
          <a:srgbClr val="4D4D4D"/>
        </a:lt2>
        <a:accent1>
          <a:srgbClr val="008000"/>
        </a:accent1>
        <a:accent2>
          <a:srgbClr val="00FFFF"/>
        </a:accent2>
        <a:accent3>
          <a:srgbClr val="B8F6DB"/>
        </a:accent3>
        <a:accent4>
          <a:srgbClr val="000000"/>
        </a:accent4>
        <a:accent5>
          <a:srgbClr val="AAC0AA"/>
        </a:accent5>
        <a:accent6>
          <a:srgbClr val="00E7E7"/>
        </a:accent6>
        <a:hlink>
          <a:srgbClr val="3366FF"/>
        </a:hlink>
        <a:folHlink>
          <a:srgbClr val="FFCC66"/>
        </a:folHlink>
      </a:clrScheme>
      <a:clrMap bg1="lt1" tx1="dk1" bg2="lt2" tx2="dk2" accent1="accent1" accent2="accent2" accent3="accent3" accent4="accent4" accent5="accent5" accent6="accent6" hlink="hlink" folHlink="folHlink"/>
    </a:extraClrScheme>
    <a:extraClrScheme>
      <a:clrScheme name="vees 9">
        <a:dk1>
          <a:srgbClr val="C0C0C0"/>
        </a:dk1>
        <a:lt1>
          <a:srgbClr val="FFFFFF"/>
        </a:lt1>
        <a:dk2>
          <a:srgbClr val="CC9900"/>
        </a:dk2>
        <a:lt2>
          <a:srgbClr val="FFFFCC"/>
        </a:lt2>
        <a:accent1>
          <a:srgbClr val="FF3300"/>
        </a:accent1>
        <a:accent2>
          <a:srgbClr val="FFCC66"/>
        </a:accent2>
        <a:accent3>
          <a:srgbClr val="E2CAAA"/>
        </a:accent3>
        <a:accent4>
          <a:srgbClr val="DADADA"/>
        </a:accent4>
        <a:accent5>
          <a:srgbClr val="FFADAA"/>
        </a:accent5>
        <a:accent6>
          <a:srgbClr val="E7B95C"/>
        </a:accent6>
        <a:hlink>
          <a:srgbClr val="008080"/>
        </a:hlink>
        <a:folHlink>
          <a:srgbClr val="3399FF"/>
        </a:folHlink>
      </a:clrScheme>
      <a:clrMap bg1="dk2" tx1="lt1" bg2="dk1" tx2="lt2" accent1="accent1" accent2="accent2" accent3="accent3" accent4="accent4" accent5="accent5" accent6="accent6" hlink="hlink" folHlink="folHlink"/>
    </a:extraClrScheme>
    <a:extraClrScheme>
      <a:clrScheme name="vees 10">
        <a:dk1>
          <a:srgbClr val="000000"/>
        </a:dk1>
        <a:lt1>
          <a:srgbClr val="EFF274"/>
        </a:lt1>
        <a:dk2>
          <a:srgbClr val="1C1C1C"/>
        </a:dk2>
        <a:lt2>
          <a:srgbClr val="4D4D4D"/>
        </a:lt2>
        <a:accent1>
          <a:srgbClr val="9966FF"/>
        </a:accent1>
        <a:accent2>
          <a:srgbClr val="FFFFCC"/>
        </a:accent2>
        <a:accent3>
          <a:srgbClr val="F6F7BC"/>
        </a:accent3>
        <a:accent4>
          <a:srgbClr val="000000"/>
        </a:accent4>
        <a:accent5>
          <a:srgbClr val="CAB8FF"/>
        </a:accent5>
        <a:accent6>
          <a:srgbClr val="E7E7B9"/>
        </a:accent6>
        <a:hlink>
          <a:srgbClr val="6666FF"/>
        </a:hlink>
        <a:folHlink>
          <a:srgbClr val="99CCFF"/>
        </a:folHlink>
      </a:clrScheme>
      <a:clrMap bg1="lt1" tx1="dk1" bg2="lt2" tx2="dk2" accent1="accent1" accent2="accent2" accent3="accent3" accent4="accent4" accent5="accent5" accent6="accent6" hlink="hlink" folHlink="folHlink"/>
    </a:extraClrScheme>
    <a:extraClrScheme>
      <a:clrScheme name="vees 11">
        <a:dk1>
          <a:srgbClr val="C0C0C0"/>
        </a:dk1>
        <a:lt1>
          <a:srgbClr val="FFFFFF"/>
        </a:lt1>
        <a:dk2>
          <a:srgbClr val="6600CC"/>
        </a:dk2>
        <a:lt2>
          <a:srgbClr val="CCCCFF"/>
        </a:lt2>
        <a:accent1>
          <a:srgbClr val="D60093"/>
        </a:accent1>
        <a:accent2>
          <a:srgbClr val="9999FF"/>
        </a:accent2>
        <a:accent3>
          <a:srgbClr val="B8AAE2"/>
        </a:accent3>
        <a:accent4>
          <a:srgbClr val="DADADA"/>
        </a:accent4>
        <a:accent5>
          <a:srgbClr val="E8AAC8"/>
        </a:accent5>
        <a:accent6>
          <a:srgbClr val="8A8AE7"/>
        </a:accent6>
        <a:hlink>
          <a:srgbClr val="008000"/>
        </a:hlink>
        <a:folHlink>
          <a:srgbClr val="FF9966"/>
        </a:folHlink>
      </a:clrScheme>
      <a:clrMap bg1="dk2" tx1="lt1" bg2="dk1" tx2="lt2" accent1="accent1" accent2="accent2" accent3="accent3" accent4="accent4" accent5="accent5" accent6="accent6" hlink="hlink" folHlink="folHlink"/>
    </a:extraClrScheme>
    <a:extraClrScheme>
      <a:clrScheme name="vees 12">
        <a:dk1>
          <a:srgbClr val="000000"/>
        </a:dk1>
        <a:lt1>
          <a:srgbClr val="CC99FF"/>
        </a:lt1>
        <a:dk2>
          <a:srgbClr val="1C1C1C"/>
        </a:dk2>
        <a:lt2>
          <a:srgbClr val="4D4D4D"/>
        </a:lt2>
        <a:accent1>
          <a:srgbClr val="0066FF"/>
        </a:accent1>
        <a:accent2>
          <a:srgbClr val="CCCCFF"/>
        </a:accent2>
        <a:accent3>
          <a:srgbClr val="E2CAFF"/>
        </a:accent3>
        <a:accent4>
          <a:srgbClr val="000000"/>
        </a:accent4>
        <a:accent5>
          <a:srgbClr val="AAB8FF"/>
        </a:accent5>
        <a:accent6>
          <a:srgbClr val="B9B9E7"/>
        </a:accent6>
        <a:hlink>
          <a:srgbClr val="FF0066"/>
        </a:hlink>
        <a:folHlink>
          <a:srgbClr val="66CCFF"/>
        </a:folHlink>
      </a:clrScheme>
      <a:clrMap bg1="lt1" tx1="dk1" bg2="lt2" tx2="dk2" accent1="accent1" accent2="accent2" accent3="accent3" accent4="accent4" accent5="accent5" accent6="accent6" hlink="hlink" folHlink="folHlink"/>
    </a:extraClrScheme>
    <a:extraClrScheme>
      <a:clrScheme name="vees 13">
        <a:dk1>
          <a:srgbClr val="C0C0C0"/>
        </a:dk1>
        <a:lt1>
          <a:srgbClr val="FFFFFF"/>
        </a:lt1>
        <a:dk2>
          <a:srgbClr val="CC0066"/>
        </a:dk2>
        <a:lt2>
          <a:srgbClr val="FFCCCC"/>
        </a:lt2>
        <a:accent1>
          <a:srgbClr val="993366"/>
        </a:accent1>
        <a:accent2>
          <a:srgbClr val="FF9999"/>
        </a:accent2>
        <a:accent3>
          <a:srgbClr val="E2AAB8"/>
        </a:accent3>
        <a:accent4>
          <a:srgbClr val="DADADA"/>
        </a:accent4>
        <a:accent5>
          <a:srgbClr val="CAADB8"/>
        </a:accent5>
        <a:accent6>
          <a:srgbClr val="E78A8A"/>
        </a:accent6>
        <a:hlink>
          <a:srgbClr val="009999"/>
        </a:hlink>
        <a:folHlink>
          <a:srgbClr val="FF9933"/>
        </a:folHlink>
      </a:clrScheme>
      <a:clrMap bg1="dk2" tx1="lt1" bg2="dk1" tx2="lt2" accent1="accent1" accent2="accent2" accent3="accent3" accent4="accent4" accent5="accent5" accent6="accent6" hlink="hlink" folHlink="folHlink"/>
    </a:extraClrScheme>
    <a:extraClrScheme>
      <a:clrScheme name="vees 14">
        <a:dk1>
          <a:srgbClr val="000000"/>
        </a:dk1>
        <a:lt1>
          <a:srgbClr val="FF99CC"/>
        </a:lt1>
        <a:dk2>
          <a:srgbClr val="1C1C1C"/>
        </a:dk2>
        <a:lt2>
          <a:srgbClr val="4D4D4D"/>
        </a:lt2>
        <a:accent1>
          <a:srgbClr val="FF0000"/>
        </a:accent1>
        <a:accent2>
          <a:srgbClr val="FF99CC"/>
        </a:accent2>
        <a:accent3>
          <a:srgbClr val="FFCAE2"/>
        </a:accent3>
        <a:accent4>
          <a:srgbClr val="000000"/>
        </a:accent4>
        <a:accent5>
          <a:srgbClr val="FFAAAA"/>
        </a:accent5>
        <a:accent6>
          <a:srgbClr val="E78AB9"/>
        </a:accent6>
        <a:hlink>
          <a:srgbClr val="9933FF"/>
        </a:hlink>
        <a:folHlink>
          <a:srgbClr val="44C63A"/>
        </a:folHlink>
      </a:clrScheme>
      <a:clrMap bg1="lt1" tx1="dk1" bg2="lt2" tx2="dk2" accent1="accent1" accent2="accent2" accent3="accent3" accent4="accent4" accent5="accent5" accent6="accent6" hlink="hlink" folHlink="folHlink"/>
    </a:extraClrScheme>
    <a:extraClrScheme>
      <a:clrScheme name="vees 15">
        <a:dk1>
          <a:srgbClr val="C0C0C0"/>
        </a:dk1>
        <a:lt1>
          <a:srgbClr val="FFFFFF"/>
        </a:lt1>
        <a:dk2>
          <a:srgbClr val="000000"/>
        </a:dk2>
        <a:lt2>
          <a:srgbClr val="DDDDDD"/>
        </a:lt2>
        <a:accent1>
          <a:srgbClr val="4D4D4D"/>
        </a:accent1>
        <a:accent2>
          <a:srgbClr val="C0C0C0"/>
        </a:accent2>
        <a:accent3>
          <a:srgbClr val="AAAAAA"/>
        </a:accent3>
        <a:accent4>
          <a:srgbClr val="DADADA"/>
        </a:accent4>
        <a:accent5>
          <a:srgbClr val="B2B2B2"/>
        </a:accent5>
        <a:accent6>
          <a:srgbClr val="AEAEAE"/>
        </a:accent6>
        <a:hlink>
          <a:srgbClr val="777777"/>
        </a:hlink>
        <a:folHlink>
          <a:srgbClr val="FFFFFF"/>
        </a:folHlink>
      </a:clrScheme>
      <a:clrMap bg1="dk2" tx1="lt1" bg2="dk1" tx2="lt2" accent1="accent1" accent2="accent2" accent3="accent3" accent4="accent4" accent5="accent5" accent6="accent6" hlink="hlink" folHlink="folHlink"/>
    </a:extraClrScheme>
    <a:extraClrScheme>
      <a:clrScheme name="vees 16">
        <a:dk1>
          <a:srgbClr val="000000"/>
        </a:dk1>
        <a:lt1>
          <a:srgbClr val="FFFFFF"/>
        </a:lt1>
        <a:dk2>
          <a:srgbClr val="1C1C1C"/>
        </a:dk2>
        <a:lt2>
          <a:srgbClr val="4D4D4D"/>
        </a:lt2>
        <a:accent1>
          <a:srgbClr val="4D4D4D"/>
        </a:accent1>
        <a:accent2>
          <a:srgbClr val="DDDDDD"/>
        </a:accent2>
        <a:accent3>
          <a:srgbClr val="FFFFFF"/>
        </a:accent3>
        <a:accent4>
          <a:srgbClr val="000000"/>
        </a:accent4>
        <a:accent5>
          <a:srgbClr val="B2B2B2"/>
        </a:accent5>
        <a:accent6>
          <a:srgbClr val="C8C8C8"/>
        </a:accent6>
        <a:hlink>
          <a:srgbClr val="808080"/>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8919</TotalTime>
  <Words>1611</Words>
  <Application>Microsoft Macintosh PowerPoint</Application>
  <PresentationFormat>On-screen Show (4:3)</PresentationFormat>
  <Paragraphs>210</Paragraphs>
  <Slides>21</Slides>
  <Notes>11</Notes>
  <HiddenSlides>0</HiddenSlides>
  <MMClips>0</MMClips>
  <ScaleCrop>false</ScaleCrop>
  <HeadingPairs>
    <vt:vector size="8" baseType="variant">
      <vt:variant>
        <vt:lpstr>Fonts Used</vt:lpstr>
      </vt:variant>
      <vt:variant>
        <vt:i4>2</vt:i4>
      </vt:variant>
      <vt:variant>
        <vt:lpstr>Theme</vt:lpstr>
      </vt:variant>
      <vt:variant>
        <vt:i4>1</vt:i4>
      </vt:variant>
      <vt:variant>
        <vt:lpstr>Slide Titles</vt:lpstr>
      </vt:variant>
      <vt:variant>
        <vt:i4>21</vt:i4>
      </vt:variant>
      <vt:variant>
        <vt:lpstr>Custom Shows</vt:lpstr>
      </vt:variant>
      <vt:variant>
        <vt:i4>1</vt:i4>
      </vt:variant>
    </vt:vector>
  </HeadingPairs>
  <TitlesOfParts>
    <vt:vector size="25" baseType="lpstr">
      <vt:lpstr>Arial</vt:lpstr>
      <vt:lpstr>Times New Roman</vt:lpstr>
      <vt:lpstr>vees</vt:lpstr>
      <vt:lpstr>Azure App Services</vt:lpstr>
      <vt:lpstr> Azure Container Instances (ACI) </vt:lpstr>
      <vt:lpstr> Azure Container Apps </vt:lpstr>
      <vt:lpstr> Azure Kubernetes Service (AKS) </vt:lpstr>
      <vt:lpstr>Comparison</vt:lpstr>
      <vt:lpstr>Azure Web App </vt:lpstr>
      <vt:lpstr>Azure Webapp Plugin</vt:lpstr>
      <vt:lpstr>pom.xml</vt:lpstr>
      <vt:lpstr>Push a Docker Image </vt:lpstr>
      <vt:lpstr> Common Deployment Sources in Azure: </vt:lpstr>
      <vt:lpstr>Azure CLI</vt:lpstr>
      <vt:lpstr>Azure Container Registry</vt:lpstr>
      <vt:lpstr>Azure Container Repository vs Docker Registry</vt:lpstr>
      <vt:lpstr>Azure Container Registry</vt:lpstr>
      <vt:lpstr>Azure API Management </vt:lpstr>
      <vt:lpstr>Azure API Management </vt:lpstr>
      <vt:lpstr> API Gateways vs Application Gateways </vt:lpstr>
      <vt:lpstr>API Policies </vt:lpstr>
      <vt:lpstr>Developer Portal</vt:lpstr>
      <vt:lpstr>API Composition Pattern</vt:lpstr>
      <vt:lpstr> API Composition </vt:lpstr>
      <vt:lpstr>Sapient</vt:lpstr>
    </vt:vector>
  </TitlesOfParts>
  <Company>Meta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dc:title>
  <dc:subject>Spring Core Package</dc:subject>
  <dc:creator>K.Srivatsan</dc:creator>
  <cp:lastModifiedBy>Srivatsan Krishnamachari</cp:lastModifiedBy>
  <cp:revision>594</cp:revision>
  <dcterms:created xsi:type="dcterms:W3CDTF">1998-10-26T19:35:11Z</dcterms:created>
  <dcterms:modified xsi:type="dcterms:W3CDTF">2026-02-05T04:19:27Z</dcterms:modified>
</cp:coreProperties>
</file>