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</p:sldMasterIdLst>
  <p:notesMasterIdLst>
    <p:notesMasterId r:id="rId43"/>
  </p:notesMasterIdLst>
  <p:sldIdLst>
    <p:sldId id="2558" r:id="rId2"/>
    <p:sldId id="2559" r:id="rId3"/>
    <p:sldId id="2560" r:id="rId4"/>
    <p:sldId id="2585" r:id="rId5"/>
    <p:sldId id="2589" r:id="rId6"/>
    <p:sldId id="2590" r:id="rId7"/>
    <p:sldId id="2588" r:id="rId8"/>
    <p:sldId id="2591" r:id="rId9"/>
    <p:sldId id="2554" r:id="rId10"/>
    <p:sldId id="2592" r:id="rId11"/>
    <p:sldId id="2599" r:id="rId12"/>
    <p:sldId id="2598" r:id="rId13"/>
    <p:sldId id="2602" r:id="rId14"/>
    <p:sldId id="2600" r:id="rId15"/>
    <p:sldId id="2601" r:id="rId16"/>
    <p:sldId id="2603" r:id="rId17"/>
    <p:sldId id="1938" r:id="rId18"/>
    <p:sldId id="2604" r:id="rId19"/>
    <p:sldId id="2605" r:id="rId20"/>
    <p:sldId id="2606" r:id="rId21"/>
    <p:sldId id="2607" r:id="rId22"/>
    <p:sldId id="2608" r:id="rId23"/>
    <p:sldId id="2609" r:id="rId24"/>
    <p:sldId id="2610" r:id="rId25"/>
    <p:sldId id="2613" r:id="rId26"/>
    <p:sldId id="2614" r:id="rId27"/>
    <p:sldId id="2611" r:id="rId28"/>
    <p:sldId id="2612" r:id="rId29"/>
    <p:sldId id="2770" r:id="rId30"/>
    <p:sldId id="2615" r:id="rId31"/>
    <p:sldId id="2616" r:id="rId32"/>
    <p:sldId id="2617" r:id="rId33"/>
    <p:sldId id="2618" r:id="rId34"/>
    <p:sldId id="2619" r:id="rId35"/>
    <p:sldId id="2772" r:id="rId36"/>
    <p:sldId id="2621" r:id="rId37"/>
    <p:sldId id="2773" r:id="rId38"/>
    <p:sldId id="2774" r:id="rId39"/>
    <p:sldId id="2775" r:id="rId40"/>
    <p:sldId id="2776" r:id="rId41"/>
    <p:sldId id="2777" r:id="rId42"/>
  </p:sldIdLst>
  <p:sldSz cx="9144000" cy="6858000" type="screen4x3"/>
  <p:notesSz cx="6858000" cy="9144000"/>
  <p:custShowLst>
    <p:custShow name="Sapient" id="0">
      <p:sldLst/>
    </p:custShow>
  </p:custShow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099" autoAdjust="0"/>
    <p:restoredTop sz="96764" autoAdjust="0"/>
  </p:normalViewPr>
  <p:slideViewPr>
    <p:cSldViewPr>
      <p:cViewPr varScale="1">
        <p:scale>
          <a:sx n="113" d="100"/>
          <a:sy n="113" d="100"/>
        </p:scale>
        <p:origin x="1032" y="4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4116"/>
    </p:cViewPr>
  </p:sorterViewPr>
  <p:notesViewPr>
    <p:cSldViewPr>
      <p:cViewPr varScale="1">
        <p:scale>
          <a:sx n="68" d="100"/>
          <a:sy n="68" d="100"/>
        </p:scale>
        <p:origin x="3680" y="20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20BAB2B2-D108-8409-CB94-88F66706DA5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7" name="Rectangle 3">
            <a:extLst>
              <a:ext uri="{FF2B5EF4-FFF2-40B4-BE49-F238E27FC236}">
                <a16:creationId xmlns:a16="http://schemas.microsoft.com/office/drawing/2014/main" id="{7B0261A1-6558-2626-F044-20BCDBB3581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71DDB3D-437C-42A7-6117-6910248D8FDA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989" name="Rectangle 5">
            <a:extLst>
              <a:ext uri="{FF2B5EF4-FFF2-40B4-BE49-F238E27FC236}">
                <a16:creationId xmlns:a16="http://schemas.microsoft.com/office/drawing/2014/main" id="{A7273FC9-F86D-722E-9AB5-9CB24BCEE55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1990" name="Rectangle 6">
            <a:extLst>
              <a:ext uri="{FF2B5EF4-FFF2-40B4-BE49-F238E27FC236}">
                <a16:creationId xmlns:a16="http://schemas.microsoft.com/office/drawing/2014/main" id="{CD6032A2-ECD4-19FA-0C20-0E17E64BFF14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91" name="Rectangle 7">
            <a:extLst>
              <a:ext uri="{FF2B5EF4-FFF2-40B4-BE49-F238E27FC236}">
                <a16:creationId xmlns:a16="http://schemas.microsoft.com/office/drawing/2014/main" id="{E41B11B4-5A64-CBE3-4C2C-4A6C754DF42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BA8A2EA4-582F-8844-84D7-5760F28092C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A8A2EA4-582F-8844-84D7-5760F28092C8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22087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A8A2EA4-582F-8844-84D7-5760F28092C8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30209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66BE2BB-0558-9B80-385C-777C5C885D6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0AAEE4-D6BD-594D-8A42-F70E9DC2310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7992265-354E-DEFC-67B3-A2535904099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0027062-A797-0E42-99D3-80A34C162F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35271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EF8AD8E-6F42-99E8-311E-E96B6B7A71A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501DB98-0E05-447D-445D-D86B2D4B38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8ADCEC9-FDFA-175F-3881-66985C0D5C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B7BB100-DF3C-454D-BF2F-43E7FB1AA43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491372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CABAC00-D6DB-FC4B-0D68-6523E6689A0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EFFE15D-75B0-20C2-A42C-342E447C4A5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8DAB82-440B-52BE-E1E1-5F03E0507C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B344B87-694D-5143-B5C7-A73026C7B74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2003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066800"/>
            <a:ext cx="4038600" cy="50593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066800"/>
            <a:ext cx="4038600" cy="50593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CB9245-81E7-7238-53F2-599295E9FED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6B8C6B-4BF5-B05E-2D1A-774C603F5A6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F878C4-F9E3-A413-16EC-0C7419F488D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263CEED-6766-FC4A-A77F-5DC702103CB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85030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212F816-9A73-4EF6-446A-D2CBEA53822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AC70195A-7302-4709-D311-7E8D87368E4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8FB5AE12-C0EB-534C-22D9-EF1C9AADC57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D460C2E-2FA7-474B-A8AC-E8B7FFDCCE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8249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A8F9DD25-ED3A-95E9-1835-88D54FBAF29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CA2E61E-4B28-812D-C380-B77CBDFD3ED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ACC997F-2DCC-BCBA-16C4-B82578343F5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7A605F-F03E-FD46-832D-DD7C80CA814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44303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02F06FB4-1467-A582-2272-F51A003DEA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3DB0B634-64E5-0FE7-D979-0252C1C1E94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B82FCA8A-A9C6-6D0C-1B84-1A2964C7E31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F8E442-3160-3644-A6D6-545BCE25D4F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34750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B2C5F5-13CB-61EE-D52A-245B385CF16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1C0AE0-6315-D28F-675F-0D9DA498731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7E95A8-748A-EEED-A60F-C636CD7495B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AF4C71D-B800-2846-92C3-96F88E12E49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99758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9CE46E-4EEB-B10F-4477-8095CCD6254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7FFB2D-E4CD-4849-6180-BD9168D576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E42599-2413-A064-6252-F02C06FF889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8D372A-6EB9-7E45-B693-828A0115F50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84055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38C4CC5-2271-8485-5FC3-864BCEC6BDB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B90F024-8354-9E9C-2533-79A38AA0779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B5A8B27-1A5E-E623-0B20-EF6672D933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98713B6-0EAE-AE4D-8FAD-E9C799FA580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7417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6689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6689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32AB57F-D235-85B4-14D5-987A47BCAC6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EF2E0DF-F404-0134-F5C5-00E4D492056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7FA79A-FE90-EB00-1FA5-EC744378BBD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55FEA1-BFBA-E74E-8B80-1B82D8CDDB2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339869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4111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066800"/>
            <a:ext cx="4038600" cy="5059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066800"/>
            <a:ext cx="4038600" cy="5059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3B27C-B121-CC52-1B74-BFEEC8B0595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CE92E2-4ADC-E204-BED5-6C8F3C32F45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A21F56-25EA-C6EA-931B-1291A2501B9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453271-D545-2E42-B91D-9E479ADC634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98655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DB319CF-415C-D88C-21F9-CCAE4D8BAA6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411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08422E1-638B-9343-E3DB-3DD59738813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066800"/>
            <a:ext cx="8229600" cy="5059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</p:txBody>
      </p:sp>
      <p:sp>
        <p:nvSpPr>
          <p:cNvPr id="94212" name="Rectangle 4">
            <a:extLst>
              <a:ext uri="{FF2B5EF4-FFF2-40B4-BE49-F238E27FC236}">
                <a16:creationId xmlns:a16="http://schemas.microsoft.com/office/drawing/2014/main" id="{EF8AA1CC-D3C8-C4CF-EC90-C2DD59A30DA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213" name="Rectangle 5">
            <a:extLst>
              <a:ext uri="{FF2B5EF4-FFF2-40B4-BE49-F238E27FC236}">
                <a16:creationId xmlns:a16="http://schemas.microsoft.com/office/drawing/2014/main" id="{2E1ECEE6-CAAA-4B4C-8F6A-AEE4D82AB06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214" name="Rectangle 6">
            <a:extLst>
              <a:ext uri="{FF2B5EF4-FFF2-40B4-BE49-F238E27FC236}">
                <a16:creationId xmlns:a16="http://schemas.microsoft.com/office/drawing/2014/main" id="{946E16DC-8BF2-C37C-B236-DFB4862AF19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82DE7C99-6272-544E-ACF6-7A21E03E836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BD99CF-295F-5E02-E976-980BBB03A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Spring Security</a:t>
            </a:r>
          </a:p>
        </p:txBody>
      </p:sp>
      <p:sp>
        <p:nvSpPr>
          <p:cNvPr id="3075" name="Text Placeholder 4">
            <a:extLst>
              <a:ext uri="{FF2B5EF4-FFF2-40B4-BE49-F238E27FC236}">
                <a16:creationId xmlns:a16="http://schemas.microsoft.com/office/drawing/2014/main" id="{25FA6487-C1C3-2C66-E308-F8AB669E1A0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92110B42-15CB-F36D-DD47-5C05B38C17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Spring Security</a:t>
            </a:r>
          </a:p>
        </p:txBody>
      </p:sp>
      <p:sp>
        <p:nvSpPr>
          <p:cNvPr id="4099" name="Content Placeholder 2">
            <a:extLst>
              <a:ext uri="{FF2B5EF4-FFF2-40B4-BE49-F238E27FC236}">
                <a16:creationId xmlns:a16="http://schemas.microsoft.com/office/drawing/2014/main" id="{E5DF6C44-ADB0-6FAF-A891-6EED6B17215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914400"/>
            <a:ext cx="8229600" cy="521176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/>
              <a:t>Highly customizable authentication and access-control framework. 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Focuses on providing both authentication and authorization 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“</a:t>
            </a:r>
            <a:r>
              <a:rPr lang="en-US" altLang="en-US" sz="2000" b="1"/>
              <a:t>Authentication</a:t>
            </a:r>
            <a:r>
              <a:rPr lang="en-US" altLang="en-US" sz="2000"/>
              <a:t>”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The process of establishing a user, device or some other system which can perform an action in the  application</a:t>
            </a:r>
          </a:p>
          <a:p>
            <a:pPr>
              <a:lnSpc>
                <a:spcPct val="150000"/>
              </a:lnSpc>
            </a:pPr>
            <a:r>
              <a:rPr lang="en-US" altLang="en-US" sz="2000"/>
              <a:t>“</a:t>
            </a:r>
            <a:r>
              <a:rPr lang="en-US" altLang="en-US" sz="2000" b="1"/>
              <a:t>Authorization</a:t>
            </a:r>
            <a:r>
              <a:rPr lang="en-US" altLang="en-US" sz="2000"/>
              <a:t>”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The process of deciding whether a principal is allowed to perform an action within the application.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authorization is done after authentication process.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Once the user is authenticated they may have one or more “roles” </a:t>
            </a:r>
          </a:p>
          <a:p>
            <a:pPr lvl="1">
              <a:lnSpc>
                <a:spcPct val="150000"/>
              </a:lnSpc>
            </a:pPr>
            <a:endParaRPr lang="en-US" altLang="en-US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DCF1DDCD-2832-303F-8F26-9BE6D83E79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/>
              <a:t>Authentication &amp; Authorization</a:t>
            </a:r>
            <a:endParaRPr lang="en-IN" altLang="en-US"/>
          </a:p>
        </p:txBody>
      </p:sp>
      <p:pic>
        <p:nvPicPr>
          <p:cNvPr id="5123" name="Content Placeholder 4" descr="Diagram&#10;&#10;Description automatically generated with medium confidence">
            <a:extLst>
              <a:ext uri="{FF2B5EF4-FFF2-40B4-BE49-F238E27FC236}">
                <a16:creationId xmlns:a16="http://schemas.microsoft.com/office/drawing/2014/main" id="{228E34D6-FB6B-0EE7-26D8-A8CB992F6DF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57200" y="1143000"/>
            <a:ext cx="8229600" cy="5029200"/>
          </a:xfr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>
            <a:extLst>
              <a:ext uri="{FF2B5EF4-FFF2-40B4-BE49-F238E27FC236}">
                <a16:creationId xmlns:a16="http://schemas.microsoft.com/office/drawing/2014/main" id="{AB5A321F-B866-6571-A75B-C11CA1D2A22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/>
              <a:t>Add Spring Security Module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3581F-03AC-8AC2-F5E1-3B33FEC70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200000"/>
              </a:lnSpc>
              <a:defRPr/>
            </a:pPr>
            <a:r>
              <a:rPr lang="en-IN" sz="1800" dirty="0"/>
              <a:t>Update the pom.xml file with the following entry, can also add spring security while use starter project.</a:t>
            </a:r>
          </a:p>
          <a:p>
            <a:pPr marL="457200" lvl="1" indent="0">
              <a:lnSpc>
                <a:spcPct val="200000"/>
              </a:lnSpc>
              <a:buFontTx/>
              <a:buNone/>
              <a:defRPr/>
            </a:pPr>
            <a:endParaRPr lang="en-IN" sz="1800" dirty="0"/>
          </a:p>
          <a:p>
            <a:pPr marL="457200" lvl="1" indent="0">
              <a:lnSpc>
                <a:spcPct val="200000"/>
              </a:lnSpc>
              <a:buFontTx/>
              <a:buNone/>
              <a:defRPr/>
            </a:pPr>
            <a:r>
              <a:rPr lang="en-IN" sz="1800" dirty="0"/>
              <a:t>&lt;dependency&gt;</a:t>
            </a:r>
          </a:p>
          <a:p>
            <a:pPr marL="457200" lvl="1" indent="0">
              <a:lnSpc>
                <a:spcPct val="200000"/>
              </a:lnSpc>
              <a:buFontTx/>
              <a:buNone/>
              <a:defRPr/>
            </a:pPr>
            <a:r>
              <a:rPr lang="en-IN" sz="1800" dirty="0"/>
              <a:t> &lt;</a:t>
            </a:r>
            <a:r>
              <a:rPr lang="en-IN" sz="1800" dirty="0" err="1"/>
              <a:t>groupId</a:t>
            </a:r>
            <a:r>
              <a:rPr lang="en-IN" sz="1800" dirty="0"/>
              <a:t>&gt;</a:t>
            </a:r>
            <a:r>
              <a:rPr lang="en-IN" sz="1800" dirty="0" err="1"/>
              <a:t>org.springframework.boot</a:t>
            </a:r>
            <a:r>
              <a:rPr lang="en-IN" sz="1800" dirty="0"/>
              <a:t>&lt;/</a:t>
            </a:r>
            <a:r>
              <a:rPr lang="en-IN" sz="1800" dirty="0" err="1"/>
              <a:t>groupId</a:t>
            </a:r>
            <a:r>
              <a:rPr lang="en-IN" sz="1800" dirty="0"/>
              <a:t>&gt;</a:t>
            </a:r>
          </a:p>
          <a:p>
            <a:pPr marL="457200" lvl="1" indent="0">
              <a:lnSpc>
                <a:spcPct val="200000"/>
              </a:lnSpc>
              <a:buFontTx/>
              <a:buNone/>
              <a:defRPr/>
            </a:pPr>
            <a:r>
              <a:rPr lang="en-IN" sz="1800" dirty="0"/>
              <a:t> &lt;</a:t>
            </a:r>
            <a:r>
              <a:rPr lang="en-IN" sz="1800" dirty="0" err="1"/>
              <a:t>artifactId</a:t>
            </a:r>
            <a:r>
              <a:rPr lang="en-IN" sz="1800" dirty="0"/>
              <a:t>&gt;spring-boot-starter-security&lt;/</a:t>
            </a:r>
            <a:r>
              <a:rPr lang="en-IN" sz="1800" dirty="0" err="1"/>
              <a:t>artifactId</a:t>
            </a:r>
            <a:r>
              <a:rPr lang="en-IN" sz="1800" dirty="0"/>
              <a:t>&gt;</a:t>
            </a:r>
          </a:p>
          <a:p>
            <a:pPr marL="457200" lvl="1" indent="0">
              <a:lnSpc>
                <a:spcPct val="200000"/>
              </a:lnSpc>
              <a:buFontTx/>
              <a:buNone/>
              <a:defRPr/>
            </a:pPr>
            <a:r>
              <a:rPr lang="en-IN" sz="1800" dirty="0"/>
              <a:t>&lt;/dependency&gt;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>
            <a:extLst>
              <a:ext uri="{FF2B5EF4-FFF2-40B4-BE49-F238E27FC236}">
                <a16:creationId xmlns:a16="http://schemas.microsoft.com/office/drawing/2014/main" id="{5D90C102-571B-C3CE-60C7-2D85BC7444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/>
              <a:t>Spring Security Architecture</a:t>
            </a:r>
          </a:p>
        </p:txBody>
      </p:sp>
      <p:pic>
        <p:nvPicPr>
          <p:cNvPr id="7171" name="Picture 2">
            <a:extLst>
              <a:ext uri="{FF2B5EF4-FFF2-40B4-BE49-F238E27FC236}">
                <a16:creationId xmlns:a16="http://schemas.microsoft.com/office/drawing/2014/main" id="{5EAF4272-1DBA-EC61-A35E-4726502A7B6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171575" y="1066800"/>
            <a:ext cx="6800850" cy="5059363"/>
          </a:xfr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>
            <a:extLst>
              <a:ext uri="{FF2B5EF4-FFF2-40B4-BE49-F238E27FC236}">
                <a16:creationId xmlns:a16="http://schemas.microsoft.com/office/drawing/2014/main" id="{511AE8C7-587D-41DC-3C60-CBEF6E72DC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/>
              <a:t>Spring Security Architecture</a:t>
            </a:r>
          </a:p>
        </p:txBody>
      </p:sp>
      <p:sp>
        <p:nvSpPr>
          <p:cNvPr id="8195" name="Content Placeholder 2">
            <a:extLst>
              <a:ext uri="{FF2B5EF4-FFF2-40B4-BE49-F238E27FC236}">
                <a16:creationId xmlns:a16="http://schemas.microsoft.com/office/drawing/2014/main" id="{299C467B-5395-5BD4-FD81-EE1AE78A53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000" b="1"/>
              <a:t>DelegatingFilterProxy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Servlet filter embedded in the spring context.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It delegates the incoming request to a bunch of filters </a:t>
            </a:r>
          </a:p>
          <a:p>
            <a:r>
              <a:rPr lang="en-US" altLang="en-US" sz="2000" b="1"/>
              <a:t>FilterChainProxy </a:t>
            </a:r>
          </a:p>
          <a:p>
            <a:pPr lvl="1"/>
            <a:r>
              <a:rPr lang="en-US" altLang="en-US" sz="2000"/>
              <a:t>A servlet filter which invokes the relevant filters that would work on the incoming request. </a:t>
            </a:r>
          </a:p>
          <a:p>
            <a:r>
              <a:rPr lang="en-US" altLang="en-US" sz="2000" b="1"/>
              <a:t>SecurityFilters</a:t>
            </a:r>
          </a:p>
          <a:p>
            <a:pPr lvl="1"/>
            <a:r>
              <a:rPr lang="en-US" altLang="en-US" sz="2000"/>
              <a:t>Contains a list of filters that need to be invoked before the controller can handle the request. </a:t>
            </a:r>
          </a:p>
          <a:p>
            <a:pPr lvl="1"/>
            <a:r>
              <a:rPr lang="en-US" altLang="en-US" sz="2000"/>
              <a:t>SecurityContextPersistenceFilter, HeaderWriterFilter, CsrfFilter, LogoutFilter, UsernamePasswordAuthenticationFilter etc. </a:t>
            </a:r>
          </a:p>
          <a:p>
            <a:pPr lvl="1"/>
            <a:r>
              <a:rPr lang="en-US" altLang="en-US" sz="2000"/>
              <a:t>FilterChainProxy queries this class to invoke each filter in a loop.</a:t>
            </a:r>
          </a:p>
          <a:p>
            <a:endParaRPr lang="en-US" altLang="en-US" sz="2000"/>
          </a:p>
          <a:p>
            <a:endParaRPr lang="en-IN" altLang="en-US" sz="2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AF516FFE-E41B-1A84-2B45-6EF1941B35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457200"/>
            <a:ext cx="8229600" cy="228600"/>
          </a:xfrm>
        </p:spPr>
        <p:txBody>
          <a:bodyPr/>
          <a:lstStyle/>
          <a:p>
            <a:r>
              <a:rPr lang="en-IN" altLang="en-US"/>
              <a:t>Authorizations</a:t>
            </a:r>
          </a:p>
        </p:txBody>
      </p:sp>
      <p:sp>
        <p:nvSpPr>
          <p:cNvPr id="11267" name="Content Placeholder 2">
            <a:extLst>
              <a:ext uri="{FF2B5EF4-FFF2-40B4-BE49-F238E27FC236}">
                <a16:creationId xmlns:a16="http://schemas.microsoft.com/office/drawing/2014/main" id="{795FD7B7-607B-37E6-1E58-9A1203C8B1D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838200"/>
            <a:ext cx="8229600" cy="528796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000" b="1"/>
              <a:t>permitAll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No need of any authorization to access current page.</a:t>
            </a:r>
          </a:p>
          <a:p>
            <a:pPr>
              <a:lnSpc>
                <a:spcPct val="150000"/>
              </a:lnSpc>
            </a:pPr>
            <a:r>
              <a:rPr lang="en-US" altLang="en-US" sz="2000" b="1"/>
              <a:t>authenticated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Requires  Login(username/password) and no authorization(role based access) is required.</a:t>
            </a:r>
          </a:p>
          <a:p>
            <a:pPr>
              <a:lnSpc>
                <a:spcPct val="150000"/>
              </a:lnSpc>
            </a:pPr>
            <a:r>
              <a:rPr lang="en-US" altLang="en-US" sz="2000" b="1"/>
              <a:t>hasAuthority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Requires that user should have both authentication and role based authorization access.</a:t>
            </a:r>
          </a:p>
          <a:p>
            <a:pPr>
              <a:lnSpc>
                <a:spcPct val="150000"/>
              </a:lnSpc>
            </a:pPr>
            <a:r>
              <a:rPr lang="en-US" altLang="en-US" sz="2000" b="1"/>
              <a:t>hasAnyAuthority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It represents that user should have authentication and multiple role based authorization access. </a:t>
            </a:r>
          </a:p>
          <a:p>
            <a:endParaRPr lang="en-US" altLang="en-US" sz="2000"/>
          </a:p>
          <a:p>
            <a:endParaRPr lang="en-IN" altLang="en-US"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242FB600-ADCE-0CC7-45F0-874B28018F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 b="1">
                <a:solidFill>
                  <a:srgbClr val="000000"/>
                </a:solidFill>
              </a:rPr>
              <a:t>BCryptPasswordEncoder</a:t>
            </a:r>
            <a:endParaRPr lang="en-IN" altLang="en-US"/>
          </a:p>
        </p:txBody>
      </p:sp>
      <p:sp>
        <p:nvSpPr>
          <p:cNvPr id="12291" name="Content Placeholder 2">
            <a:extLst>
              <a:ext uri="{FF2B5EF4-FFF2-40B4-BE49-F238E27FC236}">
                <a16:creationId xmlns:a16="http://schemas.microsoft.com/office/drawing/2014/main" id="{CA2A6307-ABA1-D309-A6F6-D40AF45165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altLang="en-US" sz="2000"/>
              <a:t>An encryption class of Spring Security.</a:t>
            </a:r>
          </a:p>
          <a:p>
            <a:pPr>
              <a:lnSpc>
                <a:spcPct val="150000"/>
              </a:lnSpc>
            </a:pPr>
            <a:r>
              <a:rPr lang="en-IN" altLang="en-US" sz="2000"/>
              <a:t>Spring provides a variety of encryption methods for passwords. </a:t>
            </a:r>
          </a:p>
          <a:p>
            <a:pPr>
              <a:lnSpc>
                <a:spcPct val="150000"/>
              </a:lnSpc>
            </a:pPr>
            <a:r>
              <a:rPr lang="en-IN" altLang="en-US" sz="2000"/>
              <a:t>The official recommendation is to use BCryptPasswordEncoder, which uses the BCrypt strong hash function.</a:t>
            </a:r>
          </a:p>
          <a:p>
            <a:endParaRPr lang="en-IN" altLang="en-US" sz="2000"/>
          </a:p>
          <a:p>
            <a:pPr marL="457200" lvl="1" indent="0">
              <a:buFontTx/>
              <a:buNone/>
            </a:pPr>
            <a:r>
              <a:rPr lang="en-IN" altLang="en-US" sz="2000"/>
              <a:t>@Bean</a:t>
            </a:r>
          </a:p>
          <a:p>
            <a:pPr marL="457200" lvl="1" indent="0">
              <a:buFontTx/>
              <a:buNone/>
            </a:pPr>
            <a:r>
              <a:rPr lang="en-IN" altLang="en-US" sz="2000"/>
              <a:t>    PasswordEncoder passwordEncoder() {</a:t>
            </a:r>
          </a:p>
          <a:p>
            <a:pPr marL="457200" lvl="1" indent="0">
              <a:buFontTx/>
              <a:buNone/>
            </a:pPr>
            <a:r>
              <a:rPr lang="en-IN" altLang="en-US" sz="2000"/>
              <a:t>        return new BCryptPasswordEncoder();</a:t>
            </a:r>
          </a:p>
          <a:p>
            <a:pPr marL="457200" lvl="1" indent="0">
              <a:buFontTx/>
              <a:buNone/>
            </a:pPr>
            <a:r>
              <a:rPr lang="en-IN" altLang="en-US" sz="2000"/>
              <a:t>    }</a:t>
            </a:r>
          </a:p>
          <a:p>
            <a:endParaRPr lang="en-IN" altLang="en-US"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>
            <a:extLst>
              <a:ext uri="{FF2B5EF4-FFF2-40B4-BE49-F238E27FC236}">
                <a16:creationId xmlns:a16="http://schemas.microsoft.com/office/drawing/2014/main" id="{D4656E04-5959-0431-E467-F609832A3C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b="1"/>
              <a:t>HttpSecurity</a:t>
            </a:r>
            <a:r>
              <a:rPr lang="en-US" altLang="en-US"/>
              <a:t> </a:t>
            </a:r>
          </a:p>
        </p:txBody>
      </p:sp>
      <p:sp>
        <p:nvSpPr>
          <p:cNvPr id="13315" name="Content Placeholder 2">
            <a:extLst>
              <a:ext uri="{FF2B5EF4-FFF2-40B4-BE49-F238E27FC236}">
                <a16:creationId xmlns:a16="http://schemas.microsoft.com/office/drawing/2014/main" id="{13575D52-9603-7AE6-75E9-08D7EC8C7CE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fontAlgn="t"/>
            <a:r>
              <a:rPr lang="en-US" altLang="en-US" sz="2000" b="1"/>
              <a:t>HttpSecurity</a:t>
            </a:r>
          </a:p>
          <a:p>
            <a:pPr lvl="1" fontAlgn="t"/>
            <a:r>
              <a:rPr lang="en-US" altLang="en-US" sz="1800"/>
              <a:t>Provides a Method authoriseRequests()</a:t>
            </a:r>
          </a:p>
          <a:p>
            <a:pPr fontAlgn="t"/>
            <a:endParaRPr lang="en-US" altLang="en-US" sz="2000" b="1"/>
          </a:p>
          <a:p>
            <a:pPr fontAlgn="t"/>
            <a:r>
              <a:rPr lang="en-US" altLang="en-US" sz="2000" b="1"/>
              <a:t>authorizeRequests()</a:t>
            </a:r>
            <a:endParaRPr lang="en-US" altLang="en-US" sz="2000"/>
          </a:p>
          <a:p>
            <a:pPr lvl="1">
              <a:lnSpc>
                <a:spcPct val="150000"/>
              </a:lnSpc>
            </a:pPr>
            <a:r>
              <a:rPr lang="en-US" altLang="en-US" sz="2000"/>
              <a:t>To Define custom requirements for URLs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Can add multiple children to this  method. </a:t>
            </a:r>
          </a:p>
          <a:p>
            <a:pPr lvl="1">
              <a:lnSpc>
                <a:spcPct val="150000"/>
              </a:lnSpc>
            </a:pPr>
            <a:r>
              <a:rPr lang="en-US" altLang="en-US" sz="2000"/>
              <a:t>The matchers are considered in the order they were declared.</a:t>
            </a:r>
          </a:p>
          <a:p>
            <a:pPr lvl="1">
              <a:buFont typeface="Times New Roman" panose="02020603050405020304" pitchFamily="18" charset="0"/>
              <a:buNone/>
            </a:pPr>
            <a:endParaRPr lang="en-US" altLang="en-US" sz="2000"/>
          </a:p>
          <a:p>
            <a:pPr lvl="1">
              <a:buFont typeface="Times New Roman" panose="02020603050405020304" pitchFamily="18" charset="0"/>
              <a:buNone/>
            </a:pPr>
            <a:r>
              <a:rPr lang="en-US" altLang="en-US" sz="2000" b="1">
                <a:solidFill>
                  <a:srgbClr val="FF0000"/>
                </a:solidFill>
              </a:rPr>
              <a:t>    http.authorizeRequests()</a:t>
            </a:r>
          </a:p>
          <a:p>
            <a:pPr lvl="1">
              <a:buFont typeface="Times New Roman" panose="02020603050405020304" pitchFamily="18" charset="0"/>
              <a:buNone/>
            </a:pPr>
            <a:r>
              <a:rPr lang="en-US" altLang="en-US" sz="2000" b="1">
                <a:solidFill>
                  <a:srgbClr val="FF0000"/>
                </a:solidFill>
              </a:rPr>
              <a:t>      .anyRequest().authenticated()</a:t>
            </a:r>
          </a:p>
          <a:p>
            <a:pPr lvl="1">
              <a:buFont typeface="Times New Roman" panose="02020603050405020304" pitchFamily="18" charset="0"/>
              <a:buNone/>
            </a:pPr>
            <a:r>
              <a:rPr lang="en-US" altLang="en-US" sz="2000" b="1">
                <a:solidFill>
                  <a:srgbClr val="FF0000"/>
                </a:solidFill>
              </a:rPr>
              <a:t>      .and().httpBasic();</a:t>
            </a:r>
          </a:p>
          <a:p>
            <a:pPr lvl="1">
              <a:buFont typeface="Times New Roman" panose="02020603050405020304" pitchFamily="18" charset="0"/>
              <a:buNone/>
            </a:pPr>
            <a:endParaRPr lang="en-US" altLang="en-US" sz="2000" b="1"/>
          </a:p>
          <a:p>
            <a:pPr lvl="1">
              <a:buFont typeface="Times New Roman" panose="02020603050405020304" pitchFamily="18" charset="0"/>
              <a:buNone/>
            </a:pPr>
            <a:endParaRPr lang="en-US" altLang="en-US" sz="2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D5316036-ACD7-4205-870E-E69018A98B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Entity and Repository</a:t>
            </a:r>
            <a:endParaRPr lang="en-IN" altLang="en-US" dirty="0"/>
          </a:p>
        </p:txBody>
      </p:sp>
      <p:sp>
        <p:nvSpPr>
          <p:cNvPr id="14339" name="Content Placeholder 2">
            <a:extLst>
              <a:ext uri="{FF2B5EF4-FFF2-40B4-BE49-F238E27FC236}">
                <a16:creationId xmlns:a16="http://schemas.microsoft.com/office/drawing/2014/main" id="{11CA0B9B-24F1-E969-D433-1BDC3F97CF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pPr marL="457200" lvl="1" indent="0">
              <a:buNone/>
            </a:pPr>
            <a:r>
              <a:rPr lang="en-IN" sz="1800" dirty="0"/>
              <a:t>@Entity</a:t>
            </a:r>
          </a:p>
          <a:p>
            <a:pPr marL="457200" lvl="1" indent="0">
              <a:buNone/>
            </a:pPr>
            <a:r>
              <a:rPr lang="en-IN" sz="1800" dirty="0"/>
              <a:t>@Table(name = "user")</a:t>
            </a:r>
          </a:p>
          <a:p>
            <a:pPr marL="457200" lvl="1" indent="0">
              <a:buNone/>
            </a:pPr>
            <a:r>
              <a:rPr lang="en-IN" sz="1800" b="1" dirty="0"/>
              <a:t>public</a:t>
            </a:r>
            <a:r>
              <a:rPr lang="en-IN" sz="1800" dirty="0"/>
              <a:t> </a:t>
            </a:r>
            <a:r>
              <a:rPr lang="en-IN" sz="1800" b="1" dirty="0"/>
              <a:t>class</a:t>
            </a:r>
            <a:r>
              <a:rPr lang="en-IN" sz="1800" dirty="0"/>
              <a:t> </a:t>
            </a:r>
            <a:r>
              <a:rPr lang="en-IN" sz="1800" dirty="0" err="1"/>
              <a:t>UserEntity</a:t>
            </a:r>
            <a:r>
              <a:rPr lang="en-IN" sz="1800" dirty="0"/>
              <a:t> {</a:t>
            </a:r>
          </a:p>
          <a:p>
            <a:pPr marL="457200" lvl="1" indent="0">
              <a:buNone/>
            </a:pPr>
            <a:r>
              <a:rPr lang="en-IN" sz="1800" dirty="0"/>
              <a:t>@Id</a:t>
            </a:r>
          </a:p>
          <a:p>
            <a:pPr marL="457200" lvl="1" indent="0">
              <a:buNone/>
            </a:pPr>
            <a:r>
              <a:rPr lang="en-IN" sz="1800" dirty="0"/>
              <a:t>@</a:t>
            </a:r>
            <a:r>
              <a:rPr lang="en-IN" sz="1800" dirty="0" err="1"/>
              <a:t>GeneratedValue</a:t>
            </a:r>
            <a:r>
              <a:rPr lang="en-IN" sz="1800" dirty="0"/>
              <a:t>(strategy = </a:t>
            </a:r>
            <a:r>
              <a:rPr lang="en-IN" sz="1800" dirty="0" err="1"/>
              <a:t>GenerationType.</a:t>
            </a:r>
            <a:r>
              <a:rPr lang="en-IN" sz="1800" b="1" i="1" dirty="0" err="1"/>
              <a:t>IDENTITY</a:t>
            </a:r>
            <a:r>
              <a:rPr lang="en-IN" sz="1800" dirty="0"/>
              <a:t>)</a:t>
            </a:r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Long id;</a:t>
            </a:r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String username;</a:t>
            </a:r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String password;</a:t>
            </a:r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String role;</a:t>
            </a:r>
          </a:p>
          <a:p>
            <a:pPr marL="800100" lvl="2" indent="0">
              <a:buNone/>
            </a:pPr>
            <a:r>
              <a:rPr lang="en-IN" sz="1800" b="1" dirty="0"/>
              <a:t>}</a:t>
            </a:r>
          </a:p>
          <a:p>
            <a:pPr marL="400050" lvl="1" indent="0">
              <a:buNone/>
            </a:pPr>
            <a:r>
              <a:rPr lang="en-IN" sz="1800" b="1" dirty="0">
                <a:latin typeface="Arial" panose="020B0604020202020204" pitchFamily="34" charset="0"/>
              </a:rPr>
              <a:t>public</a:t>
            </a:r>
            <a:r>
              <a:rPr lang="en-IN" sz="1800" dirty="0">
                <a:latin typeface="Arial" panose="020B0604020202020204" pitchFamily="34" charset="0"/>
              </a:rPr>
              <a:t> </a:t>
            </a:r>
            <a:r>
              <a:rPr lang="en-IN" sz="1800" b="1" dirty="0">
                <a:latin typeface="Arial" panose="020B0604020202020204" pitchFamily="34" charset="0"/>
              </a:rPr>
              <a:t>interface</a:t>
            </a:r>
            <a:r>
              <a:rPr lang="en-IN" sz="1800" dirty="0">
                <a:latin typeface="Arial" panose="020B0604020202020204" pitchFamily="34" charset="0"/>
              </a:rPr>
              <a:t> </a:t>
            </a:r>
            <a:r>
              <a:rPr lang="en-IN" sz="1800" dirty="0" err="1">
                <a:latin typeface="Arial" panose="020B0604020202020204" pitchFamily="34" charset="0"/>
              </a:rPr>
              <a:t>UserRepository</a:t>
            </a:r>
            <a:r>
              <a:rPr lang="en-IN" sz="1800" dirty="0">
                <a:latin typeface="Arial" panose="020B0604020202020204" pitchFamily="34" charset="0"/>
              </a:rPr>
              <a:t> </a:t>
            </a:r>
            <a:r>
              <a:rPr lang="en-IN" sz="1800" b="1" dirty="0">
                <a:latin typeface="Arial" panose="020B0604020202020204" pitchFamily="34" charset="0"/>
              </a:rPr>
              <a:t>extends </a:t>
            </a:r>
            <a:r>
              <a:rPr lang="en-IN" sz="1800" dirty="0" err="1">
                <a:latin typeface="Arial" panose="020B0604020202020204" pitchFamily="34" charset="0"/>
              </a:rPr>
              <a:t>JpaRepository</a:t>
            </a:r>
            <a:r>
              <a:rPr lang="en-IN" sz="1800" dirty="0">
                <a:latin typeface="Arial" panose="020B0604020202020204" pitchFamily="34" charset="0"/>
              </a:rPr>
              <a:t>&lt;</a:t>
            </a:r>
            <a:r>
              <a:rPr lang="en-IN" sz="1800" dirty="0" err="1">
                <a:latin typeface="Arial" panose="020B0604020202020204" pitchFamily="34" charset="0"/>
              </a:rPr>
              <a:t>UserEntity</a:t>
            </a:r>
            <a:r>
              <a:rPr lang="en-IN" sz="1800" dirty="0">
                <a:latin typeface="Arial" panose="020B0604020202020204" pitchFamily="34" charset="0"/>
              </a:rPr>
              <a:t> ,Long&gt; {</a:t>
            </a:r>
          </a:p>
          <a:p>
            <a:pPr marL="400050" lvl="1" indent="0">
              <a:buNone/>
            </a:pPr>
            <a:endParaRPr lang="en-IN" sz="1800" dirty="0">
              <a:latin typeface="Arial" panose="020B0604020202020204" pitchFamily="34" charset="0"/>
            </a:endParaRPr>
          </a:p>
          <a:p>
            <a:pPr marL="400050" lvl="1" indent="0">
              <a:buNone/>
            </a:pPr>
            <a:r>
              <a:rPr lang="en-IN" sz="1800" dirty="0">
                <a:latin typeface="Arial" panose="020B0604020202020204" pitchFamily="34" charset="0"/>
              </a:rPr>
              <a:t>  Optional&lt;</a:t>
            </a:r>
            <a:r>
              <a:rPr lang="en-IN" sz="1800" dirty="0" err="1">
                <a:latin typeface="Arial" panose="020B0604020202020204" pitchFamily="34" charset="0"/>
              </a:rPr>
              <a:t>UserEntity</a:t>
            </a:r>
            <a:r>
              <a:rPr lang="en-IN" sz="1800" dirty="0">
                <a:latin typeface="Arial" panose="020B0604020202020204" pitchFamily="34" charset="0"/>
              </a:rPr>
              <a:t>&gt; </a:t>
            </a:r>
            <a:r>
              <a:rPr lang="en-IN" sz="1800" dirty="0" err="1">
                <a:latin typeface="Arial" panose="020B0604020202020204" pitchFamily="34" charset="0"/>
              </a:rPr>
              <a:t>findByUsername</a:t>
            </a:r>
            <a:r>
              <a:rPr lang="en-IN" sz="1800" dirty="0">
                <a:latin typeface="Arial" panose="020B0604020202020204" pitchFamily="34" charset="0"/>
              </a:rPr>
              <a:t>(String username);</a:t>
            </a:r>
          </a:p>
          <a:p>
            <a:pPr marL="400050" lvl="1" indent="0">
              <a:buNone/>
            </a:pPr>
            <a:r>
              <a:rPr lang="en-IN" sz="1800" dirty="0">
                <a:latin typeface="Arial" panose="020B0604020202020204" pitchFamily="34" charset="0"/>
              </a:rPr>
              <a:t>}</a:t>
            </a:r>
          </a:p>
          <a:p>
            <a:endParaRPr lang="en-IN" alt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4F9A8-BFD9-F1D1-CCE1-FB4BF01BF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Details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59225-D544-4D48-86DF-93FE2ED4E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Key Interface used for user authentication. </a:t>
            </a:r>
          </a:p>
          <a:p>
            <a:r>
              <a:rPr lang="en-IN" sz="1800" dirty="0"/>
              <a:t>Has One Method</a:t>
            </a:r>
          </a:p>
          <a:p>
            <a:endParaRPr lang="en-IN" sz="1800" dirty="0"/>
          </a:p>
          <a:p>
            <a:pPr marL="457200" lvl="1" indent="0">
              <a:buNone/>
            </a:pPr>
            <a:r>
              <a:rPr lang="en-IN" sz="1800" dirty="0" err="1">
                <a:solidFill>
                  <a:srgbClr val="C00000"/>
                </a:solidFill>
              </a:rPr>
              <a:t>UserDetails</a:t>
            </a:r>
            <a:r>
              <a:rPr lang="en-IN" sz="1800" dirty="0">
                <a:solidFill>
                  <a:srgbClr val="C00000"/>
                </a:solidFill>
              </a:rPr>
              <a:t> </a:t>
            </a:r>
            <a:r>
              <a:rPr lang="en-IN" sz="1800" dirty="0" err="1">
                <a:solidFill>
                  <a:srgbClr val="C00000"/>
                </a:solidFill>
              </a:rPr>
              <a:t>loadUserByUsername</a:t>
            </a:r>
            <a:r>
              <a:rPr lang="en-IN" sz="1800" dirty="0">
                <a:solidFill>
                  <a:srgbClr val="C00000"/>
                </a:solidFill>
              </a:rPr>
              <a:t>(String username) </a:t>
            </a:r>
          </a:p>
          <a:p>
            <a:endParaRPr lang="en-IN" sz="1800" b="1" dirty="0"/>
          </a:p>
          <a:p>
            <a:r>
              <a:rPr lang="en-IN" sz="1800" dirty="0"/>
              <a:t> </a:t>
            </a:r>
            <a:r>
              <a:rPr lang="en-IN" sz="1800" dirty="0" err="1"/>
              <a:t>UserDetails</a:t>
            </a:r>
            <a:r>
              <a:rPr lang="en-IN" sz="1800" dirty="0"/>
              <a:t> </a:t>
            </a:r>
          </a:p>
          <a:p>
            <a:pPr lvl="1"/>
            <a:r>
              <a:rPr lang="en-IN" sz="2000" dirty="0"/>
              <a:t>Encapsulates username, password, authorities (roles), and account status (enabled, locked, expired).</a:t>
            </a:r>
          </a:p>
          <a:p>
            <a:pPr marL="0" indent="0">
              <a:buNone/>
            </a:pPr>
            <a:endParaRPr lang="en-IN" sz="1800" dirty="0"/>
          </a:p>
          <a:p>
            <a:r>
              <a:rPr lang="en-IN" sz="1800" dirty="0"/>
              <a:t>Called by </a:t>
            </a:r>
            <a:r>
              <a:rPr lang="en-IN" sz="1800" dirty="0" err="1"/>
              <a:t>AuthenticationProvider</a:t>
            </a:r>
            <a:r>
              <a:rPr lang="en-IN" sz="1800" dirty="0"/>
              <a:t> to obtain the necessary user information for authentication.</a:t>
            </a:r>
          </a:p>
          <a:p>
            <a:endParaRPr lang="en-IN" sz="1800" dirty="0"/>
          </a:p>
          <a:p>
            <a:r>
              <a:rPr lang="en-IN" sz="1800" dirty="0"/>
              <a:t>Method should throw a </a:t>
            </a:r>
            <a:r>
              <a:rPr lang="en-IN" sz="1800" dirty="0" err="1"/>
              <a:t>UsernameNotFoundException</a:t>
            </a:r>
            <a:r>
              <a:rPr lang="en-IN" sz="1800" dirty="0"/>
              <a:t>.</a:t>
            </a:r>
            <a:br>
              <a:rPr lang="en-IN" sz="1800" dirty="0"/>
            </a:br>
            <a:endParaRPr lang="en-IN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73247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34780-826E-ED1C-0405-B5FA542B7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Details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AB0AD-2EB2-3811-CF8C-48F30D5C80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pPr marL="457200" lvl="1" indent="0">
              <a:buNone/>
            </a:pPr>
            <a:r>
              <a:rPr lang="en-IN" sz="1800" dirty="0"/>
              <a:t>@Service</a:t>
            </a:r>
          </a:p>
          <a:p>
            <a:pPr marL="457200" lvl="1" indent="0">
              <a:buNone/>
            </a:pPr>
            <a:r>
              <a:rPr lang="en-IN" sz="1800" b="1" dirty="0"/>
              <a:t>public</a:t>
            </a:r>
            <a:r>
              <a:rPr lang="en-IN" sz="1800" dirty="0"/>
              <a:t> </a:t>
            </a:r>
            <a:r>
              <a:rPr lang="en-IN" sz="1800" b="1" dirty="0"/>
              <a:t>class</a:t>
            </a:r>
            <a:r>
              <a:rPr lang="en-IN" sz="1800" dirty="0"/>
              <a:t> </a:t>
            </a:r>
            <a:r>
              <a:rPr lang="en-IN" sz="1800" dirty="0" err="1"/>
              <a:t>UserDetailServiceImpl</a:t>
            </a:r>
            <a:r>
              <a:rPr lang="en-IN" sz="1800" dirty="0"/>
              <a:t> </a:t>
            </a:r>
            <a:r>
              <a:rPr lang="en-IN" sz="1800" b="1" dirty="0"/>
              <a:t>implements</a:t>
            </a:r>
            <a:r>
              <a:rPr lang="en-IN" sz="1800" dirty="0"/>
              <a:t> </a:t>
            </a:r>
            <a:r>
              <a:rPr lang="en-IN" sz="1800" dirty="0" err="1"/>
              <a:t>UserDetailsService</a:t>
            </a:r>
            <a:r>
              <a:rPr lang="en-IN" sz="1800" dirty="0"/>
              <a:t> {</a:t>
            </a:r>
            <a:endParaRPr lang="en-IN" sz="1800" b="1" dirty="0"/>
          </a:p>
          <a:p>
            <a:pPr marL="457200" lvl="1" indent="0">
              <a:buNone/>
            </a:pPr>
            <a:r>
              <a:rPr lang="en-IN" sz="1800" b="1" dirty="0"/>
              <a:t>@</a:t>
            </a:r>
            <a:r>
              <a:rPr lang="en-IN" sz="1800" b="1" dirty="0" err="1"/>
              <a:t>AutoWired</a:t>
            </a:r>
            <a:endParaRPr lang="en-IN" sz="1800" b="1" dirty="0"/>
          </a:p>
          <a:p>
            <a:pPr marL="457200" lvl="1" indent="0">
              <a:buNone/>
            </a:pPr>
            <a:r>
              <a:rPr lang="en-IN" sz="1800" b="1" dirty="0"/>
              <a:t>private</a:t>
            </a:r>
            <a:r>
              <a:rPr lang="en-IN" sz="1800" dirty="0"/>
              <a:t> </a:t>
            </a:r>
            <a:r>
              <a:rPr lang="en-IN" sz="1800" b="1" dirty="0"/>
              <a:t>final</a:t>
            </a:r>
            <a:r>
              <a:rPr lang="en-IN" sz="1800" dirty="0"/>
              <a:t> </a:t>
            </a:r>
            <a:r>
              <a:rPr lang="en-IN" sz="1800" dirty="0" err="1"/>
              <a:t>UserRepository</a:t>
            </a:r>
            <a:r>
              <a:rPr lang="en-IN" sz="1800" dirty="0"/>
              <a:t> </a:t>
            </a:r>
            <a:r>
              <a:rPr lang="en-IN" sz="1800" dirty="0" err="1"/>
              <a:t>userRepository</a:t>
            </a:r>
            <a:r>
              <a:rPr lang="en-IN" sz="1800" dirty="0"/>
              <a:t>;</a:t>
            </a:r>
          </a:p>
          <a:p>
            <a:pPr marL="457200" lvl="1" indent="0">
              <a:buNone/>
            </a:pPr>
            <a:endParaRPr lang="en-IN" sz="1800" dirty="0"/>
          </a:p>
          <a:p>
            <a:pPr marL="457200" lvl="1" indent="0">
              <a:buNone/>
            </a:pPr>
            <a:r>
              <a:rPr lang="en-IN" sz="1800" b="1" dirty="0"/>
              <a:t>public</a:t>
            </a:r>
            <a:r>
              <a:rPr lang="en-IN" sz="1800" dirty="0"/>
              <a:t> </a:t>
            </a:r>
            <a:r>
              <a:rPr lang="en-IN" sz="1800" dirty="0" err="1"/>
              <a:t>UserDetails</a:t>
            </a:r>
            <a:r>
              <a:rPr lang="en-IN" sz="1800" dirty="0"/>
              <a:t> </a:t>
            </a:r>
            <a:r>
              <a:rPr lang="en-IN" sz="1800" dirty="0" err="1"/>
              <a:t>loadUserByUsername</a:t>
            </a:r>
            <a:r>
              <a:rPr lang="en-IN" sz="1800" dirty="0"/>
              <a:t>(String username) </a:t>
            </a:r>
            <a:r>
              <a:rPr lang="en-IN" sz="1800" b="1" dirty="0"/>
              <a:t>throws</a:t>
            </a:r>
            <a:r>
              <a:rPr lang="en-IN" sz="1800" dirty="0"/>
              <a:t> </a:t>
            </a:r>
            <a:r>
              <a:rPr lang="en-IN" sz="1800" dirty="0" err="1"/>
              <a:t>UsernameNotFoundException</a:t>
            </a:r>
            <a:r>
              <a:rPr lang="en-IN" sz="1800" dirty="0"/>
              <a:t> {</a:t>
            </a:r>
          </a:p>
          <a:p>
            <a:pPr marL="457200" lvl="1" indent="0">
              <a:buNone/>
            </a:pPr>
            <a:endParaRPr lang="en-IN" sz="1800" dirty="0"/>
          </a:p>
          <a:p>
            <a:pPr marL="457200" lvl="1" indent="0">
              <a:buNone/>
            </a:pPr>
            <a:r>
              <a:rPr lang="en-IN" dirty="0" err="1"/>
              <a:t>UserEntity</a:t>
            </a:r>
            <a:r>
              <a:rPr lang="en-IN" dirty="0"/>
              <a:t> user = </a:t>
            </a:r>
            <a:r>
              <a:rPr lang="en-IN" dirty="0" err="1"/>
              <a:t>userRepository.findByUsername</a:t>
            </a:r>
            <a:r>
              <a:rPr lang="en-IN" dirty="0"/>
              <a:t>(username)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orElseThrow</a:t>
            </a:r>
            <a:r>
              <a:rPr lang="en-IN" dirty="0"/>
              <a:t>(() -&gt;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UsernameNotFoundException</a:t>
            </a:r>
            <a:r>
              <a:rPr lang="en-IN" dirty="0"/>
              <a:t>("User not found"));</a:t>
            </a:r>
          </a:p>
          <a:p>
            <a:pPr marL="457200" lvl="1" indent="0">
              <a:buNone/>
            </a:pPr>
            <a:endParaRPr lang="en-IN" sz="1800" dirty="0"/>
          </a:p>
          <a:p>
            <a:pPr marL="457200" lvl="1" indent="0">
              <a:buNone/>
            </a:pPr>
            <a:r>
              <a:rPr lang="en-IN" sz="1800" dirty="0" err="1"/>
              <a:t>ArrayList</a:t>
            </a:r>
            <a:r>
              <a:rPr lang="en-IN" sz="1800" dirty="0"/>
              <a:t>&lt;</a:t>
            </a:r>
            <a:r>
              <a:rPr lang="en-IN" sz="1800" dirty="0" err="1"/>
              <a:t>GrantedAuthority</a:t>
            </a:r>
            <a:r>
              <a:rPr lang="en-IN" sz="1800" dirty="0"/>
              <a:t>&gt; </a:t>
            </a:r>
            <a:r>
              <a:rPr lang="en-IN" sz="1800" dirty="0" err="1"/>
              <a:t>authorites</a:t>
            </a:r>
            <a:r>
              <a:rPr lang="en-IN" sz="1800" dirty="0"/>
              <a:t> = </a:t>
            </a:r>
            <a:r>
              <a:rPr lang="en-IN" sz="1800" b="1" dirty="0"/>
              <a:t>new</a:t>
            </a:r>
            <a:r>
              <a:rPr lang="en-IN" sz="1800" dirty="0"/>
              <a:t> </a:t>
            </a:r>
            <a:r>
              <a:rPr lang="en-IN" sz="1800" dirty="0" err="1"/>
              <a:t>ArrayList</a:t>
            </a:r>
            <a:r>
              <a:rPr lang="en-IN" sz="1800" dirty="0"/>
              <a:t>&lt;&gt;();</a:t>
            </a:r>
          </a:p>
          <a:p>
            <a:pPr marL="457200" lvl="1" indent="0">
              <a:buNone/>
            </a:pPr>
            <a:r>
              <a:rPr lang="en-IN" sz="1800" dirty="0"/>
              <a:t>  </a:t>
            </a:r>
            <a:r>
              <a:rPr lang="en-IN" sz="1800" dirty="0" err="1"/>
              <a:t>authorites.add</a:t>
            </a:r>
            <a:r>
              <a:rPr lang="en-IN" sz="1800" dirty="0"/>
              <a:t>(() -&gt; </a:t>
            </a:r>
            <a:r>
              <a:rPr lang="en-IN" sz="1800" dirty="0" err="1"/>
              <a:t>user.getRole</a:t>
            </a:r>
            <a:r>
              <a:rPr lang="en-IN" sz="1800" dirty="0"/>
              <a:t>());</a:t>
            </a:r>
            <a:endParaRPr lang="en-IN" sz="1800" b="1" dirty="0"/>
          </a:p>
          <a:p>
            <a:pPr marL="457200" lvl="1" indent="0">
              <a:buNone/>
            </a:pPr>
            <a:r>
              <a:rPr lang="en-IN" sz="1800" b="1" dirty="0"/>
              <a:t>return</a:t>
            </a:r>
            <a:r>
              <a:rPr lang="en-IN" sz="1800" dirty="0"/>
              <a:t> </a:t>
            </a:r>
            <a:r>
              <a:rPr lang="en-IN" sz="1800" b="1" dirty="0"/>
              <a:t>new</a:t>
            </a:r>
            <a:r>
              <a:rPr lang="en-IN" sz="1800" dirty="0"/>
              <a:t> User(</a:t>
            </a:r>
            <a:r>
              <a:rPr lang="en-IN" sz="1800" dirty="0" err="1"/>
              <a:t>user.getUsername</a:t>
            </a:r>
            <a:r>
              <a:rPr lang="en-IN" sz="1800" dirty="0"/>
              <a:t>(), </a:t>
            </a:r>
            <a:r>
              <a:rPr lang="en-IN" sz="1800" dirty="0" err="1"/>
              <a:t>user.getPassword</a:t>
            </a:r>
            <a:r>
              <a:rPr lang="en-IN" sz="1800" dirty="0"/>
              <a:t>(),</a:t>
            </a:r>
            <a:r>
              <a:rPr lang="en-IN" sz="1800" dirty="0" err="1"/>
              <a:t>authorites</a:t>
            </a:r>
            <a:r>
              <a:rPr lang="en-IN" sz="1800" dirty="0"/>
              <a:t>);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200" dirty="0"/>
              <a:t>}</a:t>
            </a:r>
          </a:p>
          <a:p>
            <a:pPr lvl="1"/>
            <a:r>
              <a:rPr lang="en-IN" sz="200" dirty="0"/>
              <a:t>}</a:t>
            </a:r>
          </a:p>
          <a:p>
            <a:pPr lvl="1"/>
            <a:endParaRPr lang="en-US" sz="200" dirty="0"/>
          </a:p>
        </p:txBody>
      </p:sp>
    </p:spTree>
    <p:extLst>
      <p:ext uri="{BB962C8B-B14F-4D97-AF65-F5344CB8AC3E}">
        <p14:creationId xmlns:p14="http://schemas.microsoft.com/office/powerpoint/2010/main" val="3438512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62633-1C68-9885-C9B4-790A4D7CD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4800"/>
            <a:ext cx="8229600" cy="563563"/>
          </a:xfrm>
        </p:spPr>
        <p:txBody>
          <a:bodyPr/>
          <a:lstStyle/>
          <a:p>
            <a:r>
              <a:rPr lang="en-US" dirty="0"/>
              <a:t>Security Filter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3A06C-4CE0-B9A0-504C-AF2EB57EB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pPr lvl="1" indent="-342900"/>
            <a:r>
              <a:rPr lang="en-IN" sz="2000" dirty="0"/>
              <a:t>Takes an </a:t>
            </a:r>
            <a:r>
              <a:rPr lang="en-IN" sz="2000" dirty="0" err="1"/>
              <a:t>HttpSecurity</a:t>
            </a:r>
            <a:r>
              <a:rPr lang="en-IN" sz="2000" dirty="0"/>
              <a:t> object as an argument. </a:t>
            </a:r>
          </a:p>
          <a:p>
            <a:pPr lvl="1" indent="-342900"/>
            <a:r>
              <a:rPr lang="en-IN" sz="2000" dirty="0"/>
              <a:t>A builder that can be used configure HTTP security.</a:t>
            </a:r>
          </a:p>
          <a:p>
            <a:pPr marL="400050" lvl="1" indent="0">
              <a:buNone/>
            </a:pPr>
            <a:r>
              <a:rPr lang="en-IN" sz="2000" b="1" dirty="0" err="1"/>
              <a:t>authorizeHttpRequests</a:t>
            </a:r>
            <a:r>
              <a:rPr lang="en-IN" sz="2000" b="1" dirty="0"/>
              <a:t>(): </a:t>
            </a:r>
          </a:p>
          <a:p>
            <a:pPr lvl="1" indent="-342900"/>
            <a:r>
              <a:rPr lang="en-IN" sz="2000" dirty="0"/>
              <a:t>To configure authorization rules for HTTP requests.</a:t>
            </a:r>
          </a:p>
          <a:p>
            <a:pPr marL="800100" lvl="1" indent="-342900"/>
            <a:r>
              <a:rPr lang="en-IN" sz="2200" b="1" dirty="0" err="1"/>
              <a:t>requestMatchers</a:t>
            </a:r>
            <a:r>
              <a:rPr lang="en-IN" sz="2200" b="1" dirty="0"/>
              <a:t>("/public/</a:t>
            </a:r>
            <a:r>
              <a:rPr lang="en-IN" sz="2200" dirty="0"/>
              <a:t>": ).</a:t>
            </a:r>
            <a:r>
              <a:rPr lang="en-IN" sz="2200" dirty="0" err="1"/>
              <a:t>permitAll</a:t>
            </a:r>
            <a:r>
              <a:rPr lang="en-IN" sz="2200" dirty="0"/>
              <a:t>()`**: </a:t>
            </a:r>
          </a:p>
          <a:p>
            <a:pPr marL="1200150" lvl="2" indent="-342900"/>
            <a:r>
              <a:rPr lang="en-IN" sz="2000" dirty="0"/>
              <a:t>Specifies that any request matching the /public/** pattern </a:t>
            </a:r>
          </a:p>
          <a:p>
            <a:pPr marL="800100" lvl="1" indent="-342900"/>
            <a:r>
              <a:rPr lang="en-IN" sz="2200" dirty="0" err="1"/>
              <a:t>anyRequest</a:t>
            </a:r>
            <a:r>
              <a:rPr lang="en-IN" sz="2200" dirty="0"/>
              <a:t>().authenticated(): </a:t>
            </a:r>
          </a:p>
          <a:p>
            <a:pPr marL="1200150" lvl="2" indent="-342900"/>
            <a:r>
              <a:rPr lang="en-IN" sz="2000" dirty="0"/>
              <a:t>Specifies that all other requests (not matching /public/**) require authentication.</a:t>
            </a:r>
          </a:p>
          <a:p>
            <a:r>
              <a:rPr lang="en-IN" sz="2000" b="1" dirty="0" err="1"/>
              <a:t>permitAll</a:t>
            </a:r>
            <a:r>
              <a:rPr lang="en-IN" sz="2000" b="1" dirty="0"/>
              <a:t>(): </a:t>
            </a:r>
          </a:p>
          <a:p>
            <a:pPr lvl="1"/>
            <a:r>
              <a:rPr lang="en-IN" sz="2200" dirty="0"/>
              <a:t>Accessible without requiring authentication.</a:t>
            </a:r>
          </a:p>
          <a:p>
            <a:r>
              <a:rPr lang="en-IN" sz="2000" b="1" dirty="0"/>
              <a:t>return </a:t>
            </a:r>
            <a:r>
              <a:rPr lang="en-IN" sz="2000" b="1" dirty="0" err="1"/>
              <a:t>http.build</a:t>
            </a:r>
            <a:r>
              <a:rPr lang="en-IN" sz="2000" b="1" dirty="0"/>
              <a:t>(): </a:t>
            </a:r>
          </a:p>
          <a:p>
            <a:pPr lvl="1" indent="-342900"/>
            <a:r>
              <a:rPr lang="en-IN" sz="2000" dirty="0"/>
              <a:t>Returns the </a:t>
            </a:r>
            <a:r>
              <a:rPr lang="en-IN" sz="2000" dirty="0" err="1"/>
              <a:t>SecurityFilterChain</a:t>
            </a:r>
            <a:r>
              <a:rPr lang="en-IN" sz="2000" dirty="0"/>
              <a:t> object based on the configured </a:t>
            </a:r>
            <a:r>
              <a:rPr lang="en-IN" sz="2000" dirty="0" err="1"/>
              <a:t>HttpSecurity</a:t>
            </a:r>
            <a:r>
              <a:rPr lang="en-IN" sz="2000" dirty="0"/>
              <a:t>.</a:t>
            </a:r>
          </a:p>
          <a:p>
            <a:pPr marL="400050" lvl="1" indent="0">
              <a:buNone/>
            </a:pPr>
            <a:endParaRPr lang="en-IN" sz="2000" dirty="0"/>
          </a:p>
          <a:p>
            <a:pPr marL="400050" lvl="1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777556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4BA75-D149-DBB7-1222-4C37D6CC2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Config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156B-0BDD-2E2E-6BA2-907F39E39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b="1" dirty="0">
                <a:solidFill>
                  <a:srgbClr val="7030A0"/>
                </a:solidFill>
              </a:rPr>
              <a:t>import static </a:t>
            </a:r>
            <a:r>
              <a:rPr lang="en-IN" b="1" dirty="0" err="1">
                <a:solidFill>
                  <a:srgbClr val="7030A0"/>
                </a:solidFill>
              </a:rPr>
              <a:t>org.springframework.security.config.Customizer.</a:t>
            </a:r>
            <a:r>
              <a:rPr lang="en-IN" b="1" i="1" dirty="0" err="1">
                <a:solidFill>
                  <a:srgbClr val="7030A0"/>
                </a:solidFill>
              </a:rPr>
              <a:t>withDefaults</a:t>
            </a:r>
            <a:r>
              <a:rPr lang="en-IN" b="1" i="1" dirty="0">
                <a:solidFill>
                  <a:srgbClr val="7030A0"/>
                </a:solidFill>
              </a:rPr>
              <a:t>;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sz="2000" dirty="0"/>
              <a:t>@Configuration</a:t>
            </a:r>
          </a:p>
          <a:p>
            <a:pPr marL="457200" lvl="1" indent="0">
              <a:buNone/>
            </a:pPr>
            <a:r>
              <a:rPr lang="en-IN" sz="2000" dirty="0"/>
              <a:t>@</a:t>
            </a:r>
            <a:r>
              <a:rPr lang="en-IN" sz="2000" dirty="0" err="1"/>
              <a:t>EnableWebSecurity</a:t>
            </a:r>
            <a:endParaRPr lang="en-IN" sz="2000" dirty="0"/>
          </a:p>
          <a:p>
            <a:pPr marL="457200" lvl="1" indent="0">
              <a:buNone/>
            </a:pPr>
            <a:r>
              <a:rPr lang="en-IN" sz="2000" b="1" dirty="0"/>
              <a:t>public</a:t>
            </a:r>
            <a:r>
              <a:rPr lang="en-IN" sz="2000" dirty="0"/>
              <a:t> </a:t>
            </a:r>
            <a:r>
              <a:rPr lang="en-IN" sz="2000" b="1" dirty="0"/>
              <a:t>class</a:t>
            </a:r>
            <a:r>
              <a:rPr lang="en-IN" sz="2000" dirty="0"/>
              <a:t> </a:t>
            </a:r>
            <a:r>
              <a:rPr lang="en-IN" sz="2000" dirty="0" err="1"/>
              <a:t>SecurityConfig</a:t>
            </a:r>
            <a:r>
              <a:rPr lang="en-IN" sz="2000" dirty="0"/>
              <a:t> {</a:t>
            </a:r>
          </a:p>
          <a:p>
            <a:pPr marL="457200" lvl="1" indent="0">
              <a:buNone/>
            </a:pPr>
            <a:endParaRPr lang="en-IN" sz="2000" dirty="0"/>
          </a:p>
          <a:p>
            <a:pPr marL="45720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</a:t>
            </a:r>
            <a:r>
              <a:rPr lang="en-IN" sz="2000" b="1" dirty="0"/>
              <a:t>final</a:t>
            </a:r>
            <a:r>
              <a:rPr lang="en-IN" sz="2000" dirty="0"/>
              <a:t> </a:t>
            </a:r>
            <a:r>
              <a:rPr lang="en-IN" sz="2000" dirty="0" err="1"/>
              <a:t>UserDetailSecurity</a:t>
            </a:r>
            <a:r>
              <a:rPr lang="en-IN" sz="2000" dirty="0"/>
              <a:t> </a:t>
            </a:r>
            <a:r>
              <a:rPr lang="en-IN" sz="2000" u="sng" dirty="0" err="1"/>
              <a:t>userDetailsService</a:t>
            </a:r>
            <a:r>
              <a:rPr lang="en-IN" sz="2000" dirty="0"/>
              <a:t>;</a:t>
            </a:r>
          </a:p>
          <a:p>
            <a:pPr marL="457200" lvl="1" indent="0">
              <a:buNone/>
            </a:pPr>
            <a:br>
              <a:rPr lang="en-IN" sz="2000" dirty="0"/>
            </a:br>
            <a:endParaRPr lang="en-IN" sz="2000" dirty="0"/>
          </a:p>
          <a:p>
            <a:pPr marL="457200" lvl="1" indent="0">
              <a:buNone/>
            </a:pPr>
            <a:r>
              <a:rPr lang="en-IN" sz="2000" b="1" dirty="0"/>
              <a:t>public</a:t>
            </a:r>
            <a:r>
              <a:rPr lang="en-IN" sz="2000" dirty="0"/>
              <a:t> </a:t>
            </a:r>
            <a:r>
              <a:rPr lang="en-IN" sz="2000" dirty="0" err="1"/>
              <a:t>SecurityConfig</a:t>
            </a:r>
            <a:r>
              <a:rPr lang="en-IN" sz="2000" dirty="0"/>
              <a:t>(</a:t>
            </a:r>
            <a:r>
              <a:rPr lang="en-IN" sz="2000" dirty="0" err="1"/>
              <a:t>UserDetailSecurity</a:t>
            </a:r>
            <a:r>
              <a:rPr lang="en-IN" sz="2000" dirty="0"/>
              <a:t> </a:t>
            </a:r>
            <a:r>
              <a:rPr lang="en-IN" sz="2000" dirty="0" err="1"/>
              <a:t>userDetailsService</a:t>
            </a:r>
            <a:r>
              <a:rPr lang="en-IN" sz="2000" dirty="0"/>
              <a:t>) {</a:t>
            </a:r>
          </a:p>
          <a:p>
            <a:pPr marL="457200" lvl="1" indent="0">
              <a:buNone/>
            </a:pPr>
            <a:r>
              <a:rPr lang="en-IN" sz="2000" b="1" dirty="0" err="1"/>
              <a:t>this</a:t>
            </a:r>
            <a:r>
              <a:rPr lang="en-IN" sz="2000" dirty="0" err="1"/>
              <a:t>.userDetailsService</a:t>
            </a:r>
            <a:r>
              <a:rPr lang="en-IN" sz="2000" dirty="0"/>
              <a:t> = </a:t>
            </a:r>
            <a:r>
              <a:rPr lang="en-IN" sz="2000" dirty="0" err="1"/>
              <a:t>userDetailsService</a:t>
            </a:r>
            <a:r>
              <a:rPr lang="en-IN" sz="2000" dirty="0"/>
              <a:t>;</a:t>
            </a:r>
          </a:p>
          <a:p>
            <a:pPr marL="457200" lvl="1" indent="0">
              <a:buNone/>
            </a:pPr>
            <a:endParaRPr lang="en-IN" sz="2000" dirty="0"/>
          </a:p>
          <a:p>
            <a:pPr marL="457200" lvl="1" indent="0">
              <a:buNone/>
            </a:pPr>
            <a:r>
              <a:rPr lang="en-IN" sz="2000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64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47F58-1AEE-2FA3-C75C-E691BC7F1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Config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68DFD-C9ED-3FFE-5EF5-F1148B2FF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sz="1800" dirty="0"/>
              <a:t>@Bean</a:t>
            </a:r>
          </a:p>
          <a:p>
            <a:pPr marL="457200" lvl="1" indent="0">
              <a:buNone/>
            </a:pPr>
            <a:r>
              <a:rPr lang="en-IN" sz="1800" dirty="0" err="1"/>
              <a:t>SecurityFilterChain</a:t>
            </a:r>
            <a:r>
              <a:rPr lang="en-IN" sz="1800" dirty="0"/>
              <a:t> </a:t>
            </a:r>
            <a:r>
              <a:rPr lang="en-IN" sz="1800" dirty="0" err="1"/>
              <a:t>securityFilterChain</a:t>
            </a:r>
            <a:r>
              <a:rPr lang="en-IN" sz="1800" dirty="0"/>
              <a:t>(</a:t>
            </a:r>
            <a:r>
              <a:rPr lang="en-IN" sz="1800" dirty="0" err="1"/>
              <a:t>HttpSecurity</a:t>
            </a:r>
            <a:r>
              <a:rPr lang="en-IN" sz="1800" dirty="0"/>
              <a:t> http) </a:t>
            </a:r>
            <a:r>
              <a:rPr lang="en-IN" sz="1800" b="1" dirty="0"/>
              <a:t>throws</a:t>
            </a:r>
            <a:r>
              <a:rPr lang="en-IN" sz="1800" dirty="0"/>
              <a:t> Exception {</a:t>
            </a:r>
          </a:p>
          <a:p>
            <a:pPr marL="457200" lvl="1" indent="0">
              <a:buNone/>
            </a:pPr>
            <a:r>
              <a:rPr lang="en-IN" sz="1800" dirty="0"/>
              <a:t>http</a:t>
            </a:r>
          </a:p>
          <a:p>
            <a:pPr marL="457200" lvl="1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csrf</a:t>
            </a:r>
            <a:r>
              <a:rPr lang="en-IN" sz="1800" dirty="0"/>
              <a:t>(</a:t>
            </a:r>
            <a:r>
              <a:rPr lang="en-IN" sz="1800" dirty="0" err="1"/>
              <a:t>AbstractHttpConfigurer</a:t>
            </a:r>
            <a:r>
              <a:rPr lang="en-IN" sz="1800" dirty="0"/>
              <a:t>::disable)</a:t>
            </a:r>
          </a:p>
          <a:p>
            <a:pPr marL="457200" lvl="1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authorizeHttpRequests</a:t>
            </a:r>
            <a:r>
              <a:rPr lang="en-IN" sz="1800" dirty="0"/>
              <a:t>(</a:t>
            </a:r>
          </a:p>
          <a:p>
            <a:pPr marL="457200" lvl="1" indent="0">
              <a:buNone/>
            </a:pPr>
            <a:r>
              <a:rPr lang="en-IN" sz="1800" dirty="0" err="1"/>
              <a:t>configurer</a:t>
            </a:r>
            <a:r>
              <a:rPr lang="en-IN" sz="1800" dirty="0"/>
              <a:t> -&gt; </a:t>
            </a:r>
            <a:r>
              <a:rPr lang="en-IN" sz="1800" dirty="0" err="1"/>
              <a:t>configurer</a:t>
            </a:r>
            <a:endParaRPr lang="en-IN" sz="1800" dirty="0"/>
          </a:p>
          <a:p>
            <a:pPr marL="457200" lvl="1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requestMatchers</a:t>
            </a:r>
            <a:r>
              <a:rPr lang="en-IN" sz="1800" dirty="0"/>
              <a:t>("/</a:t>
            </a:r>
            <a:r>
              <a:rPr lang="en-IN" sz="1800" dirty="0" err="1"/>
              <a:t>api</a:t>
            </a:r>
            <a:r>
              <a:rPr lang="en-IN" sz="1800" dirty="0"/>
              <a:t>/v1/unsecured/**").</a:t>
            </a:r>
            <a:r>
              <a:rPr lang="en-IN" sz="1800" dirty="0" err="1"/>
              <a:t>permitAll</a:t>
            </a:r>
            <a:r>
              <a:rPr lang="en-IN" sz="1800" dirty="0"/>
              <a:t>()</a:t>
            </a:r>
          </a:p>
          <a:p>
            <a:pPr marL="457200" lvl="1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anyRequest</a:t>
            </a:r>
            <a:r>
              <a:rPr lang="en-IN" sz="1800" dirty="0"/>
              <a:t>().authenticated()).</a:t>
            </a:r>
            <a:r>
              <a:rPr lang="en-IN" sz="1800" dirty="0" err="1"/>
              <a:t>httpBasic</a:t>
            </a:r>
            <a:r>
              <a:rPr lang="en-IN" sz="1800" dirty="0"/>
              <a:t>(</a:t>
            </a:r>
            <a:r>
              <a:rPr lang="en-IN" sz="1800" dirty="0" err="1"/>
              <a:t>Customizer.</a:t>
            </a:r>
            <a:r>
              <a:rPr lang="en-IN" sz="1800" i="1" dirty="0" err="1"/>
              <a:t>withDefaults</a:t>
            </a:r>
            <a:r>
              <a:rPr lang="en-IN" sz="1800" dirty="0"/>
              <a:t>());</a:t>
            </a: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b="1" dirty="0"/>
              <a:t>return</a:t>
            </a:r>
            <a:r>
              <a:rPr lang="en-IN" sz="1800" dirty="0"/>
              <a:t> </a:t>
            </a:r>
            <a:r>
              <a:rPr lang="en-IN" sz="1800" dirty="0" err="1"/>
              <a:t>http.build</a:t>
            </a:r>
            <a:r>
              <a:rPr lang="en-IN" sz="1800" dirty="0"/>
              <a:t>();</a:t>
            </a:r>
          </a:p>
          <a:p>
            <a:pPr marL="457200" lvl="1" indent="0">
              <a:buNone/>
            </a:pPr>
            <a:r>
              <a:rPr lang="en-IN" sz="1800" dirty="0"/>
              <a:t>}</a:t>
            </a:r>
            <a:br>
              <a:rPr lang="en-IN" sz="1800" dirty="0"/>
            </a:br>
            <a:endParaRPr lang="en-IN" sz="1800" dirty="0"/>
          </a:p>
          <a:p>
            <a:pPr marL="457200" lvl="1" indent="0">
              <a:buNone/>
            </a:pPr>
            <a:r>
              <a:rPr lang="en-IN" sz="1800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13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A5F2-8B7C-B42E-8956-D834A4074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Level </a:t>
            </a:r>
            <a:r>
              <a:rPr lang="en-US" dirty="0" err="1"/>
              <a:t>Annoation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BFABF-6289-CCD0-CA06-F682BCEC4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/>
              <a:t>@</a:t>
            </a:r>
            <a:r>
              <a:rPr lang="en-IN" sz="2000" dirty="0" err="1"/>
              <a:t>EnableMethodSecurity</a:t>
            </a:r>
            <a:endParaRPr lang="en-IN" sz="2000" dirty="0"/>
          </a:p>
          <a:p>
            <a:pPr lvl="1"/>
            <a:r>
              <a:rPr lang="en-IN" sz="2000" dirty="0"/>
              <a:t>Restricting access to specific methods </a:t>
            </a:r>
          </a:p>
          <a:p>
            <a:pPr lvl="1"/>
            <a:r>
              <a:rPr lang="en-IN" sz="2000" dirty="0"/>
              <a:t>To ensure that only authorized users can perform critical operations.</a:t>
            </a:r>
            <a:br>
              <a:rPr lang="en-IN" sz="2000" dirty="0"/>
            </a:br>
            <a:endParaRPr lang="en-IN" sz="2000" dirty="0"/>
          </a:p>
          <a:p>
            <a:r>
              <a:rPr lang="en-IN" sz="2000" dirty="0"/>
              <a:t>@</a:t>
            </a:r>
            <a:r>
              <a:rPr lang="en-IN" sz="2000" dirty="0" err="1"/>
              <a:t>PreAuthorize</a:t>
            </a:r>
            <a:r>
              <a:rPr lang="en-IN" sz="2000" dirty="0"/>
              <a:t>("</a:t>
            </a:r>
            <a:r>
              <a:rPr lang="en-IN" sz="2000" dirty="0" err="1"/>
              <a:t>hasRole</a:t>
            </a:r>
            <a:r>
              <a:rPr lang="en-IN" sz="2000" dirty="0"/>
              <a:t>('ROLE_GUEST’)”)</a:t>
            </a:r>
          </a:p>
          <a:p>
            <a:pPr lvl="1"/>
            <a:r>
              <a:rPr lang="en-IN" sz="2000" dirty="0"/>
              <a:t>Access control is evaluated prior to method invocation. </a:t>
            </a:r>
          </a:p>
          <a:p>
            <a:pPr lvl="1"/>
            <a:r>
              <a:rPr lang="en-IN" sz="2000" dirty="0"/>
              <a:t>It leverages Spring Expression Language (</a:t>
            </a:r>
            <a:r>
              <a:rPr lang="en-IN" sz="2000" dirty="0" err="1"/>
              <a:t>SpEL</a:t>
            </a:r>
            <a:r>
              <a:rPr lang="en-IN" sz="2000" dirty="0"/>
              <a:t>) expressions </a:t>
            </a:r>
          </a:p>
          <a:p>
            <a:pPr lvl="1"/>
            <a:r>
              <a:rPr lang="en-IN" sz="2000" dirty="0"/>
              <a:t>Dynamically determine access permissions.</a:t>
            </a:r>
          </a:p>
          <a:p>
            <a:pPr marL="0" indent="0">
              <a:buNone/>
            </a:pPr>
            <a:br>
              <a:rPr lang="en-IN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11000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70EBF7AE-1F6A-104D-9E42-63AF95D7AE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CSRF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A5459-58ED-B0AB-8FBC-1D7E91E2CA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defRPr/>
            </a:pPr>
            <a:r>
              <a:rPr lang="en-US" sz="2000" dirty="0">
                <a:ea typeface="+mn-ea"/>
                <a:cs typeface="+mn-cs"/>
              </a:rPr>
              <a:t>Its a web security vulnerability that allows an attacker to induce users to perform actions that they do not intend to perform. </a:t>
            </a:r>
          </a:p>
          <a:p>
            <a:pPr>
              <a:defRPr/>
            </a:pPr>
            <a:endParaRPr lang="en-US" sz="2000" dirty="0"/>
          </a:p>
          <a:p>
            <a:pPr lvl="1">
              <a:defRPr/>
            </a:pPr>
            <a:r>
              <a:rPr lang="en-US" sz="2000" dirty="0">
                <a:ea typeface="+mn-ea"/>
                <a:cs typeface="+mn-cs"/>
              </a:rPr>
              <a:t>It allows an attacker to partly circumvent the same origin policy, which is designed to prevent different websites from interfering with each other.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Should be used for protecting  any request that could be processed by a browser by normal users.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b="1" i="1" dirty="0"/>
              <a:t>If a service is used by non-browser clients, CSRF protection can be disabled</a:t>
            </a:r>
          </a:p>
          <a:p>
            <a:pPr>
              <a:buFontTx/>
              <a:buNone/>
              <a:defRPr/>
            </a:pP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9318D-193D-47A6-EFF9-2D4649044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698020-625D-147F-D901-9D9A5BBF3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</a:rPr>
              <a:t>WebClient client = </a:t>
            </a:r>
            <a:r>
              <a:rPr lang="en-IN" dirty="0" err="1">
                <a:latin typeface="Arial" panose="020B0604020202020204" pitchFamily="34" charset="0"/>
              </a:rPr>
              <a:t>ctx.getBean</a:t>
            </a:r>
            <a:r>
              <a:rPr lang="en-IN" dirty="0">
                <a:latin typeface="Arial" panose="020B0604020202020204" pitchFamily="34" charset="0"/>
              </a:rPr>
              <a:t>(</a:t>
            </a:r>
            <a:r>
              <a:rPr lang="en-IN" dirty="0" err="1">
                <a:latin typeface="Arial" panose="020B0604020202020204" pitchFamily="34" charset="0"/>
              </a:rPr>
              <a:t>WebClient.class</a:t>
            </a:r>
            <a:r>
              <a:rPr lang="en-IN" dirty="0">
                <a:latin typeface="Arial" panose="020B0604020202020204" pitchFamily="34" charset="0"/>
              </a:rPr>
              <a:t>);</a:t>
            </a:r>
          </a:p>
          <a:p>
            <a:pPr marL="457200" lvl="1" indent="0">
              <a:buNone/>
            </a:pPr>
            <a:endParaRPr lang="en-IN" dirty="0">
              <a:latin typeface="Arial" panose="020B0604020202020204" pitchFamily="34" charset="0"/>
            </a:endParaRPr>
          </a:p>
          <a:p>
            <a:pPr marL="457200" lvl="1" indent="0">
              <a:buNone/>
            </a:pPr>
            <a:r>
              <a:rPr lang="en-IN" dirty="0" err="1">
                <a:latin typeface="Arial" panose="020B0604020202020204" pitchFamily="34" charset="0"/>
              </a:rPr>
              <a:t>client.get</a:t>
            </a:r>
            <a:r>
              <a:rPr lang="en-IN" dirty="0">
                <a:latin typeface="Arial" panose="020B0604020202020204" pitchFamily="34" charset="0"/>
              </a:rPr>
              <a:t>().</a:t>
            </a:r>
            <a:r>
              <a:rPr lang="en-IN" dirty="0" err="1">
                <a:latin typeface="Arial" panose="020B0604020202020204" pitchFamily="34" charset="0"/>
              </a:rPr>
              <a:t>uri</a:t>
            </a:r>
            <a:r>
              <a:rPr lang="en-IN" dirty="0">
                <a:latin typeface="Arial" panose="020B0604020202020204" pitchFamily="34" charset="0"/>
              </a:rPr>
              <a:t>("http://localhost:8080/") 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</a:rPr>
              <a:t>.header(</a:t>
            </a:r>
            <a:r>
              <a:rPr lang="en-IN" dirty="0" err="1">
                <a:latin typeface="Arial" panose="020B0604020202020204" pitchFamily="34" charset="0"/>
              </a:rPr>
              <a:t>HttpHeaders.AUTHORIZATION</a:t>
            </a:r>
            <a:r>
              <a:rPr lang="en-IN" dirty="0">
                <a:latin typeface="Arial" panose="020B0604020202020204" pitchFamily="34" charset="0"/>
              </a:rPr>
              <a:t>, 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</a:rPr>
              <a:t>"Basic " + Base64.getEncoder()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</a:rPr>
              <a:t>.</a:t>
            </a:r>
            <a:r>
              <a:rPr lang="en-IN" dirty="0" err="1">
                <a:latin typeface="Arial" panose="020B0604020202020204" pitchFamily="34" charset="0"/>
              </a:rPr>
              <a:t>encodeToString</a:t>
            </a:r>
            <a:r>
              <a:rPr lang="en-IN" dirty="0">
                <a:latin typeface="Arial" panose="020B0604020202020204" pitchFamily="34" charset="0"/>
              </a:rPr>
              <a:t>("</a:t>
            </a:r>
            <a:r>
              <a:rPr lang="en-IN" dirty="0" err="1">
                <a:latin typeface="Arial" panose="020B0604020202020204" pitchFamily="34" charset="0"/>
              </a:rPr>
              <a:t>ramesh</a:t>
            </a:r>
            <a:r>
              <a:rPr lang="en-IN" dirty="0">
                <a:latin typeface="Arial" panose="020B0604020202020204" pitchFamily="34" charset="0"/>
              </a:rPr>
              <a:t>:@3456".getBytes()))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</a:rPr>
              <a:t>.retrieve()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</a:rPr>
              <a:t>.</a:t>
            </a:r>
            <a:r>
              <a:rPr lang="en-IN" dirty="0" err="1">
                <a:latin typeface="Arial" panose="020B0604020202020204" pitchFamily="34" charset="0"/>
              </a:rPr>
              <a:t>onStatus</a:t>
            </a:r>
            <a:r>
              <a:rPr lang="en-IN" dirty="0">
                <a:latin typeface="Arial" panose="020B0604020202020204" pitchFamily="34" charset="0"/>
              </a:rPr>
              <a:t>(</a:t>
            </a:r>
            <a:r>
              <a:rPr lang="en-IN" dirty="0" err="1">
                <a:latin typeface="Arial" panose="020B0604020202020204" pitchFamily="34" charset="0"/>
              </a:rPr>
              <a:t>HttpStatusCode</a:t>
            </a:r>
            <a:r>
              <a:rPr lang="en-IN" dirty="0">
                <a:latin typeface="Arial" panose="020B0604020202020204" pitchFamily="34" charset="0"/>
              </a:rPr>
              <a:t>::is4xxClientError, </a:t>
            </a:r>
            <a:r>
              <a:rPr lang="en-IN" dirty="0" err="1">
                <a:latin typeface="Arial" panose="020B0604020202020204" pitchFamily="34" charset="0"/>
              </a:rPr>
              <a:t>clientResponse</a:t>
            </a:r>
            <a:r>
              <a:rPr lang="en-IN" dirty="0">
                <a:latin typeface="Arial" panose="020B0604020202020204" pitchFamily="34" charset="0"/>
              </a:rPr>
              <a:t> -&gt;</a:t>
            </a:r>
          </a:p>
          <a:p>
            <a:pPr marL="457200" lvl="1" indent="0">
              <a:buNone/>
            </a:pPr>
            <a:r>
              <a:rPr lang="en-IN" dirty="0" err="1">
                <a:latin typeface="Arial" panose="020B0604020202020204" pitchFamily="34" charset="0"/>
              </a:rPr>
              <a:t>Mono.error</a:t>
            </a:r>
            <a:r>
              <a:rPr lang="en-IN" dirty="0">
                <a:latin typeface="Arial" panose="020B0604020202020204" pitchFamily="34" charset="0"/>
              </a:rPr>
              <a:t>(new </a:t>
            </a:r>
            <a:r>
              <a:rPr lang="en-IN" dirty="0" err="1">
                <a:latin typeface="Arial" panose="020B0604020202020204" pitchFamily="34" charset="0"/>
              </a:rPr>
              <a:t>RuntimeException</a:t>
            </a:r>
            <a:r>
              <a:rPr lang="en-IN" dirty="0">
                <a:latin typeface="Arial" panose="020B0604020202020204" pitchFamily="34" charset="0"/>
              </a:rPr>
              <a:t>("Exception-Check Credentials")))</a:t>
            </a:r>
          </a:p>
          <a:p>
            <a:pPr marL="457200" lvl="1" indent="0">
              <a:buNone/>
            </a:pPr>
            <a:r>
              <a:rPr lang="en-IN" dirty="0">
                <a:latin typeface="Arial" panose="020B0604020202020204" pitchFamily="34" charset="0"/>
              </a:rPr>
              <a:t>.</a:t>
            </a:r>
            <a:r>
              <a:rPr lang="en-IN" dirty="0" err="1">
                <a:latin typeface="Arial" panose="020B0604020202020204" pitchFamily="34" charset="0"/>
              </a:rPr>
              <a:t>bodyToFlux</a:t>
            </a:r>
            <a:r>
              <a:rPr lang="en-IN" dirty="0">
                <a:latin typeface="Arial" panose="020B0604020202020204" pitchFamily="34" charset="0"/>
              </a:rPr>
              <a:t>(</a:t>
            </a:r>
            <a:r>
              <a:rPr lang="en-IN" dirty="0" err="1">
                <a:latin typeface="Arial" panose="020B0604020202020204" pitchFamily="34" charset="0"/>
              </a:rPr>
              <a:t>String.class</a:t>
            </a:r>
            <a:r>
              <a:rPr lang="en-IN" dirty="0">
                <a:latin typeface="Arial" panose="020B0604020202020204" pitchFamily="34" charset="0"/>
              </a:rPr>
              <a:t>).subscribe(</a:t>
            </a:r>
            <a:r>
              <a:rPr lang="en-IN" dirty="0" err="1">
                <a:latin typeface="Arial" panose="020B0604020202020204" pitchFamily="34" charset="0"/>
              </a:rPr>
              <a:t>System.out</a:t>
            </a:r>
            <a:r>
              <a:rPr lang="en-IN" dirty="0">
                <a:latin typeface="Arial" panose="020B0604020202020204" pitchFamily="34" charset="0"/>
              </a:rPr>
              <a:t>::</a:t>
            </a:r>
            <a:r>
              <a:rPr lang="en-IN" dirty="0" err="1">
                <a:latin typeface="Arial" panose="020B0604020202020204" pitchFamily="34" charset="0"/>
              </a:rPr>
              <a:t>println</a:t>
            </a:r>
            <a:r>
              <a:rPr lang="en-IN" dirty="0">
                <a:latin typeface="Arial" panose="020B0604020202020204" pitchFamily="34" charset="0"/>
              </a:rPr>
              <a:t>);</a:t>
            </a:r>
          </a:p>
          <a:p>
            <a:pPr marL="457200" lvl="1" indent="0">
              <a:buNone/>
            </a:pPr>
            <a:br>
              <a:rPr lang="en-IN" sz="1800" dirty="0">
                <a:latin typeface="Arial" panose="020B0604020202020204" pitchFamily="34" charset="0"/>
              </a:rPr>
            </a:br>
            <a:endParaRPr lang="en-IN" sz="1800" dirty="0">
              <a:latin typeface="Arial" panose="020B0604020202020204" pitchFamily="34" charset="0"/>
            </a:endParaRPr>
          </a:p>
          <a:p>
            <a:pPr marL="457200" lvl="1" indent="0">
              <a:buNone/>
            </a:pPr>
            <a:endParaRPr lang="en-US" sz="1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68267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842AE-6E56-7109-3C71-2FB7D38B5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 Web 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C24C2-793E-AE36-A5B1-BFB16FC20D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2000" dirty="0"/>
              <a:t>A  secure way to send information between a client and a server. 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It is mainly used in web applications and APIs to verify users and prevent unauthorized access. 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A JWT is JSON data secured with a cryptographic signature.</a:t>
            </a:r>
          </a:p>
          <a:p>
            <a:pPr>
              <a:lnSpc>
                <a:spcPct val="150000"/>
              </a:lnSpc>
            </a:pPr>
            <a:r>
              <a:rPr lang="en-IN" sz="2000" dirty="0"/>
              <a:t>The signing can be done using these cryptographic methods: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HMAC (Hash-based Message Authentication Code)</a:t>
            </a:r>
          </a:p>
          <a:p>
            <a:pPr lvl="1">
              <a:lnSpc>
                <a:spcPct val="150000"/>
              </a:lnSpc>
            </a:pPr>
            <a:r>
              <a:rPr lang="en-IN" sz="2000" dirty="0"/>
              <a:t>RSA or ECDSA (Asymmetric cryptographic algorithms)</a:t>
            </a:r>
          </a:p>
          <a:p>
            <a:pPr>
              <a:lnSpc>
                <a:spcPct val="150000"/>
              </a:lnSpc>
            </a:pPr>
            <a:br>
              <a:rPr lang="en-IN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068866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CEF29-3100-9337-9333-C2442287F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5BFD08B7-50BF-9042-6BDA-88AA1BAE3C5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457200"/>
            <a:ext cx="8229600" cy="579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83627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B6B35-59AC-73E4-E0D7-21812A34A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of JWT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1F0F04-468C-1AA4-3FA1-4D74FDBF5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b="1" dirty="0"/>
              <a:t>Header:</a:t>
            </a:r>
          </a:p>
          <a:p>
            <a:pPr lvl="1"/>
            <a:r>
              <a:rPr lang="en-IN" b="1" dirty="0"/>
              <a:t> </a:t>
            </a:r>
            <a:r>
              <a:rPr lang="en-IN" dirty="0"/>
              <a:t>Contains metadata about the token, such as the algorithm used for signing.</a:t>
            </a:r>
          </a:p>
          <a:p>
            <a:pPr marL="457200" lvl="1" indent="0">
              <a:buNone/>
            </a:pPr>
            <a:r>
              <a:rPr lang="en-IN" b="1" dirty="0"/>
              <a:t>Payload: </a:t>
            </a:r>
          </a:p>
          <a:p>
            <a:pPr lvl="1"/>
            <a:r>
              <a:rPr lang="en-IN" dirty="0"/>
              <a:t>Stores the claims, i.e., data being transmitted.</a:t>
            </a:r>
          </a:p>
          <a:p>
            <a:pPr marL="457200" lvl="1" indent="0">
              <a:buNone/>
            </a:pPr>
            <a:r>
              <a:rPr lang="en-IN" b="1" dirty="0"/>
              <a:t>Signature: </a:t>
            </a:r>
          </a:p>
          <a:p>
            <a:pPr lvl="1"/>
            <a:r>
              <a:rPr lang="en-IN" dirty="0"/>
              <a:t>Ensures the token's integrity and authenticity.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dirty="0"/>
              <a:t>The header contains meta data about the token, including the signing algorithm and token type here metadata means data about data.</a:t>
            </a:r>
          </a:p>
          <a:p>
            <a:pPr marL="457200" lvl="1" indent="0">
              <a:buNone/>
            </a:pPr>
            <a:r>
              <a:rPr lang="en-IN" dirty="0"/>
              <a:t>{</a:t>
            </a:r>
            <a:br>
              <a:rPr lang="en-IN" dirty="0"/>
            </a:br>
            <a:r>
              <a:rPr lang="en-IN" dirty="0"/>
              <a:t>    "</a:t>
            </a:r>
            <a:r>
              <a:rPr lang="en-IN" dirty="0" err="1"/>
              <a:t>alg</a:t>
            </a:r>
            <a:r>
              <a:rPr lang="en-IN" dirty="0"/>
              <a:t>": "HS256",</a:t>
            </a:r>
            <a:br>
              <a:rPr lang="en-IN" dirty="0"/>
            </a:br>
            <a:r>
              <a:rPr lang="en-IN" dirty="0"/>
              <a:t>    "</a:t>
            </a:r>
            <a:r>
              <a:rPr lang="en-IN" dirty="0" err="1"/>
              <a:t>typ</a:t>
            </a:r>
            <a:r>
              <a:rPr lang="en-IN" dirty="0"/>
              <a:t>": "JWT"</a:t>
            </a:r>
            <a:br>
              <a:rPr lang="en-IN" dirty="0"/>
            </a:b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IN" b="1" dirty="0"/>
          </a:p>
          <a:p>
            <a:pPr marL="457200" lvl="1" indent="0">
              <a:buNone/>
            </a:pPr>
            <a:r>
              <a:rPr lang="en-IN" b="1" dirty="0" err="1"/>
              <a:t>alg</a:t>
            </a:r>
            <a:r>
              <a:rPr lang="en-IN" dirty="0"/>
              <a:t>: Algorithm used for signing (e.g., HS256, RS256).</a:t>
            </a:r>
          </a:p>
          <a:p>
            <a:pPr marL="457200" lvl="1" indent="0">
              <a:buNone/>
            </a:pPr>
            <a:r>
              <a:rPr lang="en-IN" b="1" dirty="0" err="1"/>
              <a:t>typ</a:t>
            </a:r>
            <a:r>
              <a:rPr lang="en-IN" dirty="0"/>
              <a:t>: Token type, always "JWT".</a:t>
            </a:r>
          </a:p>
          <a:p>
            <a:pPr marL="457200" lvl="1" indent="0">
              <a:buNone/>
            </a:pPr>
            <a:br>
              <a:rPr lang="en-I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018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DC4DA-80E4-DB8A-B511-9FD898B1F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Payload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C9EDA-A4B0-F2D4-CDF9-24439A027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1800" dirty="0"/>
              <a:t>Information about the user known as a claim</a:t>
            </a:r>
          </a:p>
          <a:p>
            <a:pPr>
              <a:lnSpc>
                <a:spcPct val="150000"/>
              </a:lnSpc>
            </a:pPr>
            <a:r>
              <a:rPr lang="en-IN" sz="1800" dirty="0"/>
              <a:t>The timestamp at which it was issued and the expiry time of the token.</a:t>
            </a:r>
          </a:p>
          <a:p>
            <a:pPr>
              <a:lnSpc>
                <a:spcPct val="150000"/>
              </a:lnSpc>
            </a:pPr>
            <a:r>
              <a:rPr lang="en-IN" sz="1800" dirty="0"/>
              <a:t>{</a:t>
            </a:r>
            <a:br>
              <a:rPr lang="en-IN" sz="1800" dirty="0"/>
            </a:br>
            <a:r>
              <a:rPr lang="en-IN" sz="1800" dirty="0"/>
              <a:t>    "</a:t>
            </a:r>
            <a:r>
              <a:rPr lang="en-IN" sz="1800" dirty="0" err="1"/>
              <a:t>userId</a:t>
            </a:r>
            <a:r>
              <a:rPr lang="en-IN" sz="1800" dirty="0"/>
              <a:t>": 123,</a:t>
            </a:r>
            <a:br>
              <a:rPr lang="en-IN" sz="1800" dirty="0"/>
            </a:br>
            <a:r>
              <a:rPr lang="en-IN" sz="1800" dirty="0"/>
              <a:t>    "role": "admin",</a:t>
            </a:r>
            <a:br>
              <a:rPr lang="en-IN" sz="1800" dirty="0"/>
            </a:br>
            <a:r>
              <a:rPr lang="en-IN" sz="1800" dirty="0"/>
              <a:t>    "exp": 1672531199</a:t>
            </a:r>
            <a:br>
              <a:rPr lang="en-IN" sz="1800" dirty="0"/>
            </a:br>
            <a:r>
              <a:rPr lang="en-IN" sz="1800" dirty="0"/>
              <a:t>}</a:t>
            </a:r>
          </a:p>
          <a:p>
            <a:pPr marL="0" indent="0">
              <a:buNone/>
            </a:pPr>
            <a:br>
              <a:rPr lang="en-I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51846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506C7-524B-FC90-C27A-55B3C060A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C5D5F-BDD5-2D36-8AB3-768CEBEA0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1800" dirty="0"/>
              <a:t>To ensures token integrity and is generated using the header, payload, and a secret key. </a:t>
            </a:r>
          </a:p>
          <a:p>
            <a:pPr>
              <a:lnSpc>
                <a:spcPct val="150000"/>
              </a:lnSpc>
            </a:pPr>
            <a:r>
              <a:rPr lang="en-IN" sz="1800" dirty="0"/>
              <a:t>Using HS256 algorithm </a:t>
            </a:r>
          </a:p>
          <a:p>
            <a:pPr>
              <a:lnSpc>
                <a:spcPct val="150000"/>
              </a:lnSpc>
            </a:pPr>
            <a:endParaRPr lang="en-IN" sz="1800" dirty="0"/>
          </a:p>
          <a:p>
            <a:pPr>
              <a:lnSpc>
                <a:spcPct val="150000"/>
              </a:lnSpc>
            </a:pPr>
            <a:r>
              <a:rPr lang="en-IN" sz="1800" dirty="0"/>
              <a:t>HMACSHA256(</a:t>
            </a:r>
            <a:br>
              <a:rPr lang="en-IN" sz="1800" dirty="0"/>
            </a:br>
            <a:r>
              <a:rPr lang="en-IN" sz="1800" dirty="0"/>
              <a:t>    base64UrlEncode(header) + "." + base64UrlEncode(payload),</a:t>
            </a:r>
            <a:br>
              <a:rPr lang="en-IN" sz="1800" dirty="0"/>
            </a:br>
            <a:r>
              <a:rPr lang="en-IN" sz="1800" dirty="0"/>
              <a:t>    secret</a:t>
            </a:r>
            <a:br>
              <a:rPr lang="en-IN" sz="1800" dirty="0"/>
            </a:br>
            <a:r>
              <a:rPr lang="en-IN" sz="1800" dirty="0"/>
              <a:t>)</a:t>
            </a:r>
          </a:p>
          <a:p>
            <a:pPr marL="0" indent="0">
              <a:buNone/>
            </a:pPr>
            <a:br>
              <a:rPr lang="en-IN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319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40BD1-B075-0048-ADCE-B96CCDA67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client">
            <a:extLst>
              <a:ext uri="{FF2B5EF4-FFF2-40B4-BE49-F238E27FC236}">
                <a16:creationId xmlns:a16="http://schemas.microsoft.com/office/drawing/2014/main" id="{B381307B-255A-2753-2757-E3CE9DAF03A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457200"/>
            <a:ext cx="8229600" cy="579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66244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60AAA-2103-CAEA-057B-F6803B5B6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JWT 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E3E19-569A-B9A4-E975-03C13E8CA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sz="1800" b="1" dirty="0" err="1"/>
              <a:t>SecretKey</a:t>
            </a:r>
            <a:r>
              <a:rPr lang="en-IN" sz="1800" b="1" dirty="0"/>
              <a:t> :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A long, random string that acts like a password or digital signature key.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Used to sign the JWT. Only someone who knows this secret can verify that the token is authentic and hasn't been tampered with. </a:t>
            </a:r>
          </a:p>
          <a:p>
            <a:pPr lvl="1">
              <a:lnSpc>
                <a:spcPct val="150000"/>
              </a:lnSpc>
            </a:pPr>
            <a:r>
              <a:rPr lang="en-IN" sz="1800" dirty="0"/>
              <a:t>It must be kept private and secure.</a:t>
            </a:r>
          </a:p>
          <a:p>
            <a:pPr>
              <a:lnSpc>
                <a:spcPct val="150000"/>
              </a:lnSpc>
            </a:pPr>
            <a:endParaRPr lang="en-US" sz="18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1800" dirty="0"/>
              <a:t>private Key </a:t>
            </a:r>
            <a:r>
              <a:rPr lang="en-IN" sz="1800" dirty="0" err="1"/>
              <a:t>getSignInKey</a:t>
            </a:r>
            <a:r>
              <a:rPr lang="en-IN" sz="1800" dirty="0"/>
              <a:t>() {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1800" dirty="0"/>
              <a:t>    byte[] </a:t>
            </a:r>
            <a:r>
              <a:rPr lang="en-IN" sz="1800" dirty="0" err="1"/>
              <a:t>keyBytes</a:t>
            </a:r>
            <a:r>
              <a:rPr lang="en-IN" sz="1800" dirty="0"/>
              <a:t> = Decoders.BASE64.decode(SECRET);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1800" dirty="0"/>
              <a:t>    return </a:t>
            </a:r>
            <a:r>
              <a:rPr lang="en-IN" sz="1800" dirty="0" err="1"/>
              <a:t>Keys.hmacShaKeyFor</a:t>
            </a:r>
            <a:r>
              <a:rPr lang="en-IN" sz="1800" dirty="0"/>
              <a:t>(</a:t>
            </a:r>
            <a:r>
              <a:rPr lang="en-IN" sz="1800" dirty="0" err="1"/>
              <a:t>keyBytes</a:t>
            </a:r>
            <a:r>
              <a:rPr lang="en-IN" sz="1800" dirty="0"/>
              <a:t>);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IN" sz="1800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3064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93FC9-A3AE-2967-D943-8F9341E7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JWT 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1F93E-98EA-ED55-F21B-79FE82A198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200000"/>
              </a:lnSpc>
            </a:pPr>
            <a:r>
              <a:rPr lang="en-IN" sz="2000" dirty="0"/>
              <a:t>The SECRET string is often encoded in a format called </a:t>
            </a:r>
            <a:r>
              <a:rPr lang="en-IN" sz="2000" b="1" dirty="0"/>
              <a:t>Base64</a:t>
            </a:r>
            <a:r>
              <a:rPr lang="en-IN" sz="2000" dirty="0"/>
              <a:t>.</a:t>
            </a:r>
          </a:p>
          <a:p>
            <a:pPr lvl="1">
              <a:lnSpc>
                <a:spcPct val="200000"/>
              </a:lnSpc>
            </a:pPr>
            <a:r>
              <a:rPr lang="en-IN" sz="2000" dirty="0"/>
              <a:t>Decoders.BASE64.decode(SECRET) converts the Base64 string back into its raw </a:t>
            </a:r>
            <a:r>
              <a:rPr lang="en-IN" sz="2000" b="1" dirty="0"/>
              <a:t>byte array</a:t>
            </a:r>
            <a:r>
              <a:rPr lang="en-IN" sz="2000" dirty="0"/>
              <a:t> format.</a:t>
            </a:r>
          </a:p>
          <a:p>
            <a:pPr lvl="1">
              <a:lnSpc>
                <a:spcPct val="200000"/>
              </a:lnSpc>
            </a:pPr>
            <a:r>
              <a:rPr lang="en-IN" sz="2000" dirty="0" err="1"/>
              <a:t>Keys.hmacShaKeyFor</a:t>
            </a:r>
            <a:r>
              <a:rPr lang="en-IN" sz="2000" dirty="0"/>
              <a:t>(</a:t>
            </a:r>
            <a:r>
              <a:rPr lang="en-IN" sz="2000" dirty="0" err="1"/>
              <a:t>keyBytes</a:t>
            </a:r>
            <a:r>
              <a:rPr lang="en-IN" sz="2000" dirty="0"/>
              <a:t>) </a:t>
            </a:r>
          </a:p>
          <a:p>
            <a:pPr lvl="2">
              <a:lnSpc>
                <a:spcPct val="200000"/>
              </a:lnSpc>
            </a:pPr>
            <a:r>
              <a:rPr lang="en-IN" sz="2000" dirty="0"/>
              <a:t>Create a secure </a:t>
            </a:r>
            <a:r>
              <a:rPr lang="en-IN" sz="2000" b="1" dirty="0"/>
              <a:t>Key object</a:t>
            </a:r>
            <a:r>
              <a:rPr lang="en-IN" sz="2000" dirty="0"/>
              <a:t> that the JWT library can use to perform the digital signature (HMAC-SHA).</a:t>
            </a:r>
          </a:p>
          <a:p>
            <a:pPr>
              <a:lnSpc>
                <a:spcPct val="200000"/>
              </a:lnSpc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465583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853B-F7CC-98DC-CC76-C91D6A02E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Code  To Generate JWT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4C3F0-6BA8-10AC-5098-0B8DF9F76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pPr marL="400050" lvl="1" indent="0">
              <a:buNone/>
            </a:pPr>
            <a:r>
              <a:rPr lang="en-IN" sz="2000" dirty="0"/>
              <a:t>@Service</a:t>
            </a:r>
          </a:p>
          <a:p>
            <a:pPr marL="400050" lvl="1" indent="0">
              <a:buNone/>
            </a:pPr>
            <a:r>
              <a:rPr lang="en-IN" sz="2000" b="1" dirty="0"/>
              <a:t>public</a:t>
            </a:r>
            <a:r>
              <a:rPr lang="en-IN" sz="2000" dirty="0"/>
              <a:t> </a:t>
            </a:r>
            <a:r>
              <a:rPr lang="en-IN" sz="2000" b="1" dirty="0"/>
              <a:t>class</a:t>
            </a:r>
            <a:r>
              <a:rPr lang="en-IN" sz="2000" dirty="0"/>
              <a:t> </a:t>
            </a:r>
            <a:r>
              <a:rPr lang="en-IN" sz="2000" dirty="0" err="1"/>
              <a:t>JwtService</a:t>
            </a:r>
            <a:r>
              <a:rPr lang="en-IN" sz="2000" dirty="0"/>
              <a:t> {</a:t>
            </a:r>
            <a:br>
              <a:rPr lang="en-IN" sz="2000" dirty="0"/>
            </a:br>
            <a:endParaRPr lang="en-IN" sz="2000" dirty="0"/>
          </a:p>
          <a:p>
            <a:pPr marL="400050" lvl="1" indent="0">
              <a:buNone/>
            </a:pPr>
            <a:r>
              <a:rPr lang="en-IN" sz="2000" b="1" dirty="0"/>
              <a:t>public</a:t>
            </a:r>
            <a:r>
              <a:rPr lang="en-IN" sz="2000" dirty="0"/>
              <a:t> </a:t>
            </a:r>
            <a:r>
              <a:rPr lang="en-IN" sz="2000" b="1" dirty="0"/>
              <a:t>static</a:t>
            </a:r>
            <a:r>
              <a:rPr lang="en-IN" sz="2000" dirty="0"/>
              <a:t> </a:t>
            </a:r>
            <a:r>
              <a:rPr lang="en-IN" sz="2000" b="1" dirty="0"/>
              <a:t>final</a:t>
            </a:r>
            <a:r>
              <a:rPr lang="en-IN" sz="2000" dirty="0"/>
              <a:t> String </a:t>
            </a:r>
            <a:r>
              <a:rPr lang="en-IN" sz="2000" b="1" i="1" dirty="0"/>
              <a:t>SECRET</a:t>
            </a:r>
            <a:r>
              <a:rPr lang="en-IN" sz="2000" dirty="0"/>
              <a:t> = "at34werthbasdfaestrjr67uywaewrqwegwerytjetgbvawefw46u45ytnbserfgw465u467irythqgergt3465u457ie45yw34tqq23rq23r2";</a:t>
            </a:r>
          </a:p>
          <a:p>
            <a:pPr marL="400050" lvl="1" indent="0">
              <a:buNone/>
            </a:pPr>
            <a:endParaRPr lang="en-IN" sz="2000" dirty="0"/>
          </a:p>
          <a:p>
            <a:pPr marL="400050" lvl="1" indent="0">
              <a:buNone/>
            </a:pPr>
            <a:r>
              <a:rPr lang="en-IN" sz="2000" b="1" dirty="0"/>
              <a:t>public</a:t>
            </a:r>
            <a:r>
              <a:rPr lang="en-IN" sz="2000" dirty="0"/>
              <a:t> String </a:t>
            </a:r>
            <a:r>
              <a:rPr lang="en-IN" sz="2000" dirty="0" err="1"/>
              <a:t>generateToken</a:t>
            </a:r>
            <a:r>
              <a:rPr lang="en-IN" sz="2000" dirty="0"/>
              <a:t>(String username) {</a:t>
            </a:r>
          </a:p>
          <a:p>
            <a:pPr marL="800100" lvl="2" indent="0">
              <a:buNone/>
            </a:pPr>
            <a:r>
              <a:rPr lang="en-IN" sz="1800" b="1" dirty="0"/>
              <a:t>return</a:t>
            </a:r>
            <a:r>
              <a:rPr lang="en-IN" sz="1800" dirty="0"/>
              <a:t> </a:t>
            </a:r>
            <a:r>
              <a:rPr lang="en-IN" sz="1800" dirty="0" err="1"/>
              <a:t>Jwts.</a:t>
            </a:r>
            <a:r>
              <a:rPr lang="en-IN" sz="1800" i="1" dirty="0" err="1"/>
              <a:t>builder</a:t>
            </a:r>
            <a:r>
              <a:rPr lang="en-IN" sz="1800" dirty="0"/>
              <a:t>().issuer("</a:t>
            </a:r>
            <a:r>
              <a:rPr lang="en-IN" sz="1800" dirty="0" err="1"/>
              <a:t>myorg</a:t>
            </a:r>
            <a:r>
              <a:rPr lang="en-IN" sz="1800" dirty="0"/>
              <a:t>")</a:t>
            </a:r>
          </a:p>
          <a:p>
            <a:pPr marL="800100" lvl="2" indent="0">
              <a:buNone/>
            </a:pPr>
            <a:r>
              <a:rPr lang="en-IN" sz="1800" dirty="0"/>
              <a:t>.subject("</a:t>
            </a:r>
            <a:r>
              <a:rPr lang="en-IN" sz="1800" dirty="0" err="1"/>
              <a:t>srivatsan</a:t>
            </a:r>
            <a:r>
              <a:rPr lang="en-IN" sz="1800" dirty="0"/>
              <a:t>")</a:t>
            </a:r>
          </a:p>
          <a:p>
            <a:pPr marL="800100" lvl="2" indent="0">
              <a:buNone/>
            </a:pPr>
            <a:r>
              <a:rPr lang="en-IN" sz="1800" dirty="0"/>
              <a:t>.claim("name", "trainer </a:t>
            </a:r>
            <a:r>
              <a:rPr lang="en-IN" sz="1800" dirty="0" err="1"/>
              <a:t>srivatsan</a:t>
            </a:r>
            <a:r>
              <a:rPr lang="en-IN" sz="1800" dirty="0"/>
              <a:t>")</a:t>
            </a:r>
          </a:p>
          <a:p>
            <a:pPr marL="800100" lvl="2" indent="0">
              <a:buNone/>
            </a:pPr>
            <a:r>
              <a:rPr lang="en-IN" sz="1800" dirty="0"/>
              <a:t>.claim("scope", "read ,write")</a:t>
            </a:r>
          </a:p>
          <a:p>
            <a:pPr marL="800100" lvl="2" indent="0">
              <a:buNone/>
            </a:pPr>
            <a:r>
              <a:rPr lang="en-IN" sz="1800" dirty="0"/>
              <a:t>.</a:t>
            </a:r>
            <a:r>
              <a:rPr lang="en-IN" sz="1800" dirty="0" err="1"/>
              <a:t>signWith</a:t>
            </a:r>
            <a:r>
              <a:rPr lang="en-IN" sz="1800" dirty="0"/>
              <a:t>(</a:t>
            </a:r>
            <a:r>
              <a:rPr lang="en-IN" sz="1800" dirty="0" err="1"/>
              <a:t>getSignInKey</a:t>
            </a:r>
            <a:r>
              <a:rPr lang="en-IN" sz="1800" dirty="0"/>
              <a:t>()) .compact();</a:t>
            </a:r>
          </a:p>
          <a:p>
            <a:pPr marL="400050" lvl="1" indent="0">
              <a:buNone/>
            </a:pPr>
            <a:r>
              <a:rPr lang="en-IN" sz="2000" dirty="0"/>
              <a:t>}</a:t>
            </a:r>
          </a:p>
          <a:p>
            <a:pPr marL="400050" lvl="1" indent="0">
              <a:buNone/>
            </a:pPr>
            <a:br>
              <a:rPr lang="en-IN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226138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93B1C-BE40-2593-F131-D51163104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JWT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6814B-960D-91E9-5CE6-36C2D098D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buNone/>
            </a:pPr>
            <a:endParaRPr lang="en-IN" sz="2000" dirty="0"/>
          </a:p>
          <a:p>
            <a:pPr marL="400050" lvl="1" indent="0">
              <a:buNone/>
            </a:pPr>
            <a:r>
              <a:rPr lang="en-IN" sz="2000" b="1" dirty="0"/>
              <a:t>private</a:t>
            </a:r>
            <a:r>
              <a:rPr lang="en-IN" sz="2000" dirty="0"/>
              <a:t> Key </a:t>
            </a:r>
            <a:r>
              <a:rPr lang="en-IN" sz="2000" dirty="0" err="1"/>
              <a:t>getSignInKey</a:t>
            </a:r>
            <a:r>
              <a:rPr lang="en-IN" sz="2000" dirty="0"/>
              <a:t>() {</a:t>
            </a:r>
          </a:p>
          <a:p>
            <a:pPr marL="400050" lvl="1" indent="0">
              <a:buNone/>
            </a:pPr>
            <a:r>
              <a:rPr lang="en-IN" sz="2000" b="1" dirty="0"/>
              <a:t>byte</a:t>
            </a:r>
            <a:r>
              <a:rPr lang="en-IN" sz="2000" dirty="0"/>
              <a:t>[] </a:t>
            </a:r>
            <a:r>
              <a:rPr lang="en-IN" sz="2000" dirty="0" err="1"/>
              <a:t>keyBytes</a:t>
            </a:r>
            <a:r>
              <a:rPr lang="en-IN" sz="2000" dirty="0"/>
              <a:t> = Decoders.</a:t>
            </a:r>
            <a:r>
              <a:rPr lang="en-IN" sz="2000" b="1" i="1" dirty="0"/>
              <a:t>BASE64</a:t>
            </a:r>
            <a:r>
              <a:rPr lang="en-IN" sz="2000" dirty="0"/>
              <a:t>.decode(</a:t>
            </a:r>
            <a:r>
              <a:rPr lang="en-IN" sz="2000" b="1" i="1" dirty="0"/>
              <a:t>SECRET</a:t>
            </a:r>
            <a:r>
              <a:rPr lang="en-IN" sz="2000" dirty="0"/>
              <a:t>);</a:t>
            </a:r>
          </a:p>
          <a:p>
            <a:pPr marL="400050" lvl="1" indent="0">
              <a:buNone/>
            </a:pPr>
            <a:r>
              <a:rPr lang="en-IN" sz="2000" b="1" dirty="0"/>
              <a:t>return</a:t>
            </a:r>
            <a:r>
              <a:rPr lang="en-IN" sz="2000" dirty="0"/>
              <a:t> </a:t>
            </a:r>
            <a:r>
              <a:rPr lang="en-IN" sz="2000" dirty="0" err="1"/>
              <a:t>Keys.</a:t>
            </a:r>
            <a:r>
              <a:rPr lang="en-IN" sz="2000" i="1" dirty="0" err="1"/>
              <a:t>hmacShaKeyFor</a:t>
            </a:r>
            <a:r>
              <a:rPr lang="en-IN" sz="2000" dirty="0"/>
              <a:t>(</a:t>
            </a:r>
            <a:r>
              <a:rPr lang="en-IN" sz="2000" dirty="0" err="1"/>
              <a:t>keyBytes</a:t>
            </a:r>
            <a:r>
              <a:rPr lang="en-IN" sz="2000" dirty="0"/>
              <a:t>);</a:t>
            </a:r>
          </a:p>
          <a:p>
            <a:pPr marL="400050" lvl="1" indent="0">
              <a:buNone/>
            </a:pPr>
            <a:r>
              <a:rPr lang="en-IN" sz="2000" dirty="0"/>
              <a:t>}</a:t>
            </a:r>
          </a:p>
          <a:p>
            <a:pPr marL="400050" lvl="1" indent="0">
              <a:buNone/>
            </a:pPr>
            <a:r>
              <a:rPr lang="en-IN" sz="2000" dirty="0"/>
              <a:t>}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IN" sz="2000" dirty="0" err="1"/>
              <a:t>System.</a:t>
            </a:r>
            <a:r>
              <a:rPr lang="en-IN" sz="2000" b="1" i="1" dirty="0" err="1"/>
              <a:t>out</a:t>
            </a:r>
            <a:r>
              <a:rPr lang="en-IN" sz="2000" dirty="0" err="1"/>
              <a:t>.println</a:t>
            </a:r>
            <a:r>
              <a:rPr lang="en-IN" sz="2000" dirty="0"/>
              <a:t>(</a:t>
            </a:r>
            <a:r>
              <a:rPr lang="en-IN" sz="2000" dirty="0" err="1"/>
              <a:t>ctx.getBean</a:t>
            </a:r>
            <a:r>
              <a:rPr lang="en-IN" sz="2000" dirty="0"/>
              <a:t>(</a:t>
            </a:r>
            <a:r>
              <a:rPr lang="en-IN" sz="2000" dirty="0" err="1"/>
              <a:t>JwtService.</a:t>
            </a:r>
            <a:r>
              <a:rPr lang="en-IN" sz="2000" b="1" dirty="0" err="1"/>
              <a:t>class</a:t>
            </a:r>
            <a:r>
              <a:rPr lang="en-IN" sz="2000" dirty="0"/>
              <a:t>).</a:t>
            </a:r>
            <a:r>
              <a:rPr lang="en-IN" sz="2000" dirty="0" err="1"/>
              <a:t>generateToken</a:t>
            </a:r>
            <a:r>
              <a:rPr lang="en-IN" sz="2000" dirty="0"/>
              <a:t>("</a:t>
            </a:r>
            <a:r>
              <a:rPr lang="en-IN" sz="2000" dirty="0" err="1"/>
              <a:t>ramesh</a:t>
            </a:r>
            <a:r>
              <a:rPr lang="en-IN" sz="2000" dirty="0"/>
              <a:t>"));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7977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33" name="Title 1">
            <a:extLst>
              <a:ext uri="{FF2B5EF4-FFF2-40B4-BE49-F238E27FC236}">
                <a16:creationId xmlns:a16="http://schemas.microsoft.com/office/drawing/2014/main" id="{B427AD2A-028E-8A8C-E0F1-280E2EEC51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N" altLang="en-US" b="1" dirty="0"/>
              <a:t>Dependencies</a:t>
            </a:r>
            <a:endParaRPr lang="en-US" altLang="en-US" dirty="0"/>
          </a:p>
        </p:txBody>
      </p:sp>
      <p:sp>
        <p:nvSpPr>
          <p:cNvPr id="197634" name="Content Placeholder 2">
            <a:extLst>
              <a:ext uri="{FF2B5EF4-FFF2-40B4-BE49-F238E27FC236}">
                <a16:creationId xmlns:a16="http://schemas.microsoft.com/office/drawing/2014/main" id="{513C2AAC-26A7-D21B-C0BC-4936205BA8F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868364"/>
            <a:ext cx="8229600" cy="5257800"/>
          </a:xfrm>
        </p:spPr>
        <p:txBody>
          <a:bodyPr/>
          <a:lstStyle/>
          <a:p>
            <a:pPr marL="457200" lvl="1" indent="0">
              <a:buNone/>
            </a:pPr>
            <a:r>
              <a:rPr lang="en-IN" dirty="0"/>
              <a:t>&lt;dependency&gt;</a:t>
            </a:r>
          </a:p>
          <a:p>
            <a:pPr marL="857250" lvl="2" indent="0">
              <a:buNone/>
            </a:pPr>
            <a:r>
              <a:rPr lang="en-IN" dirty="0"/>
              <a:t>&lt;</a:t>
            </a:r>
            <a:r>
              <a:rPr lang="en-IN" dirty="0" err="1"/>
              <a:t>groupId</a:t>
            </a:r>
            <a:r>
              <a:rPr lang="en-IN" dirty="0"/>
              <a:t>&gt;</a:t>
            </a:r>
            <a:r>
              <a:rPr lang="en-IN" dirty="0" err="1"/>
              <a:t>io.jsonwebtoken</a:t>
            </a:r>
            <a:r>
              <a:rPr lang="en-IN" dirty="0"/>
              <a:t>&lt;/</a:t>
            </a:r>
            <a:r>
              <a:rPr lang="en-IN" dirty="0" err="1"/>
              <a:t>groupId</a:t>
            </a:r>
            <a:r>
              <a:rPr lang="en-IN" dirty="0"/>
              <a:t>&gt;</a:t>
            </a:r>
          </a:p>
          <a:p>
            <a:pPr marL="857250" lvl="2" indent="0">
              <a:buNone/>
            </a:pPr>
            <a:r>
              <a:rPr lang="en-IN" dirty="0"/>
              <a:t>&lt;</a:t>
            </a:r>
            <a:r>
              <a:rPr lang="en-IN" dirty="0" err="1"/>
              <a:t>artifactId</a:t>
            </a:r>
            <a:r>
              <a:rPr lang="en-IN" dirty="0"/>
              <a:t>&gt;</a:t>
            </a:r>
            <a:r>
              <a:rPr lang="en-IN" dirty="0" err="1"/>
              <a:t>jjwt-api</a:t>
            </a:r>
            <a:r>
              <a:rPr lang="en-IN" dirty="0"/>
              <a:t>&lt;/</a:t>
            </a:r>
            <a:r>
              <a:rPr lang="en-IN" dirty="0" err="1"/>
              <a:t>artifactId</a:t>
            </a:r>
            <a:r>
              <a:rPr lang="en-IN" dirty="0"/>
              <a:t>&gt;</a:t>
            </a:r>
          </a:p>
          <a:p>
            <a:pPr marL="857250" lvl="2" indent="0">
              <a:buNone/>
            </a:pPr>
            <a:r>
              <a:rPr lang="en-IN" dirty="0"/>
              <a:t>&lt;version&gt;0.11.5&lt;/version&gt; </a:t>
            </a:r>
          </a:p>
          <a:p>
            <a:pPr marL="457200" lvl="1" indent="0">
              <a:buNone/>
            </a:pPr>
            <a:r>
              <a:rPr lang="en-IN" dirty="0"/>
              <a:t>&lt;/dependency&gt;</a:t>
            </a:r>
          </a:p>
          <a:p>
            <a:pPr marL="457200" lvl="1" indent="0">
              <a:buNone/>
            </a:pPr>
            <a:r>
              <a:rPr lang="en-IN" dirty="0"/>
              <a:t>&lt;dependency&gt;</a:t>
            </a:r>
          </a:p>
          <a:p>
            <a:pPr marL="857250" lvl="2" indent="0">
              <a:buNone/>
            </a:pPr>
            <a:r>
              <a:rPr lang="en-IN" dirty="0"/>
              <a:t>&lt;</a:t>
            </a:r>
            <a:r>
              <a:rPr lang="en-IN" dirty="0" err="1"/>
              <a:t>groupId</a:t>
            </a:r>
            <a:r>
              <a:rPr lang="en-IN" dirty="0"/>
              <a:t>&gt;</a:t>
            </a:r>
            <a:r>
              <a:rPr lang="en-IN" dirty="0" err="1"/>
              <a:t>io.jsonwebtoken</a:t>
            </a:r>
            <a:r>
              <a:rPr lang="en-IN" dirty="0"/>
              <a:t>&lt;/</a:t>
            </a:r>
            <a:r>
              <a:rPr lang="en-IN" dirty="0" err="1"/>
              <a:t>groupId</a:t>
            </a:r>
            <a:r>
              <a:rPr lang="en-IN" dirty="0"/>
              <a:t>&gt;</a:t>
            </a:r>
          </a:p>
          <a:p>
            <a:pPr marL="857250" lvl="2" indent="0">
              <a:buNone/>
            </a:pPr>
            <a:r>
              <a:rPr lang="en-IN" dirty="0"/>
              <a:t>&lt;</a:t>
            </a:r>
            <a:r>
              <a:rPr lang="en-IN" dirty="0" err="1"/>
              <a:t>artifactId</a:t>
            </a:r>
            <a:r>
              <a:rPr lang="en-IN" dirty="0"/>
              <a:t>&gt;</a:t>
            </a:r>
            <a:r>
              <a:rPr lang="en-IN" dirty="0" err="1"/>
              <a:t>jjwt-impl</a:t>
            </a:r>
            <a:r>
              <a:rPr lang="en-IN" dirty="0"/>
              <a:t>&lt;/</a:t>
            </a:r>
            <a:r>
              <a:rPr lang="en-IN" dirty="0" err="1"/>
              <a:t>artifactId</a:t>
            </a:r>
            <a:r>
              <a:rPr lang="en-IN" dirty="0"/>
              <a:t>&gt;</a:t>
            </a:r>
          </a:p>
          <a:p>
            <a:pPr marL="857250" lvl="2" indent="0">
              <a:buNone/>
            </a:pPr>
            <a:r>
              <a:rPr lang="en-IN" dirty="0"/>
              <a:t>&lt;version&gt;0.11.5&lt;/version&gt;</a:t>
            </a:r>
          </a:p>
          <a:p>
            <a:pPr marL="857250" lvl="2" indent="0">
              <a:buNone/>
            </a:pPr>
            <a:r>
              <a:rPr lang="en-IN" dirty="0"/>
              <a:t>&lt;scope&gt;runtime&lt;/scope&gt;</a:t>
            </a:r>
          </a:p>
          <a:p>
            <a:pPr marL="457200" lvl="1" indent="0">
              <a:buNone/>
            </a:pPr>
            <a:r>
              <a:rPr lang="en-IN" dirty="0"/>
              <a:t>&lt;/dependency&gt;</a:t>
            </a:r>
          </a:p>
          <a:p>
            <a:pPr marL="457200" lvl="1" indent="0">
              <a:buNone/>
            </a:pPr>
            <a:r>
              <a:rPr lang="en-IN" dirty="0"/>
              <a:t>&lt;dependency&gt;</a:t>
            </a:r>
          </a:p>
          <a:p>
            <a:pPr marL="857250" lvl="2" indent="0">
              <a:buNone/>
            </a:pPr>
            <a:r>
              <a:rPr lang="en-IN" dirty="0"/>
              <a:t>&lt;</a:t>
            </a:r>
            <a:r>
              <a:rPr lang="en-IN" dirty="0" err="1"/>
              <a:t>groupId</a:t>
            </a:r>
            <a:r>
              <a:rPr lang="en-IN" dirty="0"/>
              <a:t>&gt;</a:t>
            </a:r>
            <a:r>
              <a:rPr lang="en-IN" dirty="0" err="1"/>
              <a:t>io.jsonwebtoken</a:t>
            </a:r>
            <a:r>
              <a:rPr lang="en-IN" dirty="0"/>
              <a:t>&lt;/</a:t>
            </a:r>
            <a:r>
              <a:rPr lang="en-IN" dirty="0" err="1"/>
              <a:t>groupId</a:t>
            </a:r>
            <a:r>
              <a:rPr lang="en-IN" dirty="0"/>
              <a:t>&gt;</a:t>
            </a:r>
          </a:p>
          <a:p>
            <a:pPr marL="857250" lvl="2" indent="0">
              <a:buNone/>
            </a:pPr>
            <a:r>
              <a:rPr lang="en-IN" dirty="0"/>
              <a:t>&lt;</a:t>
            </a:r>
            <a:r>
              <a:rPr lang="en-IN" dirty="0" err="1"/>
              <a:t>artifactId</a:t>
            </a:r>
            <a:r>
              <a:rPr lang="en-IN" dirty="0"/>
              <a:t>&gt;</a:t>
            </a:r>
            <a:r>
              <a:rPr lang="en-IN" dirty="0" err="1"/>
              <a:t>jjwt-jackson</a:t>
            </a:r>
            <a:r>
              <a:rPr lang="en-IN" dirty="0"/>
              <a:t>&lt;/</a:t>
            </a:r>
            <a:r>
              <a:rPr lang="en-IN" dirty="0" err="1"/>
              <a:t>artifactId</a:t>
            </a:r>
            <a:r>
              <a:rPr lang="en-IN" dirty="0"/>
              <a:t>&gt;</a:t>
            </a:r>
          </a:p>
          <a:p>
            <a:pPr marL="857250" lvl="2" indent="0">
              <a:buNone/>
            </a:pPr>
            <a:r>
              <a:rPr lang="en-IN" dirty="0"/>
              <a:t>&lt;version&gt;0.11.5&lt;/version&gt;</a:t>
            </a:r>
          </a:p>
          <a:p>
            <a:pPr marL="857250" lvl="2" indent="0">
              <a:buNone/>
            </a:pPr>
            <a:r>
              <a:rPr lang="en-IN" dirty="0"/>
              <a:t>&lt;scope&gt;runtime&lt;/scope&gt;</a:t>
            </a:r>
          </a:p>
          <a:p>
            <a:pPr marL="457200" lvl="1" indent="0">
              <a:buNone/>
            </a:pPr>
            <a:r>
              <a:rPr lang="en-IN" dirty="0"/>
              <a:t>&lt;/dependency&gt;</a:t>
            </a:r>
          </a:p>
          <a:p>
            <a:pPr marL="457200" lvl="1" indent="0">
              <a:buNone/>
            </a:pPr>
            <a:br>
              <a:rPr lang="en-IN" altLang="en-US" dirty="0"/>
            </a:br>
            <a:endParaRPr lang="en-IN" altLang="en-US" dirty="0"/>
          </a:p>
          <a:p>
            <a:pPr marL="457200" lvl="1" indent="0">
              <a:buNone/>
            </a:pPr>
            <a:endParaRPr lang="en-US" alt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15963-F120-5DDE-5719-2FADC82BA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JWT Security Config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B67CC-F298-0C17-0EEF-FC82CBD93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2000" dirty="0"/>
              <a:t>Client must send token with every request and it gets validated to  determine identity and permissions.</a:t>
            </a:r>
          </a:p>
          <a:p>
            <a:endParaRPr lang="en-IN" sz="2000" dirty="0"/>
          </a:p>
          <a:p>
            <a:r>
              <a:rPr lang="en-IN" sz="2000" dirty="0" err="1"/>
              <a:t>sessionManagement</a:t>
            </a:r>
            <a:r>
              <a:rPr lang="en-IN" sz="2000" dirty="0"/>
              <a:t>(sess -&gt; </a:t>
            </a:r>
            <a:r>
              <a:rPr lang="en-IN" sz="2000" dirty="0" err="1"/>
              <a:t>sess.sessionCreationPolicy</a:t>
            </a:r>
            <a:r>
              <a:rPr lang="en-IN" sz="2000" dirty="0"/>
              <a:t>(</a:t>
            </a:r>
            <a:r>
              <a:rPr lang="en-IN" sz="2000" dirty="0" err="1"/>
              <a:t>SessionCreationPolicy.</a:t>
            </a:r>
            <a:r>
              <a:rPr lang="en-IN" sz="2000" b="1" i="1" dirty="0" err="1"/>
              <a:t>STATELESS</a:t>
            </a:r>
            <a:r>
              <a:rPr lang="en-IN" sz="2000" dirty="0"/>
              <a:t>));</a:t>
            </a:r>
          </a:p>
          <a:p>
            <a:endParaRPr lang="en-IN" sz="2000" b="1" dirty="0"/>
          </a:p>
          <a:p>
            <a:r>
              <a:rPr lang="en-IN" sz="2000" dirty="0"/>
              <a:t>.</a:t>
            </a:r>
            <a:r>
              <a:rPr lang="en-IN" sz="2000" dirty="0" err="1"/>
              <a:t>sessionManagement</a:t>
            </a:r>
            <a:r>
              <a:rPr lang="en-IN" sz="2000" dirty="0"/>
              <a:t>(...): </a:t>
            </a:r>
          </a:p>
          <a:p>
            <a:pPr lvl="1"/>
            <a:r>
              <a:rPr lang="en-IN" sz="2000" dirty="0"/>
              <a:t>To Configure sessions handling</a:t>
            </a:r>
          </a:p>
          <a:p>
            <a:r>
              <a:rPr lang="en-IN" sz="2000" dirty="0"/>
              <a:t>sess -&gt; </a:t>
            </a:r>
            <a:r>
              <a:rPr lang="en-IN" sz="2000" dirty="0" err="1"/>
              <a:t>sess.sessionCreationPolicy</a:t>
            </a:r>
            <a:r>
              <a:rPr lang="en-IN" sz="2000" dirty="0"/>
              <a:t>(...):</a:t>
            </a:r>
          </a:p>
          <a:p>
            <a:pPr lvl="1"/>
            <a:r>
              <a:rPr lang="en-IN" sz="2000" dirty="0"/>
              <a:t>Method to set the session creation policy.</a:t>
            </a:r>
          </a:p>
          <a:p>
            <a:r>
              <a:rPr lang="en-IN" sz="2000" dirty="0" err="1"/>
              <a:t>SessionCreationPolicy.STATELESS</a:t>
            </a:r>
            <a:r>
              <a:rPr lang="en-IN" sz="2000" dirty="0"/>
              <a:t>: </a:t>
            </a:r>
          </a:p>
          <a:p>
            <a:pPr lvl="1"/>
            <a:r>
              <a:rPr lang="en-IN" sz="2000" dirty="0"/>
              <a:t>Will not create or use HTTP sessions to store security context </a:t>
            </a:r>
          </a:p>
          <a:p>
            <a:endParaRPr lang="en-IN" sz="2000" dirty="0"/>
          </a:p>
          <a:p>
            <a:r>
              <a:rPr lang="en-IN" sz="2000" dirty="0"/>
              <a:t> </a:t>
            </a:r>
          </a:p>
          <a:p>
            <a:endParaRPr lang="en-IN" sz="2000" dirty="0"/>
          </a:p>
          <a:p>
            <a:endParaRPr lang="en-IN" sz="2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2522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1D0-0A48-8A40-5F6B-B96E6B35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Keys.</a:t>
            </a:r>
            <a:r>
              <a:rPr lang="en-IN" i="1" dirty="0" err="1"/>
              <a:t>hmacShaKeyFor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BED30-879F-E92C-95D6-6DFF39CB8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IN" b="1" dirty="0"/>
          </a:p>
          <a:p>
            <a:pPr marL="457200" lvl="1" indent="0">
              <a:buNone/>
            </a:pPr>
            <a:r>
              <a:rPr lang="en-IN" b="1" dirty="0" err="1"/>
              <a:t>this</a:t>
            </a:r>
            <a:r>
              <a:rPr lang="en-IN" dirty="0" err="1"/>
              <a:t>.key</a:t>
            </a:r>
            <a:r>
              <a:rPr lang="en-IN" dirty="0"/>
              <a:t> = </a:t>
            </a:r>
            <a:r>
              <a:rPr lang="en-IN" dirty="0" err="1"/>
              <a:t>Keys.</a:t>
            </a:r>
            <a:r>
              <a:rPr lang="en-IN" i="1" dirty="0" err="1"/>
              <a:t>hmacShaKeyFor</a:t>
            </a:r>
            <a:r>
              <a:rPr lang="en-IN" dirty="0"/>
              <a:t>(</a:t>
            </a:r>
            <a:r>
              <a:rPr lang="en-IN" dirty="0" err="1"/>
              <a:t>secret.getBytes</a:t>
            </a:r>
            <a:r>
              <a:rPr lang="en-IN" dirty="0"/>
              <a:t>());</a:t>
            </a:r>
          </a:p>
          <a:p>
            <a:endParaRPr lang="en-IN" sz="1800" dirty="0"/>
          </a:p>
          <a:p>
            <a:r>
              <a:rPr lang="en-IN" sz="1800" dirty="0"/>
              <a:t>To create a cryptographic Key object </a:t>
            </a:r>
          </a:p>
          <a:p>
            <a:endParaRPr lang="en-IN" sz="1800" dirty="0"/>
          </a:p>
          <a:p>
            <a:r>
              <a:rPr lang="en-IN" sz="1800" dirty="0"/>
              <a:t>Used with HMAC (Hash-based Message Authentication Code) </a:t>
            </a:r>
          </a:p>
          <a:p>
            <a:pPr lvl="1"/>
            <a:r>
              <a:rPr lang="en-IN" sz="1800" dirty="0"/>
              <a:t>HS256 (HMAC using SHA-256)</a:t>
            </a:r>
          </a:p>
          <a:p>
            <a:pPr lvl="1"/>
            <a:r>
              <a:rPr lang="en-IN" sz="1800" dirty="0"/>
              <a:t>HS384 (HMAC using SHA-384)</a:t>
            </a:r>
          </a:p>
          <a:p>
            <a:pPr lvl="1"/>
            <a:r>
              <a:rPr lang="en-IN" sz="1800" dirty="0"/>
              <a:t>HS512 (HMAC using SHA-512)</a:t>
            </a:r>
          </a:p>
          <a:p>
            <a:endParaRPr lang="en-IN" sz="1800" dirty="0"/>
          </a:p>
          <a:p>
            <a:r>
              <a:rPr lang="en-IN" sz="1800" dirty="0"/>
              <a:t>With secret key as bytes generates </a:t>
            </a:r>
            <a:r>
              <a:rPr lang="en-IN" sz="1800"/>
              <a:t>a configured </a:t>
            </a:r>
            <a:r>
              <a:rPr lang="en-IN" sz="1800" dirty="0"/>
              <a:t>Key instance that can be passed to the JWT builder or parser for signing or verifying a JSON Web Token.</a:t>
            </a:r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089812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EB08D-9CE6-04A9-546F-A66D5D42D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Validate JWT 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58D75-038E-EC39-7C1A-78F2371747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@Value("${</a:t>
            </a:r>
            <a:r>
              <a:rPr lang="en-IN" dirty="0" err="1"/>
              <a:t>jwt.secret</a:t>
            </a:r>
            <a:r>
              <a:rPr lang="en-IN" dirty="0"/>
              <a:t>}")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String secret; </a:t>
            </a:r>
          </a:p>
          <a:p>
            <a:pPr marL="457200" lvl="1" indent="0">
              <a:buNone/>
            </a:pPr>
            <a:endParaRPr lang="en-IN" b="1" dirty="0"/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Key key;</a:t>
            </a:r>
          </a:p>
          <a:p>
            <a:pPr marL="457200" lvl="1" indent="0">
              <a:buNone/>
            </a:pPr>
            <a:r>
              <a:rPr lang="en-IN" dirty="0"/>
              <a:t>@</a:t>
            </a:r>
            <a:r>
              <a:rPr lang="en-IN" dirty="0" err="1"/>
              <a:t>PostConstruct</a:t>
            </a:r>
            <a:endParaRPr lang="en-IN" dirty="0"/>
          </a:p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void</a:t>
            </a:r>
            <a:r>
              <a:rPr lang="en-IN" dirty="0"/>
              <a:t> </a:t>
            </a:r>
            <a:r>
              <a:rPr lang="en-IN" dirty="0" err="1"/>
              <a:t>init</a:t>
            </a:r>
            <a:r>
              <a:rPr lang="en-IN" dirty="0"/>
              <a:t>(){</a:t>
            </a:r>
          </a:p>
          <a:p>
            <a:pPr marL="457200" lvl="1" indent="0">
              <a:buNone/>
            </a:pPr>
            <a:r>
              <a:rPr lang="en-IN" b="1" dirty="0" err="1"/>
              <a:t>this</a:t>
            </a:r>
            <a:r>
              <a:rPr lang="en-IN" dirty="0" err="1"/>
              <a:t>.key</a:t>
            </a:r>
            <a:r>
              <a:rPr lang="en-IN" dirty="0"/>
              <a:t> = </a:t>
            </a:r>
            <a:r>
              <a:rPr lang="en-IN" dirty="0" err="1"/>
              <a:t>Keys.</a:t>
            </a:r>
            <a:r>
              <a:rPr lang="en-IN" i="1" dirty="0" err="1"/>
              <a:t>hmacShaKeyFor</a:t>
            </a:r>
            <a:r>
              <a:rPr lang="en-IN" dirty="0"/>
              <a:t>(</a:t>
            </a:r>
            <a:r>
              <a:rPr lang="en-IN" dirty="0" err="1"/>
              <a:t>secret.getBytes</a:t>
            </a:r>
            <a:r>
              <a:rPr lang="en-IN" dirty="0"/>
              <a:t>());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Claims </a:t>
            </a:r>
            <a:r>
              <a:rPr lang="en-IN" dirty="0" err="1"/>
              <a:t>getAllClaimsFromToken</a:t>
            </a:r>
            <a:r>
              <a:rPr lang="en-IN" dirty="0"/>
              <a:t>(String token) {</a:t>
            </a:r>
          </a:p>
          <a:p>
            <a:pPr marL="457200" lvl="1" indent="0">
              <a:buNone/>
            </a:pP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dirty="0" err="1"/>
              <a:t>Jwts.</a:t>
            </a:r>
            <a:r>
              <a:rPr lang="en-IN" i="1" dirty="0" err="1"/>
              <a:t>parserBuilder</a:t>
            </a:r>
            <a:r>
              <a:rPr lang="en-IN" dirty="0"/>
              <a:t>()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setSigningKey</a:t>
            </a:r>
            <a:r>
              <a:rPr lang="en-IN" dirty="0"/>
              <a:t>(key)</a:t>
            </a:r>
          </a:p>
          <a:p>
            <a:pPr marL="457200" lvl="1" indent="0">
              <a:buNone/>
            </a:pPr>
            <a:r>
              <a:rPr lang="en-IN" dirty="0"/>
              <a:t>.build()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parseClaimsJws</a:t>
            </a:r>
            <a:r>
              <a:rPr lang="en-IN" dirty="0"/>
              <a:t>(token)</a:t>
            </a:r>
          </a:p>
          <a:p>
            <a:pPr marL="457200" lvl="1" indent="0">
              <a:buNone/>
            </a:pPr>
            <a:r>
              <a:rPr lang="en-IN" dirty="0"/>
              <a:t>.</a:t>
            </a:r>
            <a:r>
              <a:rPr lang="en-IN" dirty="0" err="1"/>
              <a:t>getBody</a:t>
            </a:r>
            <a:r>
              <a:rPr lang="en-IN" dirty="0"/>
              <a:t>();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86844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D5F92-61FC-C459-44F6-9D3A19778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Validte</a:t>
            </a:r>
            <a:r>
              <a:rPr lang="en-US" dirty="0"/>
              <a:t> JWT 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3FAFA-FB6B-0F8E-F222-B5DABDF17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 err="1"/>
              <a:t>boolean</a:t>
            </a:r>
            <a:r>
              <a:rPr lang="en-IN" dirty="0"/>
              <a:t> </a:t>
            </a:r>
            <a:r>
              <a:rPr lang="en-IN" dirty="0" err="1"/>
              <a:t>isTokenExpired</a:t>
            </a:r>
            <a:r>
              <a:rPr lang="en-IN" dirty="0"/>
              <a:t>(String token) {</a:t>
            </a:r>
          </a:p>
          <a:p>
            <a:pPr marL="457200" lvl="1" indent="0">
              <a:buNone/>
            </a:pP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b="1" dirty="0" err="1"/>
              <a:t>this</a:t>
            </a:r>
            <a:r>
              <a:rPr lang="en-IN" dirty="0" err="1"/>
              <a:t>.getAllClaimsFromToken</a:t>
            </a:r>
            <a:r>
              <a:rPr lang="en-IN" dirty="0"/>
              <a:t>(token).</a:t>
            </a:r>
            <a:r>
              <a:rPr lang="en-IN" dirty="0" err="1"/>
              <a:t>getExpiration</a:t>
            </a:r>
            <a:r>
              <a:rPr lang="en-IN" dirty="0"/>
              <a:t>().before(</a:t>
            </a:r>
            <a:r>
              <a:rPr lang="en-IN" b="1" dirty="0"/>
              <a:t>new</a:t>
            </a:r>
            <a:r>
              <a:rPr lang="en-IN" dirty="0"/>
              <a:t> Date());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 err="1"/>
              <a:t>boolean</a:t>
            </a:r>
            <a:r>
              <a:rPr lang="en-IN" dirty="0"/>
              <a:t> </a:t>
            </a:r>
            <a:r>
              <a:rPr lang="en-IN" dirty="0" err="1"/>
              <a:t>isTokenValid</a:t>
            </a:r>
            <a:r>
              <a:rPr lang="en-IN" dirty="0"/>
              <a:t>(String token) {</a:t>
            </a:r>
          </a:p>
          <a:p>
            <a:pPr marL="457200" lvl="1" indent="0">
              <a:buNone/>
            </a:pPr>
            <a:r>
              <a:rPr lang="en-IN" b="1" dirty="0"/>
              <a:t>try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r>
              <a:rPr lang="en-IN" b="1" dirty="0" err="1"/>
              <a:t>this</a:t>
            </a:r>
            <a:r>
              <a:rPr lang="en-IN" dirty="0" err="1"/>
              <a:t>.getAllClaimsFromToken</a:t>
            </a:r>
            <a:r>
              <a:rPr lang="en-IN" dirty="0"/>
              <a:t>(token);</a:t>
            </a:r>
          </a:p>
          <a:p>
            <a:pPr marL="457200" lvl="1" indent="0">
              <a:buNone/>
            </a:pPr>
            <a:r>
              <a:rPr lang="en-IN" b="1" dirty="0"/>
              <a:t>return</a:t>
            </a:r>
            <a:r>
              <a:rPr lang="en-IN" dirty="0"/>
              <a:t> !</a:t>
            </a:r>
            <a:r>
              <a:rPr lang="en-IN" dirty="0" err="1"/>
              <a:t>isTokenExpired</a:t>
            </a:r>
            <a:r>
              <a:rPr lang="en-IN" dirty="0"/>
              <a:t>(token);</a:t>
            </a:r>
          </a:p>
          <a:p>
            <a:pPr marL="457200" lvl="1" indent="0">
              <a:buNone/>
            </a:pPr>
            <a:r>
              <a:rPr lang="en-IN" dirty="0"/>
              <a:t>} </a:t>
            </a:r>
            <a:r>
              <a:rPr lang="en-IN" b="1" dirty="0"/>
              <a:t>catch</a:t>
            </a:r>
            <a:r>
              <a:rPr lang="en-IN" dirty="0"/>
              <a:t> (Exception e) {</a:t>
            </a:r>
          </a:p>
          <a:p>
            <a:pPr marL="457200" lvl="1" indent="0">
              <a:buNone/>
            </a:pP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b="1" dirty="0"/>
              <a:t>false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String </a:t>
            </a:r>
            <a:r>
              <a:rPr lang="en-IN" dirty="0" err="1"/>
              <a:t>extractUsername</a:t>
            </a:r>
            <a:r>
              <a:rPr lang="en-IN" dirty="0"/>
              <a:t>(String token) {</a:t>
            </a:r>
          </a:p>
          <a:p>
            <a:pPr marL="457200" lvl="1" indent="0">
              <a:buNone/>
            </a:pP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dirty="0" err="1"/>
              <a:t>getAllClaimsFromToken</a:t>
            </a:r>
            <a:r>
              <a:rPr lang="en-IN" dirty="0"/>
              <a:t>(token).</a:t>
            </a:r>
            <a:r>
              <a:rPr lang="en-IN" dirty="0" err="1"/>
              <a:t>getSubject</a:t>
            </a:r>
            <a:r>
              <a:rPr lang="en-IN" dirty="0"/>
              <a:t>();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692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99250-0D08-76D7-492A-FAC39126E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Secret 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2EEC6-017B-C885-0858-8FC17F530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JWT tokens are signed using secret key. </a:t>
            </a:r>
          </a:p>
          <a:p>
            <a:r>
              <a:rPr lang="en-IN" sz="1800" dirty="0"/>
              <a:t>When the client sends the JWT back to the server in subsequent requests, the server uses the </a:t>
            </a:r>
            <a:r>
              <a:rPr lang="en-IN" sz="1800" i="1" dirty="0"/>
              <a:t>same</a:t>
            </a:r>
            <a:r>
              <a:rPr lang="en-IN" sz="1800" dirty="0"/>
              <a:t> secret key to regenerate the signature.</a:t>
            </a:r>
          </a:p>
          <a:p>
            <a:r>
              <a:rPr lang="en-IN" sz="1800" dirty="0"/>
              <a:t> If the newly generated signature matches the one in the token, the server knows that the token has not been tampered with during transit.</a:t>
            </a:r>
          </a:p>
          <a:p>
            <a:endParaRPr lang="en-IN" sz="1800" b="1" dirty="0"/>
          </a:p>
          <a:p>
            <a:r>
              <a:rPr lang="en-IN" sz="1800" dirty="0"/>
              <a:t>The server doesn't need to store session information because it can verify the token's authenticity with only the token and the secret key. </a:t>
            </a:r>
          </a:p>
          <a:p>
            <a:endParaRPr lang="en-IN" sz="1800" dirty="0"/>
          </a:p>
          <a:p>
            <a:endParaRPr lang="en-IN" sz="1800" dirty="0"/>
          </a:p>
          <a:p>
            <a:r>
              <a:rPr lang="en-IN" sz="1800" dirty="0" err="1"/>
              <a:t>jwt.secret</a:t>
            </a:r>
            <a:r>
              <a:rPr lang="en-IN" sz="1800" dirty="0"/>
              <a:t>-key=${JWT_SECRET_KEY}</a:t>
            </a:r>
          </a:p>
          <a:p>
            <a:endParaRPr lang="en-IN" sz="1800" dirty="0"/>
          </a:p>
          <a:p>
            <a:r>
              <a:rPr lang="en-IN" sz="1800" dirty="0" err="1"/>
              <a:t>openssl</a:t>
            </a:r>
            <a:r>
              <a:rPr lang="en-IN" sz="1800" dirty="0"/>
              <a:t> rand -base64 32</a:t>
            </a:r>
          </a:p>
          <a:p>
            <a:endParaRPr lang="en-IN" sz="1800" dirty="0"/>
          </a:p>
          <a:p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37564517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A6559-B814-45A6-6FD1-8BA785F26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JWT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691AF-DC9E-D581-359E-4A0147DD0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sz="1800" dirty="0"/>
              <a:t>@Service</a:t>
            </a:r>
          </a:p>
          <a:p>
            <a:r>
              <a:rPr lang="en-IN" sz="1800" dirty="0"/>
              <a:t>public class </a:t>
            </a:r>
            <a:r>
              <a:rPr lang="en-IN" sz="1800" dirty="0" err="1"/>
              <a:t>JwtService</a:t>
            </a:r>
            <a:r>
              <a:rPr lang="en-IN" sz="1800" dirty="0"/>
              <a:t> {</a:t>
            </a:r>
          </a:p>
          <a:p>
            <a:endParaRPr lang="en-IN" sz="1800" dirty="0"/>
          </a:p>
          <a:p>
            <a:r>
              <a:rPr lang="en-IN" sz="1800" dirty="0"/>
              <a:t>    @Value("${</a:t>
            </a:r>
            <a:r>
              <a:rPr lang="en-IN" sz="1800" dirty="0" err="1"/>
              <a:t>jwt.secret</a:t>
            </a:r>
            <a:r>
              <a:rPr lang="en-IN" sz="1800" dirty="0"/>
              <a:t>-key}")</a:t>
            </a:r>
          </a:p>
          <a:p>
            <a:r>
              <a:rPr lang="en-IN" sz="1800" dirty="0"/>
              <a:t>    private String </a:t>
            </a:r>
            <a:r>
              <a:rPr lang="en-IN" sz="1800" dirty="0" err="1"/>
              <a:t>secretString</a:t>
            </a:r>
            <a:r>
              <a:rPr lang="en-IN" sz="1800" dirty="0"/>
              <a:t>;</a:t>
            </a:r>
          </a:p>
          <a:p>
            <a:endParaRPr lang="en-IN" sz="1800" dirty="0"/>
          </a:p>
          <a:p>
            <a:r>
              <a:rPr lang="en-IN" sz="1800" dirty="0"/>
              <a:t>private SecretKey </a:t>
            </a:r>
            <a:r>
              <a:rPr lang="en-IN" sz="1800" dirty="0" err="1"/>
              <a:t>getSigningKey</a:t>
            </a:r>
            <a:r>
              <a:rPr lang="en-IN" sz="1800" dirty="0"/>
              <a:t>() {</a:t>
            </a:r>
          </a:p>
          <a:p>
            <a:r>
              <a:rPr lang="en-IN" sz="1800" dirty="0"/>
              <a:t>        return </a:t>
            </a:r>
            <a:r>
              <a:rPr lang="en-IN" sz="1800" dirty="0" err="1"/>
              <a:t>Keys.hmacShaKeyFor</a:t>
            </a:r>
            <a:r>
              <a:rPr lang="en-IN" sz="1800" dirty="0"/>
              <a:t>(</a:t>
            </a:r>
            <a:r>
              <a:rPr lang="en-IN" sz="1800" dirty="0" err="1"/>
              <a:t>secretString.getBytes</a:t>
            </a:r>
            <a:r>
              <a:rPr lang="en-IN" sz="1800" dirty="0"/>
              <a:t>(StandardCharsets.UTF_8));</a:t>
            </a:r>
          </a:p>
          <a:p>
            <a:r>
              <a:rPr lang="en-IN" sz="1800" dirty="0"/>
              <a:t>    }</a:t>
            </a:r>
          </a:p>
          <a:p>
            <a:endParaRPr lang="en-IN" sz="1800" dirty="0"/>
          </a:p>
          <a:p>
            <a:r>
              <a:rPr lang="en-IN" sz="1800" dirty="0"/>
              <a:t>}</a:t>
            </a:r>
          </a:p>
          <a:p>
            <a:br>
              <a:rPr lang="en-IN" sz="1800" dirty="0"/>
            </a:br>
            <a:endParaRPr lang="en-IN" sz="1800" dirty="0"/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841999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DD8F8-6691-0F3C-2FA5-11AEF019F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Configuration-1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10C0F-4C1A-4AF2-4DB1-96867AF49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class</a:t>
            </a:r>
            <a:r>
              <a:rPr lang="en-IN" dirty="0"/>
              <a:t> </a:t>
            </a:r>
            <a:r>
              <a:rPr lang="en-IN" dirty="0" err="1"/>
              <a:t>AuthConfig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	@Bean</a:t>
            </a:r>
          </a:p>
          <a:p>
            <a:pPr marL="457200" lvl="1" indent="0">
              <a:buNone/>
            </a:pPr>
            <a:r>
              <a:rPr lang="en-IN" dirty="0"/>
              <a:t>    </a:t>
            </a:r>
            <a:r>
              <a:rPr lang="en-IN" dirty="0" err="1"/>
              <a:t>PasswordEncoder</a:t>
            </a:r>
            <a:r>
              <a:rPr lang="en-IN" dirty="0"/>
              <a:t> </a:t>
            </a:r>
            <a:r>
              <a:rPr lang="en-IN" dirty="0" err="1"/>
              <a:t>passwordEncoder</a:t>
            </a:r>
            <a:r>
              <a:rPr lang="en-IN" dirty="0"/>
              <a:t>() {</a:t>
            </a:r>
          </a:p>
          <a:p>
            <a:pPr marL="457200" lvl="1" indent="0">
              <a:buNone/>
            </a:pPr>
            <a:r>
              <a:rPr lang="en-IN" dirty="0"/>
              <a:t>       </a:t>
            </a: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BCryptPasswordEncoder</a:t>
            </a:r>
            <a:r>
              <a:rPr lang="en-IN" dirty="0"/>
              <a:t>();</a:t>
            </a:r>
          </a:p>
          <a:p>
            <a:pPr marL="457200" lvl="1" indent="0">
              <a:buNone/>
            </a:pPr>
            <a:r>
              <a:rPr lang="en-IN" dirty="0"/>
              <a:t>   }</a:t>
            </a:r>
          </a:p>
          <a:p>
            <a:pPr marL="457200" lvl="1" indent="0">
              <a:buNone/>
            </a:pPr>
            <a:r>
              <a:rPr lang="en-IN" dirty="0"/>
              <a:t>   @Bean</a:t>
            </a:r>
          </a:p>
          <a:p>
            <a:pPr marL="457200" lvl="1" indent="0">
              <a:buNone/>
            </a:pPr>
            <a:r>
              <a:rPr lang="en-IN" dirty="0"/>
              <a:t>    </a:t>
            </a:r>
            <a:r>
              <a:rPr lang="en-IN" dirty="0" err="1"/>
              <a:t>AuthenticationManager</a:t>
            </a:r>
            <a:r>
              <a:rPr lang="en-IN" dirty="0"/>
              <a:t> </a:t>
            </a:r>
            <a:r>
              <a:rPr lang="en-IN" dirty="0" err="1"/>
              <a:t>authenticationManager</a:t>
            </a:r>
            <a:r>
              <a:rPr lang="en-IN" dirty="0"/>
              <a:t>(</a:t>
            </a:r>
            <a:r>
              <a:rPr lang="en-IN" dirty="0" err="1"/>
              <a:t>AuthenticationConfiguration</a:t>
            </a:r>
            <a:r>
              <a:rPr lang="en-IN" dirty="0"/>
              <a:t> config) </a:t>
            </a:r>
            <a:r>
              <a:rPr lang="en-IN" b="1" dirty="0"/>
              <a:t>throws</a:t>
            </a:r>
            <a:r>
              <a:rPr lang="en-IN" dirty="0"/>
              <a:t> Exception {</a:t>
            </a:r>
          </a:p>
          <a:p>
            <a:pPr marL="457200" lvl="1" indent="0">
              <a:buNone/>
            </a:pPr>
            <a:r>
              <a:rPr lang="en-IN" dirty="0"/>
              <a:t>       </a:t>
            </a: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dirty="0" err="1"/>
              <a:t>config.getAuthenticationManager</a:t>
            </a:r>
            <a:r>
              <a:rPr lang="en-IN" dirty="0"/>
              <a:t>();</a:t>
            </a:r>
          </a:p>
          <a:p>
            <a:pPr marL="457200" lvl="1" indent="0">
              <a:buNone/>
            </a:pPr>
            <a:r>
              <a:rPr lang="en-IN" dirty="0"/>
              <a:t>   }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br>
              <a:rPr lang="en-IN" dirty="0"/>
            </a:br>
            <a:endParaRPr lang="en-IN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8830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665ED-55D8-8F7A-567B-0EA1FE5BB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5732A-3C9D-0DDD-23AA-C9CE325D9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public class </a:t>
            </a:r>
            <a:r>
              <a:rPr lang="en-IN" dirty="0" err="1"/>
              <a:t>SecurityConfig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endParaRPr lang="en-IN" dirty="0"/>
          </a:p>
          <a:p>
            <a:pPr marL="457200" lvl="1" indent="0">
              <a:buNone/>
            </a:pPr>
            <a:r>
              <a:rPr lang="en-IN" dirty="0"/>
              <a:t>private final </a:t>
            </a:r>
            <a:r>
              <a:rPr lang="en-IN" dirty="0" err="1"/>
              <a:t>JwtAuthenticationFilter</a:t>
            </a:r>
            <a:r>
              <a:rPr lang="en-IN" dirty="0"/>
              <a:t> </a:t>
            </a:r>
            <a:r>
              <a:rPr lang="en-IN" dirty="0" err="1"/>
              <a:t>jwtAuthFilter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    private final </a:t>
            </a:r>
            <a:r>
              <a:rPr lang="en-IN" dirty="0" err="1"/>
              <a:t>UserDetailsService</a:t>
            </a:r>
            <a:r>
              <a:rPr lang="en-IN" dirty="0"/>
              <a:t> </a:t>
            </a:r>
            <a:r>
              <a:rPr lang="en-IN" dirty="0" err="1"/>
              <a:t>userDetailsService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    private final </a:t>
            </a:r>
            <a:r>
              <a:rPr lang="en-IN" dirty="0" err="1"/>
              <a:t>PasswordEncoder</a:t>
            </a:r>
            <a:r>
              <a:rPr lang="en-IN" dirty="0"/>
              <a:t> </a:t>
            </a:r>
            <a:r>
              <a:rPr lang="en-IN" dirty="0" err="1"/>
              <a:t>passwordEncoder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    @Bean</a:t>
            </a:r>
          </a:p>
          <a:p>
            <a:pPr marL="457200" lvl="1" indent="0">
              <a:buNone/>
            </a:pPr>
            <a:r>
              <a:rPr lang="en-IN" dirty="0"/>
              <a:t>     </a:t>
            </a:r>
            <a:r>
              <a:rPr lang="en-IN" dirty="0" err="1"/>
              <a:t>AuthenticationProvider</a:t>
            </a:r>
            <a:r>
              <a:rPr lang="en-IN" dirty="0"/>
              <a:t> </a:t>
            </a:r>
            <a:r>
              <a:rPr lang="en-IN" dirty="0" err="1"/>
              <a:t>authenticationProvider</a:t>
            </a:r>
            <a:r>
              <a:rPr lang="en-IN" dirty="0"/>
              <a:t>() {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dirty="0" err="1"/>
              <a:t>DaoAuthenticationProvider</a:t>
            </a:r>
            <a:r>
              <a:rPr lang="en-IN" dirty="0"/>
              <a:t> </a:t>
            </a:r>
            <a:r>
              <a:rPr lang="en-IN" dirty="0" err="1"/>
              <a:t>authProvider</a:t>
            </a:r>
            <a:r>
              <a:rPr lang="en-IN" dirty="0"/>
              <a:t> = new </a:t>
            </a:r>
            <a:r>
              <a:rPr lang="en-IN" dirty="0" err="1"/>
              <a:t>DaoAuthenticationProvider</a:t>
            </a:r>
            <a:r>
              <a:rPr lang="en-IN" dirty="0"/>
              <a:t>(</a:t>
            </a:r>
            <a:r>
              <a:rPr lang="en-IN" dirty="0" err="1"/>
              <a:t>userDetailsService</a:t>
            </a:r>
            <a:r>
              <a:rPr lang="en-IN" dirty="0"/>
              <a:t>);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dirty="0" err="1"/>
              <a:t>authProvider.setPasswordEncoder</a:t>
            </a:r>
            <a:r>
              <a:rPr lang="en-IN" dirty="0"/>
              <a:t>(</a:t>
            </a:r>
            <a:r>
              <a:rPr lang="en-IN" dirty="0" err="1"/>
              <a:t>passwordEncoder</a:t>
            </a:r>
            <a:r>
              <a:rPr lang="en-IN" dirty="0"/>
              <a:t>);</a:t>
            </a:r>
          </a:p>
          <a:p>
            <a:pPr marL="457200" lvl="1" indent="0">
              <a:buNone/>
            </a:pPr>
            <a:r>
              <a:rPr lang="en-IN" dirty="0"/>
              <a:t>        return </a:t>
            </a:r>
            <a:r>
              <a:rPr lang="en-IN" dirty="0" err="1"/>
              <a:t>authProvider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    }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51132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541D3-68A0-3F8D-C6D3-FDE62989A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B9EB8-82C2-D6F7-9290-F11F055C3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 @Bean</a:t>
            </a:r>
          </a:p>
          <a:p>
            <a:pPr marL="457200" lvl="1" indent="0">
              <a:buNone/>
            </a:pPr>
            <a:r>
              <a:rPr lang="en-IN" dirty="0"/>
              <a:t>     </a:t>
            </a:r>
            <a:r>
              <a:rPr lang="en-IN" dirty="0" err="1"/>
              <a:t>SecurityFilterChain</a:t>
            </a:r>
            <a:r>
              <a:rPr lang="en-IN" dirty="0"/>
              <a:t> </a:t>
            </a:r>
            <a:r>
              <a:rPr lang="en-IN" dirty="0" err="1"/>
              <a:t>securityFilterChain</a:t>
            </a:r>
            <a:r>
              <a:rPr lang="en-IN" dirty="0"/>
              <a:t>(</a:t>
            </a:r>
            <a:r>
              <a:rPr lang="en-IN" dirty="0" err="1"/>
              <a:t>HttpSecurity</a:t>
            </a:r>
            <a:r>
              <a:rPr lang="en-IN" dirty="0"/>
              <a:t> http) throws Exception {</a:t>
            </a:r>
          </a:p>
          <a:p>
            <a:pPr marL="457200" lvl="1" indent="0">
              <a:buNone/>
            </a:pPr>
            <a:r>
              <a:rPr lang="en-IN" dirty="0"/>
              <a:t>        http</a:t>
            </a:r>
          </a:p>
          <a:p>
            <a:pPr marL="457200" lvl="1" indent="0">
              <a:buNone/>
            </a:pPr>
            <a:r>
              <a:rPr lang="en-IN" dirty="0"/>
              <a:t>            .</a:t>
            </a:r>
            <a:r>
              <a:rPr lang="en-IN" dirty="0" err="1"/>
              <a:t>csrf</a:t>
            </a:r>
            <a:r>
              <a:rPr lang="en-IN" dirty="0"/>
              <a:t>(</a:t>
            </a:r>
            <a:r>
              <a:rPr lang="en-IN" dirty="0" err="1"/>
              <a:t>csrf</a:t>
            </a:r>
            <a:r>
              <a:rPr lang="en-IN" dirty="0"/>
              <a:t> -&gt; </a:t>
            </a:r>
            <a:r>
              <a:rPr lang="en-IN" dirty="0" err="1"/>
              <a:t>csrf.disable</a:t>
            </a:r>
            <a:r>
              <a:rPr lang="en-IN" dirty="0"/>
              <a:t>())</a:t>
            </a:r>
          </a:p>
          <a:p>
            <a:pPr marL="457200" lvl="1" indent="0">
              <a:buNone/>
            </a:pPr>
            <a:r>
              <a:rPr lang="en-IN" dirty="0"/>
              <a:t>            .</a:t>
            </a:r>
            <a:r>
              <a:rPr lang="en-IN" dirty="0" err="1"/>
              <a:t>authorizeHttpRequests</a:t>
            </a:r>
            <a:r>
              <a:rPr lang="en-IN" dirty="0"/>
              <a:t>(auth -&gt; auth</a:t>
            </a:r>
          </a:p>
          <a:p>
            <a:pPr marL="457200" lvl="1" indent="0">
              <a:buNone/>
            </a:pPr>
            <a:r>
              <a:rPr lang="en-IN" dirty="0"/>
              <a:t>                .</a:t>
            </a:r>
            <a:r>
              <a:rPr lang="en-IN" dirty="0" err="1"/>
              <a:t>requestMatchers</a:t>
            </a:r>
            <a:r>
              <a:rPr lang="en-IN" dirty="0"/>
              <a:t>("/</a:t>
            </a:r>
            <a:r>
              <a:rPr lang="en-IN" dirty="0" err="1"/>
              <a:t>api</a:t>
            </a:r>
            <a:r>
              <a:rPr lang="en-IN" dirty="0"/>
              <a:t>/v1/auth/**", "/error").</a:t>
            </a:r>
            <a:r>
              <a:rPr lang="en-IN" dirty="0" err="1"/>
              <a:t>permitAll</a:t>
            </a:r>
            <a:r>
              <a:rPr lang="en-IN" dirty="0"/>
              <a:t>()</a:t>
            </a:r>
          </a:p>
          <a:p>
            <a:pPr marL="457200" lvl="1" indent="0">
              <a:buNone/>
            </a:pPr>
            <a:r>
              <a:rPr lang="en-IN" dirty="0"/>
              <a:t>                .</a:t>
            </a:r>
            <a:r>
              <a:rPr lang="en-IN" dirty="0" err="1"/>
              <a:t>anyRequest</a:t>
            </a:r>
            <a:r>
              <a:rPr lang="en-IN" dirty="0"/>
              <a:t>().authenticated()</a:t>
            </a:r>
          </a:p>
          <a:p>
            <a:pPr marL="457200" lvl="1" indent="0">
              <a:buNone/>
            </a:pPr>
            <a:r>
              <a:rPr lang="en-IN" dirty="0"/>
              <a:t>            )</a:t>
            </a:r>
          </a:p>
          <a:p>
            <a:pPr marL="457200" lvl="1" indent="0">
              <a:buNone/>
            </a:pPr>
            <a:r>
              <a:rPr lang="en-IN" dirty="0"/>
              <a:t>            .</a:t>
            </a:r>
            <a:r>
              <a:rPr lang="en-IN" dirty="0" err="1"/>
              <a:t>sessionManagement</a:t>
            </a:r>
            <a:r>
              <a:rPr lang="en-IN" dirty="0"/>
              <a:t>(sess -&gt; </a:t>
            </a:r>
            <a:r>
              <a:rPr lang="en-IN" dirty="0" err="1"/>
              <a:t>sess.sessionCreationPolicy</a:t>
            </a:r>
            <a:r>
              <a:rPr lang="en-IN" dirty="0"/>
              <a:t>(</a:t>
            </a:r>
            <a:r>
              <a:rPr lang="en-IN" dirty="0" err="1"/>
              <a:t>SessionCreationPolicy.STATELESS</a:t>
            </a:r>
            <a:r>
              <a:rPr lang="en-IN" dirty="0"/>
              <a:t>))</a:t>
            </a:r>
          </a:p>
          <a:p>
            <a:pPr marL="457200" lvl="1" indent="0">
              <a:buNone/>
            </a:pPr>
            <a:r>
              <a:rPr lang="en-IN" dirty="0"/>
              <a:t>            .</a:t>
            </a:r>
            <a:r>
              <a:rPr lang="en-IN" dirty="0" err="1"/>
              <a:t>authenticationProvider</a:t>
            </a:r>
            <a:r>
              <a:rPr lang="en-IN" dirty="0"/>
              <a:t>(</a:t>
            </a:r>
            <a:r>
              <a:rPr lang="en-IN" dirty="0" err="1"/>
              <a:t>authenticationProvider</a:t>
            </a:r>
            <a:r>
              <a:rPr lang="en-IN" dirty="0"/>
              <a:t>())</a:t>
            </a:r>
          </a:p>
          <a:p>
            <a:pPr marL="457200" lvl="1" indent="0">
              <a:buNone/>
            </a:pPr>
            <a:r>
              <a:rPr lang="en-IN" dirty="0"/>
              <a:t>            .</a:t>
            </a:r>
            <a:r>
              <a:rPr lang="en-IN" dirty="0" err="1"/>
              <a:t>addFilterBefore</a:t>
            </a:r>
            <a:r>
              <a:rPr lang="en-IN" dirty="0"/>
              <a:t>(</a:t>
            </a:r>
            <a:r>
              <a:rPr lang="en-IN" dirty="0" err="1"/>
              <a:t>jwtAuthFilter</a:t>
            </a:r>
            <a:r>
              <a:rPr lang="en-IN" dirty="0"/>
              <a:t>, </a:t>
            </a:r>
            <a:r>
              <a:rPr lang="en-IN" dirty="0" err="1"/>
              <a:t>UsernamePasswordAuthenticationFilter.class</a:t>
            </a:r>
            <a:r>
              <a:rPr lang="en-IN" dirty="0"/>
              <a:t>);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        return </a:t>
            </a:r>
            <a:r>
              <a:rPr lang="en-IN" dirty="0" err="1"/>
              <a:t>http.build</a:t>
            </a:r>
            <a:r>
              <a:rPr lang="en-IN" dirty="0"/>
              <a:t>();</a:t>
            </a:r>
          </a:p>
          <a:p>
            <a:pPr marL="457200" lvl="1" indent="0">
              <a:buNone/>
            </a:pPr>
            <a:r>
              <a:rPr lang="en-IN" dirty="0"/>
              <a:t>    }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8574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A9367-4098-5263-1B7D-7AFACEC8F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Authentication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FDD75-8930-38CD-4D94-F77940BD2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Service</a:t>
            </a:r>
          </a:p>
          <a:p>
            <a:pPr marL="457200" lvl="1" indent="0">
              <a:buNone/>
            </a:pPr>
            <a:r>
              <a:rPr lang="en-IN" dirty="0"/>
              <a:t>@</a:t>
            </a:r>
            <a:r>
              <a:rPr lang="en-IN" dirty="0" err="1"/>
              <a:t>RequiredArgsConstructor</a:t>
            </a:r>
            <a:endParaRPr lang="en-IN" dirty="0"/>
          </a:p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class</a:t>
            </a:r>
            <a:r>
              <a:rPr lang="en-IN" dirty="0"/>
              <a:t> </a:t>
            </a:r>
            <a:r>
              <a:rPr lang="en-IN" dirty="0" err="1"/>
              <a:t>AuthService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r>
              <a:rPr lang="en-IN" dirty="0"/>
              <a:t>	</a:t>
            </a:r>
          </a:p>
          <a:p>
            <a:pPr marL="457200" lvl="1" indent="0">
              <a:buNone/>
            </a:pPr>
            <a:r>
              <a:rPr lang="en-IN" dirty="0"/>
              <a:t>    </a:t>
            </a: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b="1" dirty="0"/>
              <a:t>final</a:t>
            </a:r>
            <a:r>
              <a:rPr lang="en-IN" dirty="0"/>
              <a:t> </a:t>
            </a:r>
            <a:r>
              <a:rPr lang="en-IN" dirty="0" err="1"/>
              <a:t>AuthenticationManager</a:t>
            </a:r>
            <a:r>
              <a:rPr lang="en-IN" dirty="0"/>
              <a:t> </a:t>
            </a:r>
            <a:r>
              <a:rPr lang="en-IN" dirty="0" err="1"/>
              <a:t>authenticationManager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    </a:t>
            </a: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b="1" dirty="0"/>
              <a:t>final</a:t>
            </a:r>
            <a:r>
              <a:rPr lang="en-IN" dirty="0"/>
              <a:t> </a:t>
            </a:r>
            <a:r>
              <a:rPr lang="en-IN" dirty="0" err="1"/>
              <a:t>JwtGeneratorUtil</a:t>
            </a:r>
            <a:r>
              <a:rPr lang="en-IN" dirty="0"/>
              <a:t> </a:t>
            </a:r>
            <a:r>
              <a:rPr lang="en-IN" dirty="0" err="1"/>
              <a:t>jwtGeneratorUtil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    </a:t>
            </a:r>
            <a:r>
              <a:rPr lang="en-IN" b="1" dirty="0"/>
              <a:t>public</a:t>
            </a:r>
            <a:r>
              <a:rPr lang="en-IN" dirty="0"/>
              <a:t> String authenticate(String username, String password) {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        Authentication authentication =</a:t>
            </a:r>
          </a:p>
          <a:p>
            <a:pPr marL="457200" lvl="1" indent="0">
              <a:buNone/>
            </a:pPr>
            <a:r>
              <a:rPr lang="en-IN" dirty="0"/>
              <a:t>                </a:t>
            </a:r>
            <a:r>
              <a:rPr lang="en-IN" dirty="0" err="1"/>
              <a:t>authenticationManager.authenticate</a:t>
            </a:r>
            <a:r>
              <a:rPr lang="en-IN" dirty="0"/>
              <a:t>(</a:t>
            </a:r>
          </a:p>
          <a:p>
            <a:pPr marL="457200" lvl="1" indent="0">
              <a:buNone/>
            </a:pPr>
            <a:r>
              <a:rPr lang="en-IN" dirty="0"/>
              <a:t>                       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UsernamePasswordAuthenticationToken</a:t>
            </a:r>
            <a:r>
              <a:rPr lang="en-IN" dirty="0"/>
              <a:t>(username, password)</a:t>
            </a:r>
          </a:p>
          <a:p>
            <a:pPr marL="457200" lvl="1" indent="0">
              <a:buNone/>
            </a:pPr>
            <a:r>
              <a:rPr lang="en-IN" dirty="0"/>
              <a:t>                );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dirty="0" err="1"/>
              <a:t>jwtGeneratorUtil.generateToken</a:t>
            </a:r>
            <a:r>
              <a:rPr lang="en-IN" dirty="0"/>
              <a:t>(</a:t>
            </a:r>
            <a:r>
              <a:rPr lang="en-IN" dirty="0" err="1"/>
              <a:t>authentication.getName</a:t>
            </a:r>
            <a:r>
              <a:rPr lang="en-IN" dirty="0"/>
              <a:t>());</a:t>
            </a:r>
          </a:p>
          <a:p>
            <a:pPr marL="457200" lvl="1" indent="0">
              <a:buNone/>
            </a:pPr>
            <a:r>
              <a:rPr lang="en-IN" dirty="0"/>
              <a:t>    }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793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D119A-BB6B-7274-F3D4-008A69B40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UserDetailsService</a:t>
            </a:r>
            <a:r>
              <a:rPr lang="en-US" dirty="0"/>
              <a:t> -Implementation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D46BC-9037-E316-ADB2-484DA41DB2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class</a:t>
            </a:r>
            <a:r>
              <a:rPr lang="en-IN" dirty="0"/>
              <a:t> </a:t>
            </a:r>
            <a:r>
              <a:rPr lang="en-IN" dirty="0" err="1"/>
              <a:t>UserServiceImpl</a:t>
            </a:r>
            <a:r>
              <a:rPr lang="en-IN" dirty="0"/>
              <a:t> </a:t>
            </a:r>
            <a:r>
              <a:rPr lang="en-IN" b="1" dirty="0"/>
              <a:t>implements</a:t>
            </a:r>
            <a:r>
              <a:rPr lang="en-IN" dirty="0"/>
              <a:t> </a:t>
            </a:r>
            <a:r>
              <a:rPr lang="en-IN" dirty="0" err="1"/>
              <a:t>UserDetailsService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r>
              <a:rPr lang="en-IN" dirty="0"/>
              <a:t>   </a:t>
            </a:r>
          </a:p>
          <a:p>
            <a:pPr marL="457200" lvl="1" indent="0">
              <a:buNone/>
            </a:pPr>
            <a:r>
              <a:rPr lang="en-IN" dirty="0"/>
              <a:t>    </a:t>
            </a: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b="1" dirty="0"/>
              <a:t>final</a:t>
            </a:r>
            <a:r>
              <a:rPr lang="en-IN" dirty="0"/>
              <a:t> </a:t>
            </a:r>
            <a:r>
              <a:rPr lang="en-IN" dirty="0" err="1"/>
              <a:t>UserRepository</a:t>
            </a:r>
            <a:r>
              <a:rPr lang="en-IN" dirty="0"/>
              <a:t> </a:t>
            </a:r>
            <a:r>
              <a:rPr lang="en-IN" dirty="0" err="1"/>
              <a:t>userRepository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    </a:t>
            </a: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b="1" dirty="0"/>
              <a:t>final</a:t>
            </a:r>
            <a:r>
              <a:rPr lang="en-IN" dirty="0"/>
              <a:t> </a:t>
            </a:r>
            <a:r>
              <a:rPr lang="en-IN" dirty="0" err="1"/>
              <a:t>PasswordEncoder</a:t>
            </a:r>
            <a:r>
              <a:rPr lang="en-IN" dirty="0"/>
              <a:t> </a:t>
            </a:r>
            <a:r>
              <a:rPr lang="en-IN" dirty="0" err="1"/>
              <a:t>passwordEncoder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     @Override</a:t>
            </a:r>
          </a:p>
          <a:p>
            <a:pPr marL="457200" lvl="1" indent="0">
              <a:buNone/>
            </a:pPr>
            <a:r>
              <a:rPr lang="en-IN" dirty="0"/>
              <a:t>    </a:t>
            </a: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dirty="0" err="1"/>
              <a:t>UserDetails</a:t>
            </a:r>
            <a:r>
              <a:rPr lang="en-IN" dirty="0"/>
              <a:t> </a:t>
            </a:r>
            <a:r>
              <a:rPr lang="en-IN" dirty="0" err="1"/>
              <a:t>loadUserByUsername</a:t>
            </a:r>
            <a:r>
              <a:rPr lang="en-IN" dirty="0"/>
              <a:t>(String username)</a:t>
            </a:r>
          </a:p>
          <a:p>
            <a:pPr marL="457200" lvl="1" indent="0">
              <a:buNone/>
            </a:pPr>
            <a:r>
              <a:rPr lang="en-IN" dirty="0"/>
              <a:t>            </a:t>
            </a:r>
            <a:r>
              <a:rPr lang="en-IN" b="1" dirty="0"/>
              <a:t>throws</a:t>
            </a:r>
            <a:r>
              <a:rPr lang="en-IN" dirty="0"/>
              <a:t> </a:t>
            </a:r>
            <a:r>
              <a:rPr lang="en-IN" dirty="0" err="1"/>
              <a:t>UsernameNotFoundException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dirty="0" err="1"/>
              <a:t>PortalUser</a:t>
            </a:r>
            <a:r>
              <a:rPr lang="en-IN" dirty="0"/>
              <a:t> </a:t>
            </a:r>
            <a:r>
              <a:rPr lang="en-IN" dirty="0" err="1"/>
              <a:t>portalUser</a:t>
            </a:r>
            <a:r>
              <a:rPr lang="en-IN" dirty="0"/>
              <a:t> = </a:t>
            </a:r>
            <a:r>
              <a:rPr lang="en-IN" dirty="0" err="1"/>
              <a:t>userRepository.findByUsername</a:t>
            </a:r>
            <a:r>
              <a:rPr lang="en-IN" dirty="0"/>
              <a:t>(username)</a:t>
            </a:r>
          </a:p>
          <a:p>
            <a:pPr marL="457200" lvl="1" indent="0">
              <a:buNone/>
            </a:pPr>
            <a:r>
              <a:rPr lang="en-IN" dirty="0"/>
              <a:t>                .</a:t>
            </a:r>
            <a:r>
              <a:rPr lang="en-IN" dirty="0" err="1"/>
              <a:t>orElseThrow</a:t>
            </a:r>
            <a:r>
              <a:rPr lang="en-IN" dirty="0"/>
              <a:t>(() -&gt;</a:t>
            </a:r>
          </a:p>
          <a:p>
            <a:pPr marL="457200" lvl="1" indent="0">
              <a:buNone/>
            </a:pPr>
            <a:r>
              <a:rPr lang="en-IN" dirty="0"/>
              <a:t>                       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UsernameNotFoundException</a:t>
            </a:r>
            <a:r>
              <a:rPr lang="en-IN" dirty="0"/>
              <a:t>("User not found: " + username));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dirty="0" err="1"/>
              <a:t>User.</a:t>
            </a:r>
            <a:r>
              <a:rPr lang="en-IN" i="1" dirty="0" err="1"/>
              <a:t>builder</a:t>
            </a:r>
            <a:r>
              <a:rPr lang="en-IN" dirty="0"/>
              <a:t>()</a:t>
            </a:r>
          </a:p>
          <a:p>
            <a:pPr marL="457200" lvl="1" indent="0">
              <a:buNone/>
            </a:pPr>
            <a:r>
              <a:rPr lang="en-IN" dirty="0"/>
              <a:t>                .username(</a:t>
            </a:r>
            <a:r>
              <a:rPr lang="en-IN" dirty="0" err="1"/>
              <a:t>portalUser.getUsername</a:t>
            </a:r>
            <a:r>
              <a:rPr lang="en-IN" dirty="0"/>
              <a:t>())</a:t>
            </a:r>
          </a:p>
          <a:p>
            <a:pPr marL="457200" lvl="1" indent="0">
              <a:buNone/>
            </a:pPr>
            <a:r>
              <a:rPr lang="en-IN" dirty="0"/>
              <a:t>                .password(</a:t>
            </a:r>
            <a:r>
              <a:rPr lang="en-IN" dirty="0" err="1"/>
              <a:t>portalUser.getPassword</a:t>
            </a:r>
            <a:r>
              <a:rPr lang="en-IN" dirty="0"/>
              <a:t>())</a:t>
            </a:r>
          </a:p>
          <a:p>
            <a:pPr marL="457200" lvl="1" indent="0">
              <a:buNone/>
            </a:pPr>
            <a:r>
              <a:rPr lang="en-IN" dirty="0"/>
              <a:t>                .roles(</a:t>
            </a:r>
            <a:r>
              <a:rPr lang="en-IN" dirty="0" err="1"/>
              <a:t>portalUser.getRole</a:t>
            </a:r>
            <a:r>
              <a:rPr lang="en-IN" dirty="0"/>
              <a:t>())</a:t>
            </a:r>
          </a:p>
          <a:p>
            <a:pPr marL="457200" lvl="1" indent="0">
              <a:buNone/>
            </a:pPr>
            <a:r>
              <a:rPr lang="en-IN" dirty="0"/>
              <a:t>                .build();</a:t>
            </a:r>
          </a:p>
          <a:p>
            <a:pPr marL="457200" lvl="1" indent="0">
              <a:buNone/>
            </a:pPr>
            <a:r>
              <a:rPr lang="en-IN" dirty="0"/>
              <a:t>    }\</a:t>
            </a:r>
          </a:p>
        </p:txBody>
      </p:sp>
    </p:spTree>
    <p:extLst>
      <p:ext uri="{BB962C8B-B14F-4D97-AF65-F5344CB8AC3E}">
        <p14:creationId xmlns:p14="http://schemas.microsoft.com/office/powerpoint/2010/main" val="7721960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D67D-207F-35F1-0E32-1EDEBF8AE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UserDetailsService</a:t>
            </a:r>
            <a:r>
              <a:rPr lang="en-US" dirty="0"/>
              <a:t> -Implementation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E7154-388C-9657-00F8-D49E188C3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r>
              <a:rPr lang="en-IN" dirty="0"/>
              <a:t>	</a:t>
            </a: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 err="1"/>
              <a:t>boolean</a:t>
            </a:r>
            <a:r>
              <a:rPr lang="en-IN" dirty="0"/>
              <a:t> </a:t>
            </a:r>
            <a:r>
              <a:rPr lang="en-IN" dirty="0" err="1"/>
              <a:t>existsByUsername</a:t>
            </a:r>
            <a:r>
              <a:rPr lang="en-IN" dirty="0"/>
              <a:t>(String username) {</a:t>
            </a:r>
          </a:p>
          <a:p>
            <a:pPr marL="457200" lvl="1" indent="0">
              <a:buNone/>
            </a:pPr>
            <a:r>
              <a:rPr lang="en-IN" dirty="0"/>
              <a:t>		</a:t>
            </a: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b="1" dirty="0" err="1"/>
              <a:t>this</a:t>
            </a:r>
            <a:r>
              <a:rPr lang="en-IN" dirty="0" err="1"/>
              <a:t>.userRepository.existsByUsername</a:t>
            </a:r>
            <a:r>
              <a:rPr lang="en-IN" dirty="0"/>
              <a:t>(username);</a:t>
            </a:r>
          </a:p>
          <a:p>
            <a:pPr marL="457200" lvl="1" indent="0">
              <a:buNone/>
            </a:pPr>
            <a:r>
              <a:rPr lang="en-IN" dirty="0"/>
              <a:t>	}</a:t>
            </a:r>
          </a:p>
          <a:p>
            <a:pPr marL="457200" lvl="1" indent="0">
              <a:buNone/>
            </a:pPr>
            <a:r>
              <a:rPr lang="en-IN" dirty="0"/>
              <a:t>	</a:t>
            </a: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 err="1"/>
              <a:t>boolean</a:t>
            </a:r>
            <a:r>
              <a:rPr lang="en-IN" dirty="0"/>
              <a:t> </a:t>
            </a:r>
            <a:r>
              <a:rPr lang="en-IN" dirty="0" err="1"/>
              <a:t>existsByEmail</a:t>
            </a:r>
            <a:r>
              <a:rPr lang="en-IN" dirty="0"/>
              <a:t>(String email) {</a:t>
            </a:r>
          </a:p>
          <a:p>
            <a:pPr marL="457200" lvl="1" indent="0">
              <a:buNone/>
            </a:pPr>
            <a:r>
              <a:rPr lang="en-IN" dirty="0"/>
              <a:t>		</a:t>
            </a: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b="1" dirty="0" err="1"/>
              <a:t>this</a:t>
            </a:r>
            <a:r>
              <a:rPr lang="en-IN" dirty="0" err="1"/>
              <a:t>.userRepository.existsByEmail</a:t>
            </a:r>
            <a:r>
              <a:rPr lang="en-IN" dirty="0"/>
              <a:t>(email);</a:t>
            </a:r>
          </a:p>
          <a:p>
            <a:pPr marL="457200" lvl="1" indent="0">
              <a:buNone/>
            </a:pPr>
            <a:r>
              <a:rPr lang="en-IN" dirty="0"/>
              <a:t>	}</a:t>
            </a:r>
          </a:p>
          <a:p>
            <a:pPr marL="457200" lvl="1" indent="0">
              <a:buNone/>
            </a:pPr>
            <a:r>
              <a:rPr lang="en-IN" dirty="0"/>
              <a:t>   </a:t>
            </a:r>
          </a:p>
          <a:p>
            <a:pPr marL="457200" lvl="1" indent="0">
              <a:buNone/>
            </a:pPr>
            <a:r>
              <a:rPr lang="en-IN" dirty="0"/>
              <a:t>    </a:t>
            </a: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dirty="0" err="1"/>
              <a:t>PortalUser</a:t>
            </a:r>
            <a:r>
              <a:rPr lang="en-IN" dirty="0"/>
              <a:t> </a:t>
            </a:r>
            <a:r>
              <a:rPr lang="en-IN" dirty="0" err="1"/>
              <a:t>registerUser</a:t>
            </a:r>
            <a:r>
              <a:rPr lang="en-IN" dirty="0"/>
              <a:t>(</a:t>
            </a:r>
            <a:r>
              <a:rPr lang="en-IN" dirty="0" err="1"/>
              <a:t>RegistrationRequest</a:t>
            </a:r>
            <a:r>
              <a:rPr lang="en-IN" dirty="0"/>
              <a:t> request) {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dirty="0" err="1"/>
              <a:t>PortalUser</a:t>
            </a:r>
            <a:r>
              <a:rPr lang="en-IN" dirty="0"/>
              <a:t> user =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PortalUser</a:t>
            </a:r>
            <a:r>
              <a:rPr lang="en-IN" dirty="0"/>
              <a:t>();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dirty="0" err="1"/>
              <a:t>user.setUsername</a:t>
            </a:r>
            <a:r>
              <a:rPr lang="en-IN" dirty="0"/>
              <a:t>(</a:t>
            </a:r>
            <a:r>
              <a:rPr lang="en-IN" dirty="0" err="1"/>
              <a:t>request.username</a:t>
            </a:r>
            <a:r>
              <a:rPr lang="en-IN" dirty="0"/>
              <a:t>());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dirty="0" err="1"/>
              <a:t>user.setEmail</a:t>
            </a:r>
            <a:r>
              <a:rPr lang="en-IN" dirty="0"/>
              <a:t>(</a:t>
            </a:r>
            <a:r>
              <a:rPr lang="en-IN" dirty="0" err="1"/>
              <a:t>request.email</a:t>
            </a:r>
            <a:r>
              <a:rPr lang="en-IN" dirty="0"/>
              <a:t>());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dirty="0" err="1"/>
              <a:t>user.setPassword</a:t>
            </a:r>
            <a:r>
              <a:rPr lang="en-IN" dirty="0"/>
              <a:t>(</a:t>
            </a:r>
            <a:r>
              <a:rPr lang="en-IN" dirty="0" err="1"/>
              <a:t>passwordEncoder.encode</a:t>
            </a:r>
            <a:r>
              <a:rPr lang="en-IN" dirty="0"/>
              <a:t>(</a:t>
            </a:r>
            <a:r>
              <a:rPr lang="en-IN" dirty="0" err="1"/>
              <a:t>request.password</a:t>
            </a:r>
            <a:r>
              <a:rPr lang="en-IN" dirty="0"/>
              <a:t>()));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dirty="0" err="1"/>
              <a:t>user.setRole</a:t>
            </a:r>
            <a:r>
              <a:rPr lang="en-IN" dirty="0"/>
              <a:t>(</a:t>
            </a:r>
            <a:r>
              <a:rPr lang="en-IN" dirty="0" err="1"/>
              <a:t>request.role</a:t>
            </a:r>
            <a:r>
              <a:rPr lang="en-IN" dirty="0"/>
              <a:t>());</a:t>
            </a:r>
          </a:p>
          <a:p>
            <a:pPr marL="457200" lvl="1" indent="0">
              <a:buNone/>
            </a:pPr>
            <a:r>
              <a:rPr lang="en-IN" dirty="0"/>
              <a:t> </a:t>
            </a:r>
          </a:p>
          <a:p>
            <a:pPr marL="457200" lvl="1" indent="0">
              <a:buNone/>
            </a:pPr>
            <a:r>
              <a:rPr lang="en-IN" dirty="0"/>
              <a:t>        </a:t>
            </a:r>
            <a:r>
              <a:rPr lang="en-IN" b="1" dirty="0"/>
              <a:t>return</a:t>
            </a:r>
            <a:r>
              <a:rPr lang="en-IN" dirty="0"/>
              <a:t> </a:t>
            </a:r>
            <a:r>
              <a:rPr lang="en-IN" dirty="0" err="1"/>
              <a:t>userRepository.save</a:t>
            </a:r>
            <a:r>
              <a:rPr lang="en-IN" dirty="0"/>
              <a:t>(user);</a:t>
            </a:r>
          </a:p>
          <a:p>
            <a:pPr marL="457200" lvl="1" indent="0">
              <a:buNone/>
            </a:pPr>
            <a:r>
              <a:rPr lang="en-IN" dirty="0"/>
              <a:t>    }</a:t>
            </a:r>
          </a:p>
          <a:p>
            <a:pPr marL="457200" lvl="1" indent="0">
              <a:buNone/>
            </a:pPr>
            <a:r>
              <a:rPr lang="en-IN" dirty="0"/>
              <a:t>}</a:t>
            </a:r>
          </a:p>
          <a:p>
            <a:pPr marL="457200" lvl="1" indent="0">
              <a:buNone/>
            </a:pPr>
            <a:r>
              <a:rPr lang="en-US" b="1" dirty="0"/>
              <a:t> </a:t>
            </a:r>
            <a:endParaRPr lang="en-IN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55438"/>
      </p:ext>
    </p:extLst>
  </p:cSld>
  <p:clrMapOvr>
    <a:masterClrMapping/>
  </p:clrMapOvr>
</p:sld>
</file>

<file path=ppt/theme/theme1.xml><?xml version="1.0" encoding="utf-8"?>
<a:theme xmlns:a="http://schemas.openxmlformats.org/drawingml/2006/main" name="vees">
  <a:themeElements>
    <a:clrScheme name="vees 14">
      <a:dk1>
        <a:srgbClr val="000000"/>
      </a:dk1>
      <a:lt1>
        <a:srgbClr val="FF99CC"/>
      </a:lt1>
      <a:dk2>
        <a:srgbClr val="1C1C1C"/>
      </a:dk2>
      <a:lt2>
        <a:srgbClr val="4D4D4D"/>
      </a:lt2>
      <a:accent1>
        <a:srgbClr val="FF0000"/>
      </a:accent1>
      <a:accent2>
        <a:srgbClr val="FF99CC"/>
      </a:accent2>
      <a:accent3>
        <a:srgbClr val="FFCAE2"/>
      </a:accent3>
      <a:accent4>
        <a:srgbClr val="000000"/>
      </a:accent4>
      <a:accent5>
        <a:srgbClr val="FFAAAA"/>
      </a:accent5>
      <a:accent6>
        <a:srgbClr val="E78AB9"/>
      </a:accent6>
      <a:hlink>
        <a:srgbClr val="9933FF"/>
      </a:hlink>
      <a:folHlink>
        <a:srgbClr val="44C63A"/>
      </a:folHlink>
    </a:clrScheme>
    <a:fontScheme name="vee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vees 1">
        <a:dk1>
          <a:srgbClr val="C0C0C0"/>
        </a:dk1>
        <a:lt1>
          <a:srgbClr val="FFFFFF"/>
        </a:lt1>
        <a:dk2>
          <a:srgbClr val="000099"/>
        </a:dk2>
        <a:lt2>
          <a:srgbClr val="CCECFF"/>
        </a:lt2>
        <a:accent1>
          <a:srgbClr val="FF3399"/>
        </a:accent1>
        <a:accent2>
          <a:srgbClr val="99CCFF"/>
        </a:accent2>
        <a:accent3>
          <a:srgbClr val="AAAACA"/>
        </a:accent3>
        <a:accent4>
          <a:srgbClr val="DADADA"/>
        </a:accent4>
        <a:accent5>
          <a:srgbClr val="FFADCA"/>
        </a:accent5>
        <a:accent6>
          <a:srgbClr val="8AB9E7"/>
        </a:accent6>
        <a:hlink>
          <a:srgbClr val="FF505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2">
        <a:dk1>
          <a:srgbClr val="000000"/>
        </a:dk1>
        <a:lt1>
          <a:srgbClr val="99CCFF"/>
        </a:lt1>
        <a:dk2>
          <a:srgbClr val="1C1C1C"/>
        </a:dk2>
        <a:lt2>
          <a:srgbClr val="4D4D4D"/>
        </a:lt2>
        <a:accent1>
          <a:srgbClr val="CC0066"/>
        </a:accent1>
        <a:accent2>
          <a:srgbClr val="3366FF"/>
        </a:accent2>
        <a:accent3>
          <a:srgbClr val="CAE2FF"/>
        </a:accent3>
        <a:accent4>
          <a:srgbClr val="000000"/>
        </a:accent4>
        <a:accent5>
          <a:srgbClr val="E2AAB8"/>
        </a:accent5>
        <a:accent6>
          <a:srgbClr val="2D5CE7"/>
        </a:accent6>
        <a:hlink>
          <a:srgbClr val="FF0000"/>
        </a:hlink>
        <a:folHlink>
          <a:srgbClr val="FF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3">
        <a:dk1>
          <a:srgbClr val="C0C0C0"/>
        </a:dk1>
        <a:lt1>
          <a:srgbClr val="FFFFFF"/>
        </a:lt1>
        <a:dk2>
          <a:srgbClr val="800000"/>
        </a:dk2>
        <a:lt2>
          <a:srgbClr val="FFCC99"/>
        </a:lt2>
        <a:accent1>
          <a:srgbClr val="FF9900"/>
        </a:accent1>
        <a:accent2>
          <a:srgbClr val="CC00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B90000"/>
        </a:accent6>
        <a:hlink>
          <a:srgbClr val="FF33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4">
        <a:dk1>
          <a:srgbClr val="000000"/>
        </a:dk1>
        <a:lt1>
          <a:srgbClr val="FF9966"/>
        </a:lt1>
        <a:dk2>
          <a:srgbClr val="1C1C1C"/>
        </a:dk2>
        <a:lt2>
          <a:srgbClr val="4D4D4D"/>
        </a:lt2>
        <a:accent1>
          <a:srgbClr val="FF0000"/>
        </a:accent1>
        <a:accent2>
          <a:srgbClr val="FF6699"/>
        </a:accent2>
        <a:accent3>
          <a:srgbClr val="FFCAB8"/>
        </a:accent3>
        <a:accent4>
          <a:srgbClr val="000000"/>
        </a:accent4>
        <a:accent5>
          <a:srgbClr val="FFAAAA"/>
        </a:accent5>
        <a:accent6>
          <a:srgbClr val="E75C8A"/>
        </a:accent6>
        <a:hlink>
          <a:srgbClr val="CC00CC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5">
        <a:dk1>
          <a:srgbClr val="C0C0C0"/>
        </a:dk1>
        <a:lt1>
          <a:srgbClr val="FFFFFF"/>
        </a:lt1>
        <a:dk2>
          <a:srgbClr val="008000"/>
        </a:dk2>
        <a:lt2>
          <a:srgbClr val="CCECFF"/>
        </a:lt2>
        <a:accent1>
          <a:srgbClr val="0066FF"/>
        </a:accent1>
        <a:accent2>
          <a:srgbClr val="00FF00"/>
        </a:accent2>
        <a:accent3>
          <a:srgbClr val="AAC0AA"/>
        </a:accent3>
        <a:accent4>
          <a:srgbClr val="DADADA"/>
        </a:accent4>
        <a:accent5>
          <a:srgbClr val="AAB8FF"/>
        </a:accent5>
        <a:accent6>
          <a:srgbClr val="00E700"/>
        </a:accent6>
        <a:hlink>
          <a:srgbClr val="A29E00"/>
        </a:hlink>
        <a:folHlink>
          <a:srgbClr val="EA8B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6">
        <a:dk1>
          <a:srgbClr val="000000"/>
        </a:dk1>
        <a:lt1>
          <a:srgbClr val="97E183"/>
        </a:lt1>
        <a:dk2>
          <a:srgbClr val="1C1C1C"/>
        </a:dk2>
        <a:lt2>
          <a:srgbClr val="4D4D4D"/>
        </a:lt2>
        <a:accent1>
          <a:srgbClr val="0066FF"/>
        </a:accent1>
        <a:accent2>
          <a:srgbClr val="99FF99"/>
        </a:accent2>
        <a:accent3>
          <a:srgbClr val="C9EEC1"/>
        </a:accent3>
        <a:accent4>
          <a:srgbClr val="000000"/>
        </a:accent4>
        <a:accent5>
          <a:srgbClr val="AAB8FF"/>
        </a:accent5>
        <a:accent6>
          <a:srgbClr val="8AE78A"/>
        </a:accent6>
        <a:hlink>
          <a:srgbClr val="CC9900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7">
        <a:dk1>
          <a:srgbClr val="C0C0C0"/>
        </a:dk1>
        <a:lt1>
          <a:srgbClr val="FFFFFF"/>
        </a:lt1>
        <a:dk2>
          <a:srgbClr val="008080"/>
        </a:dk2>
        <a:lt2>
          <a:srgbClr val="CCECFF"/>
        </a:lt2>
        <a:accent1>
          <a:srgbClr val="29A329"/>
        </a:accent1>
        <a:accent2>
          <a:srgbClr val="00FFFF"/>
        </a:accent2>
        <a:accent3>
          <a:srgbClr val="AAC0C0"/>
        </a:accent3>
        <a:accent4>
          <a:srgbClr val="DADADA"/>
        </a:accent4>
        <a:accent5>
          <a:srgbClr val="ACCEAC"/>
        </a:accent5>
        <a:accent6>
          <a:srgbClr val="00E7E7"/>
        </a:accent6>
        <a:hlink>
          <a:srgbClr val="3B6AFF"/>
        </a:hlink>
        <a:folHlink>
          <a:srgbClr val="FF99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8">
        <a:dk1>
          <a:srgbClr val="000000"/>
        </a:dk1>
        <a:lt1>
          <a:srgbClr val="64F0BE"/>
        </a:lt1>
        <a:dk2>
          <a:srgbClr val="1C1C1C"/>
        </a:dk2>
        <a:lt2>
          <a:srgbClr val="4D4D4D"/>
        </a:lt2>
        <a:accent1>
          <a:srgbClr val="008000"/>
        </a:accent1>
        <a:accent2>
          <a:srgbClr val="00FFFF"/>
        </a:accent2>
        <a:accent3>
          <a:srgbClr val="B8F6DB"/>
        </a:accent3>
        <a:accent4>
          <a:srgbClr val="000000"/>
        </a:accent4>
        <a:accent5>
          <a:srgbClr val="AAC0AA"/>
        </a:accent5>
        <a:accent6>
          <a:srgbClr val="00E7E7"/>
        </a:accent6>
        <a:hlink>
          <a:srgbClr val="3366FF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9">
        <a:dk1>
          <a:srgbClr val="C0C0C0"/>
        </a:dk1>
        <a:lt1>
          <a:srgbClr val="FFFFFF"/>
        </a:lt1>
        <a:dk2>
          <a:srgbClr val="CC9900"/>
        </a:dk2>
        <a:lt2>
          <a:srgbClr val="FFFFCC"/>
        </a:lt2>
        <a:accent1>
          <a:srgbClr val="FF3300"/>
        </a:accent1>
        <a:accent2>
          <a:srgbClr val="FFCC66"/>
        </a:accent2>
        <a:accent3>
          <a:srgbClr val="E2CAAA"/>
        </a:accent3>
        <a:accent4>
          <a:srgbClr val="DADADA"/>
        </a:accent4>
        <a:accent5>
          <a:srgbClr val="FFADAA"/>
        </a:accent5>
        <a:accent6>
          <a:srgbClr val="E7B95C"/>
        </a:accent6>
        <a:hlink>
          <a:srgbClr val="008080"/>
        </a:hlink>
        <a:folHlink>
          <a:srgbClr val="33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0">
        <a:dk1>
          <a:srgbClr val="000000"/>
        </a:dk1>
        <a:lt1>
          <a:srgbClr val="EFF274"/>
        </a:lt1>
        <a:dk2>
          <a:srgbClr val="1C1C1C"/>
        </a:dk2>
        <a:lt2>
          <a:srgbClr val="4D4D4D"/>
        </a:lt2>
        <a:accent1>
          <a:srgbClr val="9966FF"/>
        </a:accent1>
        <a:accent2>
          <a:srgbClr val="FFFFCC"/>
        </a:accent2>
        <a:accent3>
          <a:srgbClr val="F6F7BC"/>
        </a:accent3>
        <a:accent4>
          <a:srgbClr val="000000"/>
        </a:accent4>
        <a:accent5>
          <a:srgbClr val="CAB8FF"/>
        </a:accent5>
        <a:accent6>
          <a:srgbClr val="E7E7B9"/>
        </a:accent6>
        <a:hlink>
          <a:srgbClr val="6666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1">
        <a:dk1>
          <a:srgbClr val="C0C0C0"/>
        </a:dk1>
        <a:lt1>
          <a:srgbClr val="FFFFFF"/>
        </a:lt1>
        <a:dk2>
          <a:srgbClr val="6600CC"/>
        </a:dk2>
        <a:lt2>
          <a:srgbClr val="CCCCFF"/>
        </a:lt2>
        <a:accent1>
          <a:srgbClr val="D60093"/>
        </a:accent1>
        <a:accent2>
          <a:srgbClr val="9999FF"/>
        </a:accent2>
        <a:accent3>
          <a:srgbClr val="B8AAE2"/>
        </a:accent3>
        <a:accent4>
          <a:srgbClr val="DADADA"/>
        </a:accent4>
        <a:accent5>
          <a:srgbClr val="E8AAC8"/>
        </a:accent5>
        <a:accent6>
          <a:srgbClr val="8A8AE7"/>
        </a:accent6>
        <a:hlink>
          <a:srgbClr val="008000"/>
        </a:hlink>
        <a:folHlink>
          <a:srgbClr val="FF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2">
        <a:dk1>
          <a:srgbClr val="000000"/>
        </a:dk1>
        <a:lt1>
          <a:srgbClr val="CC99FF"/>
        </a:lt1>
        <a:dk2>
          <a:srgbClr val="1C1C1C"/>
        </a:dk2>
        <a:lt2>
          <a:srgbClr val="4D4D4D"/>
        </a:lt2>
        <a:accent1>
          <a:srgbClr val="0066FF"/>
        </a:accent1>
        <a:accent2>
          <a:srgbClr val="CCCCFF"/>
        </a:accent2>
        <a:accent3>
          <a:srgbClr val="E2CAFF"/>
        </a:accent3>
        <a:accent4>
          <a:srgbClr val="000000"/>
        </a:accent4>
        <a:accent5>
          <a:srgbClr val="AAB8FF"/>
        </a:accent5>
        <a:accent6>
          <a:srgbClr val="B9B9E7"/>
        </a:accent6>
        <a:hlink>
          <a:srgbClr val="FF0066"/>
        </a:hlink>
        <a:folHlink>
          <a:srgbClr val="66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3">
        <a:dk1>
          <a:srgbClr val="C0C0C0"/>
        </a:dk1>
        <a:lt1>
          <a:srgbClr val="FFFFFF"/>
        </a:lt1>
        <a:dk2>
          <a:srgbClr val="CC0066"/>
        </a:dk2>
        <a:lt2>
          <a:srgbClr val="FFCCCC"/>
        </a:lt2>
        <a:accent1>
          <a:srgbClr val="993366"/>
        </a:accent1>
        <a:accent2>
          <a:srgbClr val="FF9999"/>
        </a:accent2>
        <a:accent3>
          <a:srgbClr val="E2AAB8"/>
        </a:accent3>
        <a:accent4>
          <a:srgbClr val="DADADA"/>
        </a:accent4>
        <a:accent5>
          <a:srgbClr val="CAADB8"/>
        </a:accent5>
        <a:accent6>
          <a:srgbClr val="E78A8A"/>
        </a:accent6>
        <a:hlink>
          <a:srgbClr val="009999"/>
        </a:hlink>
        <a:folHlink>
          <a:srgbClr val="FF99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4">
        <a:dk1>
          <a:srgbClr val="000000"/>
        </a:dk1>
        <a:lt1>
          <a:srgbClr val="FF99CC"/>
        </a:lt1>
        <a:dk2>
          <a:srgbClr val="1C1C1C"/>
        </a:dk2>
        <a:lt2>
          <a:srgbClr val="4D4D4D"/>
        </a:lt2>
        <a:accent1>
          <a:srgbClr val="FF0000"/>
        </a:accent1>
        <a:accent2>
          <a:srgbClr val="FF99CC"/>
        </a:accent2>
        <a:accent3>
          <a:srgbClr val="FFCAE2"/>
        </a:accent3>
        <a:accent4>
          <a:srgbClr val="000000"/>
        </a:accent4>
        <a:accent5>
          <a:srgbClr val="FFAAAA"/>
        </a:accent5>
        <a:accent6>
          <a:srgbClr val="E78AB9"/>
        </a:accent6>
        <a:hlink>
          <a:srgbClr val="9933FF"/>
        </a:hlink>
        <a:folHlink>
          <a:srgbClr val="44C63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ees 15">
        <a:dk1>
          <a:srgbClr val="C0C0C0"/>
        </a:dk1>
        <a:lt1>
          <a:srgbClr val="FFFFFF"/>
        </a:lt1>
        <a:dk2>
          <a:srgbClr val="000000"/>
        </a:dk2>
        <a:lt2>
          <a:srgbClr val="DDDDDD"/>
        </a:lt2>
        <a:accent1>
          <a:srgbClr val="4D4D4D"/>
        </a:accent1>
        <a:accent2>
          <a:srgbClr val="C0C0C0"/>
        </a:accent2>
        <a:accent3>
          <a:srgbClr val="AAAAAA"/>
        </a:accent3>
        <a:accent4>
          <a:srgbClr val="DADADA"/>
        </a:accent4>
        <a:accent5>
          <a:srgbClr val="B2B2B2"/>
        </a:accent5>
        <a:accent6>
          <a:srgbClr val="AEAEAE"/>
        </a:accent6>
        <a:hlink>
          <a:srgbClr val="777777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ees 16">
        <a:dk1>
          <a:srgbClr val="000000"/>
        </a:dk1>
        <a:lt1>
          <a:srgbClr val="FFFFFF"/>
        </a:lt1>
        <a:dk2>
          <a:srgbClr val="1C1C1C"/>
        </a:dk2>
        <a:lt2>
          <a:srgbClr val="4D4D4D"/>
        </a:lt2>
        <a:accent1>
          <a:srgbClr val="4D4D4D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B2B2B2"/>
        </a:accent5>
        <a:accent6>
          <a:srgbClr val="C8C8C8"/>
        </a:accent6>
        <a:hlink>
          <a:srgbClr val="808080"/>
        </a:hlink>
        <a:folHlink>
          <a:srgbClr val="F8F8F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39004</TotalTime>
  <Words>2564</Words>
  <Application>Microsoft Macintosh PowerPoint</Application>
  <PresentationFormat>On-screen Show (4:3)</PresentationFormat>
  <Paragraphs>449</Paragraphs>
  <Slides>41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  <vt:variant>
        <vt:lpstr>Custom Shows</vt:lpstr>
      </vt:variant>
      <vt:variant>
        <vt:i4>1</vt:i4>
      </vt:variant>
    </vt:vector>
  </HeadingPairs>
  <TitlesOfParts>
    <vt:vector size="45" baseType="lpstr">
      <vt:lpstr>Arial</vt:lpstr>
      <vt:lpstr>Times New Roman</vt:lpstr>
      <vt:lpstr>vees</vt:lpstr>
      <vt:lpstr>Spring Security</vt:lpstr>
      <vt:lpstr>Spring Security</vt:lpstr>
      <vt:lpstr>Authentication &amp; Authorization</vt:lpstr>
      <vt:lpstr>Add Spring Security Module</vt:lpstr>
      <vt:lpstr>Spring Security Architecture</vt:lpstr>
      <vt:lpstr>Spring Security Architecture</vt:lpstr>
      <vt:lpstr>Authorizations</vt:lpstr>
      <vt:lpstr>BCryptPasswordEncoder</vt:lpstr>
      <vt:lpstr>HttpSecurity </vt:lpstr>
      <vt:lpstr>Entity and Repository</vt:lpstr>
      <vt:lpstr>User Details Service</vt:lpstr>
      <vt:lpstr>User Details Service</vt:lpstr>
      <vt:lpstr>Security Filter chain</vt:lpstr>
      <vt:lpstr>Security Config</vt:lpstr>
      <vt:lpstr>Security Config</vt:lpstr>
      <vt:lpstr>Method Level Annoation</vt:lpstr>
      <vt:lpstr>CSRF</vt:lpstr>
      <vt:lpstr>Client Application</vt:lpstr>
      <vt:lpstr>Json Web Token</vt:lpstr>
      <vt:lpstr>PowerPoint Presentation</vt:lpstr>
      <vt:lpstr>Part of JWT</vt:lpstr>
      <vt:lpstr>Payload</vt:lpstr>
      <vt:lpstr>Signature</vt:lpstr>
      <vt:lpstr>PowerPoint Presentation</vt:lpstr>
      <vt:lpstr>JWT Token</vt:lpstr>
      <vt:lpstr>JWT Token</vt:lpstr>
      <vt:lpstr>Simple Code  To Generate JWT</vt:lpstr>
      <vt:lpstr>JWT Creation</vt:lpstr>
      <vt:lpstr>Dependencies</vt:lpstr>
      <vt:lpstr>JWT Security Config</vt:lpstr>
      <vt:lpstr>Keys.hmacShaKeyFor</vt:lpstr>
      <vt:lpstr>Validate JWT Token</vt:lpstr>
      <vt:lpstr>Validte JWT Token</vt:lpstr>
      <vt:lpstr>Secret Key</vt:lpstr>
      <vt:lpstr>JWT Service</vt:lpstr>
      <vt:lpstr>Configuration-1</vt:lpstr>
      <vt:lpstr>Security Configuration</vt:lpstr>
      <vt:lpstr>Security Configuration</vt:lpstr>
      <vt:lpstr>Authentication Service</vt:lpstr>
      <vt:lpstr>UserDetailsService -Implementation</vt:lpstr>
      <vt:lpstr>UserDetailsService -Implementation</vt:lpstr>
      <vt:lpstr>Sapient</vt:lpstr>
    </vt:vector>
  </TitlesOfParts>
  <Company>Meta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</dc:title>
  <dc:subject>Spring Core Package</dc:subject>
  <dc:creator>K.Srivatsan</dc:creator>
  <cp:lastModifiedBy>Srivatsan Krishnamachari</cp:lastModifiedBy>
  <cp:revision>1801</cp:revision>
  <dcterms:created xsi:type="dcterms:W3CDTF">1998-10-26T19:35:11Z</dcterms:created>
  <dcterms:modified xsi:type="dcterms:W3CDTF">2026-01-23T16:52:50Z</dcterms:modified>
</cp:coreProperties>
</file>