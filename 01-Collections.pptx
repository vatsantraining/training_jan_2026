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64"/>
  </p:notesMasterIdLst>
  <p:sldIdLst>
    <p:sldId id="1790" r:id="rId2"/>
    <p:sldId id="1204" r:id="rId3"/>
    <p:sldId id="788" r:id="rId4"/>
    <p:sldId id="789" r:id="rId5"/>
    <p:sldId id="1782" r:id="rId6"/>
    <p:sldId id="1783" r:id="rId7"/>
    <p:sldId id="1786" r:id="rId8"/>
    <p:sldId id="1784" r:id="rId9"/>
    <p:sldId id="1785" r:id="rId10"/>
    <p:sldId id="336" r:id="rId11"/>
    <p:sldId id="454" r:id="rId12"/>
    <p:sldId id="424" r:id="rId13"/>
    <p:sldId id="441" r:id="rId14"/>
    <p:sldId id="443" r:id="rId15"/>
    <p:sldId id="444" r:id="rId16"/>
    <p:sldId id="449" r:id="rId17"/>
    <p:sldId id="445" r:id="rId18"/>
    <p:sldId id="456" r:id="rId19"/>
    <p:sldId id="753" r:id="rId20"/>
    <p:sldId id="754" r:id="rId21"/>
    <p:sldId id="482" r:id="rId22"/>
    <p:sldId id="429" r:id="rId23"/>
    <p:sldId id="430" r:id="rId24"/>
    <p:sldId id="1787" r:id="rId25"/>
    <p:sldId id="1788" r:id="rId26"/>
    <p:sldId id="1789" r:id="rId27"/>
    <p:sldId id="485" r:id="rId28"/>
    <p:sldId id="463" r:id="rId29"/>
    <p:sldId id="439" r:id="rId30"/>
    <p:sldId id="497" r:id="rId31"/>
    <p:sldId id="490" r:id="rId32"/>
    <p:sldId id="670" r:id="rId33"/>
    <p:sldId id="672" r:id="rId34"/>
    <p:sldId id="664" r:id="rId35"/>
    <p:sldId id="434" r:id="rId36"/>
    <p:sldId id="435" r:id="rId37"/>
    <p:sldId id="483" r:id="rId38"/>
    <p:sldId id="498" r:id="rId39"/>
    <p:sldId id="673" r:id="rId40"/>
    <p:sldId id="674" r:id="rId41"/>
    <p:sldId id="311" r:id="rId42"/>
    <p:sldId id="452" r:id="rId43"/>
    <p:sldId id="450" r:id="rId44"/>
    <p:sldId id="675" r:id="rId45"/>
    <p:sldId id="680" r:id="rId46"/>
    <p:sldId id="676" r:id="rId47"/>
    <p:sldId id="677" r:id="rId48"/>
    <p:sldId id="681" r:id="rId49"/>
    <p:sldId id="682" r:id="rId50"/>
    <p:sldId id="685" r:id="rId51"/>
    <p:sldId id="684" r:id="rId52"/>
    <p:sldId id="683" r:id="rId53"/>
    <p:sldId id="462" r:id="rId54"/>
    <p:sldId id="459" r:id="rId55"/>
    <p:sldId id="687" r:id="rId56"/>
    <p:sldId id="688" r:id="rId57"/>
    <p:sldId id="714" r:id="rId58"/>
    <p:sldId id="718" r:id="rId59"/>
    <p:sldId id="719" r:id="rId60"/>
    <p:sldId id="757" r:id="rId61"/>
    <p:sldId id="758" r:id="rId62"/>
    <p:sldId id="762" r:id="rId63"/>
  </p:sldIdLst>
  <p:sldSz cx="9144000" cy="6858000" type="screen4x3"/>
  <p:notesSz cx="6858000" cy="9144000"/>
  <p:defaultTextStyle>
    <a:defPPr>
      <a:defRPr lang="en-US"/>
    </a:defPPr>
    <a:lvl1pPr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 horzBarState="maximized">
    <p:restoredLeft sz="31072" autoAdjust="0"/>
    <p:restoredTop sz="94575" autoAdjust="0"/>
  </p:normalViewPr>
  <p:slideViewPr>
    <p:cSldViewPr>
      <p:cViewPr varScale="1">
        <p:scale>
          <a:sx n="113" d="100"/>
          <a:sy n="113" d="100"/>
        </p:scale>
        <p:origin x="2616" y="48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" d="1"/>
        <a:sy n="1" d="1"/>
      </p:scale>
      <p:origin x="0" y="45629"/>
    </p:cViewPr>
  </p:sorterViewPr>
  <p:notesViewPr>
    <p:cSldViewPr>
      <p:cViewPr varScale="1">
        <p:scale>
          <a:sx n="96" d="100"/>
          <a:sy n="96" d="100"/>
        </p:scale>
        <p:origin x="3808" y="17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3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D00B0560-19EF-3B06-57F6-F8B0D2127795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0" hangingPunct="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906DF4E9-897D-A82A-5BF7-CEB5ED56BC24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3060" name="Rectangle 4">
            <a:extLst>
              <a:ext uri="{FF2B5EF4-FFF2-40B4-BE49-F238E27FC236}">
                <a16:creationId xmlns:a16="http://schemas.microsoft.com/office/drawing/2014/main" id="{D8EF5526-7EA7-B0BF-A3D9-62241EB88C50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9" name="Rectangle 5">
            <a:extLst>
              <a:ext uri="{FF2B5EF4-FFF2-40B4-BE49-F238E27FC236}">
                <a16:creationId xmlns:a16="http://schemas.microsoft.com/office/drawing/2014/main" id="{E8F93BAF-8070-9AF6-7125-BE76BF3B46AE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150" name="Rectangle 6">
            <a:extLst>
              <a:ext uri="{FF2B5EF4-FFF2-40B4-BE49-F238E27FC236}">
                <a16:creationId xmlns:a16="http://schemas.microsoft.com/office/drawing/2014/main" id="{FDF21297-4C40-3054-6C86-2E9647A22B15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0" hangingPunct="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51" name="Rectangle 7">
            <a:extLst>
              <a:ext uri="{FF2B5EF4-FFF2-40B4-BE49-F238E27FC236}">
                <a16:creationId xmlns:a16="http://schemas.microsoft.com/office/drawing/2014/main" id="{0570024D-FAD9-2EAE-8E55-6F083EA153D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latin typeface="Times New Roman" panose="02020603050405020304" pitchFamily="18" charset="0"/>
              </a:defRPr>
            </a:lvl1pPr>
          </a:lstStyle>
          <a:p>
            <a:fld id="{5B308F1D-0D72-8C40-952D-AE500DC8CE96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308F1D-0D72-8C40-952D-AE500DC8CE96}" type="slidenum">
              <a:rPr lang="en-US" altLang="en-US" smtClean="0"/>
              <a:pPr/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480121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308F1D-0D72-8C40-952D-AE500DC8CE96}" type="slidenum">
              <a:rPr lang="en-US" altLang="en-US" smtClean="0"/>
              <a:pPr/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518966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30" name="Rectangle 7">
            <a:extLst>
              <a:ext uri="{FF2B5EF4-FFF2-40B4-BE49-F238E27FC236}">
                <a16:creationId xmlns:a16="http://schemas.microsoft.com/office/drawing/2014/main" id="{1B6D0258-001D-0921-9BE4-AFD371F1FEF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E125022-B76B-964B-8879-7F109D403FC6}" type="slidenum">
              <a:rPr lang="en-US" altLang="en-US">
                <a:latin typeface="Times New Roman" panose="02020603050405020304" pitchFamily="18" charset="0"/>
              </a:rPr>
              <a:pPr/>
              <a:t>10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76131" name="Rectangle 2">
            <a:extLst>
              <a:ext uri="{FF2B5EF4-FFF2-40B4-BE49-F238E27FC236}">
                <a16:creationId xmlns:a16="http://schemas.microsoft.com/office/drawing/2014/main" id="{E2EA65E8-020D-663E-0C1F-AC895929304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7388"/>
            <a:ext cx="4568825" cy="3425825"/>
          </a:xfrm>
          <a:ln w="12700" cap="flat"/>
        </p:spPr>
      </p:sp>
      <p:sp>
        <p:nvSpPr>
          <p:cNvPr id="176132" name="Rectangle 3">
            <a:extLst>
              <a:ext uri="{FF2B5EF4-FFF2-40B4-BE49-F238E27FC236}">
                <a16:creationId xmlns:a16="http://schemas.microsoft.com/office/drawing/2014/main" id="{56C5AFC6-45FF-E6E3-E7A2-7E9AC61F371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4" name="Rectangle 7">
            <a:extLst>
              <a:ext uri="{FF2B5EF4-FFF2-40B4-BE49-F238E27FC236}">
                <a16:creationId xmlns:a16="http://schemas.microsoft.com/office/drawing/2014/main" id="{A6DB11D5-3ED8-1D77-6CB3-52F33C096C6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E6DCA69-BDF6-6247-AECE-96FB68957902}" type="slidenum">
              <a:rPr lang="en-US" altLang="en-US">
                <a:latin typeface="Times New Roman" panose="02020603050405020304" pitchFamily="18" charset="0"/>
              </a:rPr>
              <a:pPr/>
              <a:t>11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77155" name="Rectangle 2">
            <a:extLst>
              <a:ext uri="{FF2B5EF4-FFF2-40B4-BE49-F238E27FC236}">
                <a16:creationId xmlns:a16="http://schemas.microsoft.com/office/drawing/2014/main" id="{83E87E1F-CFBF-A274-6E8C-7CFFFBA9376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60488" y="869950"/>
            <a:ext cx="4178300" cy="3133725"/>
          </a:xfrm>
          <a:solidFill>
            <a:srgbClr val="FFFFFF"/>
          </a:solidFill>
          <a:ln/>
        </p:spPr>
      </p:sp>
      <p:sp>
        <p:nvSpPr>
          <p:cNvPr id="177156" name="Text Box 3">
            <a:extLst>
              <a:ext uri="{FF2B5EF4-FFF2-40B4-BE49-F238E27FC236}">
                <a16:creationId xmlns:a16="http://schemas.microsoft.com/office/drawing/2014/main" id="{0F46B5CF-3375-D1B8-729B-6189E06A69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6800" y="4308475"/>
            <a:ext cx="4772025" cy="3478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defTabSz="820738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20738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20738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20738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20738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defTabSz="8207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defTabSz="8207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defTabSz="8207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defTabSz="8207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endParaRPr lang="en-US" altLang="en-US" sz="2200">
              <a:latin typeface="Times New Roman;Times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178" name="Rectangle 7">
            <a:extLst>
              <a:ext uri="{FF2B5EF4-FFF2-40B4-BE49-F238E27FC236}">
                <a16:creationId xmlns:a16="http://schemas.microsoft.com/office/drawing/2014/main" id="{EEABE7C6-DB63-04D2-1A04-19AA8F8F287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05EE9DB-E831-4645-AE53-BD3418DFD317}" type="slidenum">
              <a:rPr lang="en-US" altLang="en-US">
                <a:latin typeface="Times New Roman" panose="02020603050405020304" pitchFamily="18" charset="0"/>
              </a:rPr>
              <a:pPr/>
              <a:t>16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78179" name="Rectangle 2">
            <a:extLst>
              <a:ext uri="{FF2B5EF4-FFF2-40B4-BE49-F238E27FC236}">
                <a16:creationId xmlns:a16="http://schemas.microsoft.com/office/drawing/2014/main" id="{325BA6F0-6865-13C7-A00B-1A1D0FB5628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7388"/>
            <a:ext cx="4568825" cy="3425825"/>
          </a:xfrm>
          <a:ln w="12700" cap="flat"/>
        </p:spPr>
      </p:sp>
      <p:sp>
        <p:nvSpPr>
          <p:cNvPr id="178180" name="Rectangle 3">
            <a:extLst>
              <a:ext uri="{FF2B5EF4-FFF2-40B4-BE49-F238E27FC236}">
                <a16:creationId xmlns:a16="http://schemas.microsoft.com/office/drawing/2014/main" id="{3A15BB45-AA13-5734-62A3-577FEE4C57D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308F1D-0D72-8C40-952D-AE500DC8CE96}" type="slidenum">
              <a:rPr lang="en-US" altLang="en-US" smtClean="0"/>
              <a:pPr/>
              <a:t>24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6982980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202" name="Rectangle 7">
            <a:extLst>
              <a:ext uri="{FF2B5EF4-FFF2-40B4-BE49-F238E27FC236}">
                <a16:creationId xmlns:a16="http://schemas.microsoft.com/office/drawing/2014/main" id="{EA573CD7-F83F-0D5E-9B1D-4E3860F541D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23E28C6-56EB-314F-8FE5-469A6179D0DE}" type="slidenum">
              <a:rPr lang="en-US" altLang="en-US">
                <a:latin typeface="Times New Roman" panose="02020603050405020304" pitchFamily="18" charset="0"/>
              </a:rPr>
              <a:pPr/>
              <a:t>27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79203" name="Rectangle 2">
            <a:extLst>
              <a:ext uri="{FF2B5EF4-FFF2-40B4-BE49-F238E27FC236}">
                <a16:creationId xmlns:a16="http://schemas.microsoft.com/office/drawing/2014/main" id="{1E8A5958-2E6E-003D-EC2A-80A8EBA1B2A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9204" name="Rectangle 3">
            <a:extLst>
              <a:ext uri="{FF2B5EF4-FFF2-40B4-BE49-F238E27FC236}">
                <a16:creationId xmlns:a16="http://schemas.microsoft.com/office/drawing/2014/main" id="{F9E8E7D9-E2DE-536D-6415-B45E1A2A1E3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226" name="Rectangle 7">
            <a:extLst>
              <a:ext uri="{FF2B5EF4-FFF2-40B4-BE49-F238E27FC236}">
                <a16:creationId xmlns:a16="http://schemas.microsoft.com/office/drawing/2014/main" id="{F25026A4-071A-8AFE-7DFF-99A07A753E3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7374764-9330-674E-BDEC-1959FA99D862}" type="slidenum">
              <a:rPr lang="en-US" altLang="en-US">
                <a:latin typeface="Times New Roman" panose="02020603050405020304" pitchFamily="18" charset="0"/>
              </a:rPr>
              <a:pPr/>
              <a:t>30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80227" name="Rectangle 2">
            <a:extLst>
              <a:ext uri="{FF2B5EF4-FFF2-40B4-BE49-F238E27FC236}">
                <a16:creationId xmlns:a16="http://schemas.microsoft.com/office/drawing/2014/main" id="{F0EFDDC5-9097-E806-F805-727D42B7BF2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0228" name="Rectangle 3">
            <a:extLst>
              <a:ext uri="{FF2B5EF4-FFF2-40B4-BE49-F238E27FC236}">
                <a16:creationId xmlns:a16="http://schemas.microsoft.com/office/drawing/2014/main" id="{DF685C92-A599-3E6B-BF60-3724207C5DA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250" name="Rectangle 7">
            <a:extLst>
              <a:ext uri="{FF2B5EF4-FFF2-40B4-BE49-F238E27FC236}">
                <a16:creationId xmlns:a16="http://schemas.microsoft.com/office/drawing/2014/main" id="{F9FC703E-BEFD-DCF5-CAD8-52767CA9825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1EF43A0-76B4-F54D-A09E-B57963409636}" type="slidenum">
              <a:rPr lang="en-US" altLang="en-US">
                <a:latin typeface="Times New Roman" panose="02020603050405020304" pitchFamily="18" charset="0"/>
              </a:rPr>
              <a:pPr/>
              <a:t>31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81251" name="Rectangle 2">
            <a:extLst>
              <a:ext uri="{FF2B5EF4-FFF2-40B4-BE49-F238E27FC236}">
                <a16:creationId xmlns:a16="http://schemas.microsoft.com/office/drawing/2014/main" id="{A202A090-3212-1B0D-0CD1-F5BDCB47DC9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1252" name="Rectangle 3">
            <a:extLst>
              <a:ext uri="{FF2B5EF4-FFF2-40B4-BE49-F238E27FC236}">
                <a16:creationId xmlns:a16="http://schemas.microsoft.com/office/drawing/2014/main" id="{FF8878EA-B24D-C490-4EA1-475BA73125F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274" name="Rectangle 7">
            <a:extLst>
              <a:ext uri="{FF2B5EF4-FFF2-40B4-BE49-F238E27FC236}">
                <a16:creationId xmlns:a16="http://schemas.microsoft.com/office/drawing/2014/main" id="{CC065D00-E64D-BAF3-0E25-6B237F23E02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4457906-5E75-394C-A1A8-A192AE461925}" type="slidenum">
              <a:rPr lang="en-US" altLang="en-US">
                <a:latin typeface="Times New Roman" panose="02020603050405020304" pitchFamily="18" charset="0"/>
              </a:rPr>
              <a:pPr/>
              <a:t>34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82275" name="Rectangle 2">
            <a:extLst>
              <a:ext uri="{FF2B5EF4-FFF2-40B4-BE49-F238E27FC236}">
                <a16:creationId xmlns:a16="http://schemas.microsoft.com/office/drawing/2014/main" id="{4AF5820F-A7A3-8074-AB0F-127CEED9669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2276" name="Rectangle 3">
            <a:extLst>
              <a:ext uri="{FF2B5EF4-FFF2-40B4-BE49-F238E27FC236}">
                <a16:creationId xmlns:a16="http://schemas.microsoft.com/office/drawing/2014/main" id="{FC607B1F-A7AE-685F-5121-F90EBE42D45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298" name="Rectangle 7">
            <a:extLst>
              <a:ext uri="{FF2B5EF4-FFF2-40B4-BE49-F238E27FC236}">
                <a16:creationId xmlns:a16="http://schemas.microsoft.com/office/drawing/2014/main" id="{6D30E80F-0CEC-B27E-D6F4-3A511452EEE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480A29F-5B7E-6E4C-B9DF-B43272CD1543}" type="slidenum">
              <a:rPr lang="en-US" altLang="en-US">
                <a:latin typeface="Times New Roman" panose="02020603050405020304" pitchFamily="18" charset="0"/>
              </a:rPr>
              <a:pPr/>
              <a:t>35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83299" name="Rectangle 2">
            <a:extLst>
              <a:ext uri="{FF2B5EF4-FFF2-40B4-BE49-F238E27FC236}">
                <a16:creationId xmlns:a16="http://schemas.microsoft.com/office/drawing/2014/main" id="{F1E1D17A-8F3A-657B-F8D1-180BED1C5E4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83300" name="Rectangle 3">
            <a:extLst>
              <a:ext uri="{FF2B5EF4-FFF2-40B4-BE49-F238E27FC236}">
                <a16:creationId xmlns:a16="http://schemas.microsoft.com/office/drawing/2014/main" id="{6C8AEE46-DE3A-B753-4415-6873C99EBE8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2" name="Rectangle 7">
            <a:extLst>
              <a:ext uri="{FF2B5EF4-FFF2-40B4-BE49-F238E27FC236}">
                <a16:creationId xmlns:a16="http://schemas.microsoft.com/office/drawing/2014/main" id="{B4FE9F3D-59D6-DEEC-E42F-E0160104BF7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93E6840-7CFD-984F-BE2F-826DDF9EE88A}" type="slidenum">
              <a:rPr lang="en-US" altLang="en-US">
                <a:latin typeface="Times New Roman" panose="02020603050405020304" pitchFamily="18" charset="0"/>
              </a:rPr>
              <a:pPr/>
              <a:t>36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84323" name="Rectangle 2">
            <a:extLst>
              <a:ext uri="{FF2B5EF4-FFF2-40B4-BE49-F238E27FC236}">
                <a16:creationId xmlns:a16="http://schemas.microsoft.com/office/drawing/2014/main" id="{758DCF03-8EE8-428B-B613-C6F8AA593C2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7388"/>
            <a:ext cx="4568825" cy="3425825"/>
          </a:xfrm>
          <a:solidFill>
            <a:srgbClr val="FFFFFF"/>
          </a:solidFill>
          <a:ln w="12700" cap="flat"/>
        </p:spPr>
      </p:sp>
      <p:sp>
        <p:nvSpPr>
          <p:cNvPr id="184324" name="Rectangle 3">
            <a:extLst>
              <a:ext uri="{FF2B5EF4-FFF2-40B4-BE49-F238E27FC236}">
                <a16:creationId xmlns:a16="http://schemas.microsoft.com/office/drawing/2014/main" id="{A95F734B-F58C-99CC-DC82-0D6A3A19A26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346" name="Rectangle 7">
            <a:extLst>
              <a:ext uri="{FF2B5EF4-FFF2-40B4-BE49-F238E27FC236}">
                <a16:creationId xmlns:a16="http://schemas.microsoft.com/office/drawing/2014/main" id="{03E07F98-9C30-346E-4E3B-B908A3C7DD3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163D7EE-E32C-4B44-8A8B-8818FBF1775B}" type="slidenum">
              <a:rPr lang="en-US" altLang="en-US">
                <a:latin typeface="Times New Roman" panose="02020603050405020304" pitchFamily="18" charset="0"/>
              </a:rPr>
              <a:pPr/>
              <a:t>38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85347" name="Rectangle 2">
            <a:extLst>
              <a:ext uri="{FF2B5EF4-FFF2-40B4-BE49-F238E27FC236}">
                <a16:creationId xmlns:a16="http://schemas.microsoft.com/office/drawing/2014/main" id="{DBB46A60-4E1B-5317-F207-B51CFF86553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5348" name="Rectangle 3">
            <a:extLst>
              <a:ext uri="{FF2B5EF4-FFF2-40B4-BE49-F238E27FC236}">
                <a16:creationId xmlns:a16="http://schemas.microsoft.com/office/drawing/2014/main" id="{D58CE352-DF07-7DA4-D10E-CD5CFC1918D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370" name="Rectangle 7">
            <a:extLst>
              <a:ext uri="{FF2B5EF4-FFF2-40B4-BE49-F238E27FC236}">
                <a16:creationId xmlns:a16="http://schemas.microsoft.com/office/drawing/2014/main" id="{B0FF6AF2-FFEC-D784-EF22-B241EA4AB26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0C35828-0D95-DB45-839E-A0D9C241E1D3}" type="slidenum">
              <a:rPr lang="en-US" altLang="en-US">
                <a:latin typeface="Times New Roman" panose="02020603050405020304" pitchFamily="18" charset="0"/>
              </a:rPr>
              <a:pPr/>
              <a:t>41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86371" name="Rectangle 2">
            <a:extLst>
              <a:ext uri="{FF2B5EF4-FFF2-40B4-BE49-F238E27FC236}">
                <a16:creationId xmlns:a16="http://schemas.microsoft.com/office/drawing/2014/main" id="{030897C1-6DD9-2C38-66C2-532C78894DD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7388"/>
            <a:ext cx="4568825" cy="3425825"/>
          </a:xfrm>
          <a:ln w="12700" cap="flat"/>
        </p:spPr>
      </p:sp>
      <p:sp>
        <p:nvSpPr>
          <p:cNvPr id="186372" name="Rectangle 3">
            <a:extLst>
              <a:ext uri="{FF2B5EF4-FFF2-40B4-BE49-F238E27FC236}">
                <a16:creationId xmlns:a16="http://schemas.microsoft.com/office/drawing/2014/main" id="{B2127AF5-6DD8-55AD-4965-78AD6822392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394" name="Rectangle 7">
            <a:extLst>
              <a:ext uri="{FF2B5EF4-FFF2-40B4-BE49-F238E27FC236}">
                <a16:creationId xmlns:a16="http://schemas.microsoft.com/office/drawing/2014/main" id="{AD707A33-57BD-1D9A-F722-41A44E5036A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DD5E23C-2941-DE4A-A75A-5E1C2A6AEB57}" type="slidenum">
              <a:rPr lang="en-US" altLang="en-US">
                <a:latin typeface="Times New Roman" panose="02020603050405020304" pitchFamily="18" charset="0"/>
              </a:rPr>
              <a:pPr/>
              <a:t>42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87395" name="Rectangle 2">
            <a:extLst>
              <a:ext uri="{FF2B5EF4-FFF2-40B4-BE49-F238E27FC236}">
                <a16:creationId xmlns:a16="http://schemas.microsoft.com/office/drawing/2014/main" id="{7048D078-3F2E-E597-0A73-A8F8EC34943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7388"/>
            <a:ext cx="4568825" cy="3425825"/>
          </a:xfrm>
          <a:ln w="12700" cap="flat"/>
        </p:spPr>
      </p:sp>
      <p:sp>
        <p:nvSpPr>
          <p:cNvPr id="187396" name="Rectangle 3">
            <a:extLst>
              <a:ext uri="{FF2B5EF4-FFF2-40B4-BE49-F238E27FC236}">
                <a16:creationId xmlns:a16="http://schemas.microsoft.com/office/drawing/2014/main" id="{9C0B8C94-ECC3-3F05-290A-D434734C4B4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18" name="Rectangle 7">
            <a:extLst>
              <a:ext uri="{FF2B5EF4-FFF2-40B4-BE49-F238E27FC236}">
                <a16:creationId xmlns:a16="http://schemas.microsoft.com/office/drawing/2014/main" id="{CD083FE9-F133-00DD-8F17-519230833CE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62A5EC1-11E3-0147-B90C-841FABD65E8D}" type="slidenum">
              <a:rPr lang="en-US" altLang="en-US">
                <a:latin typeface="Times New Roman" panose="02020603050405020304" pitchFamily="18" charset="0"/>
              </a:rPr>
              <a:pPr/>
              <a:t>51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88419" name="Rectangle 2">
            <a:extLst>
              <a:ext uri="{FF2B5EF4-FFF2-40B4-BE49-F238E27FC236}">
                <a16:creationId xmlns:a16="http://schemas.microsoft.com/office/drawing/2014/main" id="{60FBE460-435C-F0CF-9818-DF52D147071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7388"/>
            <a:ext cx="4568825" cy="3425825"/>
          </a:xfrm>
          <a:ln w="12700" cap="flat"/>
        </p:spPr>
      </p:sp>
      <p:sp>
        <p:nvSpPr>
          <p:cNvPr id="188420" name="Rectangle 3">
            <a:extLst>
              <a:ext uri="{FF2B5EF4-FFF2-40B4-BE49-F238E27FC236}">
                <a16:creationId xmlns:a16="http://schemas.microsoft.com/office/drawing/2014/main" id="{30C7BA06-73A9-B846-3252-BB5968EC6E6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/>
          <a:p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978188484"/>
      </p:ext>
    </p:extLst>
  </p:cSld>
  <p:clrMapOvr>
    <a:masterClrMapping/>
  </p:clrMapOvr>
  <p:transition advClick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84294316"/>
      </p:ext>
    </p:extLst>
  </p:cSld>
  <p:clrMapOvr>
    <a:masterClrMapping/>
  </p:clrMapOvr>
  <p:transition advClick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698828"/>
      </p:ext>
    </p:extLst>
  </p:cSld>
  <p:clrMapOvr>
    <a:masterClrMapping/>
  </p:clrMapOvr>
  <p:transition advClick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838200"/>
            <a:ext cx="4038600" cy="5287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838200"/>
            <a:ext cx="4038600" cy="5287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09259649"/>
      </p:ext>
    </p:extLst>
  </p:cSld>
  <p:clrMapOvr>
    <a:masterClrMapping/>
  </p:clrMapOvr>
  <p:transition advClick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74441217"/>
      </p:ext>
    </p:extLst>
  </p:cSld>
  <p:clrMapOvr>
    <a:masterClrMapping/>
  </p:clrMapOvr>
  <p:transition advClick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39983832"/>
      </p:ext>
    </p:extLst>
  </p:cSld>
  <p:clrMapOvr>
    <a:masterClrMapping/>
  </p:clrMapOvr>
  <p:transition advClick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76320400"/>
      </p:ext>
    </p:extLst>
  </p:cSld>
  <p:clrMapOvr>
    <a:masterClrMapping/>
  </p:clrMapOvr>
  <p:transition advClick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98985863"/>
      </p:ext>
    </p:extLst>
  </p:cSld>
  <p:clrMapOvr>
    <a:masterClrMapping/>
  </p:clrMapOvr>
  <p:transition advClick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43959240"/>
      </p:ext>
    </p:extLst>
  </p:cSld>
  <p:clrMapOvr>
    <a:masterClrMapping/>
  </p:clrMapOvr>
  <p:transition advClick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2684784"/>
      </p:ext>
    </p:extLst>
  </p:cSld>
  <p:clrMapOvr>
    <a:masterClrMapping/>
  </p:clrMapOvr>
  <p:transition advClick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4409099"/>
      </p:ext>
    </p:extLst>
  </p:cSld>
  <p:clrMapOvr>
    <a:masterClrMapping/>
  </p:clrMapOvr>
  <p:transition advClick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33496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838200"/>
            <a:ext cx="4038600" cy="5287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838200"/>
            <a:ext cx="4038600" cy="5287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99456101"/>
      </p:ext>
    </p:extLst>
  </p:cSld>
  <p:clrMapOvr>
    <a:masterClrMapping/>
  </p:clrMapOvr>
  <p:transition advClick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CD4F9040-524D-2ED3-FFAD-2512C177557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334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3D2DCAC0-1302-D97E-33FA-4FBB58E88ED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838200"/>
            <a:ext cx="8229600" cy="5287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</p:sldLayoutIdLst>
  <p:transition advClick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hyperlink" Target="file:///E:/docs/api/java/lang/Object.html" TargetMode="Externa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48BB4E-E0FF-BE8F-0612-01FA8962BF6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just"/>
            <a:r>
              <a:rPr lang="en-US" dirty="0"/>
              <a:t>Java Micro Services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1527BC-20D0-B221-0021-01408EB4F01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7201046"/>
      </p:ext>
    </p:extLst>
  </p:cSld>
  <p:clrMapOvr>
    <a:masterClrMapping/>
  </p:clrMapOvr>
  <p:transition advClick="0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Title 1">
            <a:extLst>
              <a:ext uri="{FF2B5EF4-FFF2-40B4-BE49-F238E27FC236}">
                <a16:creationId xmlns:a16="http://schemas.microsoft.com/office/drawing/2014/main" id="{2E78325E-33C5-4416-4A81-92FFB113217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12775" y="228600"/>
            <a:ext cx="8153400" cy="557213"/>
          </a:xfrm>
        </p:spPr>
        <p:txBody>
          <a:bodyPr/>
          <a:lstStyle/>
          <a:p>
            <a:br>
              <a:rPr lang="en-US" altLang="en-US"/>
            </a:br>
            <a:r>
              <a:rPr lang="en-US" altLang="en-US"/>
              <a:t>K.Srivatsan  - vatsank@gmail.com</a:t>
            </a:r>
            <a:br>
              <a:rPr lang="en-US" altLang="en-US"/>
            </a:br>
            <a:endParaRPr lang="en-US" altLang="en-US"/>
          </a:p>
        </p:txBody>
      </p:sp>
      <p:sp>
        <p:nvSpPr>
          <p:cNvPr id="18434" name="Content Placeholder 2">
            <a:extLst>
              <a:ext uri="{FF2B5EF4-FFF2-40B4-BE49-F238E27FC236}">
                <a16:creationId xmlns:a16="http://schemas.microsoft.com/office/drawing/2014/main" id="{4EB8FA43-979C-2001-F501-D90F35DA006A}"/>
              </a:ext>
            </a:extLst>
          </p:cNvPr>
          <p:cNvSpPr>
            <a:spLocks noGrp="1" noChangeArrowheads="1"/>
          </p:cNvSpPr>
          <p:nvPr>
            <p:ph sz="quarter" idx="1"/>
          </p:nvPr>
        </p:nvSpPr>
        <p:spPr>
          <a:xfrm>
            <a:off x="612775" y="785813"/>
            <a:ext cx="8153400" cy="5429250"/>
          </a:xfrm>
        </p:spPr>
        <p:txBody>
          <a:bodyPr/>
          <a:lstStyle/>
          <a:p>
            <a:r>
              <a:rPr lang="en-IN" sz="2000" b="1" dirty="0"/>
              <a:t>Seasoned</a:t>
            </a:r>
            <a:r>
              <a:rPr lang="en-IN" sz="2000" dirty="0"/>
              <a:t> IT professional with 30+ years of </a:t>
            </a:r>
            <a:r>
              <a:rPr lang="en-IN" sz="2000" b="1" dirty="0"/>
              <a:t>expertise</a:t>
            </a:r>
            <a:r>
              <a:rPr lang="en-IN" sz="2000" dirty="0"/>
              <a:t> in training and development.</a:t>
            </a:r>
          </a:p>
          <a:p>
            <a:r>
              <a:rPr lang="en-IN" sz="2000" b="1" dirty="0"/>
              <a:t>Developed</a:t>
            </a:r>
            <a:r>
              <a:rPr lang="en-IN" sz="2000" dirty="0"/>
              <a:t> and facilitated </a:t>
            </a:r>
            <a:r>
              <a:rPr lang="en-IN" sz="2000" b="1" dirty="0"/>
              <a:t>specialized</a:t>
            </a:r>
            <a:r>
              <a:rPr lang="en-IN" sz="2000" dirty="0"/>
              <a:t> Java training programs since 2004.</a:t>
            </a:r>
          </a:p>
          <a:p>
            <a:r>
              <a:rPr lang="en-IN" sz="2000" b="1" dirty="0"/>
              <a:t>Cultivated</a:t>
            </a:r>
            <a:r>
              <a:rPr lang="en-IN" sz="2000" dirty="0"/>
              <a:t> strong client relationships, serving 60+ corporate accounts</a:t>
            </a:r>
          </a:p>
          <a:p>
            <a:endParaRPr lang="en-IN" sz="2000" dirty="0"/>
          </a:p>
          <a:p>
            <a:pPr marL="0" indent="0">
              <a:buNone/>
            </a:pPr>
            <a:endParaRPr lang="en-IN" sz="2000" dirty="0"/>
          </a:p>
          <a:p>
            <a:pPr marL="0" indent="0">
              <a:buNone/>
            </a:pPr>
            <a:br>
              <a:rPr lang="en-IN" dirty="0"/>
            </a:br>
            <a:endParaRPr lang="en-IN" dirty="0"/>
          </a:p>
          <a:p>
            <a:pPr lvl="2"/>
            <a:endParaRPr lang="en-IN" dirty="0"/>
          </a:p>
          <a:p>
            <a:pPr marL="0" indent="0">
              <a:buNone/>
            </a:pPr>
            <a:br>
              <a:rPr lang="en-IN" dirty="0"/>
            </a:br>
            <a:endParaRPr lang="en-IN" dirty="0"/>
          </a:p>
          <a:p>
            <a:endParaRPr lang="en-US" altLang="en-US" dirty="0"/>
          </a:p>
          <a:p>
            <a:endParaRPr lang="en-US" alt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9B6B301-8590-F2BB-F5A7-A8E37B9F20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8229977"/>
              </p:ext>
            </p:extLst>
          </p:nvPr>
        </p:nvGraphicFramePr>
        <p:xfrm>
          <a:off x="1676400" y="3124200"/>
          <a:ext cx="5535994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5444">
                  <a:extLst>
                    <a:ext uri="{9D8B030D-6E8A-4147-A177-3AD203B41FA5}">
                      <a16:colId xmlns:a16="http://schemas.microsoft.com/office/drawing/2014/main" val="394621414"/>
                    </a:ext>
                  </a:extLst>
                </a:gridCol>
                <a:gridCol w="1466850">
                  <a:extLst>
                    <a:ext uri="{9D8B030D-6E8A-4147-A177-3AD203B41FA5}">
                      <a16:colId xmlns:a16="http://schemas.microsoft.com/office/drawing/2014/main" val="57260191"/>
                    </a:ext>
                  </a:extLst>
                </a:gridCol>
                <a:gridCol w="1466850">
                  <a:extLst>
                    <a:ext uri="{9D8B030D-6E8A-4147-A177-3AD203B41FA5}">
                      <a16:colId xmlns:a16="http://schemas.microsoft.com/office/drawing/2014/main" val="2183430162"/>
                    </a:ext>
                  </a:extLst>
                </a:gridCol>
                <a:gridCol w="1466850">
                  <a:extLst>
                    <a:ext uri="{9D8B030D-6E8A-4147-A177-3AD203B41FA5}">
                      <a16:colId xmlns:a16="http://schemas.microsoft.com/office/drawing/2014/main" val="1410212618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r>
                        <a:rPr lang="en-US" dirty="0"/>
                        <a:t>IBM</a:t>
                      </a:r>
                    </a:p>
                  </a:txBody>
                  <a:tcPr marL="32400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Infosys</a:t>
                      </a:r>
                    </a:p>
                  </a:txBody>
                  <a:tcPr marL="32400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HCL</a:t>
                      </a:r>
                    </a:p>
                  </a:txBody>
                  <a:tcPr marL="32400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TCS</a:t>
                      </a:r>
                    </a:p>
                  </a:txBody>
                  <a:tcPr marL="3240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156529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2060"/>
                          </a:solidFill>
                        </a:rPr>
                        <a:t>  Verizon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2060"/>
                          </a:solidFill>
                        </a:rPr>
                        <a:t>  JP Morgan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2060"/>
                          </a:solidFill>
                        </a:rPr>
                        <a:t>  Barclays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2060"/>
                          </a:solidFill>
                        </a:rPr>
                        <a:t>  Bajaj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672832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lang="en-US" dirty="0"/>
                        <a:t>  </a:t>
                      </a:r>
                      <a:r>
                        <a:rPr lang="en-US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HSBC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</a:t>
                      </a:r>
                      <a:r>
                        <a:rPr lang="en-US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TMC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</a:t>
                      </a:r>
                      <a:r>
                        <a:rPr lang="en-US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Amdocs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</a:t>
                      </a:r>
                      <a:r>
                        <a:rPr lang="en-US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Scope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0865806"/>
                  </a:ext>
                </a:extLst>
              </a:tr>
            </a:tbl>
          </a:graphicData>
        </a:graphic>
      </p:graphicFrame>
    </p:spTree>
  </p:cSld>
  <p:clrMapOvr>
    <a:masterClrMapping/>
  </p:clrMapOvr>
  <p:transition advClick="0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DC9CEF-F575-0511-19CF-E8C0A6028D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F1D01C-9FE5-FD63-4898-67F9DCC7BE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b="1" dirty="0"/>
              <a:t>Introduction to Java</a:t>
            </a:r>
          </a:p>
          <a:p>
            <a:r>
              <a:rPr lang="en-US" sz="1800" b="1" dirty="0"/>
              <a:t>Revision of Collection Framework, </a:t>
            </a:r>
          </a:p>
          <a:p>
            <a:r>
              <a:rPr lang="en-US" sz="1800" b="1" dirty="0"/>
              <a:t>Java 8 Enhancements: OOPS Vs Functional Programming, </a:t>
            </a:r>
          </a:p>
          <a:p>
            <a:r>
              <a:rPr lang="en-US" sz="1800" b="1" dirty="0"/>
              <a:t>Functional Programming, </a:t>
            </a:r>
          </a:p>
          <a:p>
            <a:r>
              <a:rPr lang="en-US" sz="1800" b="1" dirty="0"/>
              <a:t>Functional Interfaces, Pre-defined Functional Interfaces.                                                         </a:t>
            </a:r>
          </a:p>
          <a:p>
            <a:r>
              <a:rPr lang="en-US" sz="1800" b="1" dirty="0"/>
              <a:t>Stream API.</a:t>
            </a:r>
          </a:p>
          <a:p>
            <a:r>
              <a:rPr lang="en-US" sz="1800" b="1" dirty="0"/>
              <a:t>Java 9</a:t>
            </a:r>
          </a:p>
          <a:p>
            <a:pPr lvl="1"/>
            <a:r>
              <a:rPr lang="en-US" sz="1800" b="1" dirty="0" err="1"/>
              <a:t>JShell</a:t>
            </a:r>
            <a:r>
              <a:rPr lang="en-US" sz="1800" b="1" dirty="0"/>
              <a:t>, </a:t>
            </a:r>
          </a:p>
          <a:p>
            <a:pPr lvl="1"/>
            <a:r>
              <a:rPr lang="en-US" sz="1800" b="1" dirty="0"/>
              <a:t>Module System, </a:t>
            </a:r>
          </a:p>
          <a:p>
            <a:pPr lvl="1"/>
            <a:r>
              <a:rPr lang="en-US" sz="1800" b="1" dirty="0"/>
              <a:t>Stream API- </a:t>
            </a:r>
            <a:r>
              <a:rPr lang="en-US" sz="1800" b="1" dirty="0" err="1"/>
              <a:t>takeWhile</a:t>
            </a:r>
            <a:r>
              <a:rPr lang="en-US" sz="1800" b="1" dirty="0"/>
              <a:t>, </a:t>
            </a:r>
            <a:r>
              <a:rPr lang="en-US" sz="1800" b="1" dirty="0" err="1"/>
              <a:t>dropWhile</a:t>
            </a:r>
            <a:r>
              <a:rPr lang="en-US" sz="1800" b="1" dirty="0"/>
              <a:t>, iterate, </a:t>
            </a:r>
          </a:p>
          <a:p>
            <a:pPr lvl="1"/>
            <a:r>
              <a:rPr lang="en-US" sz="1800" b="1" dirty="0"/>
              <a:t>Factory Methods for Collections</a:t>
            </a:r>
          </a:p>
          <a:p>
            <a:r>
              <a:rPr lang="en-US" sz="1800" b="1" dirty="0"/>
              <a:t>Java 10–11</a:t>
            </a:r>
          </a:p>
          <a:p>
            <a:pPr lvl="1"/>
            <a:r>
              <a:rPr lang="en-US" sz="1800" b="1" dirty="0"/>
              <a:t>Local Variable Type Inference (var), </a:t>
            </a:r>
          </a:p>
          <a:p>
            <a:pPr lvl="1"/>
            <a:r>
              <a:rPr lang="en-US" sz="1800" dirty="0"/>
              <a:t>String -</a:t>
            </a:r>
            <a:r>
              <a:rPr lang="en-US" sz="1800" dirty="0" err="1"/>
              <a:t>isBlank</a:t>
            </a:r>
            <a:r>
              <a:rPr lang="en-US" sz="1800" dirty="0"/>
              <a:t>, lines, strip, </a:t>
            </a:r>
          </a:p>
          <a:p>
            <a:pPr lvl="1"/>
            <a:r>
              <a:rPr lang="en-US" sz="1800" b="1" dirty="0"/>
              <a:t>HTTP Client API</a:t>
            </a:r>
          </a:p>
          <a:p>
            <a:endParaRPr lang="en-US" sz="1800" dirty="0"/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850257114"/>
      </p:ext>
    </p:extLst>
  </p:cSld>
  <p:clrMapOvr>
    <a:masterClrMapping/>
  </p:clrMapOvr>
  <p:transition advClick="0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6E5967-D781-BE4F-FA4E-AEE3D36D4E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8479A-FBE4-6E9F-0F87-9622F0D571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dirty="0"/>
              <a:t>Java 12–17 </a:t>
            </a:r>
          </a:p>
          <a:p>
            <a:pPr lvl="1"/>
            <a:r>
              <a:rPr lang="en-US" sz="1800" b="1"/>
              <a:t>Switch Expressions</a:t>
            </a:r>
            <a:endParaRPr lang="en-US" sz="1800" b="1" dirty="0"/>
          </a:p>
          <a:p>
            <a:pPr lvl="1"/>
            <a:r>
              <a:rPr lang="en-US" sz="1800" b="1" dirty="0"/>
              <a:t>Text Blocks</a:t>
            </a:r>
          </a:p>
          <a:p>
            <a:pPr lvl="1"/>
            <a:r>
              <a:rPr lang="en-US" sz="1800" b="1" dirty="0"/>
              <a:t>Records</a:t>
            </a:r>
          </a:p>
          <a:p>
            <a:pPr lvl="1"/>
            <a:r>
              <a:rPr lang="en-US" sz="1800" b="1" dirty="0"/>
              <a:t>Pattern Matching for </a:t>
            </a:r>
            <a:r>
              <a:rPr lang="en-US" sz="1800" b="1" dirty="0" err="1"/>
              <a:t>instanceof</a:t>
            </a:r>
            <a:endParaRPr lang="en-US" sz="1800" b="1" dirty="0"/>
          </a:p>
          <a:p>
            <a:pPr lvl="1"/>
            <a:r>
              <a:rPr lang="en-US" sz="1800" b="1" dirty="0"/>
              <a:t>Sealed Classes</a:t>
            </a:r>
          </a:p>
          <a:p>
            <a:pPr lvl="1"/>
            <a:r>
              <a:rPr lang="en-US" sz="1800" b="1" dirty="0"/>
              <a:t>Hidden Classes </a:t>
            </a:r>
          </a:p>
          <a:p>
            <a:pPr lvl="1"/>
            <a:r>
              <a:rPr lang="en-US" sz="1800" b="1" dirty="0"/>
              <a:t>Pattern Matching Enhancements</a:t>
            </a:r>
          </a:p>
          <a:p>
            <a:pPr lvl="1"/>
            <a:r>
              <a:rPr lang="en-US" sz="1800" dirty="0"/>
              <a:t>Removal of RMI Activation System</a:t>
            </a:r>
          </a:p>
        </p:txBody>
      </p:sp>
    </p:spTree>
    <p:extLst>
      <p:ext uri="{BB962C8B-B14F-4D97-AF65-F5344CB8AC3E}">
        <p14:creationId xmlns:p14="http://schemas.microsoft.com/office/powerpoint/2010/main" val="1808654509"/>
      </p:ext>
    </p:extLst>
  </p:cSld>
  <p:clrMapOvr>
    <a:masterClrMapping/>
  </p:clrMapOvr>
  <p:transition advClick="0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46CF3-51A4-70B5-536E-F5E8CA36A2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 Oriented Programming Language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2EEF23-9D3B-A45B-43FF-A628D5BBCF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200000"/>
              </a:lnSpc>
            </a:pPr>
            <a:r>
              <a:rPr lang="en-IN" sz="2000" b="1" dirty="0">
                <a:solidFill>
                  <a:srgbClr val="C00000"/>
                </a:solidFill>
              </a:rPr>
              <a:t>Class</a:t>
            </a:r>
          </a:p>
          <a:p>
            <a:pPr lvl="1">
              <a:lnSpc>
                <a:spcPct val="150000"/>
              </a:lnSpc>
            </a:pPr>
            <a:r>
              <a:rPr lang="en-IN" sz="2000" dirty="0"/>
              <a:t>A template that defines properties (fields) and </a:t>
            </a:r>
            <a:r>
              <a:rPr lang="en-IN" sz="2000" dirty="0" err="1"/>
              <a:t>behaviors</a:t>
            </a:r>
            <a:r>
              <a:rPr lang="en-IN" sz="2000" dirty="0"/>
              <a:t> (methods) common to all objects of a particular type. </a:t>
            </a:r>
          </a:p>
          <a:p>
            <a:pPr lvl="1">
              <a:lnSpc>
                <a:spcPct val="150000"/>
              </a:lnSpc>
            </a:pPr>
            <a:r>
              <a:rPr lang="en-IN" sz="2000" dirty="0"/>
              <a:t>It doesn’t occupies any memory space.</a:t>
            </a:r>
          </a:p>
          <a:p>
            <a:pPr>
              <a:lnSpc>
                <a:spcPct val="200000"/>
              </a:lnSpc>
            </a:pPr>
            <a:r>
              <a:rPr lang="en-IN" sz="2000" b="1" dirty="0">
                <a:solidFill>
                  <a:srgbClr val="C00000"/>
                </a:solidFill>
              </a:rPr>
              <a:t>Object</a:t>
            </a:r>
          </a:p>
          <a:p>
            <a:pPr lvl="1">
              <a:lnSpc>
                <a:spcPct val="150000"/>
              </a:lnSpc>
            </a:pPr>
            <a:r>
              <a:rPr lang="en-IN" sz="2000" dirty="0"/>
              <a:t>A specific instance of a class that represents real-world entities. </a:t>
            </a:r>
          </a:p>
          <a:p>
            <a:pPr lvl="1">
              <a:lnSpc>
                <a:spcPct val="150000"/>
              </a:lnSpc>
            </a:pPr>
            <a:r>
              <a:rPr lang="en-IN" sz="2000" dirty="0"/>
              <a:t>It has a </a:t>
            </a:r>
            <a:r>
              <a:rPr lang="en-IN" sz="2000" b="1" dirty="0"/>
              <a:t>state</a:t>
            </a:r>
            <a:r>
              <a:rPr lang="en-IN" sz="2000" dirty="0"/>
              <a:t> (stored in fields), </a:t>
            </a:r>
            <a:r>
              <a:rPr lang="en-IN" sz="2000" b="1" dirty="0" err="1"/>
              <a:t>behavior</a:t>
            </a:r>
            <a:r>
              <a:rPr lang="en-IN" sz="2000" dirty="0"/>
              <a:t> (defined by methods), and a unique </a:t>
            </a:r>
            <a:r>
              <a:rPr lang="en-IN" sz="2000" b="1" dirty="0"/>
              <a:t>identity</a:t>
            </a:r>
            <a:r>
              <a:rPr lang="en-IN" sz="2000" dirty="0"/>
              <a:t> managed by the JVM. 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3367403"/>
      </p:ext>
    </p:extLst>
  </p:cSld>
  <p:clrMapOvr>
    <a:masterClrMapping/>
  </p:clrMapOvr>
  <p:transition advClick="0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C30845-EE8C-CE9D-0FA4-4B3531441E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Pillars of OOP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78BE52-61B4-0957-1E46-16F896696E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2000" b="1" dirty="0"/>
              <a:t>Encapsulation:</a:t>
            </a:r>
            <a:r>
              <a:rPr lang="en-IN" sz="2000" dirty="0"/>
              <a:t> </a:t>
            </a:r>
          </a:p>
          <a:p>
            <a:pPr lvl="1"/>
            <a:r>
              <a:rPr lang="en-IN" sz="2000" dirty="0"/>
              <a:t>Bundling data and methods into a single unit (a class) and restricting direct access to that data for security.</a:t>
            </a:r>
          </a:p>
          <a:p>
            <a:r>
              <a:rPr lang="en-IN" sz="1800" b="1" i="1" dirty="0">
                <a:solidFill>
                  <a:srgbClr val="C00000"/>
                </a:solidFill>
              </a:rPr>
              <a:t>Implementation:</a:t>
            </a:r>
            <a:r>
              <a:rPr lang="en-IN" sz="1800" i="1" dirty="0">
                <a:solidFill>
                  <a:srgbClr val="C00000"/>
                </a:solidFill>
              </a:rPr>
              <a:t> </a:t>
            </a:r>
          </a:p>
          <a:p>
            <a:pPr lvl="1"/>
            <a:r>
              <a:rPr lang="en-IN" sz="2000" dirty="0"/>
              <a:t>Declaring variables as private and providing public </a:t>
            </a:r>
            <a:r>
              <a:rPr lang="en-IN" sz="2000" b="1" dirty="0"/>
              <a:t>getter and setter</a:t>
            </a:r>
            <a:r>
              <a:rPr lang="en-IN" sz="2000" dirty="0"/>
              <a:t> methods for controlled access.</a:t>
            </a:r>
          </a:p>
          <a:p>
            <a:endParaRPr lang="en-IN" sz="2000" b="1" dirty="0"/>
          </a:p>
          <a:p>
            <a:r>
              <a:rPr lang="en-IN" sz="2000" b="1" dirty="0"/>
              <a:t>Abstraction:</a:t>
            </a:r>
            <a:r>
              <a:rPr lang="en-IN" sz="2000" dirty="0"/>
              <a:t> </a:t>
            </a:r>
          </a:p>
          <a:p>
            <a:pPr lvl="1"/>
            <a:r>
              <a:rPr lang="en-IN" sz="2000" dirty="0"/>
              <a:t>Hiding complex implementation details while exposing only essential features to the user.</a:t>
            </a:r>
          </a:p>
          <a:p>
            <a:r>
              <a:rPr lang="en-IN" sz="2000" b="1" i="1" dirty="0">
                <a:solidFill>
                  <a:srgbClr val="C00000"/>
                </a:solidFill>
              </a:rPr>
              <a:t>Implementation</a:t>
            </a:r>
            <a:endParaRPr lang="en-IN" sz="2000" dirty="0"/>
          </a:p>
          <a:p>
            <a:pPr lvl="1"/>
            <a:r>
              <a:rPr lang="en-IN" sz="2000" b="1" dirty="0"/>
              <a:t>Abstract Classes</a:t>
            </a:r>
            <a:r>
              <a:rPr lang="en-IN" sz="2000" dirty="0"/>
              <a:t> (Partial abstraction)</a:t>
            </a:r>
          </a:p>
          <a:p>
            <a:pPr lvl="1"/>
            <a:r>
              <a:rPr lang="en-IN" sz="2000" b="1" dirty="0"/>
              <a:t>Interfaces</a:t>
            </a:r>
            <a:r>
              <a:rPr lang="en-IN" sz="2000" dirty="0"/>
              <a:t> (Full abstraction).</a:t>
            </a:r>
          </a:p>
        </p:txBody>
      </p:sp>
    </p:spTree>
    <p:extLst>
      <p:ext uri="{BB962C8B-B14F-4D97-AF65-F5344CB8AC3E}">
        <p14:creationId xmlns:p14="http://schemas.microsoft.com/office/powerpoint/2010/main" val="39060019"/>
      </p:ext>
    </p:extLst>
  </p:cSld>
  <p:clrMapOvr>
    <a:masterClrMapping/>
  </p:clrMapOvr>
  <p:transition advClick="0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CDDDA1-49B1-A1CF-4AD0-3EF7DCE0DA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Pillars of OOP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614362-B689-E097-6252-E47D640005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IN" sz="1800" b="1" dirty="0"/>
              <a:t>Inheritance</a:t>
            </a:r>
          </a:p>
          <a:p>
            <a:pPr lvl="1">
              <a:lnSpc>
                <a:spcPct val="150000"/>
              </a:lnSpc>
            </a:pPr>
            <a:r>
              <a:rPr lang="en-IN" sz="1800" dirty="0"/>
              <a:t> A mechanism where a new class acquires properties and </a:t>
            </a:r>
            <a:r>
              <a:rPr lang="en-IN" sz="1800" dirty="0" err="1"/>
              <a:t>behaviors</a:t>
            </a:r>
            <a:r>
              <a:rPr lang="en-IN" sz="1800" dirty="0"/>
              <a:t> from an existing class </a:t>
            </a:r>
          </a:p>
          <a:p>
            <a:pPr lvl="1">
              <a:lnSpc>
                <a:spcPct val="150000"/>
              </a:lnSpc>
            </a:pPr>
            <a:r>
              <a:rPr lang="en-IN" sz="1800" dirty="0"/>
              <a:t>Uses the extends keyword to establish an </a:t>
            </a:r>
            <a:r>
              <a:rPr lang="en-IN" sz="1800" b="1" dirty="0"/>
              <a:t>"IS-A"</a:t>
            </a:r>
            <a:r>
              <a:rPr lang="en-IN" sz="1800" dirty="0"/>
              <a:t> relationship. </a:t>
            </a:r>
          </a:p>
          <a:p>
            <a:pPr>
              <a:lnSpc>
                <a:spcPct val="150000"/>
              </a:lnSpc>
            </a:pPr>
            <a:r>
              <a:rPr lang="en-IN" sz="1800" b="1" dirty="0"/>
              <a:t>Polymorphism</a:t>
            </a:r>
          </a:p>
          <a:p>
            <a:pPr lvl="1">
              <a:lnSpc>
                <a:spcPct val="150000"/>
              </a:lnSpc>
            </a:pPr>
            <a:r>
              <a:rPr lang="en-IN" sz="1800" dirty="0"/>
              <a:t>The ability of an entity to take multiple forms, allowing objects of different classes to be treated as instances of a common parent class.</a:t>
            </a:r>
          </a:p>
          <a:p>
            <a:pPr lvl="1">
              <a:lnSpc>
                <a:spcPct val="150000"/>
              </a:lnSpc>
            </a:pPr>
            <a:r>
              <a:rPr lang="en-IN" sz="1800" b="1" dirty="0"/>
              <a:t>Static (Compile-time):</a:t>
            </a:r>
            <a:r>
              <a:rPr lang="en-IN" sz="1800" dirty="0"/>
              <a:t> Achieved via </a:t>
            </a:r>
            <a:r>
              <a:rPr lang="en-IN" sz="1800" b="1" dirty="0"/>
              <a:t>Method Overloading</a:t>
            </a:r>
            <a:r>
              <a:rPr lang="en-IN" sz="1800" dirty="0"/>
              <a:t> (same name, different parameters).</a:t>
            </a:r>
          </a:p>
          <a:p>
            <a:pPr lvl="1">
              <a:lnSpc>
                <a:spcPct val="150000"/>
              </a:lnSpc>
            </a:pPr>
            <a:r>
              <a:rPr lang="en-IN" sz="1800" b="1" dirty="0"/>
              <a:t>Dynamic (Runtime):</a:t>
            </a:r>
            <a:r>
              <a:rPr lang="en-IN" sz="1800" dirty="0"/>
              <a:t> Achieved via </a:t>
            </a:r>
            <a:r>
              <a:rPr lang="en-IN" sz="1800" b="1" dirty="0"/>
              <a:t>Method Overriding</a:t>
            </a:r>
            <a:r>
              <a:rPr lang="en-IN" sz="1800" dirty="0"/>
              <a:t> (subclass provides its own implementation of a parent's method). 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7183299"/>
      </p:ext>
    </p:extLst>
  </p:cSld>
  <p:clrMapOvr>
    <a:masterClrMapping/>
  </p:clrMapOvr>
  <p:transition advClick="0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9D3619-CCFD-393E-50BD-4A5E9CE35D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 Relationships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BEEF3E-1D2B-F617-EC79-C87FD4A180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IN" sz="1800" b="1" dirty="0"/>
              <a:t>Association</a:t>
            </a:r>
          </a:p>
          <a:p>
            <a:pPr lvl="1">
              <a:lnSpc>
                <a:spcPct val="150000"/>
              </a:lnSpc>
            </a:pPr>
            <a:r>
              <a:rPr lang="en-IN" sz="1800" dirty="0"/>
              <a:t>A general relationship between two unrelated classes </a:t>
            </a:r>
          </a:p>
          <a:p>
            <a:pPr lvl="1">
              <a:lnSpc>
                <a:spcPct val="150000"/>
              </a:lnSpc>
            </a:pPr>
            <a:r>
              <a:rPr lang="en-IN" sz="1800" i="1" dirty="0">
                <a:solidFill>
                  <a:srgbClr val="C00000"/>
                </a:solidFill>
              </a:rPr>
              <a:t>Teacher and a Student</a:t>
            </a:r>
          </a:p>
          <a:p>
            <a:pPr>
              <a:lnSpc>
                <a:spcPct val="150000"/>
              </a:lnSpc>
            </a:pPr>
            <a:r>
              <a:rPr lang="en-IN" sz="1800" b="1" dirty="0"/>
              <a:t>Aggregation</a:t>
            </a:r>
          </a:p>
          <a:p>
            <a:pPr lvl="1">
              <a:lnSpc>
                <a:spcPct val="150000"/>
              </a:lnSpc>
            </a:pPr>
            <a:r>
              <a:rPr lang="en-IN" sz="1800" dirty="0"/>
              <a:t>A weak "has-a" relationship where the parts can exist independently of the whole </a:t>
            </a:r>
          </a:p>
          <a:p>
            <a:pPr lvl="1">
              <a:lnSpc>
                <a:spcPct val="150000"/>
              </a:lnSpc>
            </a:pPr>
            <a:r>
              <a:rPr lang="en-IN" sz="1800" i="1" dirty="0">
                <a:solidFill>
                  <a:srgbClr val="C00000"/>
                </a:solidFill>
              </a:rPr>
              <a:t>Player in a Team.</a:t>
            </a:r>
          </a:p>
          <a:p>
            <a:pPr>
              <a:lnSpc>
                <a:spcPct val="150000"/>
              </a:lnSpc>
            </a:pPr>
            <a:r>
              <a:rPr lang="en-IN" sz="1800" b="1" dirty="0"/>
              <a:t>Composition</a:t>
            </a:r>
          </a:p>
          <a:p>
            <a:pPr lvl="1">
              <a:lnSpc>
                <a:spcPct val="150000"/>
              </a:lnSpc>
            </a:pPr>
            <a:r>
              <a:rPr lang="en-IN" sz="1800" dirty="0"/>
              <a:t>A strong "has-a" relationship where the parts cannot exist without the whole</a:t>
            </a:r>
          </a:p>
          <a:p>
            <a:pPr lvl="1">
              <a:lnSpc>
                <a:spcPct val="150000"/>
              </a:lnSpc>
            </a:pPr>
            <a:r>
              <a:rPr lang="en-IN" sz="1800" i="1" dirty="0">
                <a:solidFill>
                  <a:srgbClr val="C00000"/>
                </a:solidFill>
              </a:rPr>
              <a:t>Room in a House. 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48269"/>
      </p:ext>
    </p:extLst>
  </p:cSld>
  <p:clrMapOvr>
    <a:masterClrMapping/>
  </p:clrMapOvr>
  <p:transition advClick="0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C89D56-8138-5E39-686D-0FB851022D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Advantages of OOP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5188F6-0F15-6076-8BA4-85C0224494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IN" sz="1800" b="1" dirty="0">
                <a:solidFill>
                  <a:srgbClr val="C00000"/>
                </a:solidFill>
              </a:rPr>
              <a:t>Inheritance </a:t>
            </a:r>
          </a:p>
          <a:p>
            <a:pPr lvl="1">
              <a:lnSpc>
                <a:spcPct val="150000"/>
              </a:lnSpc>
            </a:pPr>
            <a:r>
              <a:rPr lang="en-IN" sz="1800" dirty="0"/>
              <a:t>To reuse existing code, following the DRY principle.</a:t>
            </a:r>
          </a:p>
          <a:p>
            <a:pPr>
              <a:lnSpc>
                <a:spcPct val="150000"/>
              </a:lnSpc>
            </a:pPr>
            <a:r>
              <a:rPr lang="en-IN" sz="1800" b="1" dirty="0">
                <a:solidFill>
                  <a:srgbClr val="C00000"/>
                </a:solidFill>
              </a:rPr>
              <a:t>Modularity</a:t>
            </a:r>
          </a:p>
          <a:p>
            <a:pPr lvl="1">
              <a:lnSpc>
                <a:spcPct val="150000"/>
              </a:lnSpc>
            </a:pPr>
            <a:r>
              <a:rPr lang="en-IN" sz="1800" dirty="0"/>
              <a:t>Breaking complex systems into self-contained objects makes code easier to debug, maintain, and scale.</a:t>
            </a:r>
          </a:p>
          <a:p>
            <a:pPr>
              <a:lnSpc>
                <a:spcPct val="150000"/>
              </a:lnSpc>
            </a:pPr>
            <a:r>
              <a:rPr lang="en-IN" sz="1800" b="1" dirty="0">
                <a:solidFill>
                  <a:srgbClr val="C00000"/>
                </a:solidFill>
              </a:rPr>
              <a:t>Security</a:t>
            </a:r>
          </a:p>
          <a:p>
            <a:pPr lvl="1">
              <a:lnSpc>
                <a:spcPct val="150000"/>
              </a:lnSpc>
            </a:pPr>
            <a:r>
              <a:rPr lang="en-IN" sz="1800" dirty="0"/>
              <a:t>Encapsulation protects sensitive data from unauthorized external modification. 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0650643"/>
      </p:ext>
    </p:extLst>
  </p:cSld>
  <p:clrMapOvr>
    <a:masterClrMapping/>
  </p:clrMapOvr>
  <p:transition advClick="0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1026">
            <a:extLst>
              <a:ext uri="{FF2B5EF4-FFF2-40B4-BE49-F238E27FC236}">
                <a16:creationId xmlns:a16="http://schemas.microsoft.com/office/drawing/2014/main" id="{B508855F-B138-675B-A1DF-79C8B0BC4319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noFill/>
        </p:spPr>
        <p:txBody>
          <a:bodyPr lIns="92075" tIns="46038" rIns="92075" bIns="46038"/>
          <a:lstStyle/>
          <a:p>
            <a:pPr eaLnBrk="1" hangingPunct="1"/>
            <a:r>
              <a:rPr lang="en-US" altLang="en-US"/>
              <a:t>Java Collections Framework</a:t>
            </a:r>
          </a:p>
        </p:txBody>
      </p:sp>
    </p:spTree>
  </p:cSld>
  <p:clrMapOvr>
    <a:masterClrMapping/>
  </p:clrMapOvr>
  <p:transition advClick="0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1026">
            <a:extLst>
              <a:ext uri="{FF2B5EF4-FFF2-40B4-BE49-F238E27FC236}">
                <a16:creationId xmlns:a16="http://schemas.microsoft.com/office/drawing/2014/main" id="{015EABC6-DF37-236E-6794-19015CCDDF1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lIns="0" tIns="0" rIns="0" bIns="0"/>
          <a:lstStyle/>
          <a:p>
            <a:pPr marL="342900" indent="-342900" eaLnBrk="1" hangingPunct="1"/>
            <a:r>
              <a:rPr lang="en-GB" altLang="en-US" sz="2800">
                <a:solidFill>
                  <a:srgbClr val="000000"/>
                </a:solidFill>
              </a:rPr>
              <a:t>Java Collection Framework</a:t>
            </a:r>
          </a:p>
        </p:txBody>
      </p:sp>
      <p:sp>
        <p:nvSpPr>
          <p:cNvPr id="19459" name="Rectangle 1027">
            <a:extLst>
              <a:ext uri="{FF2B5EF4-FFF2-40B4-BE49-F238E27FC236}">
                <a16:creationId xmlns:a16="http://schemas.microsoft.com/office/drawing/2014/main" id="{46FECC9D-4182-8159-6520-A5D4C4E3B27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1800"/>
              <a:t>Provides tools to maintain data container of object </a:t>
            </a:r>
          </a:p>
          <a:p>
            <a:pPr eaLnBrk="1" hangingPunct="1"/>
            <a:endParaRPr lang="en-US" altLang="en-US" sz="1800"/>
          </a:p>
          <a:p>
            <a:pPr eaLnBrk="1" hangingPunct="1"/>
            <a:r>
              <a:rPr lang="en-US" altLang="en-US" sz="1800"/>
              <a:t>Is an alternative to the creation of custom data structures</a:t>
            </a:r>
          </a:p>
          <a:p>
            <a:pPr eaLnBrk="1" hangingPunct="1"/>
            <a:endParaRPr lang="en-US" altLang="en-US" sz="1800"/>
          </a:p>
          <a:p>
            <a:pPr eaLnBrk="1" hangingPunct="1"/>
            <a:r>
              <a:rPr lang="en-US" altLang="en-US" sz="1800"/>
              <a:t>Consists of interfaces and classes that implement inerfaces within the java.util package</a:t>
            </a:r>
          </a:p>
          <a:p>
            <a:pPr eaLnBrk="1" hangingPunct="1"/>
            <a:endParaRPr lang="en-US" altLang="en-US" sz="1800"/>
          </a:p>
          <a:p>
            <a:pPr eaLnBrk="1" hangingPunct="1"/>
            <a:r>
              <a:rPr lang="en-US" altLang="ko-KR" sz="1800">
                <a:ea typeface="Batang" panose="02030600000101010101" pitchFamily="18" charset="-127"/>
              </a:rPr>
              <a:t>Collection is the root interface for most of the Java collections hierarchy</a:t>
            </a:r>
            <a:endParaRPr lang="en-US" altLang="en-US" sz="1200"/>
          </a:p>
        </p:txBody>
      </p:sp>
      <p:pic>
        <p:nvPicPr>
          <p:cNvPr id="19460" name="Picture 1028">
            <a:extLst>
              <a:ext uri="{FF2B5EF4-FFF2-40B4-BE49-F238E27FC236}">
                <a16:creationId xmlns:a16="http://schemas.microsoft.com/office/drawing/2014/main" id="{A829A01E-A81E-E045-7856-CC2F59869A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3505200"/>
            <a:ext cx="4648200" cy="2590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advClick="0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90C4DCED-5584-889C-1569-39468A95EE9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Collection categories</a:t>
            </a:r>
          </a:p>
        </p:txBody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521C0120-4962-DA02-B0C3-EDB8B86A568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1800" b="1" u="sng"/>
              <a:t>Ordered Collection</a:t>
            </a:r>
          </a:p>
          <a:p>
            <a:pPr lvl="1" eaLnBrk="1" hangingPunct="1"/>
            <a:r>
              <a:rPr lang="en-US" altLang="en-US"/>
              <a:t>The objects within the collection are maintained in a particular order or not</a:t>
            </a:r>
          </a:p>
          <a:p>
            <a:pPr lvl="1" eaLnBrk="1" hangingPunct="1"/>
            <a:r>
              <a:rPr lang="en-US" altLang="en-US"/>
              <a:t>When an object is added or removed from an ordered collection , the order is automatically maintained</a:t>
            </a:r>
            <a:endParaRPr lang="en-US" altLang="en-US" b="1" u="sng"/>
          </a:p>
          <a:p>
            <a:pPr eaLnBrk="1" hangingPunct="1"/>
            <a:endParaRPr lang="en-US" altLang="en-US" sz="1800" b="1" u="sng"/>
          </a:p>
          <a:p>
            <a:pPr eaLnBrk="1" hangingPunct="1"/>
            <a:r>
              <a:rPr lang="en-US" altLang="en-US" sz="1800" b="1" u="sng"/>
              <a:t>Duplicate Elements</a:t>
            </a:r>
          </a:p>
          <a:p>
            <a:pPr lvl="1" eaLnBrk="1" hangingPunct="1"/>
            <a:r>
              <a:rPr lang="en-US" altLang="en-US"/>
              <a:t>Whether or not the collection allows duplicate objects </a:t>
            </a:r>
          </a:p>
          <a:p>
            <a:pPr lvl="1" eaLnBrk="1" hangingPunct="1"/>
            <a:r>
              <a:rPr lang="en-US" altLang="en-US"/>
              <a:t>Collection will automatically reject an attempt to add an object</a:t>
            </a:r>
          </a:p>
          <a:p>
            <a:pPr eaLnBrk="1" hangingPunct="1"/>
            <a:endParaRPr lang="en-US" altLang="en-US" sz="1800"/>
          </a:p>
          <a:p>
            <a:pPr eaLnBrk="1" hangingPunct="1"/>
            <a:r>
              <a:rPr lang="en-US" altLang="en-US" sz="1800" b="1" u="sng"/>
              <a:t>Mapping of Key &amp; Value</a:t>
            </a:r>
          </a:p>
          <a:p>
            <a:pPr lvl="1" eaLnBrk="1" hangingPunct="1"/>
            <a:r>
              <a:rPr lang="en-US" altLang="en-US"/>
              <a:t>Whether or not the collection maps a key to a particular object .</a:t>
            </a:r>
          </a:p>
          <a:p>
            <a:pPr lvl="1" eaLnBrk="1" hangingPunct="1"/>
            <a:r>
              <a:rPr lang="en-US" altLang="en-US"/>
              <a:t>This provides a means of quickly locating the object.</a:t>
            </a:r>
          </a:p>
          <a:p>
            <a:pPr lvl="1" eaLnBrk="1" hangingPunct="1"/>
            <a:r>
              <a:rPr lang="en-US" altLang="en-US"/>
              <a:t>Such collections do not allow duplicate objects </a:t>
            </a:r>
          </a:p>
          <a:p>
            <a:pPr eaLnBrk="1" hangingPunct="1"/>
            <a:endParaRPr lang="en-US" altLang="en-US" sz="1800"/>
          </a:p>
          <a:p>
            <a:pPr eaLnBrk="1" hangingPunct="1"/>
            <a:endParaRPr lang="en-US" altLang="en-US" sz="1800"/>
          </a:p>
        </p:txBody>
      </p:sp>
    </p:spTree>
  </p:cSld>
  <p:clrMapOvr>
    <a:masterClrMapping/>
  </p:clrMapOvr>
  <p:transition advClick="0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1026">
            <a:extLst>
              <a:ext uri="{FF2B5EF4-FFF2-40B4-BE49-F238E27FC236}">
                <a16:creationId xmlns:a16="http://schemas.microsoft.com/office/drawing/2014/main" id="{B745AD50-670D-0087-597A-B09C87D2DCF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800"/>
              <a:t>Collection Interface</a:t>
            </a:r>
          </a:p>
        </p:txBody>
      </p:sp>
      <p:sp>
        <p:nvSpPr>
          <p:cNvPr id="21507" name="Rectangle 1027">
            <a:extLst>
              <a:ext uri="{FF2B5EF4-FFF2-40B4-BE49-F238E27FC236}">
                <a16:creationId xmlns:a16="http://schemas.microsoft.com/office/drawing/2014/main" id="{E3F3D8A0-0300-939D-4CD5-9DC792A5284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1800"/>
              <a:t>The root interface in the </a:t>
            </a:r>
            <a:r>
              <a:rPr lang="en-US" altLang="en-US" sz="1800" i="1"/>
              <a:t>collection hierarchy</a:t>
            </a:r>
            <a:r>
              <a:rPr lang="en-US" altLang="en-US" sz="1800"/>
              <a:t>.</a:t>
            </a:r>
          </a:p>
          <a:p>
            <a:pPr eaLnBrk="1" hangingPunct="1"/>
            <a:endParaRPr lang="en-US" altLang="en-US" sz="1800"/>
          </a:p>
          <a:p>
            <a:pPr eaLnBrk="1" hangingPunct="1"/>
            <a:r>
              <a:rPr lang="en-US" altLang="en-US" sz="1800"/>
              <a:t>Represents a group of objects, known as its </a:t>
            </a:r>
            <a:r>
              <a:rPr lang="en-US" altLang="en-US" sz="1800" i="1"/>
              <a:t>elements</a:t>
            </a:r>
            <a:r>
              <a:rPr lang="en-US" altLang="en-US" sz="1800"/>
              <a:t>. </a:t>
            </a:r>
          </a:p>
          <a:p>
            <a:pPr eaLnBrk="1" hangingPunct="1"/>
            <a:endParaRPr lang="en-US" altLang="en-US" sz="1800"/>
          </a:p>
          <a:p>
            <a:pPr eaLnBrk="1" hangingPunct="1"/>
            <a:r>
              <a:rPr lang="en-US" altLang="en-US" sz="1800"/>
              <a:t>There is no </a:t>
            </a:r>
            <a:r>
              <a:rPr lang="en-US" altLang="en-US" sz="1800" i="1"/>
              <a:t>direct</a:t>
            </a:r>
            <a:r>
              <a:rPr lang="en-US" altLang="en-US" sz="1800"/>
              <a:t> implementation the more specific sub-interfaces are Set and List.</a:t>
            </a:r>
          </a:p>
          <a:p>
            <a:pPr eaLnBrk="1" hangingPunct="1"/>
            <a:endParaRPr lang="en-US" altLang="en-US" sz="1800"/>
          </a:p>
          <a:p>
            <a:pPr eaLnBrk="1" hangingPunct="1"/>
            <a:r>
              <a:rPr lang="en-US" altLang="en-US" sz="1800"/>
              <a:t>This interface is typically used to pass collections around and manipulate them </a:t>
            </a:r>
          </a:p>
        </p:txBody>
      </p:sp>
    </p:spTree>
  </p:cSld>
  <p:clrMapOvr>
    <a:masterClrMapping/>
  </p:clrMapOvr>
  <p:transition advClick="0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3695C3FB-1CB3-1627-66EC-779F3B5D573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800"/>
              <a:t>List  Interface</a:t>
            </a:r>
          </a:p>
        </p:txBody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4360C7EA-3E01-F5D1-E7CF-5DDE8F9D435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1800"/>
              <a:t>can contain only Objects </a:t>
            </a:r>
          </a:p>
          <a:p>
            <a:pPr eaLnBrk="1" hangingPunct="1"/>
            <a:endParaRPr lang="en-US" altLang="en-US" sz="1800"/>
          </a:p>
          <a:p>
            <a:pPr eaLnBrk="1" hangingPunct="1"/>
            <a:r>
              <a:rPr lang="en-US" altLang="en-US" sz="1800"/>
              <a:t>An ordered collection </a:t>
            </a:r>
          </a:p>
          <a:p>
            <a:pPr eaLnBrk="1" hangingPunct="1"/>
            <a:endParaRPr lang="en-US" altLang="en-US" sz="1800"/>
          </a:p>
          <a:p>
            <a:pPr eaLnBrk="1" hangingPunct="1"/>
            <a:r>
              <a:rPr lang="en-US" altLang="en-US" sz="1800"/>
              <a:t>Elements can be accessed by their integer index (position in the list)</a:t>
            </a:r>
          </a:p>
          <a:p>
            <a:pPr eaLnBrk="1" hangingPunct="1"/>
            <a:endParaRPr lang="en-US" altLang="en-US" sz="1800"/>
          </a:p>
          <a:p>
            <a:pPr eaLnBrk="1" hangingPunct="1"/>
            <a:r>
              <a:rPr lang="en-US" altLang="en-US" sz="1800"/>
              <a:t>Lists typically allow duplicate and null elements. </a:t>
            </a:r>
          </a:p>
          <a:p>
            <a:pPr eaLnBrk="1" hangingPunct="1"/>
            <a:endParaRPr lang="en-US" altLang="en-US" sz="1800"/>
          </a:p>
          <a:p>
            <a:pPr eaLnBrk="1" hangingPunct="1"/>
            <a:r>
              <a:rPr lang="en-US" altLang="en-US" sz="1800"/>
              <a:t>Iterating over the elements in a list is typically preferable to indexing </a:t>
            </a:r>
          </a:p>
        </p:txBody>
      </p:sp>
    </p:spTree>
  </p:cSld>
  <p:clrMapOvr>
    <a:masterClrMapping/>
  </p:clrMapOvr>
  <p:transition advClick="0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9AF1E75D-EDB4-30A3-E2F5-601E388BC95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800"/>
              <a:t>Methods in List Interface</a:t>
            </a:r>
          </a:p>
        </p:txBody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5B5DE2BE-CEBB-140F-6E8B-EC4422F2465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en-US" altLang="en-US" sz="1800"/>
              <a:t>void </a:t>
            </a:r>
            <a:r>
              <a:rPr lang="en-US" altLang="en-US" sz="1800" b="1"/>
              <a:t>add</a:t>
            </a:r>
            <a:r>
              <a:rPr lang="en-US" altLang="en-US" sz="1800"/>
              <a:t>(object o)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en-US" sz="1800"/>
              <a:t>void </a:t>
            </a:r>
            <a:r>
              <a:rPr lang="en-US" altLang="en-US" sz="1800" b="1"/>
              <a:t>addAll</a:t>
            </a:r>
            <a:r>
              <a:rPr lang="en-US" altLang="en-US" sz="1800"/>
              <a:t>(Collection c)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en-US" sz="1800"/>
              <a:t>void </a:t>
            </a:r>
            <a:r>
              <a:rPr lang="en-US" altLang="en-US" sz="1800" b="1"/>
              <a:t>clear()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en-US" sz="1800"/>
              <a:t>boolean </a:t>
            </a:r>
            <a:r>
              <a:rPr lang="en-US" altLang="en-US" sz="1800" b="1"/>
              <a:t>contains</a:t>
            </a:r>
            <a:r>
              <a:rPr lang="en-US" altLang="en-US" sz="1800"/>
              <a:t>(object)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en-US" sz="1800"/>
              <a:t>Object </a:t>
            </a:r>
            <a:r>
              <a:rPr lang="en-US" altLang="en-US" sz="1800" b="1"/>
              <a:t>get</a:t>
            </a:r>
            <a:r>
              <a:rPr lang="en-US" altLang="en-US" sz="1800"/>
              <a:t>(int index)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en-US" sz="1800"/>
              <a:t>int </a:t>
            </a:r>
            <a:r>
              <a:rPr lang="en-US" altLang="en-US" sz="1800" b="1"/>
              <a:t>indexOf</a:t>
            </a:r>
            <a:r>
              <a:rPr lang="en-US" altLang="en-US" sz="1800"/>
              <a:t>(object o)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en-US" sz="1800"/>
              <a:t>ListIterator </a:t>
            </a:r>
            <a:r>
              <a:rPr lang="en-US" altLang="en-US" sz="1800" b="1"/>
              <a:t>listIterator</a:t>
            </a:r>
            <a:r>
              <a:rPr lang="en-US" altLang="en-US" sz="1800"/>
              <a:t>()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en-US" sz="1800"/>
              <a:t>Object </a:t>
            </a:r>
            <a:r>
              <a:rPr lang="en-US" altLang="en-US" sz="1800" b="1"/>
              <a:t>set</a:t>
            </a:r>
            <a:r>
              <a:rPr lang="en-US" altLang="en-US" sz="1800"/>
              <a:t> (int index, Object element</a:t>
            </a:r>
            <a:r>
              <a:rPr lang="en-US" altLang="en-US" sz="1200"/>
              <a:t>)</a:t>
            </a:r>
          </a:p>
          <a:p>
            <a:pPr eaLnBrk="1" hangingPunct="1">
              <a:lnSpc>
                <a:spcPct val="120000"/>
              </a:lnSpc>
            </a:pPr>
            <a:endParaRPr lang="en-US" altLang="en-US" sz="1200"/>
          </a:p>
        </p:txBody>
      </p:sp>
    </p:spTree>
  </p:cSld>
  <p:clrMapOvr>
    <a:masterClrMapping/>
  </p:clrMapOvr>
  <p:transition advClick="0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1026">
            <a:extLst>
              <a:ext uri="{FF2B5EF4-FFF2-40B4-BE49-F238E27FC236}">
                <a16:creationId xmlns:a16="http://schemas.microsoft.com/office/drawing/2014/main" id="{CCFFF897-001D-963E-82B7-4807289C0F3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blackWhite">
          <a:noFill/>
        </p:spPr>
        <p:txBody>
          <a:bodyPr lIns="92075" tIns="46038" rIns="92075" bIns="46038"/>
          <a:lstStyle/>
          <a:p>
            <a:pPr eaLnBrk="1" hangingPunct="1"/>
            <a:r>
              <a:rPr lang="en-US" altLang="en-US">
                <a:solidFill>
                  <a:schemeClr val="tx1"/>
                </a:solidFill>
              </a:rPr>
              <a:t>List Implementations</a:t>
            </a:r>
          </a:p>
        </p:txBody>
      </p:sp>
      <p:sp>
        <p:nvSpPr>
          <p:cNvPr id="24579" name="Rectangle 1027">
            <a:extLst>
              <a:ext uri="{FF2B5EF4-FFF2-40B4-BE49-F238E27FC236}">
                <a16:creationId xmlns:a16="http://schemas.microsoft.com/office/drawing/2014/main" id="{5B9832D7-2ED8-6FB6-4D77-9063E153755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 lIns="0" tIns="0" rIns="0" bIns="0"/>
          <a:lstStyle/>
          <a:p>
            <a:pPr eaLnBrk="1" hangingPunct="1">
              <a:lnSpc>
                <a:spcPct val="145000"/>
              </a:lnSpc>
              <a:spcBef>
                <a:spcPct val="0"/>
              </a:spcBef>
            </a:pPr>
            <a:r>
              <a:rPr lang="en-US" altLang="en-US" sz="1800"/>
              <a:t>Array List</a:t>
            </a:r>
          </a:p>
          <a:p>
            <a:pPr lvl="1" eaLnBrk="1" hangingPunct="1">
              <a:lnSpc>
                <a:spcPct val="145000"/>
              </a:lnSpc>
              <a:spcBef>
                <a:spcPct val="0"/>
              </a:spcBef>
            </a:pPr>
            <a:r>
              <a:rPr lang="en-US" altLang="en-US" sz="1800"/>
              <a:t>a resizable-array implementation like Vector</a:t>
            </a:r>
          </a:p>
          <a:p>
            <a:pPr lvl="2" eaLnBrk="1" hangingPunct="1">
              <a:lnSpc>
                <a:spcPct val="145000"/>
              </a:lnSpc>
              <a:spcBef>
                <a:spcPct val="0"/>
              </a:spcBef>
            </a:pPr>
            <a:r>
              <a:rPr lang="en-US" altLang="en-US" sz="1800"/>
              <a:t>unsynchronized</a:t>
            </a:r>
          </a:p>
          <a:p>
            <a:pPr eaLnBrk="1" hangingPunct="1">
              <a:lnSpc>
                <a:spcPct val="145000"/>
              </a:lnSpc>
              <a:spcBef>
                <a:spcPct val="0"/>
              </a:spcBef>
            </a:pPr>
            <a:r>
              <a:rPr lang="en-US" altLang="en-US" sz="1800"/>
              <a:t>Linked List </a:t>
            </a:r>
          </a:p>
          <a:p>
            <a:pPr lvl="1" eaLnBrk="1" hangingPunct="1">
              <a:lnSpc>
                <a:spcPct val="145000"/>
              </a:lnSpc>
              <a:spcBef>
                <a:spcPct val="0"/>
              </a:spcBef>
            </a:pPr>
            <a:r>
              <a:rPr lang="en-US" altLang="en-US" sz="1800"/>
              <a:t>a doubly-linked list implementation</a:t>
            </a:r>
          </a:p>
          <a:p>
            <a:pPr lvl="1" eaLnBrk="1" hangingPunct="1">
              <a:lnSpc>
                <a:spcPct val="145000"/>
              </a:lnSpc>
              <a:spcBef>
                <a:spcPct val="0"/>
              </a:spcBef>
            </a:pPr>
            <a:r>
              <a:rPr lang="en-US" altLang="en-US" sz="1800"/>
              <a:t>if elements frequently inserted/deleted within the List</a:t>
            </a:r>
          </a:p>
          <a:p>
            <a:pPr lvl="2" eaLnBrk="1" hangingPunct="1">
              <a:lnSpc>
                <a:spcPct val="145000"/>
              </a:lnSpc>
              <a:spcBef>
                <a:spcPct val="0"/>
              </a:spcBef>
            </a:pPr>
            <a:r>
              <a:rPr lang="en-US" altLang="en-US" sz="1800"/>
              <a:t>May provide better performance than ArrayList</a:t>
            </a:r>
          </a:p>
          <a:p>
            <a:pPr lvl="1" eaLnBrk="1" hangingPunct="1">
              <a:lnSpc>
                <a:spcPct val="145000"/>
              </a:lnSpc>
              <a:spcBef>
                <a:spcPct val="0"/>
              </a:spcBef>
            </a:pPr>
            <a:r>
              <a:rPr lang="en-US" altLang="en-US" sz="1800"/>
              <a:t>For queues and double-ended queues (deques)</a:t>
            </a:r>
          </a:p>
          <a:p>
            <a:pPr eaLnBrk="1" hangingPunct="1">
              <a:lnSpc>
                <a:spcPct val="145000"/>
              </a:lnSpc>
              <a:spcBef>
                <a:spcPct val="0"/>
              </a:spcBef>
            </a:pPr>
            <a:r>
              <a:rPr lang="en-US" altLang="en-US" sz="1800"/>
              <a:t>Vector </a:t>
            </a:r>
          </a:p>
          <a:p>
            <a:pPr lvl="1" eaLnBrk="1" hangingPunct="1">
              <a:lnSpc>
                <a:spcPct val="145000"/>
              </a:lnSpc>
              <a:spcBef>
                <a:spcPct val="0"/>
              </a:spcBef>
            </a:pPr>
            <a:r>
              <a:rPr lang="en-US" altLang="en-US" sz="1800"/>
              <a:t>a synchronized resizable-array implementation of a List with additional "legacy" methods.</a:t>
            </a:r>
          </a:p>
        </p:txBody>
      </p:sp>
    </p:spTree>
  </p:cSld>
  <p:clrMapOvr>
    <a:masterClrMapping/>
  </p:clrMapOvr>
  <p:transition advClick="0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EC9B84D8-8236-5DBD-D9BF-338F2FFB715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800"/>
              <a:t>Class ArrayList</a:t>
            </a:r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6B0A827E-2A39-619D-39D8-13B69C07FE5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200000"/>
              </a:lnSpc>
            </a:pPr>
            <a:r>
              <a:rPr lang="en-US" altLang="en-US" sz="1800"/>
              <a:t>Resizable-array implementation of the List interface.</a:t>
            </a:r>
          </a:p>
          <a:p>
            <a:pPr eaLnBrk="1" hangingPunct="1">
              <a:lnSpc>
                <a:spcPct val="200000"/>
              </a:lnSpc>
            </a:pPr>
            <a:r>
              <a:rPr lang="en-US" altLang="en-US" sz="1800"/>
              <a:t>permits all elements, including null.</a:t>
            </a:r>
          </a:p>
          <a:p>
            <a:pPr eaLnBrk="1" hangingPunct="1">
              <a:lnSpc>
                <a:spcPct val="200000"/>
              </a:lnSpc>
            </a:pPr>
            <a:r>
              <a:rPr lang="en-US" altLang="en-US" sz="1800"/>
              <a:t> Each ArrayList instance has a </a:t>
            </a:r>
            <a:r>
              <a:rPr lang="en-US" altLang="en-US" sz="1800" i="1"/>
              <a:t>capacity</a:t>
            </a:r>
            <a:r>
              <a:rPr lang="en-US" altLang="en-US" sz="1800"/>
              <a:t>. The capacity is the size of the array used to store the elements in the list. , its capacity grows automatically. </a:t>
            </a:r>
          </a:p>
        </p:txBody>
      </p:sp>
    </p:spTree>
  </p:cSld>
  <p:clrMapOvr>
    <a:masterClrMapping/>
  </p:clrMapOvr>
  <p:transition advClick="0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1026">
            <a:extLst>
              <a:ext uri="{FF2B5EF4-FFF2-40B4-BE49-F238E27FC236}">
                <a16:creationId xmlns:a16="http://schemas.microsoft.com/office/drawing/2014/main" id="{B45F7378-752D-67F3-F82C-E4CAEAD6DB7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800"/>
              <a:t>Class ArrayList</a:t>
            </a:r>
          </a:p>
        </p:txBody>
      </p:sp>
      <p:sp>
        <p:nvSpPr>
          <p:cNvPr id="26627" name="Rectangle 1027">
            <a:extLst>
              <a:ext uri="{FF2B5EF4-FFF2-40B4-BE49-F238E27FC236}">
                <a16:creationId xmlns:a16="http://schemas.microsoft.com/office/drawing/2014/main" id="{B33523A4-0FCF-2D1D-0B7B-C29053B374D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1800" b="1"/>
              <a:t>ArrayList</a:t>
            </a:r>
            <a:r>
              <a:rPr lang="en-US" altLang="en-US" sz="1800"/>
              <a:t>() </a:t>
            </a:r>
            <a:br>
              <a:rPr lang="en-US" altLang="en-US" sz="1800"/>
            </a:br>
            <a:r>
              <a:rPr lang="en-US" altLang="en-US" sz="1800"/>
              <a:t>          Constructs an empty list with an initial capacity of ten.</a:t>
            </a:r>
          </a:p>
          <a:p>
            <a:pPr eaLnBrk="1" hangingPunct="1"/>
            <a:endParaRPr lang="en-US" altLang="en-US" sz="1800" b="1"/>
          </a:p>
          <a:p>
            <a:pPr eaLnBrk="1" hangingPunct="1"/>
            <a:r>
              <a:rPr lang="en-US" altLang="en-US" sz="1800" b="1"/>
              <a:t>ArrayList</a:t>
            </a:r>
            <a:r>
              <a:rPr lang="en-US" altLang="en-US" sz="1800"/>
              <a:t>(Collection c) </a:t>
            </a:r>
            <a:br>
              <a:rPr lang="en-US" altLang="en-US" sz="1800"/>
            </a:br>
            <a:r>
              <a:rPr lang="en-US" altLang="en-US" sz="1800"/>
              <a:t>          Constructs a list containing the elements of the specified collection, in the order they are returned by the collection's iterator.</a:t>
            </a:r>
          </a:p>
          <a:p>
            <a:pPr eaLnBrk="1" hangingPunct="1"/>
            <a:endParaRPr lang="en-US" altLang="en-US" sz="1800" b="1"/>
          </a:p>
          <a:p>
            <a:pPr eaLnBrk="1" hangingPunct="1"/>
            <a:r>
              <a:rPr lang="en-US" altLang="en-US" sz="1800" b="1"/>
              <a:t>ArrayList</a:t>
            </a:r>
            <a:r>
              <a:rPr lang="en-US" altLang="en-US" sz="1800"/>
              <a:t>(int initialCapacity) </a:t>
            </a:r>
            <a:br>
              <a:rPr lang="en-US" altLang="en-US" sz="1800"/>
            </a:br>
            <a:r>
              <a:rPr lang="en-US" altLang="en-US" sz="1800"/>
              <a:t>          Constructs an empty list with the specified initial capacity.</a:t>
            </a:r>
          </a:p>
          <a:p>
            <a:pPr eaLnBrk="1" hangingPunct="1"/>
            <a:endParaRPr lang="en-US" altLang="en-US" sz="1800"/>
          </a:p>
        </p:txBody>
      </p:sp>
    </p:spTree>
  </p:cSld>
  <p:clrMapOvr>
    <a:masterClrMapping/>
  </p:clrMapOvr>
  <p:transition advClick="0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60EFBA34-6695-9378-F2E9-7EEDDB08848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Generics </a:t>
            </a:r>
          </a:p>
        </p:txBody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2CB2B529-65E6-F8DA-37E6-6EC14E21B60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1800"/>
              <a:t>Introduced in Java 5.0</a:t>
            </a:r>
          </a:p>
          <a:p>
            <a:pPr eaLnBrk="1" hangingPunct="1"/>
            <a:endParaRPr lang="en-US" altLang="en-US" sz="1800"/>
          </a:p>
          <a:p>
            <a:pPr eaLnBrk="1" hangingPunct="1"/>
            <a:r>
              <a:rPr lang="en-US" altLang="en-US" sz="1800"/>
              <a:t>Can put </a:t>
            </a:r>
            <a:r>
              <a:rPr lang="en-US" altLang="en-US" sz="1800" b="1"/>
              <a:t>any </a:t>
            </a:r>
            <a:r>
              <a:rPr lang="en-US" altLang="en-US" sz="1800"/>
              <a:t>Object in to Collections, because they hold Just Objects</a:t>
            </a:r>
            <a:endParaRPr lang="en-US" altLang="en-US" sz="1800" b="1"/>
          </a:p>
          <a:p>
            <a:pPr eaLnBrk="1" hangingPunct="1"/>
            <a:endParaRPr lang="en-US" altLang="en-US" sz="1800"/>
          </a:p>
          <a:p>
            <a:pPr eaLnBrk="1" hangingPunct="1"/>
            <a:r>
              <a:rPr lang="en-US" altLang="en-US" sz="1800"/>
              <a:t>Type-safe Collections are created ,ensuring  type-safety at compile time rather than run-time</a:t>
            </a:r>
          </a:p>
          <a:p>
            <a:pPr eaLnBrk="1" hangingPunct="1"/>
            <a:endParaRPr lang="en-US" altLang="en-US" sz="1800"/>
          </a:p>
          <a:p>
            <a:pPr eaLnBrk="1" hangingPunct="1"/>
            <a:r>
              <a:rPr lang="en-US" altLang="en-US" sz="1800" u="sng"/>
              <a:t>Creating an Instance of Classes of Generic Type</a:t>
            </a:r>
          </a:p>
          <a:p>
            <a:pPr lvl="1" eaLnBrk="1" hangingPunct="1"/>
            <a:endParaRPr lang="en-US" altLang="en-US" sz="1800" b="1"/>
          </a:p>
          <a:p>
            <a:pPr lvl="1" eaLnBrk="1" hangingPunct="1"/>
            <a:r>
              <a:rPr lang="en-US" altLang="en-US" sz="1800" b="1">
                <a:latin typeface="Courier New" panose="02070309020205020404" pitchFamily="49" charset="0"/>
              </a:rPr>
              <a:t>new ArrayList&lt;Employee&gt;</a:t>
            </a:r>
          </a:p>
          <a:p>
            <a:pPr lvl="1" eaLnBrk="1" hangingPunct="1"/>
            <a:endParaRPr lang="en-US" altLang="en-US">
              <a:latin typeface="Courier New" panose="02070309020205020404" pitchFamily="49" charset="0"/>
            </a:endParaRPr>
          </a:p>
          <a:p>
            <a:pPr lvl="1" eaLnBrk="1" hangingPunct="1"/>
            <a:endParaRPr lang="en-US" altLang="en-US" b="1">
              <a:latin typeface="Courier New" panose="02070309020205020404" pitchFamily="49" charset="0"/>
            </a:endParaRPr>
          </a:p>
          <a:p>
            <a:pPr lvl="1" eaLnBrk="1" hangingPunct="1"/>
            <a:r>
              <a:rPr lang="en-US" altLang="en-US" b="1">
                <a:latin typeface="Courier New" panose="02070309020205020404" pitchFamily="49" charset="0"/>
              </a:rPr>
              <a:t>ArrayList&lt;Employee&gt; mylist = new ArrayList&lt;Employee&gt;();</a:t>
            </a:r>
          </a:p>
          <a:p>
            <a:pPr lvl="1" eaLnBrk="1" hangingPunct="1"/>
            <a:endParaRPr lang="en-US" altLang="en-US" sz="1800" b="1"/>
          </a:p>
          <a:p>
            <a:pPr eaLnBrk="1" hangingPunct="1"/>
            <a:endParaRPr lang="en-US" altLang="en-US" sz="1800"/>
          </a:p>
          <a:p>
            <a:pPr eaLnBrk="1" hangingPunct="1"/>
            <a:endParaRPr lang="en-US" altLang="en-US" sz="1800"/>
          </a:p>
        </p:txBody>
      </p:sp>
    </p:spTree>
  </p:cSld>
  <p:clrMapOvr>
    <a:masterClrMapping/>
  </p:clrMapOvr>
  <p:transition advClick="0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1">
            <a:extLst>
              <a:ext uri="{FF2B5EF4-FFF2-40B4-BE49-F238E27FC236}">
                <a16:creationId xmlns:a16="http://schemas.microsoft.com/office/drawing/2014/main" id="{4E675FCA-70AE-CB81-D2EE-363AD057B6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altLang="en-US" b="1" dirty="0"/>
            </a:br>
            <a:br>
              <a:rPr lang="en-US" altLang="en-US" b="1" dirty="0"/>
            </a:br>
            <a:r>
              <a:rPr lang="en-US" altLang="en-US" b="1" dirty="0"/>
              <a:t>Diamond operator</a:t>
            </a:r>
            <a:br>
              <a:rPr lang="en-US" altLang="en-US" b="1" dirty="0"/>
            </a:br>
            <a:endParaRPr lang="en-US" altLang="en-US" dirty="0"/>
          </a:p>
        </p:txBody>
      </p:sp>
      <p:sp>
        <p:nvSpPr>
          <p:cNvPr id="28675" name="Content Placeholder 2">
            <a:extLst>
              <a:ext uri="{FF2B5EF4-FFF2-40B4-BE49-F238E27FC236}">
                <a16:creationId xmlns:a16="http://schemas.microsoft.com/office/drawing/2014/main" id="{A184CFB5-BA3E-9D7D-A2D4-EAF7E01202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en-US" sz="1800" dirty="0"/>
          </a:p>
          <a:p>
            <a:r>
              <a:rPr lang="en-US" altLang="en-US" sz="1800" dirty="0"/>
              <a:t>The pair of angle brackets is informally </a:t>
            </a:r>
            <a:r>
              <a:rPr lang="en-US" altLang="en-US" sz="1800" b="1" dirty="0"/>
              <a:t>called</a:t>
            </a:r>
            <a:r>
              <a:rPr lang="en-US" altLang="en-US" sz="1800" dirty="0"/>
              <a:t> the </a:t>
            </a:r>
            <a:r>
              <a:rPr lang="en-US" altLang="en-US" sz="1800" b="1" dirty="0"/>
              <a:t>diamond</a:t>
            </a:r>
            <a:r>
              <a:rPr lang="en-US" altLang="en-US" sz="1800" dirty="0"/>
              <a:t>.</a:t>
            </a:r>
          </a:p>
          <a:p>
            <a:endParaRPr lang="en-US" altLang="en-US" sz="1800" dirty="0"/>
          </a:p>
          <a:p>
            <a:r>
              <a:rPr lang="en-US" altLang="en-US" sz="1800" dirty="0"/>
              <a:t>Map&lt;String, List&lt;String&gt;&gt; </a:t>
            </a:r>
            <a:r>
              <a:rPr lang="en-US" altLang="en-US" sz="1800" dirty="0" err="1"/>
              <a:t>myMap</a:t>
            </a:r>
            <a:r>
              <a:rPr lang="en-US" altLang="en-US" sz="1800" dirty="0"/>
              <a:t> = new HashMap&lt;String, List&lt;String&gt;&gt;(); </a:t>
            </a:r>
          </a:p>
          <a:p>
            <a:endParaRPr lang="en-US" altLang="en-US" sz="1800" b="1" dirty="0"/>
          </a:p>
          <a:p>
            <a:r>
              <a:rPr lang="en-US" altLang="en-US" sz="1800" b="1" dirty="0"/>
              <a:t>Java SE 7</a:t>
            </a:r>
          </a:p>
          <a:p>
            <a:endParaRPr lang="en-US" altLang="en-US" sz="1800" dirty="0"/>
          </a:p>
          <a:p>
            <a:pPr lvl="1"/>
            <a:r>
              <a:rPr lang="en-US" altLang="en-US" sz="2000" dirty="0"/>
              <a:t>Map&lt;String, List&lt;String&gt;&gt; </a:t>
            </a:r>
            <a:r>
              <a:rPr lang="en-US" altLang="en-US" sz="2000" dirty="0" err="1"/>
              <a:t>myMap</a:t>
            </a:r>
            <a:r>
              <a:rPr lang="en-US" altLang="en-US" sz="2000" dirty="0"/>
              <a:t> = new HashMap</a:t>
            </a:r>
            <a:r>
              <a:rPr lang="en-US" altLang="en-US" sz="2000" b="1" dirty="0">
                <a:solidFill>
                  <a:schemeClr val="bg1">
                    <a:lumMod val="75000"/>
                  </a:schemeClr>
                </a:solidFill>
              </a:rPr>
              <a:t>&lt;&gt;</a:t>
            </a:r>
            <a:r>
              <a:rPr lang="en-US" altLang="en-US" sz="2000" dirty="0"/>
              <a:t>();</a:t>
            </a:r>
          </a:p>
          <a:p>
            <a:pPr lvl="1"/>
            <a:endParaRPr lang="en-US" altLang="en-US" sz="2000" dirty="0"/>
          </a:p>
          <a:p>
            <a:r>
              <a:rPr lang="en-US" altLang="en-US" sz="1800" b="1" i="1" dirty="0">
                <a:solidFill>
                  <a:srgbClr val="C00000"/>
                </a:solidFill>
              </a:rPr>
              <a:t>unchecked conversion warning </a:t>
            </a:r>
          </a:p>
          <a:p>
            <a:pPr lvl="1"/>
            <a:endParaRPr lang="en-US" altLang="en-US" sz="2000" dirty="0"/>
          </a:p>
          <a:p>
            <a:pPr lvl="1"/>
            <a:r>
              <a:rPr lang="en-US" altLang="en-US" sz="2000" dirty="0"/>
              <a:t>Map&lt;String, List&lt;String&gt;&gt; </a:t>
            </a:r>
            <a:r>
              <a:rPr lang="en-US" altLang="en-US" sz="2000" dirty="0" err="1"/>
              <a:t>myMap</a:t>
            </a:r>
            <a:r>
              <a:rPr lang="en-US" altLang="en-US" sz="2000" dirty="0"/>
              <a:t> = new HashMap(); </a:t>
            </a:r>
            <a:endParaRPr lang="en-US" altLang="en-US" sz="2400" dirty="0"/>
          </a:p>
        </p:txBody>
      </p:sp>
    </p:spTree>
  </p:cSld>
  <p:clrMapOvr>
    <a:masterClrMapping/>
  </p:clrMapOvr>
  <p:transition advClick="0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52BFE0D8-5EA6-2FB3-B85F-F2CA2BBC6C6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800" b="1"/>
              <a:t>Two Schemes of Traversing Collections</a:t>
            </a:r>
          </a:p>
        </p:txBody>
      </p:sp>
      <p:sp>
        <p:nvSpPr>
          <p:cNvPr id="32771" name="Rectangle 3">
            <a:extLst>
              <a:ext uri="{FF2B5EF4-FFF2-40B4-BE49-F238E27FC236}">
                <a16:creationId xmlns:a16="http://schemas.microsoft.com/office/drawing/2014/main" id="{C2665729-E8B0-58B7-CF50-C9CB9BDA4A0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1800" b="1"/>
              <a:t>for-each</a:t>
            </a:r>
          </a:p>
          <a:p>
            <a:pPr eaLnBrk="1" hangingPunct="1"/>
            <a:endParaRPr lang="en-US" altLang="en-US" sz="1800" b="1"/>
          </a:p>
          <a:p>
            <a:pPr lvl="1" eaLnBrk="1" hangingPunct="1"/>
            <a:r>
              <a:rPr lang="en-US" altLang="en-US" sz="1800"/>
              <a:t>The for-each construct allows you to concisely traverse a collection or array using a for loop</a:t>
            </a:r>
          </a:p>
          <a:p>
            <a:pPr eaLnBrk="1" hangingPunct="1"/>
            <a:endParaRPr lang="en-US" altLang="en-US" sz="1800"/>
          </a:p>
          <a:p>
            <a:pPr eaLnBrk="1" hangingPunct="1"/>
            <a:r>
              <a:rPr lang="en-US" altLang="en-US" sz="1800" b="1"/>
              <a:t>for (Object o: collection)</a:t>
            </a:r>
          </a:p>
          <a:p>
            <a:pPr eaLnBrk="1" hangingPunct="1"/>
            <a:endParaRPr lang="en-US" altLang="en-US" sz="1800"/>
          </a:p>
          <a:p>
            <a:pPr lvl="1" eaLnBrk="1" hangingPunct="1"/>
            <a:r>
              <a:rPr lang="en-US" altLang="en-US" sz="1800"/>
              <a:t>System.out.println(o);</a:t>
            </a:r>
          </a:p>
          <a:p>
            <a:pPr eaLnBrk="1" hangingPunct="1"/>
            <a:endParaRPr lang="en-US" altLang="en-US" sz="1800" b="1"/>
          </a:p>
          <a:p>
            <a:pPr eaLnBrk="1" hangingPunct="1"/>
            <a:r>
              <a:rPr lang="en-US" altLang="en-US" sz="1800" b="1"/>
              <a:t>Iterator</a:t>
            </a:r>
          </a:p>
          <a:p>
            <a:pPr eaLnBrk="1" hangingPunct="1"/>
            <a:endParaRPr lang="en-US" altLang="en-US" sz="1800"/>
          </a:p>
          <a:p>
            <a:pPr lvl="1" eaLnBrk="1" hangingPunct="1"/>
            <a:r>
              <a:rPr lang="en-US" altLang="en-US" sz="1800"/>
              <a:t>An Iterator is an object that enables you to traverse through a collection and to remove elements from the collection selectively, if desired</a:t>
            </a:r>
          </a:p>
        </p:txBody>
      </p:sp>
    </p:spTree>
  </p:cSld>
  <p:clrMapOvr>
    <a:masterClrMapping/>
  </p:clrMapOvr>
  <p:transition advClick="0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>
            <a:extLst>
              <a:ext uri="{FF2B5EF4-FFF2-40B4-BE49-F238E27FC236}">
                <a16:creationId xmlns:a16="http://schemas.microsoft.com/office/drawing/2014/main" id="{C34F9F7B-6D8B-A40C-8B84-4EF5522F45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The Iterator Interface</a:t>
            </a:r>
          </a:p>
        </p:txBody>
      </p:sp>
      <p:sp>
        <p:nvSpPr>
          <p:cNvPr id="34819" name="Rectangle 3">
            <a:extLst>
              <a:ext uri="{FF2B5EF4-FFF2-40B4-BE49-F238E27FC236}">
                <a16:creationId xmlns:a16="http://schemas.microsoft.com/office/drawing/2014/main" id="{2348C14E-2216-F168-34BB-F22EBB704D2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ko-KR" sz="1800">
                <a:ea typeface="Batang" panose="02030600000101010101" pitchFamily="18" charset="-127"/>
              </a:rPr>
              <a:t>Provides for the one-way traversal of a </a:t>
            </a:r>
            <a:r>
              <a:rPr lang="en-US" altLang="ko-KR" sz="1800">
                <a:ea typeface="굴림" panose="020B0600000101010101" pitchFamily="34" charset="-127"/>
              </a:rPr>
              <a:t>Set</a:t>
            </a:r>
            <a:r>
              <a:rPr lang="en-US" altLang="ko-KR" sz="1800">
                <a:ea typeface="Batang" panose="02030600000101010101" pitchFamily="18" charset="-127"/>
              </a:rPr>
              <a:t> or </a:t>
            </a:r>
            <a:r>
              <a:rPr lang="en-US" altLang="ko-KR" sz="1800">
                <a:ea typeface="굴림" panose="020B0600000101010101" pitchFamily="34" charset="-127"/>
              </a:rPr>
              <a:t>SortedSet</a:t>
            </a:r>
            <a:r>
              <a:rPr lang="en-US" altLang="ko-KR" sz="1800">
                <a:ea typeface="Batang" panose="02030600000101010101" pitchFamily="18" charset="-127"/>
              </a:rPr>
              <a:t> collection (forward only) </a:t>
            </a:r>
          </a:p>
          <a:p>
            <a:pPr eaLnBrk="1" hangingPunct="1"/>
            <a:r>
              <a:rPr lang="en-US" altLang="ko-KR" sz="1800">
                <a:ea typeface="Batang" panose="02030600000101010101" pitchFamily="18" charset="-127"/>
              </a:rPr>
              <a:t>Has several required methods but the most frequently used are: </a:t>
            </a:r>
          </a:p>
          <a:p>
            <a:pPr eaLnBrk="1" hangingPunct="1"/>
            <a:endParaRPr lang="en-US" altLang="ko-KR" sz="1800">
              <a:ea typeface="Batang" panose="02030600000101010101" pitchFamily="18" charset="-127"/>
            </a:endParaRPr>
          </a:p>
          <a:p>
            <a:pPr eaLnBrk="1" hangingPunct="1"/>
            <a:endParaRPr lang="en-US" altLang="ko-KR" sz="1800">
              <a:ea typeface="Batang" panose="02030600000101010101" pitchFamily="18" charset="-127"/>
            </a:endParaRPr>
          </a:p>
          <a:p>
            <a:pPr eaLnBrk="1" hangingPunct="1"/>
            <a:endParaRPr lang="en-US" altLang="en-US" sz="1800"/>
          </a:p>
          <a:p>
            <a:pPr eaLnBrk="1" hangingPunct="1"/>
            <a:endParaRPr lang="en-US" altLang="en-US" sz="1800"/>
          </a:p>
        </p:txBody>
      </p:sp>
      <p:grpSp>
        <p:nvGrpSpPr>
          <p:cNvPr id="34820" name="Group 60">
            <a:extLst>
              <a:ext uri="{FF2B5EF4-FFF2-40B4-BE49-F238E27FC236}">
                <a16:creationId xmlns:a16="http://schemas.microsoft.com/office/drawing/2014/main" id="{2698F31B-1802-BAB8-7455-CEB6D309943A}"/>
              </a:ext>
            </a:extLst>
          </p:cNvPr>
          <p:cNvGrpSpPr>
            <a:grpSpLocks/>
          </p:cNvGrpSpPr>
          <p:nvPr/>
        </p:nvGrpSpPr>
        <p:grpSpPr bwMode="auto">
          <a:xfrm>
            <a:off x="911225" y="2525713"/>
            <a:ext cx="7323138" cy="1808162"/>
            <a:chOff x="-3" y="-3"/>
            <a:chExt cx="4613" cy="1139"/>
          </a:xfrm>
        </p:grpSpPr>
        <p:grpSp>
          <p:nvGrpSpPr>
            <p:cNvPr id="34821" name="Group 58">
              <a:extLst>
                <a:ext uri="{FF2B5EF4-FFF2-40B4-BE49-F238E27FC236}">
                  <a16:creationId xmlns:a16="http://schemas.microsoft.com/office/drawing/2014/main" id="{F408D40F-8FF5-DEF3-FA0A-52BCE6DA4C8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0"/>
              <a:ext cx="4607" cy="1133"/>
              <a:chOff x="0" y="0"/>
              <a:chExt cx="4607" cy="1133"/>
            </a:xfrm>
          </p:grpSpPr>
          <p:grpSp>
            <p:nvGrpSpPr>
              <p:cNvPr id="34823" name="Group 45">
                <a:extLst>
                  <a:ext uri="{FF2B5EF4-FFF2-40B4-BE49-F238E27FC236}">
                    <a16:creationId xmlns:a16="http://schemas.microsoft.com/office/drawing/2014/main" id="{42990C0D-B7D7-7200-E118-8BBECA418FA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0"/>
                <a:ext cx="1225" cy="365"/>
                <a:chOff x="0" y="0"/>
                <a:chExt cx="1225" cy="365"/>
              </a:xfrm>
            </p:grpSpPr>
            <p:sp>
              <p:nvSpPr>
                <p:cNvPr id="34841" name="Rectangle 44">
                  <a:extLst>
                    <a:ext uri="{FF2B5EF4-FFF2-40B4-BE49-F238E27FC236}">
                      <a16:creationId xmlns:a16="http://schemas.microsoft.com/office/drawing/2014/main" id="{7DB4E93C-C8BC-E334-F892-32B1116AC1B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1225" cy="365"/>
                </a:xfrm>
                <a:prstGeom prst="rect">
                  <a:avLst/>
                </a:pr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US" altLang="en-US"/>
                </a:p>
              </p:txBody>
            </p:sp>
            <p:grpSp>
              <p:nvGrpSpPr>
                <p:cNvPr id="34842" name="Group 43">
                  <a:extLst>
                    <a:ext uri="{FF2B5EF4-FFF2-40B4-BE49-F238E27FC236}">
                      <a16:creationId xmlns:a16="http://schemas.microsoft.com/office/drawing/2014/main" id="{FD72359E-DD2B-CCEB-9979-1EEAC28209BF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0" y="0"/>
                  <a:ext cx="1225" cy="365"/>
                  <a:chOff x="0" y="0"/>
                  <a:chExt cx="1225" cy="365"/>
                </a:xfrm>
              </p:grpSpPr>
              <p:sp>
                <p:nvSpPr>
                  <p:cNvPr id="34843" name="Rectangle 36">
                    <a:extLst>
                      <a:ext uri="{FF2B5EF4-FFF2-40B4-BE49-F238E27FC236}">
                        <a16:creationId xmlns:a16="http://schemas.microsoft.com/office/drawing/2014/main" id="{F927E50A-4051-204C-443E-01DCDCF00E1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0" y="0"/>
                    <a:ext cx="1225" cy="365"/>
                  </a:xfrm>
                  <a:prstGeom prst="rect">
                    <a:avLst/>
                  </a:pr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>
                    <a:lvl1pPr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r>
                      <a:rPr lang="en-US" altLang="ko-KR" sz="1600" b="1">
                        <a:solidFill>
                          <a:srgbClr val="000000"/>
                        </a:solidFill>
                        <a:latin typeface="Verdana" panose="020B0604030504040204" pitchFamily="34" charset="0"/>
                        <a:ea typeface="굴림" panose="020B0600000101010101" pitchFamily="34" charset="-127"/>
                      </a:rPr>
                      <a:t>Method</a:t>
                    </a:r>
                    <a:endParaRPr lang="en-US" altLang="ko-KR" sz="1600">
                      <a:latin typeface="Times New Roman" panose="02020603050405020304" pitchFamily="18" charset="0"/>
                      <a:ea typeface="굴림" panose="020B0600000101010101" pitchFamily="34" charset="-127"/>
                    </a:endParaRPr>
                  </a:p>
                  <a:p>
                    <a:endParaRPr lang="en-US" altLang="ko-KR" sz="1600">
                      <a:latin typeface="Times New Roman" panose="02020603050405020304" pitchFamily="18" charset="0"/>
                      <a:ea typeface="굴림" panose="020B0600000101010101" pitchFamily="34" charset="-127"/>
                    </a:endParaRPr>
                  </a:p>
                </p:txBody>
              </p:sp>
              <p:sp>
                <p:nvSpPr>
                  <p:cNvPr id="34844" name="Rectangle 42">
                    <a:extLst>
                      <a:ext uri="{FF2B5EF4-FFF2-40B4-BE49-F238E27FC236}">
                        <a16:creationId xmlns:a16="http://schemas.microsoft.com/office/drawing/2014/main" id="{6BFD639B-8385-4A4D-7217-5AC3EF0ABE1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0" y="0"/>
                    <a:ext cx="1225" cy="365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>
                    <a:lvl1pPr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endParaRPr lang="en-US" altLang="en-US"/>
                  </a:p>
                </p:txBody>
              </p:sp>
            </p:grpSp>
          </p:grpSp>
          <p:grpSp>
            <p:nvGrpSpPr>
              <p:cNvPr id="34824" name="Group 49">
                <a:extLst>
                  <a:ext uri="{FF2B5EF4-FFF2-40B4-BE49-F238E27FC236}">
                    <a16:creationId xmlns:a16="http://schemas.microsoft.com/office/drawing/2014/main" id="{B3120C50-D81F-B4C1-FC05-076F9E7E828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225" y="0"/>
                <a:ext cx="3382" cy="365"/>
                <a:chOff x="1225" y="0"/>
                <a:chExt cx="3382" cy="365"/>
              </a:xfrm>
            </p:grpSpPr>
            <p:sp>
              <p:nvSpPr>
                <p:cNvPr id="34837" name="Rectangle 48">
                  <a:extLst>
                    <a:ext uri="{FF2B5EF4-FFF2-40B4-BE49-F238E27FC236}">
                      <a16:creationId xmlns:a16="http://schemas.microsoft.com/office/drawing/2014/main" id="{61A04A80-C265-E706-049D-5C03B6CD614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25" y="0"/>
                  <a:ext cx="3382" cy="365"/>
                </a:xfrm>
                <a:prstGeom prst="rect">
                  <a:avLst/>
                </a:pr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US" altLang="en-US"/>
                </a:p>
              </p:txBody>
            </p:sp>
            <p:grpSp>
              <p:nvGrpSpPr>
                <p:cNvPr id="34838" name="Group 47">
                  <a:extLst>
                    <a:ext uri="{FF2B5EF4-FFF2-40B4-BE49-F238E27FC236}">
                      <a16:creationId xmlns:a16="http://schemas.microsoft.com/office/drawing/2014/main" id="{6D14B3B0-4666-DBD6-B121-730FDE800C75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225" y="0"/>
                  <a:ext cx="3382" cy="365"/>
                  <a:chOff x="1225" y="0"/>
                  <a:chExt cx="3382" cy="365"/>
                </a:xfrm>
              </p:grpSpPr>
              <p:sp>
                <p:nvSpPr>
                  <p:cNvPr id="34839" name="Rectangle 37">
                    <a:extLst>
                      <a:ext uri="{FF2B5EF4-FFF2-40B4-BE49-F238E27FC236}">
                        <a16:creationId xmlns:a16="http://schemas.microsoft.com/office/drawing/2014/main" id="{F029969B-2A77-3771-F908-C64B6245295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225" y="0"/>
                    <a:ext cx="3382" cy="365"/>
                  </a:xfrm>
                  <a:prstGeom prst="rect">
                    <a:avLst/>
                  </a:pr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>
                    <a:lvl1pPr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r>
                      <a:rPr lang="en-US" altLang="ko-KR" sz="1600" b="1">
                        <a:solidFill>
                          <a:srgbClr val="000000"/>
                        </a:solidFill>
                        <a:latin typeface="Verdana" panose="020B0604030504040204" pitchFamily="34" charset="0"/>
                        <a:ea typeface="굴림" panose="020B0600000101010101" pitchFamily="34" charset="-127"/>
                      </a:rPr>
                      <a:t>Usage</a:t>
                    </a:r>
                    <a:endParaRPr lang="en-US" altLang="ko-KR" sz="1600">
                      <a:latin typeface="Times New Roman" panose="02020603050405020304" pitchFamily="18" charset="0"/>
                      <a:ea typeface="굴림" panose="020B0600000101010101" pitchFamily="34" charset="-127"/>
                    </a:endParaRPr>
                  </a:p>
                  <a:p>
                    <a:endParaRPr lang="en-US" altLang="ko-KR" sz="1600">
                      <a:latin typeface="Times New Roman" panose="02020603050405020304" pitchFamily="18" charset="0"/>
                      <a:ea typeface="굴림" panose="020B0600000101010101" pitchFamily="34" charset="-127"/>
                    </a:endParaRPr>
                  </a:p>
                </p:txBody>
              </p:sp>
              <p:sp>
                <p:nvSpPr>
                  <p:cNvPr id="34840" name="Rectangle 46">
                    <a:extLst>
                      <a:ext uri="{FF2B5EF4-FFF2-40B4-BE49-F238E27FC236}">
                        <a16:creationId xmlns:a16="http://schemas.microsoft.com/office/drawing/2014/main" id="{B0A2DCD4-0329-3917-CE3B-38724EDC50C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225" y="0"/>
                    <a:ext cx="3382" cy="365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>
                    <a:lvl1pPr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endParaRPr lang="en-US" altLang="en-US"/>
                  </a:p>
                </p:txBody>
              </p:sp>
            </p:grpSp>
          </p:grpSp>
          <p:grpSp>
            <p:nvGrpSpPr>
              <p:cNvPr id="34825" name="Group 51">
                <a:extLst>
                  <a:ext uri="{FF2B5EF4-FFF2-40B4-BE49-F238E27FC236}">
                    <a16:creationId xmlns:a16="http://schemas.microsoft.com/office/drawing/2014/main" id="{23751F99-3BED-04B1-FC26-BFED07F9430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365"/>
                <a:ext cx="1225" cy="384"/>
                <a:chOff x="0" y="365"/>
                <a:chExt cx="1225" cy="384"/>
              </a:xfrm>
            </p:grpSpPr>
            <p:sp>
              <p:nvSpPr>
                <p:cNvPr id="34835" name="Rectangle 38">
                  <a:extLst>
                    <a:ext uri="{FF2B5EF4-FFF2-40B4-BE49-F238E27FC236}">
                      <a16:creationId xmlns:a16="http://schemas.microsoft.com/office/drawing/2014/main" id="{2A2F13D4-FBBA-4640-6D91-C5C559EFE55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365"/>
                  <a:ext cx="1225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r>
                    <a:rPr lang="en-US" altLang="ko-KR" sz="1600">
                      <a:solidFill>
                        <a:srgbClr val="0000FF"/>
                      </a:solidFill>
                      <a:latin typeface="Courier New" panose="02070309020205020404" pitchFamily="49" charset="0"/>
                      <a:ea typeface="굴림" panose="020B0600000101010101" pitchFamily="34" charset="-127"/>
                    </a:rPr>
                    <a:t>hasNext()</a:t>
                  </a:r>
                  <a:endParaRPr lang="en-US" altLang="ko-KR" sz="1600">
                    <a:latin typeface="Times New Roman" panose="02020603050405020304" pitchFamily="18" charset="0"/>
                    <a:ea typeface="굴림" panose="020B0600000101010101" pitchFamily="34" charset="-127"/>
                  </a:endParaRPr>
                </a:p>
                <a:p>
                  <a:endParaRPr lang="en-US" altLang="ko-KR" sz="1600">
                    <a:latin typeface="Times New Roman" panose="02020603050405020304" pitchFamily="18" charset="0"/>
                    <a:ea typeface="굴림" panose="020B0600000101010101" pitchFamily="34" charset="-127"/>
                  </a:endParaRPr>
                </a:p>
              </p:txBody>
            </p:sp>
            <p:sp>
              <p:nvSpPr>
                <p:cNvPr id="34836" name="Rectangle 50">
                  <a:extLst>
                    <a:ext uri="{FF2B5EF4-FFF2-40B4-BE49-F238E27FC236}">
                      <a16:creationId xmlns:a16="http://schemas.microsoft.com/office/drawing/2014/main" id="{097C7FD1-CC95-34E8-8E5F-ABDF220861B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365"/>
                  <a:ext cx="1225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US" altLang="en-US"/>
                </a:p>
              </p:txBody>
            </p:sp>
          </p:grpSp>
          <p:grpSp>
            <p:nvGrpSpPr>
              <p:cNvPr id="34826" name="Group 53">
                <a:extLst>
                  <a:ext uri="{FF2B5EF4-FFF2-40B4-BE49-F238E27FC236}">
                    <a16:creationId xmlns:a16="http://schemas.microsoft.com/office/drawing/2014/main" id="{EA5884D1-61ED-D542-7B96-9F6A32EFA8B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225" y="365"/>
                <a:ext cx="3382" cy="384"/>
                <a:chOff x="1225" y="365"/>
                <a:chExt cx="3382" cy="384"/>
              </a:xfrm>
            </p:grpSpPr>
            <p:sp>
              <p:nvSpPr>
                <p:cNvPr id="34833" name="Rectangle 39">
                  <a:extLst>
                    <a:ext uri="{FF2B5EF4-FFF2-40B4-BE49-F238E27FC236}">
                      <a16:creationId xmlns:a16="http://schemas.microsoft.com/office/drawing/2014/main" id="{523C2B6C-CFBF-F641-8BD1-0017641628C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25" y="365"/>
                  <a:ext cx="3382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l"/>
                  <a:r>
                    <a:rPr lang="en-US" altLang="ko-KR" sz="1600">
                      <a:solidFill>
                        <a:srgbClr val="000000"/>
                      </a:solidFill>
                      <a:latin typeface="Verdana" panose="020B0604030504040204" pitchFamily="34" charset="0"/>
                      <a:ea typeface="굴림" panose="020B0600000101010101" pitchFamily="34" charset="-127"/>
                    </a:rPr>
                    <a:t>Returns </a:t>
                  </a:r>
                  <a:r>
                    <a:rPr lang="en-US" altLang="ko-KR" sz="1600">
                      <a:solidFill>
                        <a:srgbClr val="0000FF"/>
                      </a:solidFill>
                      <a:latin typeface="Courier New" panose="02070309020205020404" pitchFamily="49" charset="0"/>
                      <a:ea typeface="굴림" panose="020B0600000101010101" pitchFamily="34" charset="-127"/>
                    </a:rPr>
                    <a:t>true</a:t>
                  </a:r>
                  <a:r>
                    <a:rPr lang="en-US" altLang="ko-KR" sz="1600">
                      <a:solidFill>
                        <a:srgbClr val="000000"/>
                      </a:solidFill>
                      <a:latin typeface="Verdana" panose="020B0604030504040204" pitchFamily="34" charset="0"/>
                      <a:ea typeface="굴림" panose="020B0600000101010101" pitchFamily="34" charset="-127"/>
                    </a:rPr>
                    <a:t> if the iteration has more elements</a:t>
                  </a:r>
                  <a:endParaRPr lang="en-US" altLang="ko-KR" sz="1600">
                    <a:latin typeface="Times New Roman" panose="02020603050405020304" pitchFamily="18" charset="0"/>
                    <a:ea typeface="굴림" panose="020B0600000101010101" pitchFamily="34" charset="-127"/>
                  </a:endParaRPr>
                </a:p>
                <a:p>
                  <a:pPr algn="l"/>
                  <a:endParaRPr lang="en-US" altLang="ko-KR" sz="1600">
                    <a:latin typeface="Times New Roman" panose="02020603050405020304" pitchFamily="18" charset="0"/>
                    <a:ea typeface="굴림" panose="020B0600000101010101" pitchFamily="34" charset="-127"/>
                  </a:endParaRPr>
                </a:p>
              </p:txBody>
            </p:sp>
            <p:sp>
              <p:nvSpPr>
                <p:cNvPr id="34834" name="Rectangle 52">
                  <a:extLst>
                    <a:ext uri="{FF2B5EF4-FFF2-40B4-BE49-F238E27FC236}">
                      <a16:creationId xmlns:a16="http://schemas.microsoft.com/office/drawing/2014/main" id="{B88E543F-40D0-D351-4A26-1CFFA7E0693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25" y="365"/>
                  <a:ext cx="3382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US" altLang="en-US"/>
                </a:p>
              </p:txBody>
            </p:sp>
          </p:grpSp>
          <p:grpSp>
            <p:nvGrpSpPr>
              <p:cNvPr id="34827" name="Group 55">
                <a:extLst>
                  <a:ext uri="{FF2B5EF4-FFF2-40B4-BE49-F238E27FC236}">
                    <a16:creationId xmlns:a16="http://schemas.microsoft.com/office/drawing/2014/main" id="{F398D661-1017-A5BB-E4D4-3E4C8D8777F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749"/>
                <a:ext cx="1225" cy="384"/>
                <a:chOff x="0" y="749"/>
                <a:chExt cx="1225" cy="384"/>
              </a:xfrm>
            </p:grpSpPr>
            <p:sp>
              <p:nvSpPr>
                <p:cNvPr id="34831" name="Rectangle 40">
                  <a:extLst>
                    <a:ext uri="{FF2B5EF4-FFF2-40B4-BE49-F238E27FC236}">
                      <a16:creationId xmlns:a16="http://schemas.microsoft.com/office/drawing/2014/main" id="{8279FCF2-525A-6086-A563-D4235E8EB9F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749"/>
                  <a:ext cx="1225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r>
                    <a:rPr lang="en-US" altLang="ko-KR" sz="1600">
                      <a:solidFill>
                        <a:srgbClr val="0000FF"/>
                      </a:solidFill>
                      <a:latin typeface="Courier New" panose="02070309020205020404" pitchFamily="49" charset="0"/>
                      <a:ea typeface="굴림" panose="020B0600000101010101" pitchFamily="34" charset="-127"/>
                    </a:rPr>
                    <a:t>next()</a:t>
                  </a:r>
                  <a:endParaRPr lang="en-US" altLang="ko-KR" sz="1600">
                    <a:latin typeface="Times New Roman" panose="02020603050405020304" pitchFamily="18" charset="0"/>
                    <a:ea typeface="굴림" panose="020B0600000101010101" pitchFamily="34" charset="-127"/>
                  </a:endParaRPr>
                </a:p>
                <a:p>
                  <a:endParaRPr lang="en-US" altLang="ko-KR" sz="1600">
                    <a:latin typeface="Times New Roman" panose="02020603050405020304" pitchFamily="18" charset="0"/>
                    <a:ea typeface="굴림" panose="020B0600000101010101" pitchFamily="34" charset="-127"/>
                  </a:endParaRPr>
                </a:p>
              </p:txBody>
            </p:sp>
            <p:sp>
              <p:nvSpPr>
                <p:cNvPr id="34832" name="Rectangle 54">
                  <a:extLst>
                    <a:ext uri="{FF2B5EF4-FFF2-40B4-BE49-F238E27FC236}">
                      <a16:creationId xmlns:a16="http://schemas.microsoft.com/office/drawing/2014/main" id="{6AEF4131-50FE-98D5-F605-133A890EADA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749"/>
                  <a:ext cx="1225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US" altLang="en-US"/>
                </a:p>
              </p:txBody>
            </p:sp>
          </p:grpSp>
          <p:grpSp>
            <p:nvGrpSpPr>
              <p:cNvPr id="34828" name="Group 57">
                <a:extLst>
                  <a:ext uri="{FF2B5EF4-FFF2-40B4-BE49-F238E27FC236}">
                    <a16:creationId xmlns:a16="http://schemas.microsoft.com/office/drawing/2014/main" id="{3F7DC674-548B-AF68-0CA5-C4DA4B03C0B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225" y="749"/>
                <a:ext cx="3382" cy="384"/>
                <a:chOff x="1225" y="749"/>
                <a:chExt cx="3382" cy="384"/>
              </a:xfrm>
            </p:grpSpPr>
            <p:sp>
              <p:nvSpPr>
                <p:cNvPr id="34829" name="Rectangle 41">
                  <a:extLst>
                    <a:ext uri="{FF2B5EF4-FFF2-40B4-BE49-F238E27FC236}">
                      <a16:creationId xmlns:a16="http://schemas.microsoft.com/office/drawing/2014/main" id="{898D7BCD-1F26-2A54-64CC-532B6C039C4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25" y="749"/>
                  <a:ext cx="3382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l"/>
                  <a:r>
                    <a:rPr lang="en-US" altLang="ko-KR" sz="1600">
                      <a:solidFill>
                        <a:srgbClr val="000000"/>
                      </a:solidFill>
                      <a:latin typeface="Verdana" panose="020B0604030504040204" pitchFamily="34" charset="0"/>
                      <a:ea typeface="굴림" panose="020B0600000101010101" pitchFamily="34" charset="-127"/>
                    </a:rPr>
                    <a:t>Returns the next element in the iteration (as a generic </a:t>
                  </a:r>
                  <a:r>
                    <a:rPr lang="en-US" altLang="ko-KR" sz="1600">
                      <a:solidFill>
                        <a:srgbClr val="0000FF"/>
                      </a:solidFill>
                      <a:latin typeface="Courier New" panose="02070309020205020404" pitchFamily="49" charset="0"/>
                      <a:ea typeface="굴림" panose="020B0600000101010101" pitchFamily="34" charset="-127"/>
                    </a:rPr>
                    <a:t>Object</a:t>
                  </a:r>
                  <a:r>
                    <a:rPr lang="en-US" altLang="ko-KR" sz="1600">
                      <a:solidFill>
                        <a:srgbClr val="000000"/>
                      </a:solidFill>
                      <a:latin typeface="Verdana" panose="020B0604030504040204" pitchFamily="34" charset="0"/>
                      <a:ea typeface="굴림" panose="020B0600000101010101" pitchFamily="34" charset="-127"/>
                    </a:rPr>
                    <a:t>)</a:t>
                  </a:r>
                  <a:endParaRPr lang="en-US" altLang="ko-KR" sz="1600">
                    <a:latin typeface="Times New Roman" panose="02020603050405020304" pitchFamily="18" charset="0"/>
                    <a:ea typeface="굴림" panose="020B0600000101010101" pitchFamily="34" charset="-127"/>
                  </a:endParaRPr>
                </a:p>
                <a:p>
                  <a:pPr algn="l"/>
                  <a:endParaRPr lang="en-US" altLang="ko-KR" sz="1600">
                    <a:latin typeface="Times New Roman" panose="02020603050405020304" pitchFamily="18" charset="0"/>
                    <a:ea typeface="굴림" panose="020B0600000101010101" pitchFamily="34" charset="-127"/>
                  </a:endParaRPr>
                </a:p>
              </p:txBody>
            </p:sp>
            <p:sp>
              <p:nvSpPr>
                <p:cNvPr id="34830" name="Rectangle 56">
                  <a:extLst>
                    <a:ext uri="{FF2B5EF4-FFF2-40B4-BE49-F238E27FC236}">
                      <a16:creationId xmlns:a16="http://schemas.microsoft.com/office/drawing/2014/main" id="{CE1325E7-9321-5A17-6033-7EE4222062F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25" y="749"/>
                  <a:ext cx="3382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US" altLang="en-US"/>
                </a:p>
              </p:txBody>
            </p:sp>
          </p:grpSp>
        </p:grpSp>
        <p:sp>
          <p:nvSpPr>
            <p:cNvPr id="34822" name="Rectangle 59">
              <a:extLst>
                <a:ext uri="{FF2B5EF4-FFF2-40B4-BE49-F238E27FC236}">
                  <a16:creationId xmlns:a16="http://schemas.microsoft.com/office/drawing/2014/main" id="{26E04485-BCA3-BC74-DAF2-2E45A7D1C4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3" y="-3"/>
              <a:ext cx="4613" cy="1139"/>
            </a:xfrm>
            <a:prstGeom prst="rect">
              <a:avLst/>
            </a:prstGeom>
            <a:noFill/>
            <a:ln w="9525">
              <a:solidFill>
                <a:srgbClr val="A0A0A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</p:grpSp>
    </p:spTree>
  </p:cSld>
  <p:clrMapOvr>
    <a:masterClrMapping/>
  </p:clrMapOvr>
  <p:transition advClick="0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C357BD09-D60D-1FBA-E4A8-BDA248C2DD3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The ListIterator Interface</a:t>
            </a:r>
          </a:p>
        </p:txBody>
      </p:sp>
      <p:sp>
        <p:nvSpPr>
          <p:cNvPr id="36867" name="Rectangle 3">
            <a:extLst>
              <a:ext uri="{FF2B5EF4-FFF2-40B4-BE49-F238E27FC236}">
                <a16:creationId xmlns:a16="http://schemas.microsoft.com/office/drawing/2014/main" id="{CEAFCEF1-04FA-F928-4A0D-C7C08E9829C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533400" indent="-533400" eaLnBrk="1" hangingPunct="1"/>
            <a:r>
              <a:rPr lang="en-US" altLang="ko-KR" sz="1800">
                <a:solidFill>
                  <a:srgbClr val="000000"/>
                </a:solidFill>
                <a:ea typeface="굴림" panose="020B0600000101010101" pitchFamily="34" charset="-127"/>
              </a:rPr>
              <a:t>Extends the </a:t>
            </a:r>
            <a:r>
              <a:rPr lang="en-US" altLang="ko-KR" sz="1800">
                <a:solidFill>
                  <a:srgbClr val="0000FF"/>
                </a:solidFill>
                <a:ea typeface="굴림" panose="020B0600000101010101" pitchFamily="34" charset="-127"/>
              </a:rPr>
              <a:t>Iterator</a:t>
            </a:r>
            <a:r>
              <a:rPr lang="en-US" altLang="ko-KR" sz="1800">
                <a:solidFill>
                  <a:srgbClr val="000000"/>
                </a:solidFill>
                <a:ea typeface="굴림" panose="020B0600000101010101" pitchFamily="34" charset="-127"/>
              </a:rPr>
              <a:t> interface to provide for the two-way traversal of a </a:t>
            </a:r>
            <a:r>
              <a:rPr lang="en-US" altLang="ko-KR" sz="1800">
                <a:solidFill>
                  <a:srgbClr val="0000FF"/>
                </a:solidFill>
                <a:ea typeface="굴림" panose="020B0600000101010101" pitchFamily="34" charset="-127"/>
              </a:rPr>
              <a:t>List</a:t>
            </a:r>
            <a:r>
              <a:rPr lang="en-US" altLang="ko-KR" sz="1800">
                <a:solidFill>
                  <a:srgbClr val="000000"/>
                </a:solidFill>
                <a:ea typeface="굴림" panose="020B0600000101010101" pitchFamily="34" charset="-127"/>
              </a:rPr>
              <a:t> collection (forward and backward) </a:t>
            </a:r>
          </a:p>
          <a:p>
            <a:pPr marL="533400" indent="-533400" eaLnBrk="1" hangingPunct="1"/>
            <a:r>
              <a:rPr lang="en-US" altLang="ko-KR" sz="1800">
                <a:solidFill>
                  <a:srgbClr val="000000"/>
                </a:solidFill>
                <a:ea typeface="굴림" panose="020B0600000101010101" pitchFamily="34" charset="-127"/>
              </a:rPr>
              <a:t>The most frequently used are: </a:t>
            </a:r>
          </a:p>
          <a:p>
            <a:pPr marL="533400" indent="-533400" eaLnBrk="1" hangingPunct="1"/>
            <a:endParaRPr lang="en-US" altLang="ko-KR" sz="1800">
              <a:solidFill>
                <a:srgbClr val="000000"/>
              </a:solidFill>
              <a:ea typeface="굴림" panose="020B0600000101010101" pitchFamily="34" charset="-127"/>
            </a:endParaRPr>
          </a:p>
          <a:p>
            <a:pPr marL="533400" indent="-533400" eaLnBrk="1" hangingPunct="1"/>
            <a:endParaRPr lang="en-US" altLang="ko-KR" sz="1800">
              <a:solidFill>
                <a:srgbClr val="000000"/>
              </a:solidFill>
              <a:ea typeface="굴림" panose="020B0600000101010101" pitchFamily="34" charset="-127"/>
            </a:endParaRPr>
          </a:p>
          <a:p>
            <a:pPr marL="533400" indent="-533400" eaLnBrk="1" hangingPunct="1"/>
            <a:endParaRPr lang="en-US" altLang="ko-KR" sz="1800">
              <a:solidFill>
                <a:srgbClr val="000000"/>
              </a:solidFill>
              <a:ea typeface="굴림" panose="020B0600000101010101" pitchFamily="34" charset="-127"/>
            </a:endParaRPr>
          </a:p>
          <a:p>
            <a:pPr marL="533400" indent="-533400" eaLnBrk="1" hangingPunct="1">
              <a:buFontTx/>
              <a:buNone/>
            </a:pPr>
            <a:endParaRPr lang="en-US" altLang="en-US" sz="1800">
              <a:solidFill>
                <a:srgbClr val="000000"/>
              </a:solidFill>
              <a:ea typeface="Batang" panose="02030600000101010101" pitchFamily="18" charset="-127"/>
            </a:endParaRPr>
          </a:p>
          <a:p>
            <a:pPr marL="533400" indent="-533400" eaLnBrk="1" hangingPunct="1">
              <a:buFontTx/>
              <a:buNone/>
            </a:pPr>
            <a:endParaRPr lang="en-US" altLang="en-US" sz="1800">
              <a:solidFill>
                <a:srgbClr val="000000"/>
              </a:solidFill>
              <a:ea typeface="Batang" panose="02030600000101010101" pitchFamily="18" charset="-127"/>
            </a:endParaRPr>
          </a:p>
        </p:txBody>
      </p:sp>
      <p:graphicFrame>
        <p:nvGraphicFramePr>
          <p:cNvPr id="407702" name="Group 150">
            <a:extLst>
              <a:ext uri="{FF2B5EF4-FFF2-40B4-BE49-F238E27FC236}">
                <a16:creationId xmlns:a16="http://schemas.microsoft.com/office/drawing/2014/main" id="{19C3227B-48C4-74FC-2F21-33FE20782CE9}"/>
              </a:ext>
            </a:extLst>
          </p:cNvPr>
          <p:cNvGraphicFramePr>
            <a:graphicFrameLocks noGrp="1"/>
          </p:cNvGraphicFramePr>
          <p:nvPr/>
        </p:nvGraphicFramePr>
        <p:xfrm>
          <a:off x="1295400" y="2209800"/>
          <a:ext cx="6096000" cy="3579813"/>
        </p:xfrm>
        <a:graphic>
          <a:graphicData uri="http://schemas.openxmlformats.org/drawingml/2006/table">
            <a:tbl>
              <a:tblPr/>
              <a:tblGrid>
                <a:gridCol w="167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1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532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Method</a:t>
                      </a: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Usage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306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haxNext()</a:t>
                      </a: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Batang" pitchFamily="18" charset="-127"/>
                        </a:rPr>
                        <a:t>Returns </a:t>
                      </a:r>
                      <a:r>
                        <a:rPr kumimoji="0" lang="en-US" altLang="ko-KR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urier New" pitchFamily="49" charset="0"/>
                          <a:ea typeface="굴림" charset="-127"/>
                        </a:rPr>
                        <a:t>true</a:t>
                      </a:r>
                      <a:r>
                        <a:rPr kumimoji="0" lang="en-US" altLang="ko-KR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Batang" pitchFamily="18" charset="-127"/>
                        </a:rPr>
                        <a:t> if this list iterator has more elements when traversing the list in the forward direction</a:t>
                      </a:r>
                      <a:r>
                        <a:rPr kumimoji="0" lang="en-US" altLang="ko-KR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굴림" charset="-127"/>
                        </a:rPr>
                        <a:t> 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5735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hasPrevious()</a:t>
                      </a: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Batang" pitchFamily="18" charset="-127"/>
                        </a:rPr>
                        <a:t>Returns </a:t>
                      </a:r>
                      <a:r>
                        <a:rPr kumimoji="0" lang="en-US" altLang="ko-KR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urier New" pitchFamily="49" charset="0"/>
                          <a:ea typeface="굴림" charset="-127"/>
                        </a:rPr>
                        <a:t>true</a:t>
                      </a:r>
                      <a:r>
                        <a:rPr kumimoji="0" lang="en-US" altLang="ko-KR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Batang" pitchFamily="18" charset="-127"/>
                        </a:rPr>
                        <a:t> if this list iterator has more elements when traversing the list in the backward direction</a:t>
                      </a:r>
                      <a:r>
                        <a:rPr kumimoji="0" lang="en-US" altLang="ko-KR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굴림" charset="-127"/>
                        </a:rPr>
                        <a:t> 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7183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next()</a:t>
                      </a: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Batang" pitchFamily="18" charset="-127"/>
                        </a:rPr>
                        <a:t>Returns the next element in the list (as a generic </a:t>
                      </a:r>
                      <a:r>
                        <a:rPr kumimoji="0" lang="en-US" altLang="ko-KR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urier New" pitchFamily="49" charset="0"/>
                          <a:ea typeface="굴림" charset="-127"/>
                        </a:rPr>
                        <a:t>Object</a:t>
                      </a:r>
                      <a:r>
                        <a:rPr kumimoji="0" lang="en-US" altLang="ko-KR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Batang" pitchFamily="18" charset="-127"/>
                        </a:rPr>
                        <a:t>)</a:t>
                      </a:r>
                      <a:endParaRPr kumimoji="0" lang="en-US" altLang="ko-KR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Batang" pitchFamily="18" charset="-127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223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previous()</a:t>
                      </a: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Batang" pitchFamily="18" charset="-127"/>
                        </a:rPr>
                        <a:t>Returns the previous element in the list (as a generic </a:t>
                      </a:r>
                      <a:r>
                        <a:rPr kumimoji="0" lang="en-US" altLang="ko-KR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urier New" pitchFamily="49" charset="0"/>
                          <a:ea typeface="굴림" charset="-127"/>
                        </a:rPr>
                        <a:t>Object</a:t>
                      </a:r>
                      <a:r>
                        <a:rPr kumimoji="0" lang="en-US" altLang="ko-KR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Batang" pitchFamily="18" charset="-127"/>
                        </a:rPr>
                        <a:t>)</a:t>
                      </a:r>
                      <a:r>
                        <a:rPr kumimoji="0" lang="en-US" altLang="ko-KR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굴림" charset="-127"/>
                        </a:rPr>
                        <a:t> 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p:transition advClick="0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F5FA8D-812A-B9C9-0AE6-16EB1C4EDB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Iterator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F0CC91-1D86-583D-8B8C-DAF6A3ADE3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1800" b="1" dirty="0" err="1"/>
              <a:t>ArrayList</a:t>
            </a:r>
            <a:endParaRPr lang="en-IN" sz="1800" b="1" dirty="0"/>
          </a:p>
          <a:p>
            <a:pPr lvl="1"/>
            <a:r>
              <a:rPr lang="en-IN" sz="1800" dirty="0"/>
              <a:t>Uses an internal counter (index) and an array reference. </a:t>
            </a:r>
          </a:p>
          <a:p>
            <a:pPr lvl="1"/>
            <a:r>
              <a:rPr lang="en-IN" sz="1800" dirty="0"/>
              <a:t>When next() is called, it simply increments the counter and returns the element at that index.</a:t>
            </a:r>
          </a:p>
          <a:p>
            <a:r>
              <a:rPr lang="en-IN" sz="1800" b="1" dirty="0"/>
              <a:t>LinkedList</a:t>
            </a:r>
          </a:p>
          <a:p>
            <a:pPr lvl="1"/>
            <a:r>
              <a:rPr lang="en-IN" sz="1800" dirty="0"/>
              <a:t>Iterator holds a direct reference to the current </a:t>
            </a:r>
            <a:r>
              <a:rPr lang="en-IN" sz="1800" b="1" dirty="0"/>
              <a:t>node</a:t>
            </a:r>
            <a:r>
              <a:rPr lang="en-IN" sz="1800" dirty="0"/>
              <a:t>. </a:t>
            </a:r>
          </a:p>
          <a:p>
            <a:pPr lvl="1"/>
            <a:r>
              <a:rPr lang="en-IN" sz="1800" dirty="0"/>
              <a:t>When next() is called, it simply follows the node's next pointer to the next structure. </a:t>
            </a:r>
            <a:br>
              <a:rPr lang="en-IN" sz="1800" dirty="0"/>
            </a:br>
            <a:endParaRPr lang="en-IN" sz="1800" dirty="0"/>
          </a:p>
          <a:p>
            <a:r>
              <a:rPr lang="en-IN" sz="1800" b="1" dirty="0"/>
              <a:t>Positional Initialization</a:t>
            </a:r>
          </a:p>
          <a:p>
            <a:pPr lvl="1"/>
            <a:r>
              <a:rPr lang="en-IN" sz="1800" b="1" dirty="0" err="1"/>
              <a:t>ArrayList</a:t>
            </a:r>
            <a:r>
              <a:rPr lang="en-IN" sz="1800" dirty="0"/>
              <a:t>,  </a:t>
            </a:r>
            <a:r>
              <a:rPr lang="en-IN" sz="1800" b="1" dirty="0"/>
              <a:t>O(1)</a:t>
            </a:r>
            <a:r>
              <a:rPr lang="en-IN" sz="1800" dirty="0"/>
              <a:t> as it jumps directly to the index.</a:t>
            </a:r>
          </a:p>
          <a:p>
            <a:pPr lvl="1"/>
            <a:r>
              <a:rPr lang="en-IN" sz="1800" b="1" dirty="0"/>
              <a:t>LinkedList</a:t>
            </a:r>
            <a:r>
              <a:rPr lang="en-IN" sz="1800" dirty="0"/>
              <a:t>, this is </a:t>
            </a:r>
            <a:r>
              <a:rPr lang="en-IN" sz="1800" b="1" dirty="0"/>
              <a:t>O(n)</a:t>
            </a:r>
            <a:r>
              <a:rPr lang="en-IN" sz="1800" dirty="0"/>
              <a:t> because the list must be traversed from the head (or tail) to reach that position before iteration can even begin.</a:t>
            </a:r>
          </a:p>
          <a:p>
            <a:r>
              <a:rPr lang="en-IN" sz="1800" dirty="0" err="1"/>
              <a:t>ListIterator</a:t>
            </a:r>
            <a:r>
              <a:rPr lang="en-IN" sz="1800" dirty="0"/>
              <a:t> with LinkedList to perform frequent </a:t>
            </a:r>
            <a:r>
              <a:rPr lang="en-IN" sz="1800" b="1" dirty="0"/>
              <a:t>insertions or deletions</a:t>
            </a:r>
            <a:r>
              <a:rPr lang="en-IN" sz="1800" dirty="0"/>
              <a:t> while traversing. </a:t>
            </a:r>
          </a:p>
          <a:p>
            <a:pPr lvl="1"/>
            <a:r>
              <a:rPr lang="en-IN" sz="1800" dirty="0"/>
              <a:t>With </a:t>
            </a:r>
            <a:r>
              <a:rPr lang="en-IN" sz="1800" dirty="0" err="1"/>
              <a:t>ArrayList</a:t>
            </a:r>
            <a:r>
              <a:rPr lang="en-IN" sz="1800" dirty="0"/>
              <a:t> for </a:t>
            </a:r>
            <a:r>
              <a:rPr lang="en-IN" sz="1800" b="1" dirty="0"/>
              <a:t>read-heavy</a:t>
            </a:r>
            <a:r>
              <a:rPr lang="en-IN" sz="1800" dirty="0"/>
              <a:t> bi-directional navigation where memory locality is a priority</a:t>
            </a:r>
            <a:endParaRPr lang="en-US" sz="1800" dirty="0"/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428580083"/>
      </p:ext>
    </p:extLst>
  </p:cSld>
  <p:clrMapOvr>
    <a:masterClrMapping/>
  </p:clrMapOvr>
  <p:transition advClick="0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F4A306-09A7-DBE5-D135-009E37634F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O(1) and O(N)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BBD5A6-DCA6-6A01-AED8-CE6D4E3CCC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lvl="1" indent="0">
              <a:buNone/>
            </a:pPr>
            <a:r>
              <a:rPr lang="en-IN" sz="1800" dirty="0"/>
              <a:t>List&lt;String&gt; list = </a:t>
            </a:r>
            <a:r>
              <a:rPr lang="en-IN" sz="1800" b="1" dirty="0"/>
              <a:t>new</a:t>
            </a:r>
            <a:r>
              <a:rPr lang="en-IN" sz="1800" dirty="0"/>
              <a:t> </a:t>
            </a:r>
            <a:r>
              <a:rPr lang="en-IN" sz="1800" dirty="0" err="1"/>
              <a:t>ArrayList</a:t>
            </a:r>
            <a:r>
              <a:rPr lang="en-IN" sz="1800" dirty="0"/>
              <a:t>&lt;&gt;();</a:t>
            </a:r>
          </a:p>
          <a:p>
            <a:pPr marL="457200" lvl="1" indent="0">
              <a:buNone/>
            </a:pPr>
            <a:endParaRPr lang="en-IN" sz="1800" b="1" dirty="0"/>
          </a:p>
          <a:p>
            <a:pPr marL="457200" lvl="1" indent="0">
              <a:buNone/>
            </a:pPr>
            <a:r>
              <a:rPr lang="en-IN" sz="1800" b="1" dirty="0"/>
              <a:t>for</a:t>
            </a:r>
            <a:r>
              <a:rPr lang="en-IN" sz="1800" dirty="0"/>
              <a:t> (</a:t>
            </a:r>
            <a:r>
              <a:rPr lang="en-IN" sz="1800" b="1" dirty="0"/>
              <a:t>int</a:t>
            </a:r>
            <a:r>
              <a:rPr lang="en-IN" sz="1800" dirty="0"/>
              <a:t> </a:t>
            </a:r>
            <a:r>
              <a:rPr lang="en-IN" sz="1800" dirty="0" err="1"/>
              <a:t>i</a:t>
            </a:r>
            <a:r>
              <a:rPr lang="en-IN" sz="1800" dirty="0"/>
              <a:t> = 0; </a:t>
            </a:r>
            <a:r>
              <a:rPr lang="en-IN" sz="1800" dirty="0" err="1"/>
              <a:t>i</a:t>
            </a:r>
            <a:r>
              <a:rPr lang="en-IN" sz="1800" dirty="0"/>
              <a:t> &lt; 1000000; </a:t>
            </a:r>
            <a:r>
              <a:rPr lang="en-IN" sz="1800" dirty="0" err="1"/>
              <a:t>i</a:t>
            </a:r>
            <a:r>
              <a:rPr lang="en-IN" sz="1800" dirty="0"/>
              <a:t>++) {</a:t>
            </a:r>
          </a:p>
          <a:p>
            <a:pPr marL="457200" lvl="1" indent="0">
              <a:buNone/>
            </a:pPr>
            <a:r>
              <a:rPr lang="en-IN" sz="1800" dirty="0" err="1"/>
              <a:t>list.add</a:t>
            </a:r>
            <a:r>
              <a:rPr lang="en-IN" sz="1800" dirty="0"/>
              <a:t>("Item " + </a:t>
            </a:r>
            <a:r>
              <a:rPr lang="en-IN" sz="1800" dirty="0" err="1"/>
              <a:t>i</a:t>
            </a:r>
            <a:r>
              <a:rPr lang="en-IN" sz="1800" dirty="0"/>
              <a:t>);</a:t>
            </a:r>
          </a:p>
          <a:p>
            <a:pPr marL="457200" lvl="1" indent="0">
              <a:buNone/>
            </a:pPr>
            <a:r>
              <a:rPr lang="en-IN" sz="1800" dirty="0"/>
              <a:t>}</a:t>
            </a:r>
            <a:br>
              <a:rPr lang="en-IN" sz="1800" dirty="0"/>
            </a:br>
            <a:endParaRPr lang="en-IN" sz="1800" dirty="0"/>
          </a:p>
          <a:p>
            <a:pPr marL="457200" lvl="1" indent="0">
              <a:buNone/>
            </a:pPr>
            <a:r>
              <a:rPr lang="en-IN" sz="1800" dirty="0"/>
              <a:t>// --- O(1) - Constant Time ---</a:t>
            </a:r>
          </a:p>
          <a:p>
            <a:pPr marL="457200" lvl="1" indent="0">
              <a:buNone/>
            </a:pPr>
            <a:endParaRPr lang="en-IN" sz="1800" b="1" dirty="0"/>
          </a:p>
          <a:p>
            <a:pPr marL="457200" lvl="1" indent="0">
              <a:buNone/>
            </a:pPr>
            <a:r>
              <a:rPr lang="en-IN" sz="1800" b="1" dirty="0"/>
              <a:t>long</a:t>
            </a:r>
            <a:r>
              <a:rPr lang="en-IN" sz="1800" dirty="0"/>
              <a:t> startO1 = </a:t>
            </a:r>
            <a:r>
              <a:rPr lang="en-IN" sz="1800" dirty="0" err="1"/>
              <a:t>System.</a:t>
            </a:r>
            <a:r>
              <a:rPr lang="en-IN" sz="1800" i="1" dirty="0" err="1"/>
              <a:t>nanoTime</a:t>
            </a:r>
            <a:r>
              <a:rPr lang="en-IN" sz="1800" dirty="0"/>
              <a:t>();</a:t>
            </a:r>
          </a:p>
          <a:p>
            <a:pPr marL="457200" lvl="1" indent="0">
              <a:buNone/>
            </a:pPr>
            <a:r>
              <a:rPr lang="en-IN" sz="1800" dirty="0"/>
              <a:t>String </a:t>
            </a:r>
            <a:r>
              <a:rPr lang="en-IN" sz="1800" u="sng" dirty="0"/>
              <a:t>item</a:t>
            </a:r>
            <a:r>
              <a:rPr lang="en-IN" sz="1800" dirty="0"/>
              <a:t> = </a:t>
            </a:r>
            <a:r>
              <a:rPr lang="en-IN" sz="1800" dirty="0" err="1"/>
              <a:t>list.get</a:t>
            </a:r>
            <a:r>
              <a:rPr lang="en-IN" sz="1800" dirty="0"/>
              <a:t>(500000); </a:t>
            </a:r>
          </a:p>
          <a:p>
            <a:pPr marL="457200" lvl="1" indent="0">
              <a:buNone/>
            </a:pPr>
            <a:r>
              <a:rPr lang="en-IN" sz="1800" b="1" dirty="0"/>
              <a:t>long</a:t>
            </a:r>
            <a:r>
              <a:rPr lang="en-IN" sz="1800" dirty="0"/>
              <a:t> endO1 = </a:t>
            </a:r>
            <a:r>
              <a:rPr lang="en-IN" sz="1800" dirty="0" err="1"/>
              <a:t>System.</a:t>
            </a:r>
            <a:r>
              <a:rPr lang="en-IN" sz="1800" i="1" dirty="0" err="1"/>
              <a:t>nanoTime</a:t>
            </a:r>
            <a:r>
              <a:rPr lang="en-IN" sz="1800" dirty="0"/>
              <a:t>();</a:t>
            </a:r>
          </a:p>
          <a:p>
            <a:pPr marL="457200" lvl="1" indent="0">
              <a:buNone/>
            </a:pPr>
            <a:r>
              <a:rPr lang="en-IN" sz="1800" dirty="0" err="1"/>
              <a:t>System.</a:t>
            </a:r>
            <a:r>
              <a:rPr lang="en-IN" sz="1800" b="1" i="1" dirty="0" err="1"/>
              <a:t>out</a:t>
            </a:r>
            <a:r>
              <a:rPr lang="en-IN" sz="1800" dirty="0" err="1"/>
              <a:t>.println</a:t>
            </a:r>
            <a:r>
              <a:rPr lang="en-IN" sz="1800" dirty="0"/>
              <a:t>("O(1) Access time: " + (endO1 - startO1) + " ns");</a:t>
            </a:r>
          </a:p>
          <a:p>
            <a:pPr marL="457200" lvl="1" indent="0">
              <a:buNone/>
            </a:pPr>
            <a:br>
              <a:rPr lang="en-IN" sz="1800" dirty="0"/>
            </a:br>
            <a:endParaRPr lang="en-IN" sz="1800" dirty="0"/>
          </a:p>
          <a:p>
            <a:pPr marL="457200" lvl="1" indent="0">
              <a:buNone/>
            </a:pP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381466249"/>
      </p:ext>
    </p:extLst>
  </p:cSld>
  <p:clrMapOvr>
    <a:masterClrMapping/>
  </p:clrMapOvr>
  <p:transition advClick="0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A96168-0932-F31A-C801-1E3140663D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O(1) and O(N)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D27E2B-EC05-B5B0-D425-C8C8CB394C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lvl="1" indent="0">
              <a:buNone/>
            </a:pPr>
            <a:r>
              <a:rPr lang="en-IN" sz="1800" dirty="0"/>
              <a:t>// --- O(N) - Linear Time ---</a:t>
            </a:r>
          </a:p>
          <a:p>
            <a:pPr marL="457200" lvl="1" indent="0">
              <a:buNone/>
            </a:pPr>
            <a:endParaRPr lang="en-IN" sz="1800" b="1" dirty="0"/>
          </a:p>
          <a:p>
            <a:pPr marL="457200" lvl="1" indent="0">
              <a:buNone/>
            </a:pPr>
            <a:r>
              <a:rPr lang="en-IN" sz="1800" b="1" dirty="0"/>
              <a:t>long</a:t>
            </a:r>
            <a:r>
              <a:rPr lang="en-IN" sz="1800" dirty="0"/>
              <a:t> </a:t>
            </a:r>
            <a:r>
              <a:rPr lang="en-IN" sz="1800" dirty="0" err="1"/>
              <a:t>startOn</a:t>
            </a:r>
            <a:r>
              <a:rPr lang="en-IN" sz="1800" dirty="0"/>
              <a:t> = </a:t>
            </a:r>
            <a:r>
              <a:rPr lang="en-IN" sz="1800" dirty="0" err="1"/>
              <a:t>System.</a:t>
            </a:r>
            <a:r>
              <a:rPr lang="en-IN" sz="1800" i="1" dirty="0" err="1"/>
              <a:t>nanoTime</a:t>
            </a:r>
            <a:r>
              <a:rPr lang="en-IN" sz="1800" dirty="0"/>
              <a:t>();</a:t>
            </a:r>
          </a:p>
          <a:p>
            <a:pPr marL="457200" lvl="1" indent="0">
              <a:buNone/>
            </a:pPr>
            <a:r>
              <a:rPr lang="en-IN" sz="1800" b="1" dirty="0" err="1"/>
              <a:t>boolean</a:t>
            </a:r>
            <a:r>
              <a:rPr lang="en-IN" sz="1800" dirty="0"/>
              <a:t> </a:t>
            </a:r>
            <a:r>
              <a:rPr lang="en-IN" sz="1800" u="sng" dirty="0"/>
              <a:t>exists</a:t>
            </a:r>
            <a:r>
              <a:rPr lang="en-IN" sz="1800" dirty="0"/>
              <a:t> = </a:t>
            </a:r>
            <a:r>
              <a:rPr lang="en-IN" sz="1800" dirty="0" err="1"/>
              <a:t>list.contains</a:t>
            </a:r>
            <a:r>
              <a:rPr lang="en-IN" sz="1800" dirty="0"/>
              <a:t>("Item 999999"); </a:t>
            </a:r>
          </a:p>
          <a:p>
            <a:pPr marL="457200" lvl="1" indent="0">
              <a:buNone/>
            </a:pPr>
            <a:r>
              <a:rPr lang="en-IN" sz="1800" b="1" dirty="0"/>
              <a:t>long</a:t>
            </a:r>
            <a:r>
              <a:rPr lang="en-IN" sz="1800" dirty="0"/>
              <a:t> </a:t>
            </a:r>
            <a:r>
              <a:rPr lang="en-IN" sz="1800" dirty="0" err="1"/>
              <a:t>endOn</a:t>
            </a:r>
            <a:r>
              <a:rPr lang="en-IN" sz="1800" dirty="0"/>
              <a:t> = </a:t>
            </a:r>
            <a:r>
              <a:rPr lang="en-IN" sz="1800" dirty="0" err="1"/>
              <a:t>System.</a:t>
            </a:r>
            <a:r>
              <a:rPr lang="en-IN" sz="1800" i="1" dirty="0" err="1"/>
              <a:t>nanoTime</a:t>
            </a:r>
            <a:r>
              <a:rPr lang="en-IN" sz="1800" dirty="0"/>
              <a:t>();</a:t>
            </a:r>
          </a:p>
          <a:p>
            <a:pPr marL="457200" lvl="1" indent="0">
              <a:buNone/>
            </a:pPr>
            <a:r>
              <a:rPr lang="en-IN" sz="1800" dirty="0" err="1"/>
              <a:t>System.</a:t>
            </a:r>
            <a:r>
              <a:rPr lang="en-IN" sz="1800" b="1" i="1" dirty="0" err="1"/>
              <a:t>out</a:t>
            </a:r>
            <a:r>
              <a:rPr lang="en-IN" sz="1800" dirty="0" err="1"/>
              <a:t>.println</a:t>
            </a:r>
            <a:r>
              <a:rPr lang="en-IN" sz="1800" dirty="0"/>
              <a:t>("O(N) Search time: " + (</a:t>
            </a:r>
            <a:r>
              <a:rPr lang="en-IN" sz="1800" dirty="0" err="1"/>
              <a:t>endOn</a:t>
            </a:r>
            <a:r>
              <a:rPr lang="en-IN" sz="1800" dirty="0"/>
              <a:t> - </a:t>
            </a:r>
            <a:r>
              <a:rPr lang="en-IN" sz="1800" dirty="0" err="1"/>
              <a:t>startOn</a:t>
            </a:r>
            <a:r>
              <a:rPr lang="en-IN" sz="1800" dirty="0"/>
              <a:t>) + " ns");</a:t>
            </a:r>
          </a:p>
          <a:p>
            <a:pPr marL="457200" lvl="1" indent="0">
              <a:buNone/>
            </a:pPr>
            <a:endParaRPr lang="en-US" sz="18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2102254"/>
      </p:ext>
    </p:extLst>
  </p:cSld>
  <p:clrMapOvr>
    <a:masterClrMapping/>
  </p:clrMapOvr>
  <p:transition advClick="0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>
            <a:extLst>
              <a:ext uri="{FF2B5EF4-FFF2-40B4-BE49-F238E27FC236}">
                <a16:creationId xmlns:a16="http://schemas.microsoft.com/office/drawing/2014/main" id="{CED456A9-C606-BA4F-608A-08436A50E1C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The Four Methods</a:t>
            </a:r>
          </a:p>
        </p:txBody>
      </p:sp>
      <p:sp>
        <p:nvSpPr>
          <p:cNvPr id="37891" name="Rectangle 3">
            <a:extLst>
              <a:ext uri="{FF2B5EF4-FFF2-40B4-BE49-F238E27FC236}">
                <a16:creationId xmlns:a16="http://schemas.microsoft.com/office/drawing/2014/main" id="{FB7800F9-9CDF-29AC-7E6A-2A0F61633C1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838200"/>
            <a:ext cx="8458200" cy="5638800"/>
          </a:xfrm>
        </p:spPr>
        <p:txBody>
          <a:bodyPr/>
          <a:lstStyle/>
          <a:p>
            <a:pPr marL="533400" indent="-533400" eaLnBrk="1" hangingPunct="1">
              <a:lnSpc>
                <a:spcPct val="90000"/>
              </a:lnSpc>
            </a:pPr>
            <a:r>
              <a:rPr lang="en-US" altLang="en-US" sz="1800"/>
              <a:t>Collections depends on :</a:t>
            </a:r>
          </a:p>
          <a:p>
            <a:pPr marL="533400" indent="-533400" eaLnBrk="1" hangingPunct="1">
              <a:lnSpc>
                <a:spcPct val="90000"/>
              </a:lnSpc>
            </a:pPr>
            <a:endParaRPr lang="en-US" altLang="en-US" sz="1800"/>
          </a:p>
          <a:p>
            <a:pPr marL="914400" lvl="1" indent="-457200" eaLnBrk="1" hangingPunct="1">
              <a:lnSpc>
                <a:spcPct val="90000"/>
              </a:lnSpc>
              <a:buFontTx/>
              <a:buAutoNum type="arabicPeriod"/>
            </a:pPr>
            <a:r>
              <a:rPr lang="en-US" altLang="en-US" sz="1800"/>
              <a:t> equals,</a:t>
            </a:r>
          </a:p>
          <a:p>
            <a:pPr marL="914400" lvl="1" indent="-457200" eaLnBrk="1" hangingPunct="1">
              <a:lnSpc>
                <a:spcPct val="90000"/>
              </a:lnSpc>
              <a:buFontTx/>
              <a:buAutoNum type="arabicPeriod"/>
            </a:pPr>
            <a:r>
              <a:rPr lang="en-US" altLang="en-US" sz="1800"/>
              <a:t> compare </a:t>
            </a:r>
          </a:p>
          <a:p>
            <a:pPr marL="914400" lvl="1" indent="-457200" eaLnBrk="1" hangingPunct="1">
              <a:lnSpc>
                <a:spcPct val="90000"/>
              </a:lnSpc>
              <a:buFontTx/>
              <a:buAutoNum type="arabicPeriod"/>
            </a:pPr>
            <a:r>
              <a:rPr lang="en-US" altLang="en-US" sz="1800"/>
              <a:t> compareTo,</a:t>
            </a:r>
          </a:p>
          <a:p>
            <a:pPr marL="914400" lvl="1" indent="-457200" eaLnBrk="1" hangingPunct="1">
              <a:lnSpc>
                <a:spcPct val="90000"/>
              </a:lnSpc>
              <a:buFontTx/>
              <a:buAutoNum type="arabicPeriod"/>
            </a:pPr>
            <a:r>
              <a:rPr lang="en-US" altLang="en-US" sz="1800"/>
              <a:t> hashCode</a:t>
            </a:r>
          </a:p>
          <a:p>
            <a:pPr marL="914400" lvl="1" indent="-457200" eaLnBrk="1" hangingPunct="1">
              <a:lnSpc>
                <a:spcPct val="90000"/>
              </a:lnSpc>
            </a:pPr>
            <a:endParaRPr lang="en-US" altLang="en-US" sz="1800"/>
          </a:p>
          <a:p>
            <a:pPr marL="533400" indent="-533400" eaLnBrk="1" hangingPunct="1">
              <a:lnSpc>
                <a:spcPct val="90000"/>
              </a:lnSpc>
            </a:pPr>
            <a:r>
              <a:rPr lang="en-US" altLang="en-US" sz="1800"/>
              <a:t>Collection with some sort of </a:t>
            </a:r>
            <a:r>
              <a:rPr lang="en-US" altLang="en-US" sz="1800" i="1"/>
              <a:t>membership test</a:t>
            </a:r>
            <a:r>
              <a:rPr lang="en-US" altLang="en-US" sz="1800"/>
              <a:t> uses equals </a:t>
            </a:r>
          </a:p>
          <a:p>
            <a:pPr marL="533400" indent="-533400" eaLnBrk="1" hangingPunct="1">
              <a:lnSpc>
                <a:spcPct val="90000"/>
              </a:lnSpc>
            </a:pPr>
            <a:endParaRPr lang="en-US" altLang="en-US" sz="1800"/>
          </a:p>
          <a:p>
            <a:pPr marL="533400" indent="-533400" eaLnBrk="1" hangingPunct="1">
              <a:lnSpc>
                <a:spcPct val="90000"/>
              </a:lnSpc>
            </a:pPr>
            <a:r>
              <a:rPr lang="en-US" altLang="en-US" sz="1800"/>
              <a:t>Collection that depends on </a:t>
            </a:r>
            <a:r>
              <a:rPr lang="en-US" altLang="en-US" sz="1800" i="1"/>
              <a:t>sorting</a:t>
            </a:r>
            <a:r>
              <a:rPr lang="en-US" altLang="en-US" sz="1800"/>
              <a:t> requires larger/equal/smaller comparisons (compare or compareTo)</a:t>
            </a:r>
          </a:p>
          <a:p>
            <a:pPr marL="533400" indent="-533400" eaLnBrk="1" hangingPunct="1">
              <a:lnSpc>
                <a:spcPct val="90000"/>
              </a:lnSpc>
            </a:pPr>
            <a:endParaRPr lang="en-US" altLang="en-US" sz="1800"/>
          </a:p>
          <a:p>
            <a:pPr marL="533400" indent="-533400" eaLnBrk="1" hangingPunct="1">
              <a:lnSpc>
                <a:spcPct val="90000"/>
              </a:lnSpc>
            </a:pPr>
            <a:r>
              <a:rPr lang="en-US" altLang="en-US" sz="1800"/>
              <a:t>Collection that depends on </a:t>
            </a:r>
            <a:r>
              <a:rPr lang="en-US" altLang="en-US" sz="1800" i="1"/>
              <a:t>hashing</a:t>
            </a:r>
            <a:r>
              <a:rPr lang="en-US" altLang="en-US" sz="1800"/>
              <a:t> requires both equality testing and hash codes </a:t>
            </a:r>
          </a:p>
          <a:p>
            <a:pPr marL="533400" indent="-533400" eaLnBrk="1" hangingPunct="1">
              <a:lnSpc>
                <a:spcPct val="90000"/>
              </a:lnSpc>
            </a:pPr>
            <a:endParaRPr lang="en-US" altLang="en-US" sz="1800"/>
          </a:p>
          <a:p>
            <a:pPr marL="533400" indent="-533400" eaLnBrk="1" hangingPunct="1">
              <a:lnSpc>
                <a:spcPct val="90000"/>
              </a:lnSpc>
            </a:pPr>
            <a:r>
              <a:rPr lang="en-US" altLang="en-US" sz="1800"/>
              <a:t>While implementing  hashCode, implement equals too.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8362037D-B464-679F-94F8-138BCE20081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800" b="1"/>
              <a:t>Natural Ordering</a:t>
            </a:r>
          </a:p>
        </p:txBody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FC5F4201-9E80-C80D-7035-00DC013F99A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155000"/>
              </a:lnSpc>
            </a:pPr>
            <a:r>
              <a:rPr lang="en-US" altLang="en-US" sz="1800"/>
              <a:t>Comparable implementations provide a natural ordering for a class, which allows objects of that class to be sorted automatically</a:t>
            </a:r>
          </a:p>
          <a:p>
            <a:pPr eaLnBrk="1" hangingPunct="1">
              <a:lnSpc>
                <a:spcPct val="155000"/>
              </a:lnSpc>
            </a:pPr>
            <a:endParaRPr lang="en-US" altLang="en-US" sz="1800"/>
          </a:p>
          <a:p>
            <a:pPr eaLnBrk="1" hangingPunct="1">
              <a:lnSpc>
                <a:spcPct val="155000"/>
              </a:lnSpc>
            </a:pPr>
            <a:r>
              <a:rPr lang="en-US" altLang="en-US" sz="1800"/>
              <a:t>If the List consists of String elements, it will be sorted into alphabetical order</a:t>
            </a:r>
          </a:p>
          <a:p>
            <a:pPr eaLnBrk="1" hangingPunct="1">
              <a:lnSpc>
                <a:spcPct val="155000"/>
              </a:lnSpc>
            </a:pPr>
            <a:endParaRPr lang="en-US" altLang="en-US" sz="1800"/>
          </a:p>
          <a:p>
            <a:pPr eaLnBrk="1" hangingPunct="1">
              <a:lnSpc>
                <a:spcPct val="155000"/>
              </a:lnSpc>
            </a:pPr>
            <a:r>
              <a:rPr lang="en-US" altLang="en-US" sz="1800"/>
              <a:t>String class  implements the Comparable interface.</a:t>
            </a:r>
          </a:p>
          <a:p>
            <a:pPr eaLnBrk="1" hangingPunct="1">
              <a:lnSpc>
                <a:spcPct val="155000"/>
              </a:lnSpc>
            </a:pPr>
            <a:endParaRPr lang="en-US" altLang="en-US" sz="1800"/>
          </a:p>
          <a:p>
            <a:pPr eaLnBrk="1" hangingPunct="1">
              <a:lnSpc>
                <a:spcPct val="155000"/>
              </a:lnSpc>
            </a:pPr>
            <a:r>
              <a:rPr lang="en-US" altLang="en-US" sz="1800"/>
              <a:t>If the elements do not implement Comparable, </a:t>
            </a:r>
            <a:r>
              <a:rPr lang="en-US" altLang="en-US" sz="1800" b="1" u="sng"/>
              <a:t>Collections.sort(list)</a:t>
            </a:r>
            <a:r>
              <a:rPr lang="en-US" altLang="en-US" sz="1800"/>
              <a:t> will throw a ClassCastException.</a:t>
            </a:r>
          </a:p>
          <a:p>
            <a:pPr eaLnBrk="1" hangingPunct="1">
              <a:lnSpc>
                <a:spcPct val="155000"/>
              </a:lnSpc>
            </a:pPr>
            <a:endParaRPr lang="en-US" altLang="en-US" sz="1800"/>
          </a:p>
        </p:txBody>
      </p:sp>
    </p:spTree>
  </p:cSld>
  <p:clrMapOvr>
    <a:masterClrMapping/>
  </p:clrMapOvr>
  <p:transition advClick="0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050">
            <a:extLst>
              <a:ext uri="{FF2B5EF4-FFF2-40B4-BE49-F238E27FC236}">
                <a16:creationId xmlns:a16="http://schemas.microsoft.com/office/drawing/2014/main" id="{8E02B3FC-AE7A-A1CB-CEBB-BB92E4B9BC4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800"/>
              <a:t>Comparable Interface</a:t>
            </a:r>
          </a:p>
        </p:txBody>
      </p:sp>
      <p:sp>
        <p:nvSpPr>
          <p:cNvPr id="39939" name="Rectangle 2051">
            <a:extLst>
              <a:ext uri="{FF2B5EF4-FFF2-40B4-BE49-F238E27FC236}">
                <a16:creationId xmlns:a16="http://schemas.microsoft.com/office/drawing/2014/main" id="{5FEF6F25-8820-91EF-FFA6-B2F9D531EB6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1800"/>
              <a:t>Implementing  Comparable interface requires to  implement the method compareTo()</a:t>
            </a:r>
            <a:br>
              <a:rPr lang="en-US" altLang="en-US" sz="1800"/>
            </a:br>
            <a:endParaRPr lang="en-US" altLang="en-US" sz="1800"/>
          </a:p>
          <a:p>
            <a:pPr eaLnBrk="1" hangingPunct="1"/>
            <a:r>
              <a:rPr lang="en-US" altLang="en-US" sz="1800"/>
              <a:t>Imposes a total ordering on the objects of each class that implements it. </a:t>
            </a:r>
          </a:p>
          <a:p>
            <a:pPr eaLnBrk="1" hangingPunct="1"/>
            <a:endParaRPr lang="en-US" altLang="en-US" sz="1800"/>
          </a:p>
          <a:p>
            <a:pPr eaLnBrk="1" hangingPunct="1"/>
            <a:r>
              <a:rPr lang="en-US" altLang="en-US" sz="1800"/>
              <a:t>The class's compareTo method is referred to as its </a:t>
            </a:r>
            <a:r>
              <a:rPr lang="en-US" altLang="en-US" sz="1800" i="1"/>
              <a:t>natural comparison method</a:t>
            </a:r>
            <a:r>
              <a:rPr lang="en-US" altLang="en-US" sz="1800"/>
              <a:t>.</a:t>
            </a:r>
          </a:p>
          <a:p>
            <a:pPr eaLnBrk="1" hangingPunct="1"/>
            <a:endParaRPr lang="en-US" altLang="en-US" sz="1800"/>
          </a:p>
          <a:p>
            <a:pPr eaLnBrk="1" hangingPunct="1"/>
            <a:r>
              <a:rPr lang="en-US" altLang="en-US" sz="1800"/>
              <a:t>public int </a:t>
            </a:r>
            <a:r>
              <a:rPr lang="en-US" altLang="en-US" sz="1800" b="1"/>
              <a:t>compareTo</a:t>
            </a:r>
            <a:r>
              <a:rPr lang="en-US" altLang="en-US" sz="1800"/>
              <a:t>(</a:t>
            </a:r>
            <a:r>
              <a:rPr lang="en-US" altLang="en-US" sz="1800">
                <a:hlinkClick r:id="rId2" action="ppaction://hlinkfile" tooltip="class in java.lang"/>
              </a:rPr>
              <a:t>Object</a:t>
            </a:r>
            <a:r>
              <a:rPr lang="en-US" altLang="en-US" sz="1800"/>
              <a:t> o) </a:t>
            </a:r>
          </a:p>
          <a:p>
            <a:pPr lvl="1" eaLnBrk="1" hangingPunct="1"/>
            <a:endParaRPr lang="en-US" altLang="en-US" sz="1800"/>
          </a:p>
          <a:p>
            <a:pPr lvl="1" eaLnBrk="1" hangingPunct="1"/>
            <a:r>
              <a:rPr lang="en-US" altLang="en-US" sz="1800"/>
              <a:t>Compares this object with the specified object for order.</a:t>
            </a:r>
          </a:p>
          <a:p>
            <a:pPr lvl="1" eaLnBrk="1" hangingPunct="1"/>
            <a:r>
              <a:rPr lang="en-US" altLang="en-US" sz="1800"/>
              <a:t> Returns a negative integer, zero, or a positive integer as this object is less than, equal to, or greater than the specified object.</a:t>
            </a:r>
          </a:p>
          <a:p>
            <a:pPr lvl="1" eaLnBrk="1" hangingPunct="1"/>
            <a:endParaRPr lang="en-US" altLang="en-US" sz="1800"/>
          </a:p>
          <a:p>
            <a:pPr lvl="1" eaLnBrk="1" hangingPunct="1"/>
            <a:endParaRPr lang="en-US" altLang="en-US" b="1">
              <a:latin typeface="Courier New" panose="02070309020205020404" pitchFamily="49" charset="0"/>
            </a:endParaRPr>
          </a:p>
          <a:p>
            <a:pPr eaLnBrk="1" hangingPunct="1"/>
            <a:endParaRPr lang="en-US" altLang="en-US" sz="1600">
              <a:latin typeface="Courier New" panose="02070309020205020404" pitchFamily="49" charset="0"/>
            </a:endParaRPr>
          </a:p>
        </p:txBody>
      </p:sp>
    </p:spTree>
  </p:cSld>
  <p:clrMapOvr>
    <a:masterClrMapping/>
  </p:clrMapOvr>
  <p:transition advClick="0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90DD761D-6F81-34FF-8440-A4EE8818AD4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Implementing </a:t>
            </a:r>
            <a:r>
              <a:rPr lang="en-US" altLang="en-US" sz="2800">
                <a:solidFill>
                  <a:schemeClr val="tx1"/>
                </a:solidFill>
                <a:latin typeface="Verdana" panose="020B0604030504040204" pitchFamily="34" charset="0"/>
              </a:rPr>
              <a:t>Comparable</a:t>
            </a:r>
          </a:p>
        </p:txBody>
      </p:sp>
      <p:sp>
        <p:nvSpPr>
          <p:cNvPr id="40963" name="Rectangle 3">
            <a:extLst>
              <a:ext uri="{FF2B5EF4-FFF2-40B4-BE49-F238E27FC236}">
                <a16:creationId xmlns:a16="http://schemas.microsoft.com/office/drawing/2014/main" id="{61F5DC54-7871-300A-6627-77926383D48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762000"/>
            <a:ext cx="8305800" cy="5867400"/>
          </a:xfrm>
        </p:spPr>
        <p:txBody>
          <a:bodyPr/>
          <a:lstStyle/>
          <a:p>
            <a:pPr lvl="1" eaLnBrk="1" hangingPunct="1">
              <a:buFontTx/>
              <a:buNone/>
            </a:pPr>
            <a:r>
              <a:rPr lang="en-US" altLang="en-US" sz="1800"/>
              <a:t>	</a:t>
            </a:r>
            <a:r>
              <a:rPr lang="en-US" altLang="en-US" sz="1800" b="1">
                <a:latin typeface="Courier New" panose="02070309020205020404" pitchFamily="49" charset="0"/>
              </a:rPr>
              <a:t>public class</a:t>
            </a:r>
            <a:r>
              <a:rPr lang="en-US" altLang="en-US" sz="1800">
                <a:latin typeface="Courier New" panose="02070309020205020404" pitchFamily="49" charset="0"/>
              </a:rPr>
              <a:t>  Book </a:t>
            </a:r>
            <a:r>
              <a:rPr lang="en-US" altLang="en-US" sz="1800" b="1">
                <a:latin typeface="Courier New" panose="02070309020205020404" pitchFamily="49" charset="0"/>
              </a:rPr>
              <a:t>implements Comparable&lt;Book&gt;</a:t>
            </a:r>
            <a:r>
              <a:rPr lang="en-US" altLang="en-US" sz="1800">
                <a:latin typeface="Courier New" panose="02070309020205020404" pitchFamily="49" charset="0"/>
              </a:rPr>
              <a:t>{</a:t>
            </a:r>
          </a:p>
          <a:p>
            <a:pPr lvl="1" eaLnBrk="1" hangingPunct="1">
              <a:buFontTx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	private int bookno;</a:t>
            </a:r>
          </a:p>
          <a:p>
            <a:pPr lvl="1" eaLnBrk="1" hangingPunct="1">
              <a:buFontTx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	private String bookname;</a:t>
            </a:r>
          </a:p>
          <a:p>
            <a:pPr lvl="1" eaLnBrk="1" hangingPunct="1">
              <a:buFontTx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	private String author;</a:t>
            </a:r>
          </a:p>
          <a:p>
            <a:pPr lvl="1" eaLnBrk="1" hangingPunct="1">
              <a:buFontTx/>
              <a:buNone/>
            </a:pPr>
            <a:endParaRPr lang="en-US" altLang="en-US" sz="1800" b="1">
              <a:latin typeface="Courier New" panose="02070309020205020404" pitchFamily="49" charset="0"/>
            </a:endParaRPr>
          </a:p>
          <a:p>
            <a:pPr lvl="1" eaLnBrk="1" hangingPunct="1">
              <a:buFontTx/>
              <a:buNone/>
            </a:pPr>
            <a:r>
              <a:rPr lang="en-US" altLang="en-US" sz="1800" b="1">
                <a:latin typeface="Courier New" panose="02070309020205020404" pitchFamily="49" charset="0"/>
              </a:rPr>
              <a:t>	public int compareTo(Book otherbook) {</a:t>
            </a:r>
          </a:p>
          <a:p>
            <a:pPr lvl="1" eaLnBrk="1" hangingPunct="1">
              <a:buFontTx/>
              <a:buNone/>
            </a:pPr>
            <a:r>
              <a:rPr lang="en-US" altLang="en-US" sz="1800" b="1">
                <a:latin typeface="Courier New" panose="02070309020205020404" pitchFamily="49" charset="0"/>
              </a:rPr>
              <a:t>		if(this.bookno&lt;otherbook.bookno) return -1;</a:t>
            </a:r>
          </a:p>
          <a:p>
            <a:pPr lvl="1" eaLnBrk="1" hangingPunct="1">
              <a:buFontTx/>
              <a:buNone/>
            </a:pPr>
            <a:r>
              <a:rPr lang="en-US" altLang="en-US" sz="1800" b="1">
                <a:latin typeface="Courier New" panose="02070309020205020404" pitchFamily="49" charset="0"/>
              </a:rPr>
              <a:t>		if(this.bookno&gt;otherbook.bookno) return 1;</a:t>
            </a:r>
          </a:p>
          <a:p>
            <a:pPr lvl="1" eaLnBrk="1" hangingPunct="1">
              <a:buFontTx/>
              <a:buNone/>
            </a:pPr>
            <a:r>
              <a:rPr lang="en-US" altLang="en-US" sz="1800" b="1">
                <a:latin typeface="Courier New" panose="02070309020205020404" pitchFamily="49" charset="0"/>
              </a:rPr>
              <a:t>		return 0;</a:t>
            </a:r>
          </a:p>
          <a:p>
            <a:pPr lvl="1" eaLnBrk="1" hangingPunct="1">
              <a:buFontTx/>
              <a:buNone/>
            </a:pPr>
            <a:r>
              <a:rPr lang="en-US" altLang="en-US" sz="1800" b="1">
                <a:latin typeface="Courier New" panose="02070309020205020404" pitchFamily="49" charset="0"/>
              </a:rPr>
              <a:t>	}</a:t>
            </a:r>
          </a:p>
          <a:p>
            <a:pPr eaLnBrk="1" hangingPunct="1">
              <a:buFontTx/>
              <a:buNone/>
            </a:pPr>
            <a:r>
              <a:rPr lang="en-US" altLang="en-US" sz="1800" b="1">
                <a:latin typeface="Courier New" panose="02070309020205020404" pitchFamily="49" charset="0"/>
              </a:rPr>
              <a:t>}</a:t>
            </a:r>
          </a:p>
          <a:p>
            <a:pPr eaLnBrk="1" hangingPunct="1"/>
            <a:r>
              <a:rPr lang="en-US" altLang="en-US" sz="1800"/>
              <a:t>To Sort the ArrayList Using Comaprable the static method in the Collectins class is invoked</a:t>
            </a:r>
          </a:p>
          <a:p>
            <a:pPr eaLnBrk="1" hangingPunct="1"/>
            <a:endParaRPr lang="en-US" altLang="en-US" sz="1800"/>
          </a:p>
          <a:p>
            <a:pPr lvl="1" eaLnBrk="1" hangingPunct="1"/>
            <a:r>
              <a:rPr lang="en-US" altLang="en-US" sz="1800" b="1" u="sng"/>
              <a:t>Collections.sort(arrList);</a:t>
            </a:r>
          </a:p>
          <a:p>
            <a:pPr eaLnBrk="1" hangingPunct="1">
              <a:buFontTx/>
              <a:buNone/>
            </a:pPr>
            <a:endParaRPr lang="en-US" altLang="en-US" sz="2000" b="1" u="sng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>
            <a:extLst>
              <a:ext uri="{FF2B5EF4-FFF2-40B4-BE49-F238E27FC236}">
                <a16:creationId xmlns:a16="http://schemas.microsoft.com/office/drawing/2014/main" id="{04702460-982D-4155-5919-C9EA9D76286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Using a separate </a:t>
            </a:r>
            <a:r>
              <a:rPr lang="en-US" altLang="en-US" sz="2800">
                <a:solidFill>
                  <a:schemeClr val="tx1"/>
                </a:solidFill>
                <a:latin typeface="Verdana" panose="020B0604030504040204" pitchFamily="34" charset="0"/>
              </a:rPr>
              <a:t>Comparator</a:t>
            </a:r>
          </a:p>
        </p:txBody>
      </p:sp>
      <p:sp>
        <p:nvSpPr>
          <p:cNvPr id="41987" name="Rectangle 3">
            <a:extLst>
              <a:ext uri="{FF2B5EF4-FFF2-40B4-BE49-F238E27FC236}">
                <a16:creationId xmlns:a16="http://schemas.microsoft.com/office/drawing/2014/main" id="{B7D85973-C9B8-1F02-91BE-46831850AF6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066800"/>
            <a:ext cx="7924800" cy="52578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1800"/>
              <a:t>Can  put the comparison method in a separate class that implements Comparator instead of Comparable</a:t>
            </a:r>
          </a:p>
          <a:p>
            <a:pPr lvl="1" eaLnBrk="1" hangingPunct="1">
              <a:lnSpc>
                <a:spcPct val="90000"/>
              </a:lnSpc>
            </a:pPr>
            <a:endParaRPr lang="en-US" altLang="en-US" sz="1800"/>
          </a:p>
          <a:p>
            <a:pPr eaLnBrk="1" hangingPunct="1">
              <a:lnSpc>
                <a:spcPct val="90000"/>
              </a:lnSpc>
            </a:pPr>
            <a:r>
              <a:rPr lang="en-US" altLang="en-US" sz="1800"/>
              <a:t>The more flexible Comparator can also be used </a:t>
            </a:r>
          </a:p>
          <a:p>
            <a:pPr eaLnBrk="1" hangingPunct="1">
              <a:lnSpc>
                <a:spcPct val="90000"/>
              </a:lnSpc>
            </a:pPr>
            <a:endParaRPr lang="en-US" altLang="en-US" sz="1800"/>
          </a:p>
          <a:p>
            <a:pPr eaLnBrk="1" hangingPunct="1">
              <a:lnSpc>
                <a:spcPct val="90000"/>
              </a:lnSpc>
            </a:pPr>
            <a:r>
              <a:rPr lang="en-US" altLang="en-US" sz="1800"/>
              <a:t>Comparator is in java.util, not java.lang</a:t>
            </a:r>
          </a:p>
          <a:p>
            <a:pPr eaLnBrk="1" hangingPunct="1">
              <a:lnSpc>
                <a:spcPct val="90000"/>
              </a:lnSpc>
            </a:pPr>
            <a:endParaRPr lang="en-US" altLang="en-US" sz="1800"/>
          </a:p>
          <a:p>
            <a:pPr eaLnBrk="1" hangingPunct="1">
              <a:lnSpc>
                <a:spcPct val="90000"/>
              </a:lnSpc>
            </a:pPr>
            <a:r>
              <a:rPr lang="en-US" altLang="en-US" sz="1800"/>
              <a:t>Comparable requires a definition of compareTo but Comparator requires a definition of compare </a:t>
            </a:r>
          </a:p>
          <a:p>
            <a:pPr eaLnBrk="1" hangingPunct="1">
              <a:lnSpc>
                <a:spcPct val="90000"/>
              </a:lnSpc>
            </a:pPr>
            <a:endParaRPr lang="en-US" altLang="en-US" sz="18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>
            <a:extLst>
              <a:ext uri="{FF2B5EF4-FFF2-40B4-BE49-F238E27FC236}">
                <a16:creationId xmlns:a16="http://schemas.microsoft.com/office/drawing/2014/main" id="{245042BC-ADF8-13C2-C102-2879B497367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800"/>
              <a:t>Implementing Comparator</a:t>
            </a:r>
          </a:p>
        </p:txBody>
      </p:sp>
      <p:sp>
        <p:nvSpPr>
          <p:cNvPr id="43011" name="Rectangle 3">
            <a:extLst>
              <a:ext uri="{FF2B5EF4-FFF2-40B4-BE49-F238E27FC236}">
                <a16:creationId xmlns:a16="http://schemas.microsoft.com/office/drawing/2014/main" id="{D4B0B7C3-B7F8-AF50-B19A-1F4B3738614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lvl="1" eaLnBrk="1" hangingPunct="1">
              <a:buFontTx/>
              <a:buNone/>
            </a:pPr>
            <a:endParaRPr lang="en-US" altLang="en-US" sz="1800" b="1" dirty="0">
              <a:latin typeface="Courier New" panose="02070309020205020404" pitchFamily="49" charset="0"/>
            </a:endParaRPr>
          </a:p>
          <a:p>
            <a:pPr lvl="1" eaLnBrk="1" hangingPunct="1">
              <a:buFontTx/>
              <a:buNone/>
            </a:pPr>
            <a:endParaRPr lang="en-US" altLang="en-US" sz="1800" dirty="0">
              <a:latin typeface="Courier New" panose="02070309020205020404" pitchFamily="49" charset="0"/>
            </a:endParaRPr>
          </a:p>
          <a:p>
            <a:pPr lvl="1" eaLnBrk="1" hangingPunct="1">
              <a:buFontTx/>
              <a:buNone/>
            </a:pPr>
            <a:r>
              <a:rPr lang="en-US" altLang="en-US" sz="1800" b="1" dirty="0">
                <a:latin typeface="Courier New" panose="02070309020205020404" pitchFamily="49" charset="0"/>
              </a:rPr>
              <a:t>public</a:t>
            </a:r>
            <a:r>
              <a:rPr lang="en-US" altLang="en-US" sz="1800" dirty="0">
                <a:latin typeface="Courier New" panose="02070309020205020404" pitchFamily="49" charset="0"/>
              </a:rPr>
              <a:t> </a:t>
            </a:r>
            <a:r>
              <a:rPr lang="en-US" altLang="en-US" sz="1800" b="1" dirty="0">
                <a:latin typeface="Courier New" panose="02070309020205020404" pitchFamily="49" charset="0"/>
              </a:rPr>
              <a:t>class</a:t>
            </a:r>
            <a:r>
              <a:rPr lang="en-US" altLang="en-US" sz="1800" dirty="0">
                <a:latin typeface="Courier New" panose="02070309020205020404" pitchFamily="49" charset="0"/>
              </a:rPr>
              <a:t> </a:t>
            </a:r>
            <a:r>
              <a:rPr lang="en-US" altLang="en-US" sz="1800" dirty="0" err="1">
                <a:latin typeface="Courier New" panose="02070309020205020404" pitchFamily="49" charset="0"/>
              </a:rPr>
              <a:t>BookNumberComp</a:t>
            </a:r>
            <a:r>
              <a:rPr lang="en-US" altLang="en-US" sz="1800" dirty="0">
                <a:latin typeface="Courier New" panose="02070309020205020404" pitchFamily="49" charset="0"/>
              </a:rPr>
              <a:t> </a:t>
            </a:r>
            <a:r>
              <a:rPr lang="en-US" altLang="en-US" sz="1800" b="1" dirty="0">
                <a:latin typeface="Courier New" panose="02070309020205020404" pitchFamily="49" charset="0"/>
              </a:rPr>
              <a:t>implements</a:t>
            </a:r>
            <a:r>
              <a:rPr lang="en-US" altLang="en-US" sz="1800" dirty="0">
                <a:latin typeface="Courier New" panose="02070309020205020404" pitchFamily="49" charset="0"/>
              </a:rPr>
              <a:t> Comparator&lt;Book&gt;</a:t>
            </a:r>
          </a:p>
          <a:p>
            <a:pPr lvl="1" eaLnBrk="1" hangingPunct="1">
              <a:buFontTx/>
              <a:buNone/>
            </a:pPr>
            <a:r>
              <a:rPr lang="en-US" altLang="en-US" sz="1800" dirty="0">
                <a:latin typeface="Courier New" panose="02070309020205020404" pitchFamily="49" charset="0"/>
              </a:rPr>
              <a:t>{</a:t>
            </a:r>
          </a:p>
          <a:p>
            <a:pPr lvl="1" eaLnBrk="1" hangingPunct="1">
              <a:buFontTx/>
              <a:buNone/>
            </a:pPr>
            <a:endParaRPr lang="en-US" altLang="en-US" sz="1800" dirty="0">
              <a:latin typeface="Courier New" panose="02070309020205020404" pitchFamily="49" charset="0"/>
            </a:endParaRPr>
          </a:p>
          <a:p>
            <a:pPr lvl="1" eaLnBrk="1" hangingPunct="1">
              <a:buFontTx/>
              <a:buNone/>
            </a:pPr>
            <a:r>
              <a:rPr lang="en-US" altLang="en-US" sz="1800" b="1" dirty="0">
                <a:latin typeface="Courier New" panose="02070309020205020404" pitchFamily="49" charset="0"/>
              </a:rPr>
              <a:t>public</a:t>
            </a:r>
            <a:r>
              <a:rPr lang="en-US" altLang="en-US" sz="1800" dirty="0">
                <a:latin typeface="Courier New" panose="02070309020205020404" pitchFamily="49" charset="0"/>
              </a:rPr>
              <a:t> </a:t>
            </a:r>
            <a:r>
              <a:rPr lang="en-US" altLang="en-US" sz="1800" b="1" dirty="0">
                <a:latin typeface="Courier New" panose="02070309020205020404" pitchFamily="49" charset="0"/>
              </a:rPr>
              <a:t>int</a:t>
            </a:r>
            <a:r>
              <a:rPr lang="en-US" altLang="en-US" sz="1800" dirty="0">
                <a:latin typeface="Courier New" panose="02070309020205020404" pitchFamily="49" charset="0"/>
              </a:rPr>
              <a:t> compare(Book obj1, Book obj2) {</a:t>
            </a:r>
          </a:p>
          <a:p>
            <a:pPr lvl="1" eaLnBrk="1" hangingPunct="1">
              <a:buFontTx/>
              <a:buNone/>
            </a:pPr>
            <a:endParaRPr lang="en-US" altLang="en-US" sz="1800" dirty="0">
              <a:latin typeface="Courier New" panose="02070309020205020404" pitchFamily="49" charset="0"/>
            </a:endParaRPr>
          </a:p>
          <a:p>
            <a:pPr lvl="1" eaLnBrk="1" hangingPunct="1">
              <a:buFontTx/>
              <a:buNone/>
            </a:pPr>
            <a:r>
              <a:rPr lang="en-US" altLang="en-US" sz="1800" b="1" dirty="0">
                <a:latin typeface="Courier New" panose="02070309020205020404" pitchFamily="49" charset="0"/>
              </a:rPr>
              <a:t>	if</a:t>
            </a:r>
            <a:r>
              <a:rPr lang="en-US" altLang="en-US" sz="1800" dirty="0">
                <a:latin typeface="Courier New" panose="02070309020205020404" pitchFamily="49" charset="0"/>
              </a:rPr>
              <a:t>(obj1.getBookno()&lt;obj2.getBookno())</a:t>
            </a:r>
            <a:r>
              <a:rPr lang="en-US" altLang="en-US" sz="1800" b="1" dirty="0">
                <a:latin typeface="Courier New" panose="02070309020205020404" pitchFamily="49" charset="0"/>
              </a:rPr>
              <a:t>return</a:t>
            </a:r>
            <a:r>
              <a:rPr lang="en-US" altLang="en-US" sz="1800" dirty="0">
                <a:latin typeface="Courier New" panose="02070309020205020404" pitchFamily="49" charset="0"/>
              </a:rPr>
              <a:t> -1;</a:t>
            </a:r>
          </a:p>
          <a:p>
            <a:pPr lvl="1" eaLnBrk="1" hangingPunct="1">
              <a:buFontTx/>
              <a:buNone/>
            </a:pPr>
            <a:r>
              <a:rPr lang="en-US" altLang="en-US" sz="1800" b="1" dirty="0">
                <a:latin typeface="Courier New" panose="02070309020205020404" pitchFamily="49" charset="0"/>
              </a:rPr>
              <a:t>	if</a:t>
            </a:r>
            <a:r>
              <a:rPr lang="en-US" altLang="en-US" sz="1800" dirty="0">
                <a:latin typeface="Courier New" panose="02070309020205020404" pitchFamily="49" charset="0"/>
              </a:rPr>
              <a:t>(obj1.getBookno()&gt;obj2.getBookno())</a:t>
            </a:r>
            <a:r>
              <a:rPr lang="en-US" altLang="en-US" sz="1800" b="1" dirty="0">
                <a:latin typeface="Courier New" panose="02070309020205020404" pitchFamily="49" charset="0"/>
              </a:rPr>
              <a:t>return</a:t>
            </a:r>
            <a:r>
              <a:rPr lang="en-US" altLang="en-US" sz="1800" dirty="0">
                <a:latin typeface="Courier New" panose="02070309020205020404" pitchFamily="49" charset="0"/>
              </a:rPr>
              <a:t> 1;</a:t>
            </a:r>
          </a:p>
          <a:p>
            <a:pPr lvl="1" eaLnBrk="1" hangingPunct="1">
              <a:buFontTx/>
              <a:buNone/>
            </a:pPr>
            <a:r>
              <a:rPr lang="en-US" altLang="en-US" sz="1800" b="1" dirty="0">
                <a:latin typeface="Courier New" panose="02070309020205020404" pitchFamily="49" charset="0"/>
              </a:rPr>
              <a:t>	return</a:t>
            </a:r>
            <a:r>
              <a:rPr lang="en-US" altLang="en-US" sz="1800" dirty="0">
                <a:latin typeface="Courier New" panose="02070309020205020404" pitchFamily="49" charset="0"/>
              </a:rPr>
              <a:t> 0;</a:t>
            </a:r>
          </a:p>
          <a:p>
            <a:pPr lvl="1" eaLnBrk="1" hangingPunct="1">
              <a:buFontTx/>
              <a:buNone/>
            </a:pPr>
            <a:r>
              <a:rPr lang="en-US" altLang="en-US" sz="1800" dirty="0">
                <a:latin typeface="Courier New" panose="02070309020205020404" pitchFamily="49" charset="0"/>
              </a:rPr>
              <a:t>}</a:t>
            </a:r>
          </a:p>
          <a:p>
            <a:pPr lvl="1" eaLnBrk="1" hangingPunct="1">
              <a:buFontTx/>
              <a:buNone/>
            </a:pPr>
            <a:r>
              <a:rPr lang="en-US" altLang="en-US" sz="1800" dirty="0">
                <a:latin typeface="Courier New" panose="02070309020205020404" pitchFamily="49" charset="0"/>
              </a:rPr>
              <a:t>}</a:t>
            </a:r>
          </a:p>
          <a:p>
            <a:pPr lvl="1" eaLnBrk="1" hangingPunct="1">
              <a:buFontTx/>
              <a:buNone/>
            </a:pPr>
            <a:endParaRPr lang="en-US" altLang="en-US" sz="1800" dirty="0">
              <a:latin typeface="Courier New" panose="02070309020205020404" pitchFamily="49" charset="0"/>
            </a:endParaRPr>
          </a:p>
        </p:txBody>
      </p:sp>
    </p:spTree>
  </p:cSld>
  <p:clrMapOvr>
    <a:masterClrMapping/>
  </p:clrMapOvr>
  <p:transition advClick="0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>
            <a:extLst>
              <a:ext uri="{FF2B5EF4-FFF2-40B4-BE49-F238E27FC236}">
                <a16:creationId xmlns:a16="http://schemas.microsoft.com/office/drawing/2014/main" id="{576DC237-56C4-C287-39D7-56F15151241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800"/>
              <a:t>Collections.Sort() with Comparator</a:t>
            </a:r>
          </a:p>
        </p:txBody>
      </p:sp>
      <p:sp>
        <p:nvSpPr>
          <p:cNvPr id="45059" name="Rectangle 3">
            <a:extLst>
              <a:ext uri="{FF2B5EF4-FFF2-40B4-BE49-F238E27FC236}">
                <a16:creationId xmlns:a16="http://schemas.microsoft.com/office/drawing/2014/main" id="{A115832A-73E4-9340-B2B9-68D09648CED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900">
                <a:latin typeface="Courier New" panose="02070309020205020404" pitchFamily="49" charset="0"/>
              </a:rPr>
              <a:t>		</a:t>
            </a:r>
            <a:r>
              <a:rPr lang="en-US" altLang="en-US" sz="1600" b="1">
                <a:latin typeface="Courier New" panose="02070309020205020404" pitchFamily="49" charset="0"/>
              </a:rPr>
              <a:t>public static void main(String[]</a:t>
            </a:r>
            <a:r>
              <a:rPr lang="en-US" altLang="en-US" sz="1600">
                <a:latin typeface="Courier New" panose="02070309020205020404" pitchFamily="49" charset="0"/>
              </a:rPr>
              <a:t> args) {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1600">
                <a:latin typeface="Courier New" panose="02070309020205020404" pitchFamily="49" charset="0"/>
              </a:rPr>
              <a:t>				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1600">
                <a:latin typeface="Courier New" panose="02070309020205020404" pitchFamily="49" charset="0"/>
              </a:rPr>
              <a:t>			</a:t>
            </a:r>
            <a:r>
              <a:rPr lang="en-US" altLang="en-US" sz="1600" b="1">
                <a:latin typeface="Courier New" panose="02070309020205020404" pitchFamily="49" charset="0"/>
              </a:rPr>
              <a:t>ArrayList</a:t>
            </a:r>
            <a:r>
              <a:rPr lang="en-US" altLang="en-US" sz="1600">
                <a:latin typeface="Courier New" panose="02070309020205020404" pitchFamily="49" charset="0"/>
              </a:rPr>
              <a:t>&lt;</a:t>
            </a:r>
            <a:r>
              <a:rPr lang="en-US" altLang="en-US" sz="1600" b="1">
                <a:latin typeface="Courier New" panose="02070309020205020404" pitchFamily="49" charset="0"/>
              </a:rPr>
              <a:t>Book</a:t>
            </a:r>
            <a:r>
              <a:rPr lang="en-US" altLang="en-US" sz="1600">
                <a:latin typeface="Courier New" panose="02070309020205020404" pitchFamily="49" charset="0"/>
              </a:rPr>
              <a:t>&gt; bkList = </a:t>
            </a:r>
            <a:r>
              <a:rPr lang="en-US" altLang="en-US" sz="1600" b="1">
                <a:latin typeface="Courier New" panose="02070309020205020404" pitchFamily="49" charset="0"/>
              </a:rPr>
              <a:t>new ArrayList&lt;Book&gt;</a:t>
            </a:r>
            <a:r>
              <a:rPr lang="en-US" altLang="en-US" sz="1600">
                <a:latin typeface="Courier New" panose="02070309020205020404" pitchFamily="49" charset="0"/>
              </a:rPr>
              <a:t>();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altLang="en-US" sz="1600"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1600">
                <a:latin typeface="Courier New" panose="02070309020205020404" pitchFamily="49" charset="0"/>
              </a:rPr>
              <a:t>		Book bk1 = </a:t>
            </a:r>
            <a:r>
              <a:rPr lang="en-US" altLang="en-US" sz="1600" b="1">
                <a:latin typeface="Courier New" panose="02070309020205020404" pitchFamily="49" charset="0"/>
              </a:rPr>
              <a:t>new</a:t>
            </a:r>
            <a:r>
              <a:rPr lang="en-US" altLang="en-US" sz="1600">
                <a:latin typeface="Courier New" panose="02070309020205020404" pitchFamily="49" charset="0"/>
              </a:rPr>
              <a:t> Book(23,"java","kathy sierra");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1600">
                <a:latin typeface="Courier New" panose="02070309020205020404" pitchFamily="49" charset="0"/>
              </a:rPr>
              <a:t>		Book bk2 = </a:t>
            </a:r>
            <a:r>
              <a:rPr lang="en-US" altLang="en-US" sz="1600" b="1">
                <a:latin typeface="Courier New" panose="02070309020205020404" pitchFamily="49" charset="0"/>
              </a:rPr>
              <a:t>new</a:t>
            </a:r>
            <a:r>
              <a:rPr lang="en-US" altLang="en-US" sz="1600">
                <a:latin typeface="Courier New" panose="02070309020205020404" pitchFamily="49" charset="0"/>
              </a:rPr>
              <a:t> Book(101,"j2ee","james gosling");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1600">
                <a:latin typeface="Courier New" panose="02070309020205020404" pitchFamily="49" charset="0"/>
              </a:rPr>
              <a:t>		Book bk3 = </a:t>
            </a:r>
            <a:r>
              <a:rPr lang="en-US" altLang="en-US" sz="1600" b="1">
                <a:latin typeface="Courier New" panose="02070309020205020404" pitchFamily="49" charset="0"/>
              </a:rPr>
              <a:t>new</a:t>
            </a:r>
            <a:r>
              <a:rPr lang="en-US" altLang="en-US" sz="1600">
                <a:latin typeface="Courier New" panose="02070309020205020404" pitchFamily="49" charset="0"/>
              </a:rPr>
              <a:t> Book(11,"struts","haffzel manning");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1600">
                <a:latin typeface="Courier New" panose="02070309020205020404" pitchFamily="49" charset="0"/>
              </a:rPr>
              <a:t>			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1600">
                <a:latin typeface="Courier New" panose="02070309020205020404" pitchFamily="49" charset="0"/>
              </a:rPr>
              <a:t>			bkList.</a:t>
            </a:r>
            <a:r>
              <a:rPr lang="en-US" altLang="en-US" sz="1600" b="1">
                <a:latin typeface="Courier New" panose="02070309020205020404" pitchFamily="49" charset="0"/>
              </a:rPr>
              <a:t>add</a:t>
            </a:r>
            <a:r>
              <a:rPr lang="en-US" altLang="en-US" sz="1600">
                <a:latin typeface="Courier New" panose="02070309020205020404" pitchFamily="49" charset="0"/>
              </a:rPr>
              <a:t>(bk1);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1600">
                <a:latin typeface="Courier New" panose="02070309020205020404" pitchFamily="49" charset="0"/>
              </a:rPr>
              <a:t>			bkList.</a:t>
            </a:r>
            <a:r>
              <a:rPr lang="en-US" altLang="en-US" sz="1600" b="1">
                <a:latin typeface="Courier New" panose="02070309020205020404" pitchFamily="49" charset="0"/>
              </a:rPr>
              <a:t>add</a:t>
            </a:r>
            <a:r>
              <a:rPr lang="en-US" altLang="en-US" sz="1600">
                <a:latin typeface="Courier New" panose="02070309020205020404" pitchFamily="49" charset="0"/>
              </a:rPr>
              <a:t>(bk2);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1600">
                <a:latin typeface="Courier New" panose="02070309020205020404" pitchFamily="49" charset="0"/>
              </a:rPr>
              <a:t>			bkList.</a:t>
            </a:r>
            <a:r>
              <a:rPr lang="en-US" altLang="en-US" sz="1600" b="1">
                <a:latin typeface="Courier New" panose="02070309020205020404" pitchFamily="49" charset="0"/>
              </a:rPr>
              <a:t>add</a:t>
            </a:r>
            <a:r>
              <a:rPr lang="en-US" altLang="en-US" sz="1600">
                <a:latin typeface="Courier New" panose="02070309020205020404" pitchFamily="49" charset="0"/>
              </a:rPr>
              <a:t>(bk3);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1600">
                <a:latin typeface="Courier New" panose="02070309020205020404" pitchFamily="49" charset="0"/>
              </a:rPr>
              <a:t>	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1600">
                <a:latin typeface="Courier New" panose="02070309020205020404" pitchFamily="49" charset="0"/>
              </a:rPr>
              <a:t>	BookComparators bc = </a:t>
            </a:r>
            <a:r>
              <a:rPr lang="en-US" altLang="en-US" sz="1600" b="1">
                <a:latin typeface="Courier New" panose="02070309020205020404" pitchFamily="49" charset="0"/>
              </a:rPr>
              <a:t>new</a:t>
            </a:r>
            <a:r>
              <a:rPr lang="en-US" altLang="en-US" sz="1600">
                <a:latin typeface="Courier New" panose="02070309020205020404" pitchFamily="49" charset="0"/>
              </a:rPr>
              <a:t> BookComparators();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1600">
                <a:latin typeface="Courier New" panose="02070309020205020404" pitchFamily="49" charset="0"/>
              </a:rPr>
              <a:t>	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1600">
                <a:latin typeface="Courier New" panose="02070309020205020404" pitchFamily="49" charset="0"/>
              </a:rPr>
              <a:t>	</a:t>
            </a:r>
            <a:r>
              <a:rPr lang="en-US" altLang="en-US" sz="1600" b="1">
                <a:latin typeface="Courier New" panose="02070309020205020404" pitchFamily="49" charset="0"/>
              </a:rPr>
              <a:t>Collections.sort</a:t>
            </a:r>
            <a:r>
              <a:rPr lang="en-US" altLang="en-US" sz="1600">
                <a:latin typeface="Courier New" panose="02070309020205020404" pitchFamily="49" charset="0"/>
              </a:rPr>
              <a:t>(bkList,bc.new BookNumberComp());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1600">
                <a:latin typeface="Courier New" panose="02070309020205020404" pitchFamily="49" charset="0"/>
              </a:rPr>
              <a:t>			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1600">
                <a:latin typeface="Courier New" panose="02070309020205020404" pitchFamily="49" charset="0"/>
              </a:rPr>
              <a:t>			</a:t>
            </a:r>
            <a:r>
              <a:rPr lang="en-US" altLang="en-US" sz="1600" b="1">
                <a:latin typeface="Courier New" panose="02070309020205020404" pitchFamily="49" charset="0"/>
              </a:rPr>
              <a:t>for(Book</a:t>
            </a:r>
            <a:r>
              <a:rPr lang="en-US" altLang="en-US" sz="1600">
                <a:latin typeface="Courier New" panose="02070309020205020404" pitchFamily="49" charset="0"/>
              </a:rPr>
              <a:t> bk:bkList)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1600">
                <a:latin typeface="Courier New" panose="02070309020205020404" pitchFamily="49" charset="0"/>
              </a:rPr>
              <a:t>			{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1600">
                <a:latin typeface="Courier New" panose="02070309020205020404" pitchFamily="49" charset="0"/>
              </a:rPr>
              <a:t>			   </a:t>
            </a:r>
            <a:r>
              <a:rPr lang="en-US" altLang="en-US" sz="1600" b="1">
                <a:latin typeface="Courier New" panose="02070309020205020404" pitchFamily="49" charset="0"/>
              </a:rPr>
              <a:t>System.out.println</a:t>
            </a:r>
            <a:r>
              <a:rPr lang="en-US" altLang="en-US" sz="1600">
                <a:latin typeface="Courier New" panose="02070309020205020404" pitchFamily="49" charset="0"/>
              </a:rPr>
              <a:t>(bk.getBookno());	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1600">
                <a:latin typeface="Courier New" panose="02070309020205020404" pitchFamily="49" charset="0"/>
              </a:rPr>
              <a:t>			}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1600">
                <a:latin typeface="Courier New" panose="02070309020205020404" pitchFamily="49" charset="0"/>
              </a:rPr>
              <a:t>}</a:t>
            </a:r>
          </a:p>
        </p:txBody>
      </p:sp>
    </p:spTree>
  </p:cSld>
  <p:clrMapOvr>
    <a:masterClrMapping/>
  </p:clrMapOvr>
  <p:transition advClick="0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E2DEBCD5-074F-4213-F4E2-F56CDE994B8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When to use each</a:t>
            </a:r>
          </a:p>
        </p:txBody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F77BF906-60CF-4230-3FE9-FD98003B9F2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990600"/>
            <a:ext cx="8534400" cy="5486400"/>
          </a:xfrm>
        </p:spPr>
        <p:txBody>
          <a:bodyPr/>
          <a:lstStyle/>
          <a:p>
            <a:pPr eaLnBrk="1" hangingPunct="1">
              <a:lnSpc>
                <a:spcPct val="140000"/>
              </a:lnSpc>
            </a:pPr>
            <a:r>
              <a:rPr lang="en-US" altLang="en-US" sz="1800" i="1" u="sng"/>
              <a:t>The Comparable interface is simpler and less work</a:t>
            </a:r>
          </a:p>
          <a:p>
            <a:pPr lvl="1" eaLnBrk="1" hangingPunct="1">
              <a:lnSpc>
                <a:spcPct val="140000"/>
              </a:lnSpc>
            </a:pPr>
            <a:r>
              <a:rPr lang="en-US" altLang="en-US" sz="1800"/>
              <a:t>The Object of the  class implements Comparable</a:t>
            </a:r>
          </a:p>
          <a:p>
            <a:pPr lvl="1" eaLnBrk="1" hangingPunct="1">
              <a:lnSpc>
                <a:spcPct val="140000"/>
              </a:lnSpc>
            </a:pPr>
            <a:r>
              <a:rPr lang="en-US" altLang="en-US" sz="1800"/>
              <a:t>A public int compareTo(Object o) method is overriden</a:t>
            </a:r>
          </a:p>
          <a:p>
            <a:pPr lvl="1" eaLnBrk="1" hangingPunct="1">
              <a:lnSpc>
                <a:spcPct val="140000"/>
              </a:lnSpc>
            </a:pPr>
            <a:r>
              <a:rPr lang="en-US" altLang="en-US" sz="1800"/>
              <a:t>When no argument constructor is used in  TreeSet or TreeMap </a:t>
            </a:r>
          </a:p>
          <a:p>
            <a:pPr eaLnBrk="1" hangingPunct="1">
              <a:lnSpc>
                <a:spcPct val="140000"/>
              </a:lnSpc>
            </a:pPr>
            <a:endParaRPr lang="en-US" altLang="en-US" sz="1800"/>
          </a:p>
          <a:p>
            <a:pPr eaLnBrk="1" hangingPunct="1">
              <a:lnSpc>
                <a:spcPct val="140000"/>
              </a:lnSpc>
            </a:pPr>
            <a:r>
              <a:rPr lang="en-US" altLang="en-US" sz="1800" i="1" u="sng"/>
              <a:t>The Comparator interface is more flexible but slightly more work</a:t>
            </a:r>
          </a:p>
          <a:p>
            <a:pPr lvl="1" eaLnBrk="1" hangingPunct="1">
              <a:lnSpc>
                <a:spcPct val="140000"/>
              </a:lnSpc>
            </a:pPr>
            <a:r>
              <a:rPr lang="en-US" altLang="en-US" sz="1800"/>
              <a:t>Many different classes that implement Comparator</a:t>
            </a:r>
          </a:p>
          <a:p>
            <a:pPr lvl="1" eaLnBrk="1" hangingPunct="1">
              <a:lnSpc>
                <a:spcPct val="140000"/>
              </a:lnSpc>
            </a:pPr>
            <a:r>
              <a:rPr lang="en-US" altLang="en-US" sz="1800"/>
              <a:t>Sorting  the TreeSet or TreeMap differently with each comparator</a:t>
            </a:r>
          </a:p>
          <a:p>
            <a:pPr lvl="1" eaLnBrk="1" hangingPunct="1">
              <a:lnSpc>
                <a:spcPct val="140000"/>
              </a:lnSpc>
            </a:pPr>
            <a:r>
              <a:rPr lang="en-US" altLang="en-US" sz="1800"/>
              <a:t>TreeSet or TreeMap are Constructed using the comparator</a:t>
            </a:r>
          </a:p>
          <a:p>
            <a:pPr eaLnBrk="1" hangingPunct="1"/>
            <a:endParaRPr lang="en-US" altLang="en-US" sz="180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1026">
            <a:extLst>
              <a:ext uri="{FF2B5EF4-FFF2-40B4-BE49-F238E27FC236}">
                <a16:creationId xmlns:a16="http://schemas.microsoft.com/office/drawing/2014/main" id="{804534B8-60B8-DD90-B426-C9CDECC76B6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/>
              <a:t>Interface Set</a:t>
            </a:r>
          </a:p>
        </p:txBody>
      </p:sp>
      <p:sp>
        <p:nvSpPr>
          <p:cNvPr id="47107" name="Rectangle 1027">
            <a:extLst>
              <a:ext uri="{FF2B5EF4-FFF2-40B4-BE49-F238E27FC236}">
                <a16:creationId xmlns:a16="http://schemas.microsoft.com/office/drawing/2014/main" id="{BD60E68B-33C8-2AA3-DAE2-0E94BEBAF7B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3400" y="1295400"/>
            <a:ext cx="8153400" cy="4114800"/>
          </a:xfrm>
        </p:spPr>
        <p:txBody>
          <a:bodyPr/>
          <a:lstStyle/>
          <a:p>
            <a:pPr eaLnBrk="1" hangingPunct="1"/>
            <a:r>
              <a:rPr lang="en-US" altLang="en-US" sz="1800"/>
              <a:t>Extends Collection</a:t>
            </a:r>
          </a:p>
          <a:p>
            <a:pPr eaLnBrk="1" hangingPunct="1"/>
            <a:r>
              <a:rPr lang="en-US" altLang="en-US" sz="1800"/>
              <a:t>An unordered collection of objects</a:t>
            </a:r>
          </a:p>
          <a:p>
            <a:pPr eaLnBrk="1" hangingPunct="1"/>
            <a:endParaRPr lang="en-US" altLang="en-US" sz="1800"/>
          </a:p>
          <a:p>
            <a:pPr lvl="1" eaLnBrk="1" hangingPunct="1"/>
            <a:r>
              <a:rPr lang="en-US" altLang="en-US" sz="1800"/>
              <a:t>can grow as needed</a:t>
            </a:r>
          </a:p>
          <a:p>
            <a:pPr lvl="1" eaLnBrk="1" hangingPunct="1"/>
            <a:r>
              <a:rPr lang="en-US" altLang="en-US" sz="1800"/>
              <a:t>easy to add/delete</a:t>
            </a:r>
          </a:p>
          <a:p>
            <a:pPr lvl="1" eaLnBrk="1" hangingPunct="1"/>
            <a:r>
              <a:rPr lang="en-US" altLang="en-US" sz="1800"/>
              <a:t>API independent of  implementation    (HashSet, TreeSet)</a:t>
            </a:r>
          </a:p>
          <a:p>
            <a:pPr lvl="1" eaLnBrk="1" hangingPunct="1"/>
            <a:r>
              <a:rPr lang="en-US" altLang="en-US" sz="1800"/>
              <a:t>Elements have no positions </a:t>
            </a:r>
          </a:p>
          <a:p>
            <a:pPr lvl="1" eaLnBrk="1" hangingPunct="1"/>
            <a:r>
              <a:rPr lang="en-US" altLang="en-US" sz="1800"/>
              <a:t>Duplicate entries not allowed</a:t>
            </a:r>
          </a:p>
          <a:p>
            <a:pPr lvl="1" eaLnBrk="1" hangingPunct="1"/>
            <a:endParaRPr lang="en-US" altLang="en-US" sz="1800"/>
          </a:p>
        </p:txBody>
      </p:sp>
    </p:spTree>
  </p:cSld>
  <p:clrMapOvr>
    <a:masterClrMapping/>
  </p:clrMapOvr>
  <p:transition advClick="0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1026">
            <a:extLst>
              <a:ext uri="{FF2B5EF4-FFF2-40B4-BE49-F238E27FC236}">
                <a16:creationId xmlns:a16="http://schemas.microsoft.com/office/drawing/2014/main" id="{53D1E734-57FA-338E-8E72-91011DE3B6B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blackWhite">
          <a:noFill/>
        </p:spPr>
        <p:txBody>
          <a:bodyPr lIns="92075" tIns="46038" rIns="92075" bIns="46038"/>
          <a:lstStyle/>
          <a:p>
            <a:pPr eaLnBrk="1" hangingPunct="1"/>
            <a:r>
              <a:rPr lang="en-US" altLang="en-US">
                <a:solidFill>
                  <a:schemeClr val="tx1"/>
                </a:solidFill>
              </a:rPr>
              <a:t>Set Implementations</a:t>
            </a:r>
          </a:p>
        </p:txBody>
      </p:sp>
      <p:sp>
        <p:nvSpPr>
          <p:cNvPr id="48131" name="Rectangle 1027">
            <a:extLst>
              <a:ext uri="{FF2B5EF4-FFF2-40B4-BE49-F238E27FC236}">
                <a16:creationId xmlns:a16="http://schemas.microsoft.com/office/drawing/2014/main" id="{0186DB48-4BE6-5DF2-94B1-21B7BDDF83D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 lIns="0" tIns="0" rIns="0" bIns="0"/>
          <a:lstStyle/>
          <a:p>
            <a:pPr eaLnBrk="1" hangingPunct="1"/>
            <a:r>
              <a:rPr lang="en-US" altLang="en-US" sz="1800"/>
              <a:t>HashSet</a:t>
            </a:r>
          </a:p>
          <a:p>
            <a:pPr lvl="1" eaLnBrk="1" hangingPunct="1"/>
            <a:r>
              <a:rPr lang="en-US" altLang="en-US" sz="1800"/>
              <a:t>a Set backed by a hash table </a:t>
            </a:r>
          </a:p>
          <a:p>
            <a:pPr lvl="1" eaLnBrk="1" hangingPunct="1"/>
            <a:r>
              <a:rPr lang="en-US" altLang="en-US" sz="1800"/>
              <a:t>This class permits the null element. </a:t>
            </a:r>
          </a:p>
          <a:p>
            <a:pPr lvl="1" eaLnBrk="1" hangingPunct="1"/>
            <a:r>
              <a:rPr lang="en-US" altLang="en-US" sz="1800"/>
              <a:t>HashSet is not sorted in any way. </a:t>
            </a:r>
          </a:p>
          <a:p>
            <a:pPr lvl="1" eaLnBrk="1" hangingPunct="1"/>
            <a:endParaRPr lang="en-US" altLang="en-US" sz="1800"/>
          </a:p>
          <a:p>
            <a:pPr eaLnBrk="1" hangingPunct="1"/>
            <a:r>
              <a:rPr lang="en-US" altLang="en-US" sz="1800"/>
              <a:t>TreeSet </a:t>
            </a:r>
          </a:p>
          <a:p>
            <a:pPr lvl="1" eaLnBrk="1" hangingPunct="1"/>
            <a:r>
              <a:rPr lang="en-US" altLang="en-US" sz="1800"/>
              <a:t>A balanced binary tree implementation</a:t>
            </a:r>
          </a:p>
          <a:p>
            <a:pPr lvl="1" eaLnBrk="1" hangingPunct="1"/>
            <a:r>
              <a:rPr lang="en-US" altLang="en-US" sz="1800"/>
              <a:t>Imposes an ordering on its elements</a:t>
            </a:r>
          </a:p>
          <a:p>
            <a:pPr lvl="1" eaLnBrk="1" hangingPunct="1"/>
            <a:r>
              <a:rPr lang="en-US" altLang="en-US" sz="1800"/>
              <a:t>The elements in the TreeSet are sorted in ascending element order, sorted according to the </a:t>
            </a:r>
            <a:r>
              <a:rPr lang="en-US" altLang="en-US" sz="1800" i="1"/>
              <a:t>natural order</a:t>
            </a:r>
            <a:r>
              <a:rPr lang="en-US" altLang="en-US" sz="1800"/>
              <a:t> of the elements </a:t>
            </a:r>
          </a:p>
          <a:p>
            <a:pPr lvl="1" eaLnBrk="1" hangingPunct="1"/>
            <a:r>
              <a:rPr lang="en-US" altLang="en-US" sz="1800"/>
              <a:t>It can be sorted by the comparator provided at set creation time</a:t>
            </a:r>
          </a:p>
          <a:p>
            <a:pPr lvl="1" eaLnBrk="1" hangingPunct="1"/>
            <a:r>
              <a:rPr lang="en-US" altLang="en-US" sz="1800"/>
              <a:t>TreeSet instance performs all key comparisons using its compareTo (or compare) method, </a:t>
            </a:r>
          </a:p>
        </p:txBody>
      </p:sp>
    </p:spTree>
  </p:cSld>
  <p:clrMapOvr>
    <a:masterClrMapping/>
  </p:clrMapOvr>
  <p:transition advClick="0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>
            <a:extLst>
              <a:ext uri="{FF2B5EF4-FFF2-40B4-BE49-F238E27FC236}">
                <a16:creationId xmlns:a16="http://schemas.microsoft.com/office/drawing/2014/main" id="{32A9D8B1-BE97-D30B-8F30-4B88CE7CB5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800" b="1"/>
              <a:t>equals” operation of “Set” Interface</a:t>
            </a:r>
          </a:p>
        </p:txBody>
      </p:sp>
      <p:sp>
        <p:nvSpPr>
          <p:cNvPr id="49155" name="Rectangle 3">
            <a:extLst>
              <a:ext uri="{FF2B5EF4-FFF2-40B4-BE49-F238E27FC236}">
                <a16:creationId xmlns:a16="http://schemas.microsoft.com/office/drawing/2014/main" id="{C0913107-3960-CDF3-1F07-4F06C1ED53C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1800"/>
              <a:t>Set also adds a stronger contract on the behavior of the equals and hashCode operations, </a:t>
            </a:r>
          </a:p>
          <a:p>
            <a:pPr eaLnBrk="1" hangingPunct="1"/>
            <a:endParaRPr lang="en-US" altLang="en-US" sz="1800"/>
          </a:p>
          <a:p>
            <a:pPr eaLnBrk="1" hangingPunct="1"/>
            <a:r>
              <a:rPr lang="en-US" altLang="en-US" sz="1800"/>
              <a:t>Set instances to be compared meaningfully even if their implementation types differ</a:t>
            </a:r>
          </a:p>
          <a:p>
            <a:pPr eaLnBrk="1" hangingPunct="1"/>
            <a:endParaRPr lang="en-US" altLang="en-US" sz="1800"/>
          </a:p>
          <a:p>
            <a:pPr eaLnBrk="1" hangingPunct="1"/>
            <a:r>
              <a:rPr lang="en-US" altLang="en-US" sz="1800"/>
              <a:t>Two Set instances are equal if they contain the same elements</a:t>
            </a:r>
          </a:p>
          <a:p>
            <a:pPr eaLnBrk="1" hangingPunct="1"/>
            <a:endParaRPr lang="en-US" altLang="en-US" sz="1800"/>
          </a:p>
          <a:p>
            <a:pPr eaLnBrk="1" hangingPunct="1"/>
            <a:r>
              <a:rPr lang="en-US" altLang="en-US" sz="1800"/>
              <a:t>The equality is determined by equals and hashcode Implementation</a:t>
            </a:r>
          </a:p>
          <a:p>
            <a:pPr eaLnBrk="1" hangingPunct="1"/>
            <a:endParaRPr lang="en-US" altLang="en-US" sz="1800"/>
          </a:p>
        </p:txBody>
      </p:sp>
    </p:spTree>
  </p:cSld>
  <p:clrMapOvr>
    <a:masterClrMapping/>
  </p:clrMapOvr>
  <p:transition advClick="0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>
            <a:extLst>
              <a:ext uri="{FF2B5EF4-FFF2-40B4-BE49-F238E27FC236}">
                <a16:creationId xmlns:a16="http://schemas.microsoft.com/office/drawing/2014/main" id="{01B52B57-EC5C-306D-DEB0-2D032B318D2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Hash Set - Example</a:t>
            </a:r>
          </a:p>
        </p:txBody>
      </p:sp>
      <p:sp>
        <p:nvSpPr>
          <p:cNvPr id="50179" name="Rectangle 3">
            <a:extLst>
              <a:ext uri="{FF2B5EF4-FFF2-40B4-BE49-F238E27FC236}">
                <a16:creationId xmlns:a16="http://schemas.microsoft.com/office/drawing/2014/main" id="{08751FA2-2ED3-AE8B-8EF7-7AD76360D72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922338"/>
            <a:ext cx="8045450" cy="5162550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Clr>
                <a:schemeClr val="tx1"/>
              </a:buClr>
            </a:pPr>
            <a:r>
              <a:rPr lang="en-US" altLang="en-US" sz="1800"/>
              <a:t>The class needs to implement Hash code and Equals method to check the Object are equal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altLang="en-US" sz="1800"/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	</a:t>
            </a:r>
            <a:r>
              <a:rPr lang="en-US" altLang="en-US" sz="1800" b="1">
                <a:latin typeface="Courier New" panose="02070309020205020404" pitchFamily="49" charset="0"/>
              </a:rPr>
              <a:t>public boolean equals</a:t>
            </a:r>
            <a:r>
              <a:rPr lang="en-US" altLang="en-US" sz="1800">
                <a:latin typeface="Courier New" panose="02070309020205020404" pitchFamily="49" charset="0"/>
              </a:rPr>
              <a:t>(</a:t>
            </a:r>
            <a:r>
              <a:rPr lang="en-US" altLang="en-US" sz="1800" b="1">
                <a:latin typeface="Courier New" panose="02070309020205020404" pitchFamily="49" charset="0"/>
              </a:rPr>
              <a:t>Object</a:t>
            </a:r>
            <a:r>
              <a:rPr lang="en-US" altLang="en-US" sz="1800">
                <a:latin typeface="Courier New" panose="02070309020205020404" pitchFamily="49" charset="0"/>
              </a:rPr>
              <a:t> obj) {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		</a:t>
            </a:r>
            <a:r>
              <a:rPr lang="en-US" altLang="en-US" sz="1800" b="1">
                <a:latin typeface="Courier New" panose="02070309020205020404" pitchFamily="49" charset="0"/>
              </a:rPr>
              <a:t>if(this</a:t>
            </a:r>
            <a:r>
              <a:rPr lang="en-US" altLang="en-US" sz="1800">
                <a:latin typeface="Courier New" panose="02070309020205020404" pitchFamily="49" charset="0"/>
              </a:rPr>
              <a:t>==obj)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			</a:t>
            </a:r>
            <a:r>
              <a:rPr lang="en-US" altLang="en-US" sz="1800" b="1">
                <a:latin typeface="Courier New" panose="02070309020205020404" pitchFamily="49" charset="0"/>
              </a:rPr>
              <a:t>return true</a:t>
            </a:r>
            <a:r>
              <a:rPr lang="en-US" altLang="en-US" sz="1800">
                <a:latin typeface="Courier New" panose="02070309020205020404" pitchFamily="49" charset="0"/>
              </a:rPr>
              <a:t>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		</a:t>
            </a:r>
            <a:r>
              <a:rPr lang="en-US" altLang="en-US" sz="1800" b="1">
                <a:latin typeface="Courier New" panose="02070309020205020404" pitchFamily="49" charset="0"/>
              </a:rPr>
              <a:t>if</a:t>
            </a:r>
            <a:r>
              <a:rPr lang="en-US" altLang="en-US" sz="1800">
                <a:latin typeface="Courier New" panose="02070309020205020404" pitchFamily="49" charset="0"/>
              </a:rPr>
              <a:t>(obj==</a:t>
            </a:r>
            <a:r>
              <a:rPr lang="en-US" altLang="en-US" sz="1800" b="1">
                <a:latin typeface="Courier New" panose="02070309020205020404" pitchFamily="49" charset="0"/>
              </a:rPr>
              <a:t>null</a:t>
            </a:r>
            <a:r>
              <a:rPr lang="en-US" altLang="en-US" sz="1800">
                <a:latin typeface="Courier New" panose="02070309020205020404" pitchFamily="49" charset="0"/>
              </a:rPr>
              <a:t>)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			</a:t>
            </a:r>
            <a:r>
              <a:rPr lang="en-US" altLang="en-US" sz="1800" b="1">
                <a:latin typeface="Courier New" panose="02070309020205020404" pitchFamily="49" charset="0"/>
              </a:rPr>
              <a:t>return</a:t>
            </a:r>
            <a:r>
              <a:rPr lang="en-US" altLang="en-US" sz="1800">
                <a:latin typeface="Courier New" panose="02070309020205020404" pitchFamily="49" charset="0"/>
              </a:rPr>
              <a:t> </a:t>
            </a:r>
            <a:r>
              <a:rPr lang="en-US" altLang="en-US" sz="1800" b="1">
                <a:latin typeface="Courier New" panose="02070309020205020404" pitchFamily="49" charset="0"/>
              </a:rPr>
              <a:t>false</a:t>
            </a:r>
            <a:r>
              <a:rPr lang="en-US" altLang="en-US" sz="1800">
                <a:latin typeface="Courier New" panose="02070309020205020404" pitchFamily="49" charset="0"/>
              </a:rPr>
              <a:t>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	    </a:t>
            </a:r>
            <a:r>
              <a:rPr lang="en-US" altLang="en-US" sz="1800" b="1">
                <a:latin typeface="Courier New" panose="02070309020205020404" pitchFamily="49" charset="0"/>
              </a:rPr>
              <a:t>if(</a:t>
            </a:r>
            <a:r>
              <a:rPr lang="en-US" altLang="en-US" sz="1800">
                <a:latin typeface="Courier New" panose="02070309020205020404" pitchFamily="49" charset="0"/>
              </a:rPr>
              <a:t>!(obj </a:t>
            </a:r>
            <a:r>
              <a:rPr lang="en-US" altLang="en-US" sz="1800" b="1">
                <a:latin typeface="Courier New" panose="02070309020205020404" pitchFamily="49" charset="0"/>
              </a:rPr>
              <a:t>instanceof</a:t>
            </a:r>
            <a:r>
              <a:rPr lang="en-US" altLang="en-US" sz="1800">
                <a:latin typeface="Courier New" panose="02070309020205020404" pitchFamily="49" charset="0"/>
              </a:rPr>
              <a:t> Book))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		    	</a:t>
            </a:r>
            <a:r>
              <a:rPr lang="en-US" altLang="en-US" sz="1800" b="1">
                <a:latin typeface="Courier New" panose="02070309020205020404" pitchFamily="49" charset="0"/>
              </a:rPr>
              <a:t>return false;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		 Book bobj =(Book)obj;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	 </a:t>
            </a:r>
            <a:r>
              <a:rPr lang="en-US" altLang="en-US" sz="1800" b="1">
                <a:latin typeface="Courier New" panose="02070309020205020404" pitchFamily="49" charset="0"/>
              </a:rPr>
              <a:t>return</a:t>
            </a:r>
            <a:r>
              <a:rPr lang="en-US" altLang="en-US" sz="1800">
                <a:latin typeface="Courier New" panose="02070309020205020404" pitchFamily="49" charset="0"/>
              </a:rPr>
              <a:t> (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		bobj.bookno==</a:t>
            </a:r>
            <a:r>
              <a:rPr lang="en-US" altLang="en-US" sz="1800" b="1">
                <a:latin typeface="Courier New" panose="02070309020205020404" pitchFamily="49" charset="0"/>
              </a:rPr>
              <a:t>this</a:t>
            </a:r>
            <a:r>
              <a:rPr lang="en-US" altLang="en-US" sz="1800">
                <a:latin typeface="Courier New" panose="02070309020205020404" pitchFamily="49" charset="0"/>
              </a:rPr>
              <a:t>.bookno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		</a:t>
            </a:r>
            <a:r>
              <a:rPr lang="en-US" altLang="en-US" sz="1800" b="1">
                <a:latin typeface="Courier New" panose="02070309020205020404" pitchFamily="49" charset="0"/>
              </a:rPr>
              <a:t>&amp;&amp;</a:t>
            </a:r>
            <a:r>
              <a:rPr lang="en-US" altLang="en-US" sz="1800">
                <a:latin typeface="Courier New" panose="02070309020205020404" pitchFamily="49" charset="0"/>
              </a:rPr>
              <a:t>         		  		bobj.bookname.</a:t>
            </a:r>
            <a:r>
              <a:rPr lang="en-US" altLang="en-US" sz="1800" b="1">
                <a:latin typeface="Courier New" panose="02070309020205020404" pitchFamily="49" charset="0"/>
              </a:rPr>
              <a:t>equalsIgnoreCase(this</a:t>
            </a:r>
            <a:r>
              <a:rPr lang="en-US" altLang="en-US" sz="1800">
                <a:latin typeface="Courier New" panose="02070309020205020404" pitchFamily="49" charset="0"/>
              </a:rPr>
              <a:t>.bookname)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		    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	}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	</a:t>
            </a:r>
            <a:r>
              <a:rPr lang="en-US" altLang="en-US" sz="1800" b="1">
                <a:latin typeface="Courier New" panose="02070309020205020404" pitchFamily="49" charset="0"/>
              </a:rPr>
              <a:t>public int hashCode()</a:t>
            </a:r>
            <a:r>
              <a:rPr lang="en-US" altLang="en-US" sz="1800">
                <a:latin typeface="Courier New" panose="02070309020205020404" pitchFamily="49" charset="0"/>
              </a:rPr>
              <a:t> {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		</a:t>
            </a:r>
            <a:r>
              <a:rPr lang="en-US" altLang="en-US" sz="1800" b="1">
                <a:latin typeface="Courier New" panose="02070309020205020404" pitchFamily="49" charset="0"/>
              </a:rPr>
              <a:t>return</a:t>
            </a:r>
            <a:r>
              <a:rPr lang="en-US" altLang="en-US" sz="1800">
                <a:latin typeface="Courier New" panose="02070309020205020404" pitchFamily="49" charset="0"/>
              </a:rPr>
              <a:t> bookno + bookno * 7;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	}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>
            <a:extLst>
              <a:ext uri="{FF2B5EF4-FFF2-40B4-BE49-F238E27FC236}">
                <a16:creationId xmlns:a16="http://schemas.microsoft.com/office/drawing/2014/main" id="{8EF4F035-1981-14C8-AEF0-DB881ECCCF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800"/>
              <a:t>Hash Set – Duplicates Not Allowed</a:t>
            </a:r>
          </a:p>
        </p:txBody>
      </p:sp>
      <p:sp>
        <p:nvSpPr>
          <p:cNvPr id="51203" name="Rectangle 3">
            <a:extLst>
              <a:ext uri="{FF2B5EF4-FFF2-40B4-BE49-F238E27FC236}">
                <a16:creationId xmlns:a16="http://schemas.microsoft.com/office/drawing/2014/main" id="{40233AFC-9BCF-FC05-1C41-DE95F46B6F3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en-US"/>
              <a:t> </a:t>
            </a:r>
            <a:r>
              <a:rPr lang="en-US" altLang="en-US" sz="1800" b="1">
                <a:latin typeface="Courier New" panose="02070309020205020404" pitchFamily="49" charset="0"/>
              </a:rPr>
              <a:t>public static void main(String</a:t>
            </a:r>
            <a:r>
              <a:rPr lang="en-US" altLang="en-US" sz="1800">
                <a:latin typeface="Courier New" panose="02070309020205020404" pitchFamily="49" charset="0"/>
              </a:rPr>
              <a:t> args[]) {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    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    </a:t>
            </a:r>
            <a:r>
              <a:rPr lang="en-US" altLang="en-US" sz="1800" b="1">
                <a:latin typeface="Courier New" panose="02070309020205020404" pitchFamily="49" charset="0"/>
              </a:rPr>
              <a:t>HashSet&lt;Book&gt;</a:t>
            </a:r>
            <a:r>
              <a:rPr lang="en-US" altLang="en-US" sz="1800">
                <a:latin typeface="Courier New" panose="02070309020205020404" pitchFamily="49" charset="0"/>
              </a:rPr>
              <a:t> hs = </a:t>
            </a:r>
            <a:r>
              <a:rPr lang="en-US" altLang="en-US" sz="1800" b="1">
                <a:latin typeface="Courier New" panose="02070309020205020404" pitchFamily="49" charset="0"/>
              </a:rPr>
              <a:t>new HashSet&lt;Book&gt;();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endParaRPr lang="en-US" altLang="en-US" sz="1800">
              <a:latin typeface="Courier New" panose="02070309020205020404" pitchFamily="49" charset="0"/>
            </a:endParaRP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Book b1= </a:t>
            </a:r>
            <a:r>
              <a:rPr lang="en-US" altLang="en-US" sz="1800" b="1">
                <a:latin typeface="Courier New" panose="02070309020205020404" pitchFamily="49" charset="0"/>
              </a:rPr>
              <a:t>new</a:t>
            </a:r>
            <a:r>
              <a:rPr lang="en-US" altLang="en-US" sz="1800">
                <a:latin typeface="Courier New" panose="02070309020205020404" pitchFamily="49" charset="0"/>
              </a:rPr>
              <a:t> Book(100,"java","herbert");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Book b2 = </a:t>
            </a:r>
            <a:r>
              <a:rPr lang="en-US" altLang="en-US" sz="1800" b="1">
                <a:latin typeface="Courier New" panose="02070309020205020404" pitchFamily="49" charset="0"/>
              </a:rPr>
              <a:t>new</a:t>
            </a:r>
            <a:r>
              <a:rPr lang="en-US" altLang="en-US" sz="1800">
                <a:latin typeface="Courier New" panose="02070309020205020404" pitchFamily="49" charset="0"/>
              </a:rPr>
              <a:t> Book(101,"j2ee","kathy siera"); 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Book b3 = </a:t>
            </a:r>
            <a:r>
              <a:rPr lang="en-US" altLang="en-US" sz="1800" b="1">
                <a:latin typeface="Courier New" panose="02070309020205020404" pitchFamily="49" charset="0"/>
              </a:rPr>
              <a:t>new</a:t>
            </a:r>
            <a:r>
              <a:rPr lang="en-US" altLang="en-US" sz="1800">
                <a:latin typeface="Courier New" panose="02070309020205020404" pitchFamily="49" charset="0"/>
              </a:rPr>
              <a:t> Book(101,"j2ee","kathy siera");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endParaRPr lang="en-US" altLang="en-US" sz="1800">
              <a:latin typeface="Courier New" panose="02070309020205020404" pitchFamily="49" charset="0"/>
            </a:endParaRP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    hs.</a:t>
            </a:r>
            <a:r>
              <a:rPr lang="en-US" altLang="en-US" sz="1800" b="1">
                <a:latin typeface="Courier New" panose="02070309020205020404" pitchFamily="49" charset="0"/>
              </a:rPr>
              <a:t>add</a:t>
            </a:r>
            <a:r>
              <a:rPr lang="en-US" altLang="en-US" sz="1800">
                <a:latin typeface="Courier New" panose="02070309020205020404" pitchFamily="49" charset="0"/>
              </a:rPr>
              <a:t>(b1);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    hs.</a:t>
            </a:r>
            <a:r>
              <a:rPr lang="en-US" altLang="en-US" sz="1800" b="1">
                <a:latin typeface="Courier New" panose="02070309020205020404" pitchFamily="49" charset="0"/>
              </a:rPr>
              <a:t>add</a:t>
            </a:r>
            <a:r>
              <a:rPr lang="en-US" altLang="en-US" sz="1800">
                <a:latin typeface="Courier New" panose="02070309020205020404" pitchFamily="49" charset="0"/>
              </a:rPr>
              <a:t>(b2);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  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    </a:t>
            </a:r>
            <a:r>
              <a:rPr lang="en-US" altLang="en-US" sz="1800" b="1">
                <a:latin typeface="Courier New" panose="02070309020205020404" pitchFamily="49" charset="0"/>
              </a:rPr>
              <a:t>for</a:t>
            </a:r>
            <a:r>
              <a:rPr lang="en-US" altLang="en-US" sz="1800">
                <a:latin typeface="Courier New" panose="02070309020205020404" pitchFamily="49" charset="0"/>
              </a:rPr>
              <a:t>(Book bk:hs)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    {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    	</a:t>
            </a:r>
            <a:r>
              <a:rPr lang="en-US" altLang="en-US" sz="1800" b="1">
                <a:latin typeface="Courier New" panose="02070309020205020404" pitchFamily="49" charset="0"/>
              </a:rPr>
              <a:t>System.out.println</a:t>
            </a:r>
            <a:r>
              <a:rPr lang="en-US" altLang="en-US" sz="1800">
                <a:latin typeface="Courier New" panose="02070309020205020404" pitchFamily="49" charset="0"/>
              </a:rPr>
              <a:t>(bk.getBookno());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    	</a:t>
            </a:r>
            <a:r>
              <a:rPr lang="en-US" altLang="en-US" sz="1800" b="1">
                <a:latin typeface="Courier New" panose="02070309020205020404" pitchFamily="49" charset="0"/>
              </a:rPr>
              <a:t>System.out.println</a:t>
            </a:r>
            <a:r>
              <a:rPr lang="en-US" altLang="en-US" sz="1800">
                <a:latin typeface="Courier New" panose="02070309020205020404" pitchFamily="49" charset="0"/>
              </a:rPr>
              <a:t>(bk.getBookname());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    }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  }</a:t>
            </a:r>
          </a:p>
        </p:txBody>
      </p:sp>
    </p:spTree>
  </p:cSld>
  <p:clrMapOvr>
    <a:masterClrMapping/>
  </p:clrMapOvr>
  <p:transition advClick="0"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>
            <a:extLst>
              <a:ext uri="{FF2B5EF4-FFF2-40B4-BE49-F238E27FC236}">
                <a16:creationId xmlns:a16="http://schemas.microsoft.com/office/drawing/2014/main" id="{891CD988-F2D8-ECC8-9D1E-C671FADDDC8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800"/>
              <a:t>Tree Set With Comparators</a:t>
            </a:r>
          </a:p>
        </p:txBody>
      </p:sp>
      <p:sp>
        <p:nvSpPr>
          <p:cNvPr id="52227" name="Rectangle 3">
            <a:extLst>
              <a:ext uri="{FF2B5EF4-FFF2-40B4-BE49-F238E27FC236}">
                <a16:creationId xmlns:a16="http://schemas.microsoft.com/office/drawing/2014/main" id="{B2CCC606-9DC3-5996-CA3C-BF54B942CA4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1600"/>
              <a:t>Tree Set Class overloaded constructors one without argument and another one which takes comparator as arguments.</a:t>
            </a:r>
          </a:p>
          <a:p>
            <a:pPr eaLnBrk="1" hangingPunct="1">
              <a:lnSpc>
                <a:spcPct val="90000"/>
              </a:lnSpc>
            </a:pPr>
            <a:endParaRPr lang="en-US" altLang="en-US" sz="1600"/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en-US" b="1">
                <a:latin typeface="Courier New" panose="02070309020205020404" pitchFamily="49" charset="0"/>
              </a:rPr>
              <a:t>public static void main(String[]</a:t>
            </a:r>
            <a:r>
              <a:rPr lang="en-US" altLang="en-US">
                <a:latin typeface="Courier New" panose="02070309020205020404" pitchFamily="49" charset="0"/>
              </a:rPr>
              <a:t> args) {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endParaRPr lang="en-US" altLang="en-US">
              <a:latin typeface="Courier New" panose="02070309020205020404" pitchFamily="49" charset="0"/>
            </a:endParaRP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en-US">
                <a:latin typeface="Courier New" panose="02070309020205020404" pitchFamily="49" charset="0"/>
              </a:rPr>
              <a:t>		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en-US">
                <a:latin typeface="Courier New" panose="02070309020205020404" pitchFamily="49" charset="0"/>
              </a:rPr>
              <a:t>		BookComparators bc = </a:t>
            </a:r>
            <a:r>
              <a:rPr lang="en-US" altLang="en-US" b="1">
                <a:latin typeface="Courier New" panose="02070309020205020404" pitchFamily="49" charset="0"/>
              </a:rPr>
              <a:t>new</a:t>
            </a:r>
            <a:r>
              <a:rPr lang="en-US" altLang="en-US">
                <a:latin typeface="Courier New" panose="02070309020205020404" pitchFamily="49" charset="0"/>
              </a:rPr>
              <a:t> BookComparators();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endParaRPr lang="en-US" altLang="en-US">
              <a:latin typeface="Courier New" panose="02070309020205020404" pitchFamily="49" charset="0"/>
            </a:endParaRP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en-US">
                <a:latin typeface="Courier New" panose="02070309020205020404" pitchFamily="49" charset="0"/>
              </a:rPr>
              <a:t>TreeSet&lt;Book&gt; tscomp =</a:t>
            </a:r>
            <a:r>
              <a:rPr lang="en-US" altLang="en-US" b="1">
                <a:latin typeface="Courier New" panose="02070309020205020404" pitchFamily="49" charset="0"/>
              </a:rPr>
              <a:t> new</a:t>
            </a:r>
            <a:r>
              <a:rPr lang="en-US" altLang="en-US">
                <a:latin typeface="Courier New" panose="02070309020205020404" pitchFamily="49" charset="0"/>
              </a:rPr>
              <a:t> TreeSet&lt;Book&gt;(</a:t>
            </a:r>
            <a:r>
              <a:rPr lang="en-US" altLang="en-US" b="1">
                <a:latin typeface="Courier New" panose="02070309020205020404" pitchFamily="49" charset="0"/>
              </a:rPr>
              <a:t>bc</a:t>
            </a:r>
            <a:r>
              <a:rPr lang="en-US" altLang="en-US">
                <a:latin typeface="Courier New" panose="02070309020205020404" pitchFamily="49" charset="0"/>
              </a:rPr>
              <a:t>.</a:t>
            </a:r>
            <a:r>
              <a:rPr lang="en-US" altLang="en-US" b="1">
                <a:latin typeface="Courier New" panose="02070309020205020404" pitchFamily="49" charset="0"/>
              </a:rPr>
              <a:t>new</a:t>
            </a:r>
            <a:r>
              <a:rPr lang="en-US" altLang="en-US">
                <a:latin typeface="Courier New" panose="02070309020205020404" pitchFamily="49" charset="0"/>
              </a:rPr>
              <a:t> AuthorComp());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endParaRPr lang="en-US" altLang="en-US">
              <a:latin typeface="Courier New" panose="02070309020205020404" pitchFamily="49" charset="0"/>
            </a:endParaRP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en-US">
                <a:latin typeface="Courier New" panose="02070309020205020404" pitchFamily="49" charset="0"/>
              </a:rPr>
              <a:t>		Book bk1 = </a:t>
            </a:r>
            <a:r>
              <a:rPr lang="en-US" altLang="en-US" b="1">
                <a:latin typeface="Courier New" panose="02070309020205020404" pitchFamily="49" charset="0"/>
              </a:rPr>
              <a:t>new </a:t>
            </a:r>
            <a:r>
              <a:rPr lang="en-US" altLang="en-US">
                <a:latin typeface="Courier New" panose="02070309020205020404" pitchFamily="49" charset="0"/>
              </a:rPr>
              <a:t>Book(23,"java","kathy sierra");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en-US">
                <a:latin typeface="Courier New" panose="02070309020205020404" pitchFamily="49" charset="0"/>
              </a:rPr>
              <a:t>		Book bk2 =</a:t>
            </a:r>
            <a:r>
              <a:rPr lang="en-US" altLang="en-US" b="1">
                <a:latin typeface="Courier New" panose="02070309020205020404" pitchFamily="49" charset="0"/>
              </a:rPr>
              <a:t> new</a:t>
            </a:r>
            <a:r>
              <a:rPr lang="en-US" altLang="en-US">
                <a:latin typeface="Courier New" panose="02070309020205020404" pitchFamily="49" charset="0"/>
              </a:rPr>
              <a:t> Book(101,"j2ee","james gosling");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en-US">
                <a:latin typeface="Courier New" panose="02070309020205020404" pitchFamily="49" charset="0"/>
              </a:rPr>
              <a:t>		Book bk3 = </a:t>
            </a:r>
            <a:r>
              <a:rPr lang="en-US" altLang="en-US" b="1">
                <a:latin typeface="Courier New" panose="02070309020205020404" pitchFamily="49" charset="0"/>
              </a:rPr>
              <a:t>new</a:t>
            </a:r>
            <a:r>
              <a:rPr lang="en-US" altLang="en-US">
                <a:latin typeface="Courier New" panose="02070309020205020404" pitchFamily="49" charset="0"/>
              </a:rPr>
              <a:t> Book(11,"struts","haffzel manning");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en-US">
                <a:latin typeface="Courier New" panose="02070309020205020404" pitchFamily="49" charset="0"/>
              </a:rPr>
              <a:t>		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en-US">
                <a:latin typeface="Courier New" panose="02070309020205020404" pitchFamily="49" charset="0"/>
              </a:rPr>
              <a:t>		tscomp.</a:t>
            </a:r>
            <a:r>
              <a:rPr lang="en-US" altLang="en-US" b="1">
                <a:latin typeface="Courier New" panose="02070309020205020404" pitchFamily="49" charset="0"/>
              </a:rPr>
              <a:t>add</a:t>
            </a:r>
            <a:r>
              <a:rPr lang="en-US" altLang="en-US">
                <a:latin typeface="Courier New" panose="02070309020205020404" pitchFamily="49" charset="0"/>
              </a:rPr>
              <a:t>(bk1);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en-US">
                <a:latin typeface="Courier New" panose="02070309020205020404" pitchFamily="49" charset="0"/>
              </a:rPr>
              <a:t>		tscomp.</a:t>
            </a:r>
            <a:r>
              <a:rPr lang="en-US" altLang="en-US" b="1">
                <a:latin typeface="Courier New" panose="02070309020205020404" pitchFamily="49" charset="0"/>
              </a:rPr>
              <a:t>add</a:t>
            </a:r>
            <a:r>
              <a:rPr lang="en-US" altLang="en-US">
                <a:latin typeface="Courier New" panose="02070309020205020404" pitchFamily="49" charset="0"/>
              </a:rPr>
              <a:t>(bk2);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en-US">
                <a:latin typeface="Courier New" panose="02070309020205020404" pitchFamily="49" charset="0"/>
              </a:rPr>
              <a:t>		tscomp.</a:t>
            </a:r>
            <a:r>
              <a:rPr lang="en-US" altLang="en-US" b="1">
                <a:latin typeface="Courier New" panose="02070309020205020404" pitchFamily="49" charset="0"/>
              </a:rPr>
              <a:t>add</a:t>
            </a:r>
            <a:r>
              <a:rPr lang="en-US" altLang="en-US">
                <a:latin typeface="Courier New" panose="02070309020205020404" pitchFamily="49" charset="0"/>
              </a:rPr>
              <a:t>(bk3);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endParaRPr lang="en-US" altLang="en-US">
              <a:latin typeface="Courier New" panose="02070309020205020404" pitchFamily="49" charset="0"/>
            </a:endParaRP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en-US">
                <a:latin typeface="Courier New" panose="02070309020205020404" pitchFamily="49" charset="0"/>
              </a:rPr>
              <a:t>	}</a:t>
            </a:r>
          </a:p>
        </p:txBody>
      </p:sp>
    </p:spTree>
  </p:cSld>
  <p:clrMapOvr>
    <a:masterClrMapping/>
  </p:clrMapOvr>
  <p:transition advClick="0"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>
            <a:extLst>
              <a:ext uri="{FF2B5EF4-FFF2-40B4-BE49-F238E27FC236}">
                <a16:creationId xmlns:a16="http://schemas.microsoft.com/office/drawing/2014/main" id="{4AE5D501-421F-2A09-43ED-19314167E1A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blackWhite">
          <a:noFill/>
        </p:spPr>
        <p:txBody>
          <a:bodyPr lIns="92075" tIns="46038" rIns="92075" bIns="46038"/>
          <a:lstStyle/>
          <a:p>
            <a:pPr eaLnBrk="1" hangingPunct="1"/>
            <a:r>
              <a:rPr lang="en-US" altLang="en-US">
                <a:solidFill>
                  <a:schemeClr val="tx1"/>
                </a:solidFill>
              </a:rPr>
              <a:t>Map</a:t>
            </a:r>
          </a:p>
        </p:txBody>
      </p:sp>
      <p:sp>
        <p:nvSpPr>
          <p:cNvPr id="53251" name="Rectangle 3">
            <a:extLst>
              <a:ext uri="{FF2B5EF4-FFF2-40B4-BE49-F238E27FC236}">
                <a16:creationId xmlns:a16="http://schemas.microsoft.com/office/drawing/2014/main" id="{ED0377DF-51F3-4BFE-80B7-546B272005B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 lIns="0" tIns="0" rIns="0" bIns="0"/>
          <a:lstStyle/>
          <a:p>
            <a:pPr eaLnBrk="1" hangingPunct="1"/>
            <a:r>
              <a:rPr lang="en-US" altLang="en-US" sz="1800"/>
              <a:t>interface Map (does </a:t>
            </a:r>
            <a:r>
              <a:rPr lang="en-US" altLang="en-US" sz="1800" u="sng"/>
              <a:t>not</a:t>
            </a:r>
            <a:r>
              <a:rPr lang="en-US" altLang="en-US" sz="1800"/>
              <a:t> extend Collection)</a:t>
            </a:r>
          </a:p>
          <a:p>
            <a:pPr eaLnBrk="1" hangingPunct="1"/>
            <a:r>
              <a:rPr lang="en-US" altLang="en-US" sz="1800"/>
              <a:t>An object that maps keys to values</a:t>
            </a:r>
          </a:p>
          <a:p>
            <a:pPr eaLnBrk="1" hangingPunct="1"/>
            <a:r>
              <a:rPr lang="en-US" altLang="en-US" sz="1800"/>
              <a:t>Ordering may be provided by implementation class, but not guaranteed</a:t>
            </a:r>
          </a:p>
          <a:p>
            <a:pPr eaLnBrk="1" hangingPunct="1"/>
            <a:endParaRPr lang="en-US" altLang="en-US" sz="1800"/>
          </a:p>
          <a:p>
            <a:pPr eaLnBrk="1" hangingPunct="1"/>
            <a:r>
              <a:rPr lang="en-US" altLang="en-US" sz="1800" b="1"/>
              <a:t>Methods to Add and Get Objects</a:t>
            </a:r>
          </a:p>
          <a:p>
            <a:pPr eaLnBrk="1" hangingPunct="1"/>
            <a:endParaRPr lang="en-US" altLang="en-US" sz="1800" b="1"/>
          </a:p>
          <a:p>
            <a:pPr lvl="1" eaLnBrk="1" hangingPunct="1"/>
            <a:r>
              <a:rPr lang="en-US" altLang="en-US"/>
              <a:t>Object put( Object key, Object value)</a:t>
            </a:r>
          </a:p>
          <a:p>
            <a:pPr eaLnBrk="1" hangingPunct="1"/>
            <a:endParaRPr lang="en-US" altLang="en-US" sz="1800"/>
          </a:p>
          <a:p>
            <a:pPr lvl="1" eaLnBrk="1" hangingPunct="1"/>
            <a:r>
              <a:rPr lang="en-US" altLang="en-US"/>
              <a:t>Object get( Object key) </a:t>
            </a:r>
          </a:p>
          <a:p>
            <a:pPr eaLnBrk="1" hangingPunct="1"/>
            <a:endParaRPr lang="en-US" altLang="en-US" sz="1800"/>
          </a:p>
          <a:p>
            <a:pPr eaLnBrk="1" hangingPunct="1"/>
            <a:r>
              <a:rPr lang="en-US" altLang="en-US" sz="1800"/>
              <a:t>Iterators for keys, values, (key, value) pairs</a:t>
            </a:r>
          </a:p>
          <a:p>
            <a:pPr eaLnBrk="1" hangingPunct="1"/>
            <a:endParaRPr lang="en-US" altLang="en-US" sz="1800"/>
          </a:p>
        </p:txBody>
      </p:sp>
    </p:spTree>
  </p:cSld>
  <p:clrMapOvr>
    <a:masterClrMapping/>
  </p:clrMapOvr>
  <p:transition advClick="0"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>
            <a:extLst>
              <a:ext uri="{FF2B5EF4-FFF2-40B4-BE49-F238E27FC236}">
                <a16:creationId xmlns:a16="http://schemas.microsoft.com/office/drawing/2014/main" id="{0CC74BC2-1A5A-E40B-42B2-67EC5D9EDC4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blackWhite">
          <a:noFill/>
        </p:spPr>
        <p:txBody>
          <a:bodyPr lIns="92075" tIns="46038" rIns="92075" bIns="46038"/>
          <a:lstStyle/>
          <a:p>
            <a:pPr eaLnBrk="1" hangingPunct="1"/>
            <a:r>
              <a:rPr lang="en-US" altLang="en-US">
                <a:solidFill>
                  <a:schemeClr val="tx1"/>
                </a:solidFill>
              </a:rPr>
              <a:t>Map Implementations</a:t>
            </a:r>
          </a:p>
        </p:txBody>
      </p:sp>
      <p:sp>
        <p:nvSpPr>
          <p:cNvPr id="54275" name="Rectangle 3">
            <a:extLst>
              <a:ext uri="{FF2B5EF4-FFF2-40B4-BE49-F238E27FC236}">
                <a16:creationId xmlns:a16="http://schemas.microsoft.com/office/drawing/2014/main" id="{6B5AA10E-2A85-FF0C-A815-3BF8F3342D3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 lIns="0" tIns="0" rIns="0" bIns="0"/>
          <a:lstStyle/>
          <a:p>
            <a:pPr eaLnBrk="1" hangingPunct="1"/>
            <a:r>
              <a:rPr lang="en-US" altLang="en-US" sz="1800" b="1"/>
              <a:t>Hash Map</a:t>
            </a:r>
          </a:p>
          <a:p>
            <a:pPr lvl="1" eaLnBrk="1" hangingPunct="1"/>
            <a:r>
              <a:rPr lang="en-US" altLang="en-US" sz="1800"/>
              <a:t>A hash table implementation of Map</a:t>
            </a:r>
          </a:p>
          <a:p>
            <a:pPr lvl="1" eaLnBrk="1" hangingPunct="1"/>
            <a:r>
              <a:rPr lang="en-US" altLang="en-US" sz="1800"/>
              <a:t>Supports null keys &amp; values</a:t>
            </a:r>
          </a:p>
          <a:p>
            <a:pPr lvl="1" eaLnBrk="1" hangingPunct="1"/>
            <a:r>
              <a:rPr lang="en-US" altLang="en-US" sz="1800"/>
              <a:t>Not Ordered </a:t>
            </a:r>
          </a:p>
          <a:p>
            <a:pPr eaLnBrk="1" hangingPunct="1"/>
            <a:endParaRPr lang="en-US" altLang="en-US" sz="1800"/>
          </a:p>
          <a:p>
            <a:pPr eaLnBrk="1" hangingPunct="1"/>
            <a:r>
              <a:rPr lang="en-US" altLang="en-US" sz="1800" b="1"/>
              <a:t>Tree Map</a:t>
            </a:r>
          </a:p>
          <a:p>
            <a:pPr lvl="1" eaLnBrk="1" hangingPunct="1"/>
            <a:r>
              <a:rPr lang="en-US" altLang="en-US" sz="1800"/>
              <a:t>A balanced binary tree implementation</a:t>
            </a:r>
          </a:p>
          <a:p>
            <a:pPr lvl="1" eaLnBrk="1" hangingPunct="1"/>
            <a:r>
              <a:rPr lang="en-US" altLang="en-US" sz="1800"/>
              <a:t>Imposes an ordering on its elements based on comparable/compartor</a:t>
            </a:r>
          </a:p>
          <a:p>
            <a:pPr eaLnBrk="1" hangingPunct="1"/>
            <a:endParaRPr lang="en-US" altLang="en-US" sz="1800"/>
          </a:p>
          <a:p>
            <a:pPr eaLnBrk="1" hangingPunct="1"/>
            <a:r>
              <a:rPr lang="en-US" altLang="en-US" sz="1800" b="1"/>
              <a:t>Hash table</a:t>
            </a:r>
            <a:r>
              <a:rPr lang="en-US" altLang="en-US" sz="1800"/>
              <a:t> </a:t>
            </a:r>
          </a:p>
          <a:p>
            <a:pPr lvl="1" eaLnBrk="1" hangingPunct="1"/>
            <a:r>
              <a:rPr lang="en-US" altLang="en-US" sz="1800"/>
              <a:t>Synchronized hash table implementation of Map interface.</a:t>
            </a:r>
          </a:p>
          <a:p>
            <a:pPr lvl="1" eaLnBrk="1" hangingPunct="1"/>
            <a:r>
              <a:rPr lang="en-US" altLang="en-US" sz="1800"/>
              <a:t>Doesn't support null keys and values</a:t>
            </a:r>
          </a:p>
          <a:p>
            <a:pPr lvl="1" eaLnBrk="1" hangingPunct="1"/>
            <a:endParaRPr lang="en-US" altLang="en-US" sz="1800"/>
          </a:p>
        </p:txBody>
      </p:sp>
    </p:spTree>
  </p:cSld>
  <p:clrMapOvr>
    <a:masterClrMapping/>
  </p:clrMapOvr>
  <p:transition advClick="0"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>
            <a:extLst>
              <a:ext uri="{FF2B5EF4-FFF2-40B4-BE49-F238E27FC236}">
                <a16:creationId xmlns:a16="http://schemas.microsoft.com/office/drawing/2014/main" id="{F4F40F3C-FA5C-A31A-3905-386D29D7B4E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800"/>
              <a:t>Hash Table</a:t>
            </a:r>
          </a:p>
        </p:txBody>
      </p:sp>
      <p:sp>
        <p:nvSpPr>
          <p:cNvPr id="55299" name="Rectangle 3">
            <a:extLst>
              <a:ext uri="{FF2B5EF4-FFF2-40B4-BE49-F238E27FC236}">
                <a16:creationId xmlns:a16="http://schemas.microsoft.com/office/drawing/2014/main" id="{CF45F422-3FE8-4B5D-59D0-6D7FA06861A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1800"/>
              <a:t>This class implements a hash table, which maps keys to values. </a:t>
            </a:r>
          </a:p>
          <a:p>
            <a:pPr eaLnBrk="1" hangingPunct="1"/>
            <a:endParaRPr lang="en-US" altLang="en-US" sz="1800"/>
          </a:p>
          <a:p>
            <a:pPr eaLnBrk="1" hangingPunct="1"/>
            <a:r>
              <a:rPr lang="en-US" altLang="en-US" sz="1800"/>
              <a:t>Any non-null object can be used as a key or as a value. </a:t>
            </a:r>
          </a:p>
          <a:p>
            <a:pPr eaLnBrk="1" hangingPunct="1"/>
            <a:endParaRPr lang="en-US" altLang="en-US" sz="1800"/>
          </a:p>
          <a:p>
            <a:pPr eaLnBrk="1" hangingPunct="1"/>
            <a:r>
              <a:rPr lang="en-US" altLang="en-US" sz="1800"/>
              <a:t>The objects used as keys must implement the hash Code and equals method </a:t>
            </a:r>
          </a:p>
          <a:p>
            <a:pPr eaLnBrk="1" hangingPunct="1"/>
            <a:endParaRPr lang="en-US" altLang="en-US" sz="1800"/>
          </a:p>
          <a:p>
            <a:pPr eaLnBrk="1" hangingPunct="1"/>
            <a:r>
              <a:rPr lang="en-US" altLang="en-US" sz="1800"/>
              <a:t>The put Method returns the previous value of the specified key in the hashtable, or null if it did not have one </a:t>
            </a:r>
          </a:p>
          <a:p>
            <a:pPr eaLnBrk="1" hangingPunct="1"/>
            <a:endParaRPr lang="en-US" altLang="en-US" sz="1800"/>
          </a:p>
          <a:p>
            <a:pPr lvl="1" eaLnBrk="1" hangingPunct="1"/>
            <a:endParaRPr lang="en-US" altLang="en-US" sz="1800"/>
          </a:p>
          <a:p>
            <a:pPr lvl="1" eaLnBrk="1" hangingPunct="1"/>
            <a:endParaRPr lang="en-US" altLang="en-US" sz="1800"/>
          </a:p>
          <a:p>
            <a:pPr lvl="1" eaLnBrk="1" hangingPunct="1"/>
            <a:endParaRPr lang="en-US" altLang="en-US" sz="1800"/>
          </a:p>
        </p:txBody>
      </p:sp>
    </p:spTree>
  </p:cSld>
  <p:clrMapOvr>
    <a:masterClrMapping/>
  </p:clrMapOvr>
  <p:transition advClick="0"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>
            <a:extLst>
              <a:ext uri="{FF2B5EF4-FFF2-40B4-BE49-F238E27FC236}">
                <a16:creationId xmlns:a16="http://schemas.microsoft.com/office/drawing/2014/main" id="{AF038E8B-49B2-40EE-A3D1-CF3C57C3A41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800"/>
              <a:t>Add To Hash Table</a:t>
            </a:r>
          </a:p>
        </p:txBody>
      </p:sp>
      <p:sp>
        <p:nvSpPr>
          <p:cNvPr id="56323" name="Rectangle 3">
            <a:extLst>
              <a:ext uri="{FF2B5EF4-FFF2-40B4-BE49-F238E27FC236}">
                <a16:creationId xmlns:a16="http://schemas.microsoft.com/office/drawing/2014/main" id="{5B716325-8C50-B4B4-C0CA-071173B2026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US" altLang="en-US" sz="1800" b="1"/>
          </a:p>
          <a:p>
            <a:pPr lvl="1" eaLnBrk="1" hangingPunct="1">
              <a:buFontTx/>
              <a:buNone/>
            </a:pPr>
            <a:r>
              <a:rPr lang="en-US" altLang="en-US" sz="1800" b="1">
                <a:latin typeface="Courier New" panose="02070309020205020404" pitchFamily="49" charset="0"/>
              </a:rPr>
              <a:t>public</a:t>
            </a:r>
            <a:r>
              <a:rPr lang="en-US" altLang="en-US" sz="1800">
                <a:latin typeface="Courier New" panose="02070309020205020404" pitchFamily="49" charset="0"/>
              </a:rPr>
              <a:t> </a:t>
            </a:r>
            <a:r>
              <a:rPr lang="en-US" altLang="en-US" sz="1800" b="1">
                <a:latin typeface="Courier New" panose="02070309020205020404" pitchFamily="49" charset="0"/>
              </a:rPr>
              <a:t>static</a:t>
            </a:r>
            <a:r>
              <a:rPr lang="en-US" altLang="en-US" sz="1800">
                <a:latin typeface="Courier New" panose="02070309020205020404" pitchFamily="49" charset="0"/>
              </a:rPr>
              <a:t> </a:t>
            </a:r>
            <a:r>
              <a:rPr lang="en-US" altLang="en-US" sz="1800" b="1">
                <a:latin typeface="Courier New" panose="02070309020205020404" pitchFamily="49" charset="0"/>
              </a:rPr>
              <a:t>void</a:t>
            </a:r>
            <a:r>
              <a:rPr lang="en-US" altLang="en-US" sz="1800">
                <a:latin typeface="Courier New" panose="02070309020205020404" pitchFamily="49" charset="0"/>
              </a:rPr>
              <a:t> main(String args[]) {</a:t>
            </a:r>
          </a:p>
          <a:p>
            <a:pPr lvl="1" eaLnBrk="1" hangingPunct="1">
              <a:buFontTx/>
              <a:buNone/>
            </a:pPr>
            <a:endParaRPr lang="en-US" altLang="en-US" sz="1800">
              <a:latin typeface="Courier New" panose="02070309020205020404" pitchFamily="49" charset="0"/>
            </a:endParaRPr>
          </a:p>
          <a:p>
            <a:pPr lvl="1" eaLnBrk="1" hangingPunct="1">
              <a:buFontTx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    Hashtable&lt;String,Book&gt; abook = </a:t>
            </a:r>
          </a:p>
          <a:p>
            <a:pPr lvl="1" eaLnBrk="1" hangingPunct="1">
              <a:buFontTx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				</a:t>
            </a:r>
          </a:p>
          <a:p>
            <a:pPr lvl="1" eaLnBrk="1" hangingPunct="1">
              <a:buFontTx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					</a:t>
            </a:r>
            <a:r>
              <a:rPr lang="en-US" altLang="en-US" sz="1800" b="1">
                <a:latin typeface="Courier New" panose="02070309020205020404" pitchFamily="49" charset="0"/>
              </a:rPr>
              <a:t>new</a:t>
            </a:r>
            <a:r>
              <a:rPr lang="en-US" altLang="en-US" sz="1800">
                <a:latin typeface="Courier New" panose="02070309020205020404" pitchFamily="49" charset="0"/>
              </a:rPr>
              <a:t> Hashtable&lt;String,Book&gt;();</a:t>
            </a:r>
          </a:p>
          <a:p>
            <a:pPr lvl="1" eaLnBrk="1" hangingPunct="1">
              <a:buFontTx/>
              <a:buNone/>
            </a:pPr>
            <a:endParaRPr lang="en-US" altLang="en-US" sz="1800">
              <a:latin typeface="Courier New" panose="02070309020205020404" pitchFamily="49" charset="0"/>
            </a:endParaRPr>
          </a:p>
          <a:p>
            <a:pPr lvl="1" eaLnBrk="1" hangingPunct="1">
              <a:buFontTx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    </a:t>
            </a:r>
          </a:p>
          <a:p>
            <a:pPr lvl="1" eaLnBrk="1" hangingPunct="1">
              <a:buFontTx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	   Book bk1 = </a:t>
            </a:r>
            <a:r>
              <a:rPr lang="en-US" altLang="en-US" sz="1800" b="1">
                <a:latin typeface="Courier New" panose="02070309020205020404" pitchFamily="49" charset="0"/>
              </a:rPr>
              <a:t>new</a:t>
            </a:r>
            <a:r>
              <a:rPr lang="en-US" altLang="en-US" sz="1800">
                <a:latin typeface="Courier New" panose="02070309020205020404" pitchFamily="49" charset="0"/>
              </a:rPr>
              <a:t> Book(200,"Java","bglr");</a:t>
            </a:r>
          </a:p>
          <a:p>
            <a:pPr lvl="1" eaLnBrk="1" hangingPunct="1">
              <a:buFontTx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     Book bk2 = </a:t>
            </a:r>
            <a:r>
              <a:rPr lang="en-US" altLang="en-US" sz="1800" b="1">
                <a:latin typeface="Courier New" panose="02070309020205020404" pitchFamily="49" charset="0"/>
              </a:rPr>
              <a:t>new</a:t>
            </a:r>
            <a:r>
              <a:rPr lang="en-US" altLang="en-US" sz="1800">
                <a:latin typeface="Courier New" panose="02070309020205020404" pitchFamily="49" charset="0"/>
              </a:rPr>
              <a:t> Book(201,"J2ee","hyd");</a:t>
            </a:r>
          </a:p>
          <a:p>
            <a:pPr lvl="1" eaLnBrk="1" hangingPunct="1">
              <a:buFontTx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    </a:t>
            </a:r>
          </a:p>
          <a:p>
            <a:pPr lvl="1" eaLnBrk="1" hangingPunct="1">
              <a:buFontTx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		 abook.put(</a:t>
            </a:r>
            <a:r>
              <a:rPr lang="en-US" altLang="en-US" sz="1800" b="1">
                <a:latin typeface="Courier New" panose="02070309020205020404" pitchFamily="49" charset="0"/>
              </a:rPr>
              <a:t>new</a:t>
            </a:r>
            <a:r>
              <a:rPr lang="en-US" altLang="en-US" sz="1800">
                <a:latin typeface="Courier New" panose="02070309020205020404" pitchFamily="49" charset="0"/>
              </a:rPr>
              <a:t> String("ram"),bk1 );</a:t>
            </a:r>
          </a:p>
          <a:p>
            <a:pPr lvl="1" eaLnBrk="1" hangingPunct="1">
              <a:buFontTx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    abook.put(</a:t>
            </a:r>
            <a:r>
              <a:rPr lang="en-US" altLang="en-US" sz="1800" b="1">
                <a:latin typeface="Courier New" panose="02070309020205020404" pitchFamily="49" charset="0"/>
              </a:rPr>
              <a:t>new</a:t>
            </a:r>
            <a:r>
              <a:rPr lang="en-US" altLang="en-US" sz="1800">
                <a:latin typeface="Courier New" panose="02070309020205020404" pitchFamily="49" charset="0"/>
              </a:rPr>
              <a:t> String("shyam"),bk2);</a:t>
            </a:r>
          </a:p>
          <a:p>
            <a:pPr lvl="1" eaLnBrk="1" hangingPunct="1"/>
            <a:endParaRPr lang="en-US" altLang="en-US"/>
          </a:p>
          <a:p>
            <a:pPr lvl="2" eaLnBrk="1" hangingPunct="1">
              <a:buFontTx/>
              <a:buNone/>
            </a:pPr>
            <a:r>
              <a:rPr lang="en-US" altLang="en-US" sz="1800" b="1">
                <a:latin typeface="Courier New" panose="02070309020205020404" pitchFamily="49" charset="0"/>
              </a:rPr>
              <a:t> System.</a:t>
            </a:r>
            <a:r>
              <a:rPr lang="en-US" altLang="en-US" sz="1800" b="1" i="1">
                <a:latin typeface="Courier New" panose="02070309020205020404" pitchFamily="49" charset="0"/>
              </a:rPr>
              <a:t>out</a:t>
            </a:r>
            <a:r>
              <a:rPr lang="en-US" altLang="en-US" sz="1800" b="1">
                <a:latin typeface="Courier New" panose="02070309020205020404" pitchFamily="49" charset="0"/>
              </a:rPr>
              <a:t>.println</a:t>
            </a:r>
            <a:r>
              <a:rPr lang="en-US" altLang="en-US" sz="1800">
                <a:latin typeface="Courier New" panose="02070309020205020404" pitchFamily="49" charset="0"/>
              </a:rPr>
              <a:t>(abook.</a:t>
            </a:r>
            <a:r>
              <a:rPr lang="en-US" altLang="en-US" sz="1800" b="1">
                <a:latin typeface="Courier New" panose="02070309020205020404" pitchFamily="49" charset="0"/>
              </a:rPr>
              <a:t>get</a:t>
            </a:r>
            <a:r>
              <a:rPr lang="en-US" altLang="en-US" sz="1800">
                <a:latin typeface="Courier New" panose="02070309020205020404" pitchFamily="49" charset="0"/>
              </a:rPr>
              <a:t>("ram"));</a:t>
            </a:r>
          </a:p>
          <a:p>
            <a:pPr lvl="1" eaLnBrk="1" hangingPunct="1">
              <a:buFontTx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}</a:t>
            </a:r>
          </a:p>
        </p:txBody>
      </p:sp>
    </p:spTree>
  </p:cSld>
  <p:clrMapOvr>
    <a:masterClrMapping/>
  </p:clrMapOvr>
  <p:transition advClick="0"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>
            <a:extLst>
              <a:ext uri="{FF2B5EF4-FFF2-40B4-BE49-F238E27FC236}">
                <a16:creationId xmlns:a16="http://schemas.microsoft.com/office/drawing/2014/main" id="{6B8E54E7-25AC-CFCA-F5BD-A31DA6A8F91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800"/>
              <a:t>Hashtable with Duplicate Keys</a:t>
            </a:r>
          </a:p>
        </p:txBody>
      </p:sp>
      <p:sp>
        <p:nvSpPr>
          <p:cNvPr id="57347" name="Rectangle 3">
            <a:extLst>
              <a:ext uri="{FF2B5EF4-FFF2-40B4-BE49-F238E27FC236}">
                <a16:creationId xmlns:a16="http://schemas.microsoft.com/office/drawing/2014/main" id="{B7645994-13DF-B091-6862-4A3D840F71F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1600" b="1">
                <a:latin typeface="Courier New" panose="02070309020205020404" pitchFamily="49" charset="0"/>
              </a:rPr>
              <a:t>public static void main(String[]</a:t>
            </a:r>
            <a:r>
              <a:rPr lang="en-US" altLang="en-US" sz="1600">
                <a:latin typeface="Courier New" panose="02070309020205020404" pitchFamily="49" charset="0"/>
              </a:rPr>
              <a:t> args) {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1600">
                <a:latin typeface="Courier New" panose="02070309020205020404" pitchFamily="49" charset="0"/>
              </a:rPr>
              <a:t>	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1600" b="1">
                <a:latin typeface="Courier New" panose="02070309020205020404" pitchFamily="49" charset="0"/>
              </a:rPr>
              <a:t>Hashtable&lt;String, String&gt;</a:t>
            </a:r>
            <a:r>
              <a:rPr lang="en-US" altLang="en-US" sz="1600">
                <a:latin typeface="Courier New" panose="02070309020205020404" pitchFamily="49" charset="0"/>
              </a:rPr>
              <a:t> htable =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1600">
                <a:latin typeface="Courier New" panose="02070309020205020404" pitchFamily="49" charset="0"/>
              </a:rPr>
              <a:t>					 </a:t>
            </a:r>
            <a:r>
              <a:rPr lang="en-US" altLang="en-US" sz="1600" b="1">
                <a:latin typeface="Courier New" panose="02070309020205020404" pitchFamily="49" charset="0"/>
              </a:rPr>
              <a:t>new</a:t>
            </a:r>
            <a:r>
              <a:rPr lang="en-US" altLang="en-US" sz="1600">
                <a:latin typeface="Courier New" panose="02070309020205020404" pitchFamily="49" charset="0"/>
              </a:rPr>
              <a:t> Hashtable&lt;String, String&gt;();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1600">
                <a:latin typeface="Courier New" panose="02070309020205020404" pitchFamily="49" charset="0"/>
              </a:rPr>
              <a:t>			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1600">
                <a:latin typeface="Courier New" panose="02070309020205020404" pitchFamily="49" charset="0"/>
              </a:rPr>
              <a:t>		htable.</a:t>
            </a:r>
            <a:r>
              <a:rPr lang="en-US" altLang="en-US" sz="1600" b="1">
                <a:latin typeface="Courier New" panose="02070309020205020404" pitchFamily="49" charset="0"/>
              </a:rPr>
              <a:t>put</a:t>
            </a:r>
            <a:r>
              <a:rPr lang="en-US" altLang="en-US" sz="1600">
                <a:latin typeface="Courier New" panose="02070309020205020404" pitchFamily="49" charset="0"/>
              </a:rPr>
              <a:t>(new String("101"), new String("ramesh"));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1600">
                <a:latin typeface="Courier New" panose="02070309020205020404" pitchFamily="49" charset="0"/>
              </a:rPr>
              <a:t>		htable.</a:t>
            </a:r>
            <a:r>
              <a:rPr lang="en-US" altLang="en-US" sz="1600" b="1">
                <a:latin typeface="Courier New" panose="02070309020205020404" pitchFamily="49" charset="0"/>
              </a:rPr>
              <a:t>put</a:t>
            </a:r>
            <a:r>
              <a:rPr lang="en-US" altLang="en-US" sz="1600">
                <a:latin typeface="Courier New" panose="02070309020205020404" pitchFamily="49" charset="0"/>
              </a:rPr>
              <a:t>(new String("102"), new String("ganesh"));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1600">
                <a:latin typeface="Courier New" panose="02070309020205020404" pitchFamily="49" charset="0"/>
              </a:rPr>
              <a:t>		htable.</a:t>
            </a:r>
            <a:r>
              <a:rPr lang="en-US" altLang="en-US" sz="1600" b="1">
                <a:latin typeface="Courier New" panose="02070309020205020404" pitchFamily="49" charset="0"/>
              </a:rPr>
              <a:t>put</a:t>
            </a:r>
            <a:r>
              <a:rPr lang="en-US" altLang="en-US" sz="1600">
                <a:latin typeface="Courier New" panose="02070309020205020404" pitchFamily="49" charset="0"/>
              </a:rPr>
              <a:t>(new String("102"), new String("suresh"));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1600">
                <a:latin typeface="Courier New" panose="02070309020205020404" pitchFamily="49" charset="0"/>
              </a:rPr>
              <a:t>						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1600">
                <a:latin typeface="Courier New" panose="02070309020205020404" pitchFamily="49" charset="0"/>
              </a:rPr>
              <a:t>			</a:t>
            </a:r>
            <a:r>
              <a:rPr lang="en-US" altLang="en-US" sz="1600" b="1">
                <a:latin typeface="Courier New" panose="02070309020205020404" pitchFamily="49" charset="0"/>
              </a:rPr>
              <a:t>Enumeration</a:t>
            </a:r>
            <a:r>
              <a:rPr lang="en-US" altLang="en-US" sz="1600">
                <a:latin typeface="Courier New" panose="02070309020205020404" pitchFamily="49" charset="0"/>
              </a:rPr>
              <a:t>&lt;String&gt; keys = htable.keys();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1600">
                <a:latin typeface="Courier New" panose="02070309020205020404" pitchFamily="49" charset="0"/>
              </a:rPr>
              <a:t>			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1600">
                <a:latin typeface="Courier New" panose="02070309020205020404" pitchFamily="49" charset="0"/>
              </a:rPr>
              <a:t>			while (keys.hasMoreElements())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1600">
                <a:latin typeface="Courier New" panose="02070309020205020404" pitchFamily="49" charset="0"/>
              </a:rPr>
              <a:t>			{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1600">
                <a:latin typeface="Courier New" panose="02070309020205020404" pitchFamily="49" charset="0"/>
              </a:rPr>
              <a:t>				String ky = keys.nextElement();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1600">
                <a:latin typeface="Courier New" panose="02070309020205020404" pitchFamily="49" charset="0"/>
              </a:rPr>
              <a:t>				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1600">
                <a:latin typeface="Courier New" panose="02070309020205020404" pitchFamily="49" charset="0"/>
              </a:rPr>
              <a:t>				System.out.println(htable.get(ky));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1600">
                <a:latin typeface="Courier New" panose="02070309020205020404" pitchFamily="49" charset="0"/>
              </a:rPr>
              <a:t>			}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1600">
                <a:latin typeface="Courier New" panose="02070309020205020404" pitchFamily="49" charset="0"/>
              </a:rPr>
              <a:t>	}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1600" u="sng">
                <a:latin typeface="Courier New" panose="02070309020205020404" pitchFamily="49" charset="0"/>
              </a:rPr>
              <a:t>Output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b="1" u="sng"/>
              <a:t>suresh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b="1" u="sng"/>
              <a:t>ramesh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endParaRPr lang="en-US" altLang="en-US" b="1" u="sng">
              <a:latin typeface="Courier New" panose="02070309020205020404" pitchFamily="49" charset="0"/>
            </a:endParaRPr>
          </a:p>
        </p:txBody>
      </p:sp>
    </p:spTree>
  </p:cSld>
  <p:clrMapOvr>
    <a:masterClrMapping/>
  </p:clrMapOvr>
  <p:transition advClick="0"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>
            <a:extLst>
              <a:ext uri="{FF2B5EF4-FFF2-40B4-BE49-F238E27FC236}">
                <a16:creationId xmlns:a16="http://schemas.microsoft.com/office/drawing/2014/main" id="{C1748821-BC33-1B90-BF40-2587C8DB10A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800"/>
              <a:t>Hash Table as Set</a:t>
            </a:r>
          </a:p>
        </p:txBody>
      </p:sp>
      <p:sp>
        <p:nvSpPr>
          <p:cNvPr id="58371" name="Rectangle 3">
            <a:extLst>
              <a:ext uri="{FF2B5EF4-FFF2-40B4-BE49-F238E27FC236}">
                <a16:creationId xmlns:a16="http://schemas.microsoft.com/office/drawing/2014/main" id="{C6F1D2C2-92FF-4F7A-7999-8E9CF00EC8F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1800"/>
              <a:t>public Set </a:t>
            </a:r>
            <a:r>
              <a:rPr lang="en-US" altLang="en-US" sz="1800" b="1"/>
              <a:t>entrySet</a:t>
            </a:r>
            <a:r>
              <a:rPr lang="en-US" altLang="en-US" sz="1800"/>
              <a:t>() </a:t>
            </a:r>
          </a:p>
          <a:p>
            <a:pPr lvl="1" eaLnBrk="1" hangingPunct="1"/>
            <a:r>
              <a:rPr lang="en-US" altLang="en-US" sz="1800"/>
              <a:t>Returns a Set view of the entries contained in this Hashtable.</a:t>
            </a:r>
          </a:p>
          <a:p>
            <a:pPr lvl="1" eaLnBrk="1" hangingPunct="1"/>
            <a:r>
              <a:rPr lang="en-US" altLang="en-US" sz="1800"/>
              <a:t> Each element in the returned collection is a </a:t>
            </a:r>
            <a:r>
              <a:rPr lang="en-US" altLang="en-US" sz="1800" b="1"/>
              <a:t>Map.Entry.</a:t>
            </a:r>
            <a:r>
              <a:rPr lang="en-US" altLang="en-US" sz="1800"/>
              <a:t> </a:t>
            </a:r>
          </a:p>
          <a:p>
            <a:pPr lvl="1" eaLnBrk="1" hangingPunct="1"/>
            <a:r>
              <a:rPr lang="en-US" altLang="en-US" sz="1800"/>
              <a:t>Map.Entry is an static Interface inside the interface Map</a:t>
            </a:r>
          </a:p>
          <a:p>
            <a:pPr lvl="1" eaLnBrk="1" hangingPunct="1"/>
            <a:endParaRPr lang="en-US" altLang="en-US" sz="1800"/>
          </a:p>
          <a:p>
            <a:pPr eaLnBrk="1" hangingPunct="1"/>
            <a:r>
              <a:rPr lang="en-US" altLang="en-US" sz="1800"/>
              <a:t>The </a:t>
            </a:r>
            <a:r>
              <a:rPr lang="en-US" altLang="en-US" sz="1800" i="1"/>
              <a:t>only</a:t>
            </a:r>
            <a:r>
              <a:rPr lang="en-US" altLang="en-US" sz="1800"/>
              <a:t> way to obtain a reference to a map entry is from the iterator of this collection-view. </a:t>
            </a:r>
          </a:p>
          <a:p>
            <a:pPr eaLnBrk="1" hangingPunct="1"/>
            <a:endParaRPr lang="en-US" altLang="en-US" sz="1800" b="1"/>
          </a:p>
          <a:p>
            <a:pPr eaLnBrk="1" hangingPunct="1"/>
            <a:r>
              <a:rPr lang="en-US" altLang="en-US" sz="1800" b="1"/>
              <a:t>getKey()</a:t>
            </a:r>
          </a:p>
          <a:p>
            <a:pPr lvl="1" eaLnBrk="1" hangingPunct="1"/>
            <a:r>
              <a:rPr lang="en-US" altLang="en-US" sz="1800"/>
              <a:t>Returns the key corresponding to this entry. </a:t>
            </a:r>
          </a:p>
          <a:p>
            <a:pPr eaLnBrk="1" hangingPunct="1"/>
            <a:r>
              <a:rPr lang="en-US" altLang="en-US" sz="1800" b="1"/>
              <a:t>getValue()</a:t>
            </a:r>
          </a:p>
          <a:p>
            <a:pPr lvl="1" eaLnBrk="1" hangingPunct="1"/>
            <a:r>
              <a:rPr lang="en-US" altLang="en-US" sz="1800"/>
              <a:t>Returns the value corresponding to this entry. </a:t>
            </a:r>
          </a:p>
          <a:p>
            <a:pPr eaLnBrk="1" hangingPunct="1"/>
            <a:endParaRPr lang="en-US" altLang="en-US" sz="1800"/>
          </a:p>
        </p:txBody>
      </p:sp>
    </p:spTree>
  </p:cSld>
  <p:clrMapOvr>
    <a:masterClrMapping/>
  </p:clrMapOvr>
  <p:transition advClick="0"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>
            <a:extLst>
              <a:ext uri="{FF2B5EF4-FFF2-40B4-BE49-F238E27FC236}">
                <a16:creationId xmlns:a16="http://schemas.microsoft.com/office/drawing/2014/main" id="{D1EF9BDB-7E91-74A4-0DB1-B59472968E4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800"/>
              <a:t>Hash Table as Set</a:t>
            </a:r>
          </a:p>
        </p:txBody>
      </p:sp>
      <p:sp>
        <p:nvSpPr>
          <p:cNvPr id="59395" name="Rectangle 3">
            <a:extLst>
              <a:ext uri="{FF2B5EF4-FFF2-40B4-BE49-F238E27FC236}">
                <a16:creationId xmlns:a16="http://schemas.microsoft.com/office/drawing/2014/main" id="{88629FCF-4B1A-BE5F-E908-DFA3892D711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1800"/>
              <a:t> </a:t>
            </a:r>
            <a:r>
              <a:rPr lang="en-US" altLang="en-US" sz="1800" b="1">
                <a:latin typeface="Courier New" panose="02070309020205020404" pitchFamily="49" charset="0"/>
              </a:rPr>
              <a:t>public static void</a:t>
            </a:r>
            <a:r>
              <a:rPr lang="en-US" altLang="en-US" sz="1800">
                <a:latin typeface="Courier New" panose="02070309020205020404" pitchFamily="49" charset="0"/>
              </a:rPr>
              <a:t> hashTabletoSet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				  ( </a:t>
            </a:r>
            <a:r>
              <a:rPr lang="en-US" altLang="en-US" sz="1800" b="1">
                <a:latin typeface="Courier New" panose="02070309020205020404" pitchFamily="49" charset="0"/>
              </a:rPr>
              <a:t>Hashtable</a:t>
            </a:r>
            <a:r>
              <a:rPr lang="en-US" altLang="en-US" sz="1800">
                <a:latin typeface="Courier New" panose="02070309020205020404" pitchFamily="49" charset="0"/>
              </a:rPr>
              <a:t>&lt;</a:t>
            </a:r>
            <a:r>
              <a:rPr lang="en-US" altLang="en-US" sz="1800" b="1">
                <a:latin typeface="Courier New" panose="02070309020205020404" pitchFamily="49" charset="0"/>
              </a:rPr>
              <a:t>String</a:t>
            </a:r>
            <a:r>
              <a:rPr lang="en-US" altLang="en-US" sz="1800">
                <a:latin typeface="Courier New" panose="02070309020205020404" pitchFamily="49" charset="0"/>
              </a:rPr>
              <a:t>, Book&gt; ht )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	 {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		</a:t>
            </a:r>
            <a:r>
              <a:rPr lang="en-US" altLang="en-US" sz="1800" b="1">
                <a:latin typeface="Courier New" panose="02070309020205020404" pitchFamily="49" charset="0"/>
              </a:rPr>
              <a:t>Set&lt;Entry&lt;String</a:t>
            </a:r>
            <a:r>
              <a:rPr lang="en-US" altLang="en-US" sz="1800">
                <a:latin typeface="Courier New" panose="02070309020205020404" pitchFamily="49" charset="0"/>
              </a:rPr>
              <a:t>,Book&gt;&gt; htabSet = ht.</a:t>
            </a:r>
            <a:r>
              <a:rPr lang="en-US" altLang="en-US" sz="1800" b="1">
                <a:latin typeface="Courier New" panose="02070309020205020404" pitchFamily="49" charset="0"/>
              </a:rPr>
              <a:t>entrySet()</a:t>
            </a:r>
            <a:r>
              <a:rPr lang="en-US" altLang="en-US" sz="1800">
                <a:latin typeface="Courier New" panose="02070309020205020404" pitchFamily="49" charset="0"/>
              </a:rPr>
              <a:t>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			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	 </a:t>
            </a:r>
            <a:r>
              <a:rPr lang="en-US" altLang="en-US" sz="1800" b="1">
                <a:latin typeface="Courier New" panose="02070309020205020404" pitchFamily="49" charset="0"/>
              </a:rPr>
              <a:t>Iterator&lt;Entry&lt;String</a:t>
            </a:r>
            <a:r>
              <a:rPr lang="en-US" altLang="en-US" sz="1800">
                <a:latin typeface="Courier New" panose="02070309020205020404" pitchFamily="49" charset="0"/>
              </a:rPr>
              <a:t>,Book&gt;&gt; itr = htabSet.</a:t>
            </a:r>
            <a:r>
              <a:rPr lang="en-US" altLang="en-US" sz="1800" b="1">
                <a:latin typeface="Courier New" panose="02070309020205020404" pitchFamily="49" charset="0"/>
              </a:rPr>
              <a:t>iterator()</a:t>
            </a:r>
            <a:r>
              <a:rPr lang="en-US" altLang="en-US" sz="1800">
                <a:latin typeface="Courier New" panose="02070309020205020404" pitchFamily="49" charset="0"/>
              </a:rPr>
              <a:t>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			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			 </a:t>
            </a:r>
            <a:r>
              <a:rPr lang="en-US" altLang="en-US" sz="1800" b="1">
                <a:latin typeface="Courier New" panose="02070309020205020404" pitchFamily="49" charset="0"/>
              </a:rPr>
              <a:t>while</a:t>
            </a:r>
            <a:r>
              <a:rPr lang="en-US" altLang="en-US" sz="1800">
                <a:latin typeface="Courier New" panose="02070309020205020404" pitchFamily="49" charset="0"/>
              </a:rPr>
              <a:t>(itr.</a:t>
            </a:r>
            <a:r>
              <a:rPr lang="en-US" altLang="en-US" sz="1800" b="1">
                <a:latin typeface="Courier New" panose="02070309020205020404" pitchFamily="49" charset="0"/>
              </a:rPr>
              <a:t>hasNext</a:t>
            </a:r>
            <a:r>
              <a:rPr lang="en-US" altLang="en-US" sz="1800">
                <a:latin typeface="Courier New" panose="02070309020205020404" pitchFamily="49" charset="0"/>
              </a:rPr>
              <a:t>())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			 {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	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			 </a:t>
            </a:r>
            <a:r>
              <a:rPr lang="en-US" altLang="en-US" sz="1800" b="1">
                <a:latin typeface="Courier New" panose="02070309020205020404" pitchFamily="49" charset="0"/>
              </a:rPr>
              <a:t>Map.Entry&lt;String</a:t>
            </a:r>
            <a:r>
              <a:rPr lang="en-US" altLang="en-US" sz="1800">
                <a:latin typeface="Courier New" panose="02070309020205020404" pitchFamily="49" charset="0"/>
              </a:rPr>
              <a:t>, Book&gt; mp = itr.</a:t>
            </a:r>
            <a:r>
              <a:rPr lang="en-US" altLang="en-US" sz="1800" b="1">
                <a:latin typeface="Courier New" panose="02070309020205020404" pitchFamily="49" charset="0"/>
              </a:rPr>
              <a:t>next()</a:t>
            </a:r>
            <a:r>
              <a:rPr lang="en-US" altLang="en-US" sz="1800">
                <a:latin typeface="Courier New" panose="02070309020205020404" pitchFamily="49" charset="0"/>
              </a:rPr>
              <a:t>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	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			 </a:t>
            </a:r>
            <a:r>
              <a:rPr lang="en-US" altLang="en-US" sz="1800" b="1">
                <a:latin typeface="Courier New" panose="02070309020205020404" pitchFamily="49" charset="0"/>
              </a:rPr>
              <a:t>System.out.println</a:t>
            </a:r>
            <a:r>
              <a:rPr lang="en-US" altLang="en-US" sz="1800">
                <a:latin typeface="Courier New" panose="02070309020205020404" pitchFamily="49" charset="0"/>
              </a:rPr>
              <a:t>(mp.</a:t>
            </a:r>
            <a:r>
              <a:rPr lang="en-US" altLang="en-US" sz="1800" b="1">
                <a:latin typeface="Courier New" panose="02070309020205020404" pitchFamily="49" charset="0"/>
              </a:rPr>
              <a:t>getKey()</a:t>
            </a:r>
            <a:r>
              <a:rPr lang="en-US" altLang="en-US" sz="1800">
                <a:latin typeface="Courier New" panose="02070309020205020404" pitchFamily="49" charset="0"/>
              </a:rPr>
              <a:t>);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			 </a:t>
            </a:r>
            <a:r>
              <a:rPr lang="en-US" altLang="en-US" sz="1800" b="1">
                <a:latin typeface="Courier New" panose="02070309020205020404" pitchFamily="49" charset="0"/>
              </a:rPr>
              <a:t>System.out.println</a:t>
            </a:r>
            <a:r>
              <a:rPr lang="en-US" altLang="en-US" sz="1800">
                <a:latin typeface="Courier New" panose="02070309020205020404" pitchFamily="49" charset="0"/>
              </a:rPr>
              <a:t>(mp.</a:t>
            </a:r>
            <a:r>
              <a:rPr lang="en-US" altLang="en-US" sz="1800" b="1">
                <a:latin typeface="Courier New" panose="02070309020205020404" pitchFamily="49" charset="0"/>
              </a:rPr>
              <a:t>getValue()</a:t>
            </a:r>
            <a:r>
              <a:rPr lang="en-US" altLang="en-US" sz="1800">
                <a:latin typeface="Courier New" panose="02070309020205020404" pitchFamily="49" charset="0"/>
              </a:rPr>
              <a:t>);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			 }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		 	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		 }</a:t>
            </a:r>
          </a:p>
        </p:txBody>
      </p:sp>
    </p:spTree>
  </p:cSld>
  <p:clrMapOvr>
    <a:masterClrMapping/>
  </p:clrMapOvr>
  <p:transition advClick="0"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>
            <a:extLst>
              <a:ext uri="{FF2B5EF4-FFF2-40B4-BE49-F238E27FC236}">
                <a16:creationId xmlns:a16="http://schemas.microsoft.com/office/drawing/2014/main" id="{513A5CAC-3904-4E17-2F5C-AC4D5571BB1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800"/>
              <a:t>Tree Map</a:t>
            </a:r>
          </a:p>
        </p:txBody>
      </p:sp>
      <p:sp>
        <p:nvSpPr>
          <p:cNvPr id="60419" name="Rectangle 3">
            <a:extLst>
              <a:ext uri="{FF2B5EF4-FFF2-40B4-BE49-F238E27FC236}">
                <a16:creationId xmlns:a16="http://schemas.microsoft.com/office/drawing/2014/main" id="{0FD2BA3F-1CEB-6CA6-ADEA-C0E5B6C93AC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1800" b="1"/>
              <a:t>TreeMap </a:t>
            </a:r>
            <a:r>
              <a:rPr lang="en-US" altLang="en-US" sz="1800"/>
              <a:t>is a Sorted Map</a:t>
            </a:r>
          </a:p>
          <a:p>
            <a:pPr eaLnBrk="1" hangingPunct="1"/>
            <a:r>
              <a:rPr lang="en-US" altLang="en-US" sz="1800"/>
              <a:t>The keys are guaranteed to be in sorted order </a:t>
            </a:r>
          </a:p>
          <a:p>
            <a:pPr eaLnBrk="1" hangingPunct="1"/>
            <a:r>
              <a:rPr lang="en-US" altLang="en-US" sz="1800"/>
              <a:t>The Order is being controlled by Comparable or Comparator</a:t>
            </a:r>
          </a:p>
          <a:p>
            <a:pPr eaLnBrk="1" hangingPunct="1"/>
            <a:endParaRPr lang="en-US" altLang="en-US" sz="1800" b="1"/>
          </a:p>
          <a:p>
            <a:pPr lvl="1" eaLnBrk="1" hangingPunct="1">
              <a:buFontTx/>
              <a:buNone/>
            </a:pPr>
            <a:r>
              <a:rPr lang="en-US" altLang="en-US" b="1">
                <a:latin typeface="Courier New" panose="02070309020205020404" pitchFamily="49" charset="0"/>
              </a:rPr>
              <a:t>public</a:t>
            </a:r>
            <a:r>
              <a:rPr lang="en-US" altLang="en-US">
                <a:latin typeface="Courier New" panose="02070309020205020404" pitchFamily="49" charset="0"/>
              </a:rPr>
              <a:t> </a:t>
            </a:r>
            <a:r>
              <a:rPr lang="en-US" altLang="en-US" b="1">
                <a:latin typeface="Courier New" panose="02070309020205020404" pitchFamily="49" charset="0"/>
              </a:rPr>
              <a:t>static</a:t>
            </a:r>
            <a:r>
              <a:rPr lang="en-US" altLang="en-US">
                <a:latin typeface="Courier New" panose="02070309020205020404" pitchFamily="49" charset="0"/>
              </a:rPr>
              <a:t> </a:t>
            </a:r>
            <a:r>
              <a:rPr lang="en-US" altLang="en-US" b="1">
                <a:latin typeface="Courier New" panose="02070309020205020404" pitchFamily="49" charset="0"/>
              </a:rPr>
              <a:t>void</a:t>
            </a:r>
            <a:r>
              <a:rPr lang="en-US" altLang="en-US">
                <a:latin typeface="Courier New" panose="02070309020205020404" pitchFamily="49" charset="0"/>
              </a:rPr>
              <a:t> main(String args[])</a:t>
            </a:r>
          </a:p>
          <a:p>
            <a:pPr lvl="1" eaLnBrk="1" hangingPunct="1">
              <a:buFontTx/>
              <a:buNone/>
            </a:pPr>
            <a:r>
              <a:rPr lang="en-US" altLang="en-US">
                <a:latin typeface="Courier New" panose="02070309020205020404" pitchFamily="49" charset="0"/>
              </a:rPr>
              <a:t>{</a:t>
            </a:r>
          </a:p>
          <a:p>
            <a:pPr lvl="1" eaLnBrk="1" hangingPunct="1">
              <a:buFontTx/>
              <a:buNone/>
            </a:pPr>
            <a:endParaRPr lang="en-US" altLang="en-US">
              <a:latin typeface="Courier New" panose="02070309020205020404" pitchFamily="49" charset="0"/>
            </a:endParaRPr>
          </a:p>
          <a:p>
            <a:pPr lvl="1" eaLnBrk="1" hangingPunct="1">
              <a:buFontTx/>
              <a:buNone/>
            </a:pPr>
            <a:r>
              <a:rPr lang="en-US" altLang="en-US" b="1">
                <a:latin typeface="Courier New" panose="02070309020205020404" pitchFamily="49" charset="0"/>
              </a:rPr>
              <a:t>TreeMap</a:t>
            </a:r>
            <a:r>
              <a:rPr lang="en-US" altLang="en-US">
                <a:latin typeface="Courier New" panose="02070309020205020404" pitchFamily="49" charset="0"/>
              </a:rPr>
              <a:t> tm = </a:t>
            </a:r>
            <a:r>
              <a:rPr lang="en-US" altLang="en-US" b="1">
                <a:latin typeface="Courier New" panose="02070309020205020404" pitchFamily="49" charset="0"/>
              </a:rPr>
              <a:t>new</a:t>
            </a:r>
            <a:r>
              <a:rPr lang="en-US" altLang="en-US">
                <a:latin typeface="Courier New" panose="02070309020205020404" pitchFamily="49" charset="0"/>
              </a:rPr>
              <a:t> </a:t>
            </a:r>
            <a:r>
              <a:rPr lang="en-US" altLang="en-US" b="1">
                <a:latin typeface="Courier New" panose="02070309020205020404" pitchFamily="49" charset="0"/>
              </a:rPr>
              <a:t>TreeMap</a:t>
            </a:r>
            <a:r>
              <a:rPr lang="en-US" altLang="en-US">
                <a:latin typeface="Courier New" panose="02070309020205020404" pitchFamily="49" charset="0"/>
              </a:rPr>
              <a:t>(</a:t>
            </a:r>
            <a:r>
              <a:rPr lang="en-US" altLang="en-US" b="1">
                <a:latin typeface="Courier New" panose="02070309020205020404" pitchFamily="49" charset="0"/>
              </a:rPr>
              <a:t>new</a:t>
            </a:r>
            <a:r>
              <a:rPr lang="en-US" altLang="en-US">
                <a:latin typeface="Courier New" panose="02070309020205020404" pitchFamily="49" charset="0"/>
              </a:rPr>
              <a:t> LComparator());</a:t>
            </a:r>
          </a:p>
          <a:p>
            <a:pPr lvl="1" eaLnBrk="1" hangingPunct="1">
              <a:buFontTx/>
              <a:buNone/>
            </a:pPr>
            <a:endParaRPr lang="en-US" altLang="en-US">
              <a:latin typeface="Courier New" panose="02070309020205020404" pitchFamily="49" charset="0"/>
            </a:endParaRPr>
          </a:p>
          <a:p>
            <a:pPr lvl="1" eaLnBrk="1" hangingPunct="1">
              <a:buFontTx/>
              <a:buNone/>
            </a:pPr>
            <a:r>
              <a:rPr lang="en-US" altLang="en-US">
                <a:latin typeface="Courier New" panose="02070309020205020404" pitchFamily="49" charset="0"/>
              </a:rPr>
              <a:t>MyPerson ov1= </a:t>
            </a:r>
            <a:r>
              <a:rPr lang="en-US" altLang="en-US" b="1">
                <a:latin typeface="Courier New" panose="02070309020205020404" pitchFamily="49" charset="0"/>
              </a:rPr>
              <a:t>new</a:t>
            </a:r>
            <a:r>
              <a:rPr lang="en-US" altLang="en-US">
                <a:latin typeface="Courier New" panose="02070309020205020404" pitchFamily="49" charset="0"/>
              </a:rPr>
              <a:t> MyPerson("anand","kumar",45);</a:t>
            </a:r>
          </a:p>
          <a:p>
            <a:pPr lvl="1" eaLnBrk="1" hangingPunct="1">
              <a:buFontTx/>
              <a:buNone/>
            </a:pPr>
            <a:r>
              <a:rPr lang="en-US" altLang="en-US">
                <a:latin typeface="Courier New" panose="02070309020205020404" pitchFamily="49" charset="0"/>
              </a:rPr>
              <a:t>MyPerson ok1 =</a:t>
            </a:r>
            <a:r>
              <a:rPr lang="en-US" altLang="en-US" b="1">
                <a:latin typeface="Courier New" panose="02070309020205020404" pitchFamily="49" charset="0"/>
              </a:rPr>
              <a:t>new</a:t>
            </a:r>
            <a:r>
              <a:rPr lang="en-US" altLang="en-US">
                <a:latin typeface="Courier New" panose="02070309020205020404" pitchFamily="49" charset="0"/>
              </a:rPr>
              <a:t> MyPerson("100");</a:t>
            </a:r>
          </a:p>
          <a:p>
            <a:pPr lvl="1" eaLnBrk="1" hangingPunct="1">
              <a:buFontTx/>
              <a:buNone/>
            </a:pPr>
            <a:r>
              <a:rPr lang="en-US" altLang="en-US">
                <a:latin typeface="Courier New" panose="02070309020205020404" pitchFamily="49" charset="0"/>
              </a:rPr>
              <a:t>tm.</a:t>
            </a:r>
            <a:r>
              <a:rPr lang="en-US" altLang="en-US" b="1">
                <a:latin typeface="Courier New" panose="02070309020205020404" pitchFamily="49" charset="0"/>
              </a:rPr>
              <a:t>put</a:t>
            </a:r>
            <a:r>
              <a:rPr lang="en-US" altLang="en-US">
                <a:latin typeface="Courier New" panose="02070309020205020404" pitchFamily="49" charset="0"/>
              </a:rPr>
              <a:t>(ok1,ov1);</a:t>
            </a:r>
          </a:p>
          <a:p>
            <a:pPr lvl="1" eaLnBrk="1" hangingPunct="1">
              <a:buFontTx/>
              <a:buNone/>
            </a:pPr>
            <a:endParaRPr lang="en-US" altLang="en-US">
              <a:latin typeface="Courier New" panose="02070309020205020404" pitchFamily="49" charset="0"/>
            </a:endParaRPr>
          </a:p>
          <a:p>
            <a:pPr lvl="1" eaLnBrk="1" hangingPunct="1">
              <a:buFontTx/>
              <a:buNone/>
            </a:pPr>
            <a:r>
              <a:rPr lang="en-US" altLang="en-US" b="1">
                <a:latin typeface="Courier New" panose="02070309020205020404" pitchFamily="49" charset="0"/>
              </a:rPr>
              <a:t>System.</a:t>
            </a:r>
            <a:r>
              <a:rPr lang="en-US" altLang="en-US" b="1" i="1">
                <a:latin typeface="Courier New" panose="02070309020205020404" pitchFamily="49" charset="0"/>
              </a:rPr>
              <a:t>out</a:t>
            </a:r>
            <a:r>
              <a:rPr lang="en-US" altLang="en-US" b="1">
                <a:latin typeface="Courier New" panose="02070309020205020404" pitchFamily="49" charset="0"/>
              </a:rPr>
              <a:t>.println</a:t>
            </a:r>
            <a:r>
              <a:rPr lang="en-US" altLang="en-US">
                <a:latin typeface="Courier New" panose="02070309020205020404" pitchFamily="49" charset="0"/>
              </a:rPr>
              <a:t>(tm.</a:t>
            </a:r>
            <a:r>
              <a:rPr lang="en-US" altLang="en-US" b="1">
                <a:latin typeface="Courier New" panose="02070309020205020404" pitchFamily="49" charset="0"/>
              </a:rPr>
              <a:t>containsValue</a:t>
            </a:r>
            <a:r>
              <a:rPr lang="en-US" altLang="en-US">
                <a:latin typeface="Courier New" panose="02070309020205020404" pitchFamily="49" charset="0"/>
              </a:rPr>
              <a:t>(ov1)); </a:t>
            </a:r>
          </a:p>
          <a:p>
            <a:pPr lvl="1" eaLnBrk="1" hangingPunct="1">
              <a:buFontTx/>
              <a:buNone/>
            </a:pPr>
            <a:r>
              <a:rPr lang="en-US" altLang="en-US" b="1">
                <a:latin typeface="Courier New" panose="02070309020205020404" pitchFamily="49" charset="0"/>
              </a:rPr>
              <a:t>System.</a:t>
            </a:r>
            <a:r>
              <a:rPr lang="en-US" altLang="en-US" b="1" i="1">
                <a:latin typeface="Courier New" panose="02070309020205020404" pitchFamily="49" charset="0"/>
              </a:rPr>
              <a:t>out</a:t>
            </a:r>
            <a:r>
              <a:rPr lang="en-US" altLang="en-US" b="1">
                <a:latin typeface="Courier New" panose="02070309020205020404" pitchFamily="49" charset="0"/>
              </a:rPr>
              <a:t>.println</a:t>
            </a:r>
            <a:r>
              <a:rPr lang="en-US" altLang="en-US">
                <a:latin typeface="Courier New" panose="02070309020205020404" pitchFamily="49" charset="0"/>
              </a:rPr>
              <a:t>(tm.</a:t>
            </a:r>
            <a:r>
              <a:rPr lang="en-US" altLang="en-US" b="1">
                <a:latin typeface="Courier New" panose="02070309020205020404" pitchFamily="49" charset="0"/>
              </a:rPr>
              <a:t>containsKey</a:t>
            </a:r>
            <a:r>
              <a:rPr lang="en-US" altLang="en-US">
                <a:latin typeface="Courier New" panose="02070309020205020404" pitchFamily="49" charset="0"/>
              </a:rPr>
              <a:t>(ok1));</a:t>
            </a:r>
          </a:p>
          <a:p>
            <a:pPr lvl="1" eaLnBrk="1" hangingPunct="1">
              <a:buFontTx/>
              <a:buNone/>
            </a:pPr>
            <a:r>
              <a:rPr lang="en-US" altLang="en-US" b="1">
                <a:latin typeface="Courier New" panose="02070309020205020404" pitchFamily="49" charset="0"/>
              </a:rPr>
              <a:t>System.</a:t>
            </a:r>
            <a:r>
              <a:rPr lang="en-US" altLang="en-US" b="1" i="1">
                <a:latin typeface="Courier New" panose="02070309020205020404" pitchFamily="49" charset="0"/>
              </a:rPr>
              <a:t>out</a:t>
            </a:r>
            <a:r>
              <a:rPr lang="en-US" altLang="en-US" b="1">
                <a:latin typeface="Courier New" panose="02070309020205020404" pitchFamily="49" charset="0"/>
              </a:rPr>
              <a:t>.println</a:t>
            </a:r>
            <a:r>
              <a:rPr lang="en-US" altLang="en-US">
                <a:latin typeface="Courier New" panose="02070309020205020404" pitchFamily="49" charset="0"/>
              </a:rPr>
              <a:t>(tm.</a:t>
            </a:r>
            <a:r>
              <a:rPr lang="en-US" altLang="en-US" b="1">
                <a:latin typeface="Courier New" panose="02070309020205020404" pitchFamily="49" charset="0"/>
              </a:rPr>
              <a:t>get</a:t>
            </a:r>
            <a:r>
              <a:rPr lang="en-US" altLang="en-US">
                <a:latin typeface="Courier New" panose="02070309020205020404" pitchFamily="49" charset="0"/>
              </a:rPr>
              <a:t>(ok1));</a:t>
            </a:r>
          </a:p>
          <a:p>
            <a:pPr lvl="1" eaLnBrk="1" hangingPunct="1">
              <a:buFontTx/>
              <a:buNone/>
            </a:pPr>
            <a:r>
              <a:rPr lang="en-US" altLang="en-US">
                <a:latin typeface="Courier New" panose="02070309020205020404" pitchFamily="49" charset="0"/>
              </a:rPr>
              <a:t>}</a:t>
            </a:r>
          </a:p>
          <a:p>
            <a:pPr eaLnBrk="1" hangingPunct="1"/>
            <a:endParaRPr lang="en-US" altLang="en-US" sz="1800">
              <a:latin typeface="Courier New" panose="02070309020205020404" pitchFamily="49" charset="0"/>
            </a:endParaRPr>
          </a:p>
        </p:txBody>
      </p:sp>
    </p:spTree>
  </p:cSld>
  <p:clrMapOvr>
    <a:masterClrMapping/>
  </p:clrMapOvr>
  <p:transition advClick="0"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>
            <a:extLst>
              <a:ext uri="{FF2B5EF4-FFF2-40B4-BE49-F238E27FC236}">
                <a16:creationId xmlns:a16="http://schemas.microsoft.com/office/drawing/2014/main" id="{F9D22A2B-1800-DBF2-E6B3-35CB41DA093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800"/>
              <a:t>Arrays Class</a:t>
            </a:r>
          </a:p>
        </p:txBody>
      </p:sp>
      <p:sp>
        <p:nvSpPr>
          <p:cNvPr id="61443" name="Rectangle 3">
            <a:extLst>
              <a:ext uri="{FF2B5EF4-FFF2-40B4-BE49-F238E27FC236}">
                <a16:creationId xmlns:a16="http://schemas.microsoft.com/office/drawing/2014/main" id="{D615688F-DB75-3763-3E20-471E1FCE400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1800"/>
              <a:t>Utility Class available part of java.util package</a:t>
            </a:r>
          </a:p>
          <a:p>
            <a:pPr eaLnBrk="1" hangingPunct="1"/>
            <a:r>
              <a:rPr lang="en-US" altLang="en-US" sz="1800"/>
              <a:t>Has some static Methods to work with</a:t>
            </a:r>
          </a:p>
          <a:p>
            <a:pPr eaLnBrk="1" hangingPunct="1"/>
            <a:endParaRPr lang="en-US" altLang="en-US" sz="1800" b="1"/>
          </a:p>
          <a:p>
            <a:pPr eaLnBrk="1" hangingPunct="1"/>
            <a:r>
              <a:rPr lang="en-US" altLang="en-US" sz="1800" b="1"/>
              <a:t>equals( )</a:t>
            </a:r>
          </a:p>
          <a:p>
            <a:pPr lvl="1" eaLnBrk="1" hangingPunct="1"/>
            <a:r>
              <a:rPr lang="en-US" altLang="en-US"/>
              <a:t> to compare two arrays for equality;</a:t>
            </a:r>
          </a:p>
          <a:p>
            <a:pPr eaLnBrk="1" hangingPunct="1"/>
            <a:r>
              <a:rPr lang="en-US" altLang="en-US" sz="1800"/>
              <a:t> </a:t>
            </a:r>
            <a:r>
              <a:rPr lang="en-US" altLang="en-US" sz="1800" b="1"/>
              <a:t>fill( ) </a:t>
            </a:r>
          </a:p>
          <a:p>
            <a:pPr lvl="1" eaLnBrk="1" hangingPunct="1"/>
            <a:r>
              <a:rPr lang="en-US" altLang="en-US"/>
              <a:t> to fill an array with a value;</a:t>
            </a:r>
          </a:p>
          <a:p>
            <a:pPr eaLnBrk="1" hangingPunct="1"/>
            <a:r>
              <a:rPr lang="en-US" altLang="en-US" sz="1800"/>
              <a:t> </a:t>
            </a:r>
            <a:r>
              <a:rPr lang="en-US" altLang="en-US" sz="1800" b="1"/>
              <a:t>sort( ) </a:t>
            </a:r>
          </a:p>
          <a:p>
            <a:pPr lvl="1" eaLnBrk="1" hangingPunct="1"/>
            <a:r>
              <a:rPr lang="en-US" altLang="en-US"/>
              <a:t> to sort the array; </a:t>
            </a:r>
          </a:p>
          <a:p>
            <a:pPr eaLnBrk="1" hangingPunct="1"/>
            <a:r>
              <a:rPr lang="en-US" altLang="en-US" sz="1800"/>
              <a:t> </a:t>
            </a:r>
            <a:r>
              <a:rPr lang="en-US" altLang="en-US" sz="1800" b="1"/>
              <a:t>binarySearch( )</a:t>
            </a:r>
            <a:r>
              <a:rPr lang="en-US" altLang="en-US" sz="1800"/>
              <a:t>, </a:t>
            </a:r>
          </a:p>
          <a:p>
            <a:pPr lvl="1" eaLnBrk="1" hangingPunct="1"/>
            <a:r>
              <a:rPr lang="en-US" altLang="en-US"/>
              <a:t>find an element in a sorted array. </a:t>
            </a:r>
          </a:p>
          <a:p>
            <a:pPr eaLnBrk="1" hangingPunct="1"/>
            <a:endParaRPr lang="en-US" altLang="en-US" sz="1800"/>
          </a:p>
          <a:p>
            <a:pPr eaLnBrk="1" hangingPunct="1"/>
            <a:r>
              <a:rPr lang="en-US" altLang="en-US" sz="1800"/>
              <a:t>These methods are overloaded for all the primitive types and </a:t>
            </a:r>
            <a:r>
              <a:rPr lang="en-US" altLang="en-US" sz="1800" b="1"/>
              <a:t>Object</a:t>
            </a:r>
            <a:r>
              <a:rPr lang="en-US" altLang="en-US" sz="1800"/>
              <a:t>s. </a:t>
            </a:r>
          </a:p>
          <a:p>
            <a:pPr eaLnBrk="1" hangingPunct="1"/>
            <a:endParaRPr lang="en-US" altLang="en-US" sz="1800" b="1"/>
          </a:p>
        </p:txBody>
      </p:sp>
    </p:spTree>
  </p:cSld>
  <p:clrMapOvr>
    <a:masterClrMapping/>
  </p:clrMapOvr>
  <p:transition advClick="0"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>
            <a:extLst>
              <a:ext uri="{FF2B5EF4-FFF2-40B4-BE49-F238E27FC236}">
                <a16:creationId xmlns:a16="http://schemas.microsoft.com/office/drawing/2014/main" id="{8B591486-B394-62BE-4E9A-D4573EBB6F0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800"/>
              <a:t>Arrays Class – fill() and equals() Method</a:t>
            </a:r>
          </a:p>
        </p:txBody>
      </p:sp>
      <p:sp>
        <p:nvSpPr>
          <p:cNvPr id="62467" name="Rectangle 3">
            <a:extLst>
              <a:ext uri="{FF2B5EF4-FFF2-40B4-BE49-F238E27FC236}">
                <a16:creationId xmlns:a16="http://schemas.microsoft.com/office/drawing/2014/main" id="{AD3B9079-E43D-1E43-3A51-8691BE3FC27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ct val="10000"/>
              </a:spcBef>
              <a:buFontTx/>
              <a:buNone/>
            </a:pPr>
            <a:r>
              <a:rPr lang="en-US" altLang="en-US" sz="1800" b="1">
                <a:latin typeface="Courier New" panose="02070309020205020404" pitchFamily="49" charset="0"/>
              </a:rPr>
              <a:t>public static void main(String[]</a:t>
            </a:r>
            <a:r>
              <a:rPr lang="en-US" altLang="en-US" sz="1800">
                <a:latin typeface="Courier New" panose="02070309020205020404" pitchFamily="49" charset="0"/>
              </a:rPr>
              <a:t> args) {</a:t>
            </a:r>
          </a:p>
          <a:p>
            <a:pPr eaLnBrk="1" hangingPunct="1">
              <a:spcBef>
                <a:spcPct val="10000"/>
              </a:spcBef>
              <a:buFontTx/>
              <a:buNone/>
            </a:pPr>
            <a:endParaRPr lang="en-US" altLang="en-US" sz="1800">
              <a:latin typeface="Courier New" panose="02070309020205020404" pitchFamily="49" charset="0"/>
            </a:endParaRPr>
          </a:p>
          <a:p>
            <a:pPr eaLnBrk="1" hangingPunct="1">
              <a:spcBef>
                <a:spcPct val="10000"/>
              </a:spcBef>
              <a:buFontTx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		</a:t>
            </a:r>
            <a:r>
              <a:rPr lang="en-US" altLang="en-US" sz="1800" b="1">
                <a:latin typeface="Courier New" panose="02070309020205020404" pitchFamily="49" charset="0"/>
              </a:rPr>
              <a:t>int[]</a:t>
            </a:r>
            <a:r>
              <a:rPr lang="en-US" altLang="en-US" sz="1800">
                <a:latin typeface="Courier New" panose="02070309020205020404" pitchFamily="49" charset="0"/>
              </a:rPr>
              <a:t> aray = </a:t>
            </a:r>
            <a:r>
              <a:rPr lang="en-US" altLang="en-US" sz="1800" b="1">
                <a:latin typeface="Courier New" panose="02070309020205020404" pitchFamily="49" charset="0"/>
              </a:rPr>
              <a:t>new</a:t>
            </a:r>
            <a:r>
              <a:rPr lang="en-US" altLang="en-US" sz="1800">
                <a:latin typeface="Courier New" panose="02070309020205020404" pitchFamily="49" charset="0"/>
              </a:rPr>
              <a:t> int[5];</a:t>
            </a:r>
          </a:p>
          <a:p>
            <a:pPr eaLnBrk="1" hangingPunct="1">
              <a:spcBef>
                <a:spcPct val="10000"/>
              </a:spcBef>
              <a:buFontTx/>
              <a:buNone/>
            </a:pPr>
            <a:endParaRPr lang="en-US" altLang="en-US" sz="1800">
              <a:latin typeface="Courier New" panose="02070309020205020404" pitchFamily="49" charset="0"/>
            </a:endParaRPr>
          </a:p>
          <a:p>
            <a:pPr eaLnBrk="1" hangingPunct="1">
              <a:spcBef>
                <a:spcPct val="10000"/>
              </a:spcBef>
              <a:buFontTx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		</a:t>
            </a:r>
            <a:r>
              <a:rPr lang="en-US" altLang="en-US" sz="1800" b="1">
                <a:latin typeface="Courier New" panose="02070309020205020404" pitchFamily="49" charset="0"/>
              </a:rPr>
              <a:t>Arrays.fill</a:t>
            </a:r>
            <a:r>
              <a:rPr lang="en-US" altLang="en-US" sz="1800">
                <a:latin typeface="Courier New" panose="02070309020205020404" pitchFamily="49" charset="0"/>
              </a:rPr>
              <a:t>(aray, 55);</a:t>
            </a:r>
          </a:p>
          <a:p>
            <a:pPr eaLnBrk="1" hangingPunct="1">
              <a:spcBef>
                <a:spcPct val="10000"/>
              </a:spcBef>
              <a:buFontTx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		</a:t>
            </a:r>
          </a:p>
          <a:p>
            <a:pPr eaLnBrk="1" hangingPunct="1">
              <a:spcBef>
                <a:spcPct val="10000"/>
              </a:spcBef>
              <a:buFontTx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		</a:t>
            </a:r>
            <a:r>
              <a:rPr lang="en-US" altLang="en-US" sz="1800" b="1">
                <a:latin typeface="Courier New" panose="02070309020205020404" pitchFamily="49" charset="0"/>
              </a:rPr>
              <a:t>for(int</a:t>
            </a:r>
            <a:r>
              <a:rPr lang="en-US" altLang="en-US" sz="1800">
                <a:latin typeface="Courier New" panose="02070309020205020404" pitchFamily="49" charset="0"/>
              </a:rPr>
              <a:t> a:aray)</a:t>
            </a:r>
          </a:p>
          <a:p>
            <a:pPr eaLnBrk="1" hangingPunct="1">
              <a:spcBef>
                <a:spcPct val="10000"/>
              </a:spcBef>
              <a:buFontTx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			</a:t>
            </a:r>
            <a:r>
              <a:rPr lang="en-US" altLang="en-US" sz="1800" b="1">
                <a:latin typeface="Courier New" panose="02070309020205020404" pitchFamily="49" charset="0"/>
              </a:rPr>
              <a:t>System.out.println</a:t>
            </a:r>
            <a:r>
              <a:rPr lang="en-US" altLang="en-US" sz="1800">
                <a:latin typeface="Courier New" panose="02070309020205020404" pitchFamily="49" charset="0"/>
              </a:rPr>
              <a:t>(a);</a:t>
            </a:r>
          </a:p>
          <a:p>
            <a:pPr eaLnBrk="1" hangingPunct="1">
              <a:spcBef>
                <a:spcPct val="10000"/>
              </a:spcBef>
              <a:buFontTx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		</a:t>
            </a:r>
          </a:p>
          <a:p>
            <a:pPr eaLnBrk="1" hangingPunct="1">
              <a:spcBef>
                <a:spcPct val="10000"/>
              </a:spcBef>
              <a:buFontTx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		</a:t>
            </a:r>
            <a:r>
              <a:rPr lang="en-US" altLang="en-US" sz="1800" b="1">
                <a:latin typeface="Courier New" panose="02070309020205020404" pitchFamily="49" charset="0"/>
              </a:rPr>
              <a:t>int[]</a:t>
            </a:r>
            <a:r>
              <a:rPr lang="en-US" altLang="en-US" sz="1800">
                <a:latin typeface="Courier New" panose="02070309020205020404" pitchFamily="49" charset="0"/>
              </a:rPr>
              <a:t> array1 = {1,3,4,5};</a:t>
            </a:r>
          </a:p>
          <a:p>
            <a:pPr eaLnBrk="1" hangingPunct="1">
              <a:spcBef>
                <a:spcPct val="10000"/>
              </a:spcBef>
              <a:buFontTx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		</a:t>
            </a:r>
          </a:p>
          <a:p>
            <a:pPr eaLnBrk="1" hangingPunct="1">
              <a:spcBef>
                <a:spcPct val="10000"/>
              </a:spcBef>
              <a:buFontTx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		</a:t>
            </a:r>
            <a:r>
              <a:rPr lang="en-US" altLang="en-US" sz="1800" b="1">
                <a:latin typeface="Courier New" panose="02070309020205020404" pitchFamily="49" charset="0"/>
              </a:rPr>
              <a:t>int[]</a:t>
            </a:r>
            <a:r>
              <a:rPr lang="en-US" altLang="en-US" sz="1800">
                <a:latin typeface="Courier New" panose="02070309020205020404" pitchFamily="49" charset="0"/>
              </a:rPr>
              <a:t> array2 = {1,23,4,5};</a:t>
            </a:r>
          </a:p>
          <a:p>
            <a:pPr eaLnBrk="1" hangingPunct="1">
              <a:spcBef>
                <a:spcPct val="10000"/>
              </a:spcBef>
              <a:buFontTx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    </a:t>
            </a:r>
          </a:p>
          <a:p>
            <a:pPr eaLnBrk="1" hangingPunct="1">
              <a:spcBef>
                <a:spcPct val="10000"/>
              </a:spcBef>
              <a:buFontTx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       </a:t>
            </a:r>
            <a:r>
              <a:rPr lang="en-US" altLang="en-US" sz="1800" b="1">
                <a:latin typeface="Courier New" panose="02070309020205020404" pitchFamily="49" charset="0"/>
              </a:rPr>
              <a:t>boolean</a:t>
            </a:r>
            <a:r>
              <a:rPr lang="en-US" altLang="en-US" sz="1800">
                <a:latin typeface="Courier New" panose="02070309020205020404" pitchFamily="49" charset="0"/>
              </a:rPr>
              <a:t> flag = </a:t>
            </a:r>
            <a:r>
              <a:rPr lang="en-US" altLang="en-US" sz="1800" b="1">
                <a:latin typeface="Courier New" panose="02070309020205020404" pitchFamily="49" charset="0"/>
              </a:rPr>
              <a:t>Arrays.equals</a:t>
            </a:r>
            <a:r>
              <a:rPr lang="en-US" altLang="en-US" sz="1800">
                <a:latin typeface="Courier New" panose="02070309020205020404" pitchFamily="49" charset="0"/>
              </a:rPr>
              <a:t>(array1, array2));</a:t>
            </a:r>
          </a:p>
          <a:p>
            <a:pPr eaLnBrk="1" hangingPunct="1">
              <a:spcBef>
                <a:spcPct val="10000"/>
              </a:spcBef>
              <a:buFontTx/>
              <a:buNone/>
            </a:pPr>
            <a:endParaRPr lang="en-US" altLang="en-US" sz="1800">
              <a:latin typeface="Courier New" panose="02070309020205020404" pitchFamily="49" charset="0"/>
            </a:endParaRPr>
          </a:p>
          <a:p>
            <a:pPr eaLnBrk="1" hangingPunct="1">
              <a:spcBef>
                <a:spcPct val="10000"/>
              </a:spcBef>
              <a:buFontTx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		</a:t>
            </a:r>
            <a:r>
              <a:rPr lang="en-US" altLang="en-US" sz="1800" b="1">
                <a:latin typeface="Courier New" panose="02070309020205020404" pitchFamily="49" charset="0"/>
              </a:rPr>
              <a:t>System.out.println</a:t>
            </a:r>
            <a:r>
              <a:rPr lang="en-US" altLang="en-US" sz="1800">
                <a:latin typeface="Courier New" panose="02070309020205020404" pitchFamily="49" charset="0"/>
              </a:rPr>
              <a:t>("Two Object Equal"+flag); 	</a:t>
            </a:r>
          </a:p>
          <a:p>
            <a:pPr eaLnBrk="1" hangingPunct="1">
              <a:spcBef>
                <a:spcPct val="10000"/>
              </a:spcBef>
              <a:buFontTx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	}</a:t>
            </a:r>
          </a:p>
        </p:txBody>
      </p:sp>
    </p:spTree>
  </p:cSld>
  <p:clrMapOvr>
    <a:masterClrMapping/>
  </p:clrMapOvr>
  <p:transition advClick="0"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>
            <a:extLst>
              <a:ext uri="{FF2B5EF4-FFF2-40B4-BE49-F238E27FC236}">
                <a16:creationId xmlns:a16="http://schemas.microsoft.com/office/drawing/2014/main" id="{35D518FA-A6BF-A997-AD38-31FDAACB9DB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blackWhite">
          <a:noFill/>
        </p:spPr>
        <p:txBody>
          <a:bodyPr lIns="92075" tIns="46038" rIns="92075" bIns="46038"/>
          <a:lstStyle/>
          <a:p>
            <a:pPr eaLnBrk="1" hangingPunct="1"/>
            <a:r>
              <a:rPr lang="en-US" altLang="en-US">
                <a:solidFill>
                  <a:schemeClr val="tx1"/>
                </a:solidFill>
              </a:rPr>
              <a:t>Arrays Class -Sort and Binary Search </a:t>
            </a:r>
          </a:p>
        </p:txBody>
      </p:sp>
      <p:sp>
        <p:nvSpPr>
          <p:cNvPr id="63491" name="Rectangle 3">
            <a:extLst>
              <a:ext uri="{FF2B5EF4-FFF2-40B4-BE49-F238E27FC236}">
                <a16:creationId xmlns:a16="http://schemas.microsoft.com/office/drawing/2014/main" id="{026EA952-D66B-3E4E-EEAE-AC7B8C77122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 lIns="0" tIns="0" rIns="0" bIns="0"/>
          <a:lstStyle/>
          <a:p>
            <a:pPr eaLnBrk="1" hangingPunct="1">
              <a:lnSpc>
                <a:spcPct val="90000"/>
              </a:lnSpc>
            </a:pPr>
            <a:r>
              <a:rPr lang="en-US" altLang="en-US" sz="1800"/>
              <a:t>Before Calling Binarysearch the Arrays needs to be sorted,else throws an exception.</a:t>
            </a:r>
          </a:p>
          <a:p>
            <a:pPr eaLnBrk="1" hangingPunct="1">
              <a:lnSpc>
                <a:spcPct val="90000"/>
              </a:lnSpc>
            </a:pPr>
            <a:endParaRPr lang="en-US" altLang="en-US" sz="180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	</a:t>
            </a:r>
            <a:r>
              <a:rPr lang="en-US" altLang="en-US" sz="1800" b="1">
                <a:latin typeface="Courier New" panose="02070309020205020404" pitchFamily="49" charset="0"/>
              </a:rPr>
              <a:t>public static void main(String[]</a:t>
            </a:r>
            <a:r>
              <a:rPr lang="en-US" altLang="en-US" sz="1800">
                <a:latin typeface="Courier New" panose="02070309020205020404" pitchFamily="49" charset="0"/>
              </a:rPr>
              <a:t> args) {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			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		</a:t>
            </a:r>
            <a:r>
              <a:rPr lang="en-US" altLang="en-US" sz="1800" b="1">
                <a:latin typeface="Courier New" panose="02070309020205020404" pitchFamily="49" charset="0"/>
              </a:rPr>
              <a:t>String[]</a:t>
            </a:r>
            <a:r>
              <a:rPr lang="en-US" altLang="en-US" sz="1800">
                <a:latin typeface="Courier New" panose="02070309020205020404" pitchFamily="49" charset="0"/>
              </a:rPr>
              <a:t> names = new </a:t>
            </a:r>
            <a:r>
              <a:rPr lang="en-US" altLang="en-US" sz="1800" b="1">
                <a:latin typeface="Courier New" panose="02070309020205020404" pitchFamily="49" charset="0"/>
              </a:rPr>
              <a:t>String[5]</a:t>
            </a:r>
            <a:r>
              <a:rPr lang="en-US" altLang="en-US" sz="1800">
                <a:latin typeface="Courier New" panose="02070309020205020404" pitchFamily="49" charset="0"/>
              </a:rPr>
              <a:t>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		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		names[0]="ramesh";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		names[1]="anand";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		names[2]="suresh";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		names[3]="dravid";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		names[4]="ganesh";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		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		</a:t>
            </a:r>
            <a:r>
              <a:rPr lang="en-US" altLang="en-US" sz="1800" b="1">
                <a:latin typeface="Courier New" panose="02070309020205020404" pitchFamily="49" charset="0"/>
              </a:rPr>
              <a:t>Arrays.sort</a:t>
            </a:r>
            <a:r>
              <a:rPr lang="en-US" altLang="en-US" sz="1800">
                <a:latin typeface="Courier New" panose="02070309020205020404" pitchFamily="49" charset="0"/>
              </a:rPr>
              <a:t>(names);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		          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		int loc =</a:t>
            </a:r>
            <a:r>
              <a:rPr lang="en-US" altLang="en-US" sz="1800" b="1">
                <a:latin typeface="Courier New" panose="02070309020205020404" pitchFamily="49" charset="0"/>
              </a:rPr>
              <a:t>Arrays.binarySearch</a:t>
            </a:r>
            <a:r>
              <a:rPr lang="en-US" altLang="en-US" sz="1800">
                <a:latin typeface="Courier New" panose="02070309020205020404" pitchFamily="49" charset="0"/>
              </a:rPr>
              <a:t>(names,"ramesh");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}</a:t>
            </a:r>
          </a:p>
        </p:txBody>
      </p:sp>
    </p:spTree>
  </p:cSld>
  <p:clrMapOvr>
    <a:masterClrMapping/>
  </p:clrMapOvr>
  <p:transition advClick="0"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>
            <a:extLst>
              <a:ext uri="{FF2B5EF4-FFF2-40B4-BE49-F238E27FC236}">
                <a16:creationId xmlns:a16="http://schemas.microsoft.com/office/drawing/2014/main" id="{2117C743-BCE0-D753-7E68-EA5409B916B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800"/>
              <a:t>Arrays Class –toList() </a:t>
            </a:r>
          </a:p>
        </p:txBody>
      </p:sp>
      <p:sp>
        <p:nvSpPr>
          <p:cNvPr id="64515" name="Rectangle 3">
            <a:extLst>
              <a:ext uri="{FF2B5EF4-FFF2-40B4-BE49-F238E27FC236}">
                <a16:creationId xmlns:a16="http://schemas.microsoft.com/office/drawing/2014/main" id="{E32E6216-5CEE-228C-B3AB-A630A1BDBB0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lvl="1" eaLnBrk="1" hangingPunct="1">
              <a:lnSpc>
                <a:spcPct val="80000"/>
              </a:lnSpc>
              <a:buFontTx/>
              <a:buNone/>
            </a:pPr>
            <a:endParaRPr lang="en-US" altLang="en-US" sz="1800" b="1">
              <a:latin typeface="Courier New" panose="02070309020205020404" pitchFamily="49" charset="0"/>
            </a:endParaRPr>
          </a:p>
          <a:p>
            <a:pPr lvl="1" eaLnBrk="1" hangingPunct="1">
              <a:lnSpc>
                <a:spcPct val="80000"/>
              </a:lnSpc>
              <a:buFontTx/>
              <a:buNone/>
            </a:pPr>
            <a:endParaRPr lang="en-US" altLang="en-US" sz="1800" b="1">
              <a:latin typeface="Courier New" panose="02070309020205020404" pitchFamily="49" charset="0"/>
            </a:endParaRP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n-US" altLang="en-US" sz="1800" b="1">
                <a:latin typeface="Courier New" panose="02070309020205020404" pitchFamily="49" charset="0"/>
              </a:rPr>
              <a:t>public static void main(String[]</a:t>
            </a:r>
            <a:r>
              <a:rPr lang="en-US" altLang="en-US" sz="1800">
                <a:latin typeface="Courier New" panose="02070309020205020404" pitchFamily="49" charset="0"/>
              </a:rPr>
              <a:t> args) {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			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		</a:t>
            </a:r>
            <a:r>
              <a:rPr lang="en-US" altLang="en-US" sz="1800" b="1"/>
              <a:t>String[]</a:t>
            </a:r>
            <a:r>
              <a:rPr lang="en-US" altLang="en-US" sz="1800"/>
              <a:t> names = {"ramesh","anand","suresh"};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endParaRPr lang="en-US" altLang="en-US" sz="1800">
              <a:latin typeface="Courier New" panose="02070309020205020404" pitchFamily="49" charset="0"/>
            </a:endParaRP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	</a:t>
            </a:r>
            <a:r>
              <a:rPr lang="en-US" altLang="en-US" sz="1800" b="1">
                <a:latin typeface="Courier New" panose="02070309020205020404" pitchFamily="49" charset="0"/>
              </a:rPr>
              <a:t>List&lt;String&gt;</a:t>
            </a:r>
            <a:r>
              <a:rPr lang="en-US" altLang="en-US" sz="1800">
                <a:latin typeface="Courier New" panose="02070309020205020404" pitchFamily="49" charset="0"/>
              </a:rPr>
              <a:t> nameList = </a:t>
            </a:r>
            <a:r>
              <a:rPr lang="en-US" altLang="en-US" sz="1800" b="1">
                <a:latin typeface="Courier New" panose="02070309020205020404" pitchFamily="49" charset="0"/>
              </a:rPr>
              <a:t>new ArrayList&lt;String&gt;</a:t>
            </a:r>
            <a:r>
              <a:rPr lang="en-US" altLang="en-US" sz="1800">
                <a:latin typeface="Courier New" panose="02070309020205020404" pitchFamily="49" charset="0"/>
              </a:rPr>
              <a:t>();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		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		nameList = </a:t>
            </a:r>
            <a:r>
              <a:rPr lang="en-US" altLang="en-US" sz="1800" b="1">
                <a:latin typeface="Courier New" panose="02070309020205020404" pitchFamily="49" charset="0"/>
              </a:rPr>
              <a:t>Arrays.asList</a:t>
            </a:r>
            <a:r>
              <a:rPr lang="en-US" altLang="en-US" sz="1800">
                <a:latin typeface="Courier New" panose="02070309020205020404" pitchFamily="49" charset="0"/>
              </a:rPr>
              <a:t>(names);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		           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	 </a:t>
            </a:r>
            <a:r>
              <a:rPr lang="en-US" altLang="en-US" sz="1800" b="1">
                <a:latin typeface="Courier New" panose="02070309020205020404" pitchFamily="49" charset="0"/>
              </a:rPr>
              <a:t>String[]</a:t>
            </a:r>
            <a:r>
              <a:rPr lang="en-US" altLang="en-US" sz="1800">
                <a:latin typeface="Courier New" panose="02070309020205020404" pitchFamily="49" charset="0"/>
              </a:rPr>
              <a:t> employees = </a:t>
            </a:r>
            <a:r>
              <a:rPr lang="en-US" altLang="en-US" sz="1800" b="1">
                <a:latin typeface="Courier New" panose="02070309020205020404" pitchFamily="49" charset="0"/>
              </a:rPr>
              <a:t>new</a:t>
            </a:r>
            <a:r>
              <a:rPr lang="en-US" altLang="en-US" sz="1800">
                <a:latin typeface="Courier New" panose="02070309020205020404" pitchFamily="49" charset="0"/>
              </a:rPr>
              <a:t> </a:t>
            </a:r>
            <a:r>
              <a:rPr lang="en-US" altLang="en-US" sz="1800" b="1">
                <a:latin typeface="Courier New" panose="02070309020205020404" pitchFamily="49" charset="0"/>
              </a:rPr>
              <a:t>String</a:t>
            </a:r>
            <a:r>
              <a:rPr lang="en-US" altLang="en-US" sz="1800">
                <a:latin typeface="Courier New" panose="02070309020205020404" pitchFamily="49" charset="0"/>
              </a:rPr>
              <a:t>[5]; 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	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     employees = (</a:t>
            </a:r>
            <a:r>
              <a:rPr lang="en-US" altLang="en-US" sz="1800" b="1">
                <a:latin typeface="Courier New" panose="02070309020205020404" pitchFamily="49" charset="0"/>
              </a:rPr>
              <a:t>String[]</a:t>
            </a:r>
            <a:r>
              <a:rPr lang="en-US" altLang="en-US" sz="1800">
                <a:latin typeface="Courier New" panose="02070309020205020404" pitchFamily="49" charset="0"/>
              </a:rPr>
              <a:t>)nameList.toArray();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	}</a:t>
            </a:r>
          </a:p>
        </p:txBody>
      </p:sp>
    </p:spTree>
  </p:cSld>
  <p:clrMapOvr>
    <a:masterClrMapping/>
  </p:clrMapOvr>
  <p:transition advClick="0"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>
            <a:extLst>
              <a:ext uri="{FF2B5EF4-FFF2-40B4-BE49-F238E27FC236}">
                <a16:creationId xmlns:a16="http://schemas.microsoft.com/office/drawing/2014/main" id="{F0252541-6B89-1488-0142-E0477836B6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800"/>
              <a:t>Arrays Class –asList()</a:t>
            </a:r>
          </a:p>
        </p:txBody>
      </p:sp>
      <p:sp>
        <p:nvSpPr>
          <p:cNvPr id="65539" name="Rectangle 3">
            <a:extLst>
              <a:ext uri="{FF2B5EF4-FFF2-40B4-BE49-F238E27FC236}">
                <a16:creationId xmlns:a16="http://schemas.microsoft.com/office/drawing/2014/main" id="{49E3B876-DA5C-2777-A086-40ACDD4A9F6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1800"/>
              <a:t>The simple form with no arguments creates a new array of Object</a:t>
            </a:r>
          </a:p>
          <a:p>
            <a:pPr lvl="1" eaLnBrk="1" hangingPunct="1"/>
            <a:r>
              <a:rPr lang="en-US" altLang="en-US" sz="1800"/>
              <a:t>Object[] a = c.toArray();</a:t>
            </a:r>
          </a:p>
          <a:p>
            <a:pPr eaLnBrk="1" hangingPunct="1"/>
            <a:endParaRPr lang="en-US" altLang="en-US" sz="1800"/>
          </a:p>
          <a:p>
            <a:pPr eaLnBrk="1" hangingPunct="1"/>
            <a:r>
              <a:rPr lang="en-US" altLang="en-US" sz="1800"/>
              <a:t>Suppose that c is known to contain only strings.</a:t>
            </a:r>
          </a:p>
          <a:p>
            <a:pPr eaLnBrk="1" hangingPunct="1"/>
            <a:endParaRPr lang="en-US" altLang="en-US" sz="1800"/>
          </a:p>
          <a:p>
            <a:pPr eaLnBrk="1" hangingPunct="1"/>
            <a:r>
              <a:rPr lang="en-US" altLang="en-US" sz="1800"/>
              <a:t>Copies  the contents of c into a newly allocated array of String whose length is identical to the number of elements in c.</a:t>
            </a:r>
          </a:p>
          <a:p>
            <a:pPr eaLnBrk="1" hangingPunct="1"/>
            <a:endParaRPr lang="en-US" altLang="en-US" sz="1800"/>
          </a:p>
          <a:p>
            <a:pPr eaLnBrk="1" hangingPunct="1"/>
            <a:r>
              <a:rPr lang="en-US" altLang="en-US" sz="1800"/>
              <a:t> String[] a = c.toArray();</a:t>
            </a:r>
          </a:p>
          <a:p>
            <a:pPr eaLnBrk="1" hangingPunct="1"/>
            <a:endParaRPr lang="en-US" altLang="en-US" sz="1800"/>
          </a:p>
          <a:p>
            <a:pPr eaLnBrk="1" hangingPunct="1"/>
            <a:r>
              <a:rPr lang="en-US" altLang="en-US" sz="1800" b="1"/>
              <a:t>asList( ) </a:t>
            </a:r>
          </a:p>
          <a:p>
            <a:pPr lvl="1" eaLnBrk="1" hangingPunct="1"/>
            <a:r>
              <a:rPr lang="en-US" altLang="en-US"/>
              <a:t>that takes any array and turns it into a </a:t>
            </a:r>
            <a:r>
              <a:rPr lang="en-US" altLang="en-US" b="1"/>
              <a:t>List </a:t>
            </a:r>
            <a:r>
              <a:rPr lang="en-US" altLang="en-US"/>
              <a:t>container</a:t>
            </a:r>
          </a:p>
          <a:p>
            <a:pPr eaLnBrk="1" hangingPunct="1"/>
            <a:endParaRPr lang="en-US" altLang="en-US" sz="1800"/>
          </a:p>
          <a:p>
            <a:pPr eaLnBrk="1" hangingPunct="1"/>
            <a:endParaRPr lang="en-US" altLang="en-US" sz="1800"/>
          </a:p>
        </p:txBody>
      </p:sp>
    </p:spTree>
  </p:cSld>
  <p:clrMapOvr>
    <a:masterClrMapping/>
  </p:clrMapOvr>
  <p:transition advClick="0"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>
            <a:extLst>
              <a:ext uri="{FF2B5EF4-FFF2-40B4-BE49-F238E27FC236}">
                <a16:creationId xmlns:a16="http://schemas.microsoft.com/office/drawing/2014/main" id="{05A1A313-09B5-D74C-1497-C81381B5A10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Using Generic Methods	</a:t>
            </a:r>
          </a:p>
        </p:txBody>
      </p:sp>
      <p:sp>
        <p:nvSpPr>
          <p:cNvPr id="66563" name="Rectangle 3">
            <a:extLst>
              <a:ext uri="{FF2B5EF4-FFF2-40B4-BE49-F238E27FC236}">
                <a16:creationId xmlns:a16="http://schemas.microsoft.com/office/drawing/2014/main" id="{0E0C0094-9216-805B-D0BE-D711F3DDC46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1800"/>
              <a:t>A generic Method means that the method declaration used a type parameter as its signature.</a:t>
            </a:r>
          </a:p>
          <a:p>
            <a:pPr eaLnBrk="1" hangingPunct="1"/>
            <a:endParaRPr lang="en-US" altLang="en-US" sz="1800"/>
          </a:p>
          <a:p>
            <a:pPr eaLnBrk="1" hangingPunct="1"/>
            <a:r>
              <a:rPr lang="en-US" altLang="en-US" sz="1800"/>
              <a:t>The type declared in the method arguments is replaced with the type of the class instantiated with.</a:t>
            </a:r>
          </a:p>
          <a:p>
            <a:pPr eaLnBrk="1" hangingPunct="1"/>
            <a:endParaRPr lang="en-US" altLang="en-US" sz="1800"/>
          </a:p>
          <a:p>
            <a:pPr eaLnBrk="1" hangingPunct="1"/>
            <a:r>
              <a:rPr lang="en-US" altLang="en-US" sz="1800"/>
              <a:t>In generics the keyword </a:t>
            </a:r>
            <a:r>
              <a:rPr lang="en-US" altLang="en-US" sz="1800" b="1" u="sng"/>
              <a:t>extends</a:t>
            </a:r>
            <a:r>
              <a:rPr lang="en-US" altLang="en-US" sz="1800"/>
              <a:t>  means “is-a” and </a:t>
            </a:r>
            <a:r>
              <a:rPr lang="en-US" altLang="en-US" sz="1800" b="1" u="sng"/>
              <a:t>works for both classes and interfaces</a:t>
            </a:r>
          </a:p>
          <a:p>
            <a:pPr eaLnBrk="1" hangingPunct="1"/>
            <a:endParaRPr lang="en-US" altLang="en-US" sz="1800" b="1" u="sng"/>
          </a:p>
          <a:p>
            <a:pPr lvl="1" eaLnBrk="1" hangingPunct="1"/>
            <a:r>
              <a:rPr lang="en-US" altLang="en-US" b="1">
                <a:latin typeface="Courier New" panose="02070309020205020404" pitchFamily="49" charset="0"/>
              </a:rPr>
              <a:t>void display (List&lt;Employee&gt; myList) {  }</a:t>
            </a:r>
          </a:p>
          <a:p>
            <a:pPr eaLnBrk="1" hangingPunct="1"/>
            <a:endParaRPr lang="en-US" altLang="en-US" sz="1800" b="1">
              <a:latin typeface="Courier New" panose="02070309020205020404" pitchFamily="49" charset="0"/>
            </a:endParaRPr>
          </a:p>
          <a:p>
            <a:pPr eaLnBrk="1" hangingPunct="1"/>
            <a:r>
              <a:rPr lang="en-US" altLang="en-US" sz="1800" b="1"/>
              <a:t>Using a type Parameter that was NOT defined in the class declaration</a:t>
            </a:r>
          </a:p>
          <a:p>
            <a:pPr eaLnBrk="1" hangingPunct="1"/>
            <a:endParaRPr lang="en-US" altLang="en-US" sz="1800"/>
          </a:p>
          <a:p>
            <a:pPr lvl="1" eaLnBrk="1" hangingPunct="1"/>
            <a:r>
              <a:rPr lang="en-US" altLang="en-US" b="1">
                <a:latin typeface="Courier New" panose="02070309020205020404" pitchFamily="49" charset="0"/>
              </a:rPr>
              <a:t>public </a:t>
            </a:r>
            <a:r>
              <a:rPr lang="en-US" altLang="en-US" b="1">
                <a:solidFill>
                  <a:srgbClr val="1206FA"/>
                </a:solidFill>
                <a:latin typeface="Courier New" panose="02070309020205020404" pitchFamily="49" charset="0"/>
              </a:rPr>
              <a:t>&lt;T extends Employee&gt;</a:t>
            </a:r>
            <a:r>
              <a:rPr lang="en-US" altLang="en-US" b="1">
                <a:latin typeface="Courier New" panose="02070309020205020404" pitchFamily="49" charset="0"/>
              </a:rPr>
              <a:t> void addData(List&lt;T&gt; myList){}</a:t>
            </a:r>
          </a:p>
          <a:p>
            <a:pPr eaLnBrk="1" hangingPunct="1"/>
            <a:endParaRPr lang="en-US" altLang="en-US" sz="1800"/>
          </a:p>
          <a:p>
            <a:pPr eaLnBrk="1" hangingPunct="1"/>
            <a:endParaRPr lang="en-US" altLang="en-US" sz="1800"/>
          </a:p>
          <a:p>
            <a:pPr eaLnBrk="1" hangingPunct="1"/>
            <a:endParaRPr lang="en-US" altLang="en-US" sz="1800"/>
          </a:p>
        </p:txBody>
      </p:sp>
      <p:sp>
        <p:nvSpPr>
          <p:cNvPr id="66564" name="AutoShape 4">
            <a:extLst>
              <a:ext uri="{FF2B5EF4-FFF2-40B4-BE49-F238E27FC236}">
                <a16:creationId xmlns:a16="http://schemas.microsoft.com/office/drawing/2014/main" id="{B8C49B04-8D4C-1245-E1BF-9874C1AC45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00800" y="5715000"/>
            <a:ext cx="2286000" cy="609600"/>
          </a:xfrm>
          <a:prstGeom prst="wedgeRoundRectCallout">
            <a:avLst>
              <a:gd name="adj1" fmla="val -152014"/>
              <a:gd name="adj2" fmla="val -119532"/>
              <a:gd name="adj3" fmla="val 16667"/>
            </a:avLst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1" algn="r" eaLnBrk="1" hangingPunct="1">
              <a:spcBef>
                <a:spcPct val="20000"/>
              </a:spcBef>
            </a:pPr>
            <a:r>
              <a:rPr lang="en-US" altLang="en-US"/>
              <a:t>Before the Return  type.</a:t>
            </a:r>
          </a:p>
          <a:p>
            <a:pPr eaLnBrk="1" hangingPunct="1"/>
            <a:endParaRPr lang="en-US" altLang="en-US"/>
          </a:p>
        </p:txBody>
      </p:sp>
    </p:spTree>
  </p:cSld>
  <p:clrMapOvr>
    <a:masterClrMapping/>
  </p:clrMapOvr>
  <p:transition advClick="0"/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>
            <a:extLst>
              <a:ext uri="{FF2B5EF4-FFF2-40B4-BE49-F238E27FC236}">
                <a16:creationId xmlns:a16="http://schemas.microsoft.com/office/drawing/2014/main" id="{D0F48A33-B4BB-A330-18D0-57B14553873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800"/>
              <a:t>Methods with Generic Wild Card (?)</a:t>
            </a:r>
          </a:p>
        </p:txBody>
      </p:sp>
      <p:sp>
        <p:nvSpPr>
          <p:cNvPr id="67587" name="Rectangle 3">
            <a:extLst>
              <a:ext uri="{FF2B5EF4-FFF2-40B4-BE49-F238E27FC236}">
                <a16:creationId xmlns:a16="http://schemas.microsoft.com/office/drawing/2014/main" id="{461CE2D4-7614-B2B8-EAAB-49605D6BCB6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sz="2000" b="1" u="sng"/>
              <a:t>The Classes </a:t>
            </a:r>
          </a:p>
          <a:p>
            <a:pPr eaLnBrk="1" hangingPunct="1">
              <a:lnSpc>
                <a:spcPct val="80000"/>
              </a:lnSpc>
            </a:pPr>
            <a:endParaRPr lang="en-US" altLang="en-US" sz="2000" b="1" u="sng"/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n-US" altLang="en-US" sz="1800" b="1">
                <a:latin typeface="Courier New" panose="02070309020205020404" pitchFamily="49" charset="0"/>
              </a:rPr>
              <a:t>class</a:t>
            </a:r>
            <a:r>
              <a:rPr lang="en-US" altLang="en-US" sz="1800">
                <a:latin typeface="Courier New" panose="02070309020205020404" pitchFamily="49" charset="0"/>
              </a:rPr>
              <a:t> Person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{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String name;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String address;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…………..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……….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}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endParaRPr lang="en-US" altLang="en-US" sz="1800">
              <a:latin typeface="Courier New" panose="02070309020205020404" pitchFamily="49" charset="0"/>
            </a:endParaRP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n-US" altLang="en-US" sz="1800" b="1">
                <a:latin typeface="Courier New" panose="02070309020205020404" pitchFamily="49" charset="0"/>
              </a:rPr>
              <a:t>class</a:t>
            </a:r>
            <a:r>
              <a:rPr lang="en-US" altLang="en-US" sz="1800">
                <a:latin typeface="Courier New" panose="02070309020205020404" pitchFamily="49" charset="0"/>
              </a:rPr>
              <a:t> Employee </a:t>
            </a:r>
            <a:r>
              <a:rPr lang="en-US" altLang="en-US" sz="1800" b="1">
                <a:latin typeface="Courier New" panose="02070309020205020404" pitchFamily="49" charset="0"/>
              </a:rPr>
              <a:t>extends</a:t>
            </a:r>
            <a:r>
              <a:rPr lang="en-US" altLang="en-US" sz="1800">
                <a:latin typeface="Courier New" panose="02070309020205020404" pitchFamily="49" charset="0"/>
              </a:rPr>
              <a:t> Person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{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endParaRPr lang="en-US" altLang="en-US" sz="1800">
              <a:latin typeface="Courier New" panose="02070309020205020404" pitchFamily="49" charset="0"/>
            </a:endParaRP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n-US" altLang="en-US" sz="1800" b="1">
                <a:latin typeface="Courier New" panose="02070309020205020404" pitchFamily="49" charset="0"/>
              </a:rPr>
              <a:t>private</a:t>
            </a:r>
            <a:r>
              <a:rPr lang="en-US" altLang="en-US" sz="1800">
                <a:latin typeface="Courier New" panose="02070309020205020404" pitchFamily="49" charset="0"/>
              </a:rPr>
              <a:t> </a:t>
            </a:r>
            <a:r>
              <a:rPr lang="en-US" altLang="en-US" sz="1800" b="1">
                <a:latin typeface="Courier New" panose="02070309020205020404" pitchFamily="49" charset="0"/>
              </a:rPr>
              <a:t>int</a:t>
            </a:r>
            <a:r>
              <a:rPr lang="en-US" altLang="en-US" sz="1800">
                <a:latin typeface="Courier New" panose="02070309020205020404" pitchFamily="49" charset="0"/>
              </a:rPr>
              <a:t> empid;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n-US" altLang="en-US" sz="1800" b="1">
                <a:latin typeface="Courier New" panose="02070309020205020404" pitchFamily="49" charset="0"/>
              </a:rPr>
              <a:t>private</a:t>
            </a:r>
            <a:r>
              <a:rPr lang="en-US" altLang="en-US" sz="1800">
                <a:latin typeface="Courier New" panose="02070309020205020404" pitchFamily="49" charset="0"/>
              </a:rPr>
              <a:t> String desig;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…………..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…………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}</a:t>
            </a:r>
          </a:p>
        </p:txBody>
      </p:sp>
    </p:spTree>
  </p:cSld>
  <p:clrMapOvr>
    <a:masterClrMapping/>
  </p:clrMapOvr>
  <p:transition advClick="0"/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>
            <a:extLst>
              <a:ext uri="{FF2B5EF4-FFF2-40B4-BE49-F238E27FC236}">
                <a16:creationId xmlns:a16="http://schemas.microsoft.com/office/drawing/2014/main" id="{0E56226B-CF40-B504-E461-452461EF340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800"/>
              <a:t>The Method and Test Class</a:t>
            </a:r>
          </a:p>
        </p:txBody>
      </p:sp>
      <p:sp>
        <p:nvSpPr>
          <p:cNvPr id="68611" name="Rectangle 3">
            <a:extLst>
              <a:ext uri="{FF2B5EF4-FFF2-40B4-BE49-F238E27FC236}">
                <a16:creationId xmlns:a16="http://schemas.microsoft.com/office/drawing/2014/main" id="{BEB30494-5686-4DEE-2DA9-F44A2E388DC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lvl="1" eaLnBrk="1" hangingPunct="1">
              <a:buFontTx/>
              <a:buNone/>
            </a:pPr>
            <a:r>
              <a:rPr lang="en-US" altLang="en-US" b="1">
                <a:latin typeface="Courier New" panose="02070309020205020404" pitchFamily="49" charset="0"/>
              </a:rPr>
              <a:t>public  static void</a:t>
            </a:r>
            <a:r>
              <a:rPr lang="en-US" altLang="en-US">
                <a:latin typeface="Courier New" panose="02070309020205020404" pitchFamily="49" charset="0"/>
              </a:rPr>
              <a:t>  displayItems(</a:t>
            </a:r>
            <a:r>
              <a:rPr lang="en-US" altLang="en-US" b="1">
                <a:latin typeface="Courier New" panose="02070309020205020404" pitchFamily="49" charset="0"/>
              </a:rPr>
              <a:t>ArrayList&lt;? extends</a:t>
            </a:r>
            <a:r>
              <a:rPr lang="en-US" altLang="en-US">
                <a:latin typeface="Courier New" panose="02070309020205020404" pitchFamily="49" charset="0"/>
              </a:rPr>
              <a:t> Person&gt; list)</a:t>
            </a:r>
          </a:p>
          <a:p>
            <a:pPr lvl="1" eaLnBrk="1" hangingPunct="1">
              <a:buFontTx/>
              <a:buNone/>
            </a:pPr>
            <a:r>
              <a:rPr lang="en-US" altLang="en-US">
                <a:latin typeface="Courier New" panose="02070309020205020404" pitchFamily="49" charset="0"/>
              </a:rPr>
              <a:t>	{</a:t>
            </a:r>
          </a:p>
          <a:p>
            <a:pPr lvl="1" eaLnBrk="1" hangingPunct="1">
              <a:buFontTx/>
              <a:buNone/>
            </a:pPr>
            <a:r>
              <a:rPr lang="en-US" altLang="en-US" b="1">
                <a:latin typeface="Courier New" panose="02070309020205020404" pitchFamily="49" charset="0"/>
              </a:rPr>
              <a:t>		 list.add(new Person("ramesh","chennai"));</a:t>
            </a:r>
          </a:p>
          <a:p>
            <a:pPr lvl="1" eaLnBrk="1" hangingPunct="1">
              <a:buFontTx/>
              <a:buNone/>
            </a:pPr>
            <a:r>
              <a:rPr lang="en-US" altLang="en-US">
                <a:latin typeface="Courier New" panose="02070309020205020404" pitchFamily="49" charset="0"/>
              </a:rPr>
              <a:t>		</a:t>
            </a:r>
            <a:r>
              <a:rPr lang="en-US" altLang="en-US" b="1">
                <a:latin typeface="Courier New" panose="02070309020205020404" pitchFamily="49" charset="0"/>
              </a:rPr>
              <a:t>System.out.println</a:t>
            </a:r>
            <a:r>
              <a:rPr lang="en-US" altLang="en-US">
                <a:latin typeface="Courier New" panose="02070309020205020404" pitchFamily="49" charset="0"/>
              </a:rPr>
              <a:t>("inside method");</a:t>
            </a:r>
          </a:p>
          <a:p>
            <a:pPr lvl="1" eaLnBrk="1" hangingPunct="1">
              <a:buFontTx/>
              <a:buNone/>
            </a:pPr>
            <a:r>
              <a:rPr lang="en-US" altLang="en-US">
                <a:latin typeface="Courier New" panose="02070309020205020404" pitchFamily="49" charset="0"/>
              </a:rPr>
              <a:t>		</a:t>
            </a:r>
            <a:r>
              <a:rPr lang="en-US" altLang="en-US" b="1">
                <a:latin typeface="Courier New" panose="02070309020205020404" pitchFamily="49" charset="0"/>
              </a:rPr>
              <a:t>for</a:t>
            </a:r>
            <a:r>
              <a:rPr lang="en-US" altLang="en-US">
                <a:latin typeface="Courier New" panose="02070309020205020404" pitchFamily="49" charset="0"/>
              </a:rPr>
              <a:t>(Person mylist:list)</a:t>
            </a:r>
          </a:p>
          <a:p>
            <a:pPr lvl="1" eaLnBrk="1" hangingPunct="1">
              <a:buFontTx/>
              <a:buNone/>
            </a:pPr>
            <a:r>
              <a:rPr lang="en-US" altLang="en-US">
                <a:latin typeface="Courier New" panose="02070309020205020404" pitchFamily="49" charset="0"/>
              </a:rPr>
              <a:t>		</a:t>
            </a:r>
            <a:r>
              <a:rPr lang="en-US" altLang="en-US" b="1">
                <a:latin typeface="Courier New" panose="02070309020205020404" pitchFamily="49" charset="0"/>
              </a:rPr>
              <a:t>System.out.println</a:t>
            </a:r>
            <a:r>
              <a:rPr lang="en-US" altLang="en-US">
                <a:latin typeface="Courier New" panose="02070309020205020404" pitchFamily="49" charset="0"/>
              </a:rPr>
              <a:t>(mylist);</a:t>
            </a:r>
          </a:p>
          <a:p>
            <a:pPr lvl="1" eaLnBrk="1" hangingPunct="1">
              <a:buFontTx/>
              <a:buNone/>
            </a:pPr>
            <a:r>
              <a:rPr lang="en-US" altLang="en-US">
                <a:latin typeface="Courier New" panose="02070309020205020404" pitchFamily="49" charset="0"/>
              </a:rPr>
              <a:t>	}</a:t>
            </a:r>
          </a:p>
          <a:p>
            <a:pPr lvl="1" eaLnBrk="1" hangingPunct="1">
              <a:buFontTx/>
              <a:buNone/>
            </a:pPr>
            <a:endParaRPr lang="en-US" altLang="en-US">
              <a:latin typeface="Courier New" panose="02070309020205020404" pitchFamily="49" charset="0"/>
            </a:endParaRPr>
          </a:p>
          <a:p>
            <a:pPr lvl="1" eaLnBrk="1" hangingPunct="1">
              <a:buFontTx/>
              <a:buNone/>
            </a:pPr>
            <a:r>
              <a:rPr lang="en-US" altLang="en-US" sz="1800" b="1">
                <a:latin typeface="Courier New" panose="02070309020205020404" pitchFamily="49" charset="0"/>
              </a:rPr>
              <a:t>public static void main(String[]</a:t>
            </a:r>
            <a:r>
              <a:rPr lang="en-US" altLang="en-US" sz="1800">
                <a:latin typeface="Courier New" panose="02070309020205020404" pitchFamily="49" charset="0"/>
              </a:rPr>
              <a:t> args) {</a:t>
            </a:r>
          </a:p>
          <a:p>
            <a:pPr lvl="1" eaLnBrk="1" hangingPunct="1">
              <a:buFontTx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	</a:t>
            </a:r>
          </a:p>
          <a:p>
            <a:pPr lvl="1" eaLnBrk="1" hangingPunct="1">
              <a:buFontTx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		</a:t>
            </a:r>
            <a:r>
              <a:rPr lang="en-US" altLang="en-US" sz="1800" b="1">
                <a:latin typeface="Courier New" panose="02070309020205020404" pitchFamily="49" charset="0"/>
              </a:rPr>
              <a:t>ArrayList</a:t>
            </a:r>
            <a:r>
              <a:rPr lang="en-US" altLang="en-US" sz="1800">
                <a:latin typeface="Courier New" panose="02070309020205020404" pitchFamily="49" charset="0"/>
              </a:rPr>
              <a:t>&lt; Person&gt; alis = </a:t>
            </a:r>
            <a:r>
              <a:rPr lang="en-US" altLang="en-US" sz="1800" b="1">
                <a:latin typeface="Courier New" panose="02070309020205020404" pitchFamily="49" charset="0"/>
              </a:rPr>
              <a:t>new ArrayList</a:t>
            </a:r>
            <a:r>
              <a:rPr lang="en-US" altLang="en-US" sz="1800">
                <a:latin typeface="Courier New" panose="02070309020205020404" pitchFamily="49" charset="0"/>
              </a:rPr>
              <a:t>&lt;Person&gt;();</a:t>
            </a:r>
          </a:p>
          <a:p>
            <a:pPr lvl="1" eaLnBrk="1" hangingPunct="1">
              <a:buFontTx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		alis.</a:t>
            </a:r>
            <a:r>
              <a:rPr lang="en-US" altLang="en-US" sz="1800" b="1">
                <a:latin typeface="Courier New" panose="02070309020205020404" pitchFamily="49" charset="0"/>
              </a:rPr>
              <a:t>add</a:t>
            </a:r>
            <a:r>
              <a:rPr lang="en-US" altLang="en-US" sz="1800">
                <a:latin typeface="Courier New" panose="02070309020205020404" pitchFamily="49" charset="0"/>
              </a:rPr>
              <a:t>(ge1);</a:t>
            </a:r>
          </a:p>
          <a:p>
            <a:pPr lvl="1" eaLnBrk="1" hangingPunct="1">
              <a:buFontTx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		alis.</a:t>
            </a:r>
            <a:r>
              <a:rPr lang="en-US" altLang="en-US" sz="1800" b="1">
                <a:latin typeface="Courier New" panose="02070309020205020404" pitchFamily="49" charset="0"/>
              </a:rPr>
              <a:t>add</a:t>
            </a:r>
            <a:r>
              <a:rPr lang="en-US" altLang="en-US" sz="1800">
                <a:latin typeface="Courier New" panose="02070309020205020404" pitchFamily="49" charset="0"/>
              </a:rPr>
              <a:t>(ge2);</a:t>
            </a:r>
          </a:p>
          <a:p>
            <a:pPr lvl="1" eaLnBrk="1" hangingPunct="1">
              <a:buFontTx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		displayItems(alis);</a:t>
            </a:r>
          </a:p>
          <a:p>
            <a:pPr lvl="1" eaLnBrk="1" hangingPunct="1">
              <a:buFontTx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	}</a:t>
            </a:r>
          </a:p>
          <a:p>
            <a:pPr lvl="1" eaLnBrk="1" hangingPunct="1">
              <a:buFontTx/>
              <a:buNone/>
            </a:pPr>
            <a:endParaRPr lang="en-US" altLang="en-US" sz="1800">
              <a:latin typeface="Courier New" panose="02070309020205020404" pitchFamily="49" charset="0"/>
            </a:endParaRPr>
          </a:p>
          <a:p>
            <a:pPr eaLnBrk="1" hangingPunct="1"/>
            <a:endParaRPr lang="en-US" altLang="en-US" sz="1800">
              <a:latin typeface="Courier New" panose="02070309020205020404" pitchFamily="49" charset="0"/>
            </a:endParaRPr>
          </a:p>
        </p:txBody>
      </p:sp>
      <p:sp>
        <p:nvSpPr>
          <p:cNvPr id="68612" name="AutoShape 4">
            <a:extLst>
              <a:ext uri="{FF2B5EF4-FFF2-40B4-BE49-F238E27FC236}">
                <a16:creationId xmlns:a16="http://schemas.microsoft.com/office/drawing/2014/main" id="{3FE39248-7A00-8EC1-C876-0BA4BF80BA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86600" y="1524000"/>
            <a:ext cx="1600200" cy="914400"/>
          </a:xfrm>
          <a:prstGeom prst="wedgeRectCallout">
            <a:avLst>
              <a:gd name="adj1" fmla="val -85815"/>
              <a:gd name="adj2" fmla="val -18574"/>
            </a:avLst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/>
              <a:t>Not Allowed ,compile time Exception</a:t>
            </a:r>
          </a:p>
        </p:txBody>
      </p:sp>
    </p:spTree>
  </p:cSld>
  <p:clrMapOvr>
    <a:masterClrMapping/>
  </p:clrMapOvr>
  <p:transition advClick="0"/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>
            <a:extLst>
              <a:ext uri="{FF2B5EF4-FFF2-40B4-BE49-F238E27FC236}">
                <a16:creationId xmlns:a16="http://schemas.microsoft.com/office/drawing/2014/main" id="{327C8817-100E-3E6F-DECB-5DD0866EC3D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800"/>
              <a:t>Bounded Wild Card</a:t>
            </a:r>
          </a:p>
        </p:txBody>
      </p:sp>
      <p:sp>
        <p:nvSpPr>
          <p:cNvPr id="69635" name="Rectangle 3">
            <a:extLst>
              <a:ext uri="{FF2B5EF4-FFF2-40B4-BE49-F238E27FC236}">
                <a16:creationId xmlns:a16="http://schemas.microsoft.com/office/drawing/2014/main" id="{C8116AA3-B1A0-6E0B-CE98-E9E216F96B7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1800" b="1"/>
              <a:t>Upper Bound</a:t>
            </a:r>
          </a:p>
          <a:p>
            <a:pPr lvl="1" eaLnBrk="1" hangingPunct="1"/>
            <a:endParaRPr lang="en-US" altLang="en-US"/>
          </a:p>
          <a:p>
            <a:pPr lvl="1" eaLnBrk="1" hangingPunct="1"/>
            <a:r>
              <a:rPr lang="en-US" altLang="en-US"/>
              <a:t>looks like </a:t>
            </a:r>
            <a:r>
              <a:rPr lang="en-US" altLang="en-US" b="1"/>
              <a:t>" ? extends Type " </a:t>
            </a:r>
          </a:p>
          <a:p>
            <a:pPr lvl="1" eaLnBrk="1" hangingPunct="1"/>
            <a:r>
              <a:rPr lang="en-US" altLang="en-US"/>
              <a:t>stands for the family of all types that are subtypes of Type </a:t>
            </a:r>
          </a:p>
          <a:p>
            <a:pPr eaLnBrk="1" hangingPunct="1"/>
            <a:endParaRPr lang="en-US" altLang="en-US" sz="1800"/>
          </a:p>
          <a:p>
            <a:pPr eaLnBrk="1" hangingPunct="1"/>
            <a:r>
              <a:rPr lang="en-US" altLang="en-US" sz="1800" b="1"/>
              <a:t>Lower Bound</a:t>
            </a:r>
          </a:p>
          <a:p>
            <a:pPr eaLnBrk="1" hangingPunct="1"/>
            <a:endParaRPr lang="en-US" altLang="en-US" sz="1800" b="1"/>
          </a:p>
          <a:p>
            <a:pPr lvl="1" eaLnBrk="1" hangingPunct="1"/>
            <a:r>
              <a:rPr lang="en-US" altLang="en-US"/>
              <a:t>looks like </a:t>
            </a:r>
            <a:r>
              <a:rPr lang="en-US" altLang="en-US" b="1"/>
              <a:t>" ? super Type " </a:t>
            </a:r>
          </a:p>
          <a:p>
            <a:pPr lvl="1" eaLnBrk="1" hangingPunct="1"/>
            <a:r>
              <a:rPr lang="en-US" altLang="en-US"/>
              <a:t>stands for the family of all types that are super types of Type.</a:t>
            </a:r>
          </a:p>
          <a:p>
            <a:pPr eaLnBrk="1" hangingPunct="1"/>
            <a:endParaRPr lang="en-US" altLang="en-US" sz="1800"/>
          </a:p>
          <a:p>
            <a:pPr eaLnBrk="1" hangingPunct="1"/>
            <a:r>
              <a:rPr lang="en-US" altLang="en-US" sz="1800"/>
              <a:t>Bounded wildcards are used as arguments for instantiation of generic types.  </a:t>
            </a:r>
          </a:p>
          <a:p>
            <a:pPr eaLnBrk="1" hangingPunct="1"/>
            <a:endParaRPr lang="en-US" altLang="en-US" sz="1800"/>
          </a:p>
          <a:p>
            <a:pPr eaLnBrk="1" hangingPunct="1"/>
            <a:r>
              <a:rPr lang="en-US" altLang="en-US" sz="1800"/>
              <a:t>Bounded wildcards are useful in situations where only partial knowledge about the type argument of a parameterized type is needed, </a:t>
            </a:r>
          </a:p>
          <a:p>
            <a:pPr eaLnBrk="1" hangingPunct="1"/>
            <a:endParaRPr lang="en-US" altLang="en-US" sz="1800"/>
          </a:p>
        </p:txBody>
      </p:sp>
    </p:spTree>
  </p:cSld>
  <p:clrMapOvr>
    <a:masterClrMapping/>
  </p:clrMapOvr>
  <p:transition advClick="0"/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>
            <a:extLst>
              <a:ext uri="{FF2B5EF4-FFF2-40B4-BE49-F238E27FC236}">
                <a16:creationId xmlns:a16="http://schemas.microsoft.com/office/drawing/2014/main" id="{849FDC96-3BDC-87AA-EDC9-28FBC2A6520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800"/>
              <a:t>Bounded</a:t>
            </a:r>
          </a:p>
        </p:txBody>
      </p:sp>
      <p:sp>
        <p:nvSpPr>
          <p:cNvPr id="70659" name="Rectangle 3">
            <a:extLst>
              <a:ext uri="{FF2B5EF4-FFF2-40B4-BE49-F238E27FC236}">
                <a16:creationId xmlns:a16="http://schemas.microsoft.com/office/drawing/2014/main" id="{13B3C47E-AB76-98CB-F280-17706AF2B72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n-US" altLang="en-US" sz="1800" b="1">
                <a:latin typeface="Courier New" panose="02070309020205020404" pitchFamily="49" charset="0"/>
              </a:rPr>
              <a:t>public</a:t>
            </a:r>
            <a:r>
              <a:rPr lang="en-US" altLang="en-US" sz="1800">
                <a:latin typeface="Courier New" panose="02070309020205020404" pitchFamily="49" charset="0"/>
              </a:rPr>
              <a:t> </a:t>
            </a:r>
            <a:r>
              <a:rPr lang="en-US" altLang="en-US" sz="1800" b="1">
                <a:latin typeface="Courier New" panose="02070309020205020404" pitchFamily="49" charset="0"/>
              </a:rPr>
              <a:t>class</a:t>
            </a:r>
            <a:r>
              <a:rPr lang="en-US" altLang="en-US" sz="1800">
                <a:latin typeface="Courier New" panose="02070309020205020404" pitchFamily="49" charset="0"/>
              </a:rPr>
              <a:t> Example_Super {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endParaRPr lang="en-US" altLang="en-US" sz="1800">
              <a:latin typeface="Courier New" panose="02070309020205020404" pitchFamily="49" charset="0"/>
            </a:endParaRP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n-US" altLang="en-US" sz="1800" b="1">
                <a:latin typeface="Courier New" panose="02070309020205020404" pitchFamily="49" charset="0"/>
              </a:rPr>
              <a:t>public</a:t>
            </a:r>
            <a:r>
              <a:rPr lang="en-US" altLang="en-US" sz="1800">
                <a:latin typeface="Courier New" panose="02070309020205020404" pitchFamily="49" charset="0"/>
              </a:rPr>
              <a:t> </a:t>
            </a:r>
            <a:r>
              <a:rPr lang="en-US" altLang="en-US" sz="1800" b="1">
                <a:latin typeface="Courier New" panose="02070309020205020404" pitchFamily="49" charset="0"/>
              </a:rPr>
              <a:t>static</a:t>
            </a:r>
            <a:r>
              <a:rPr lang="en-US" altLang="en-US" sz="1800">
                <a:latin typeface="Courier New" panose="02070309020205020404" pitchFamily="49" charset="0"/>
              </a:rPr>
              <a:t> </a:t>
            </a:r>
            <a:r>
              <a:rPr lang="en-US" altLang="en-US" sz="1800" b="1">
                <a:latin typeface="Courier New" panose="02070309020205020404" pitchFamily="49" charset="0"/>
              </a:rPr>
              <a:t>void</a:t>
            </a:r>
            <a:r>
              <a:rPr lang="en-US" altLang="en-US" sz="1800">
                <a:latin typeface="Courier New" panose="02070309020205020404" pitchFamily="49" charset="0"/>
              </a:rPr>
              <a:t> display(List&lt;? </a:t>
            </a:r>
            <a:r>
              <a:rPr lang="en-US" altLang="en-US" sz="1800" b="1">
                <a:latin typeface="Courier New" panose="02070309020205020404" pitchFamily="49" charset="0"/>
              </a:rPr>
              <a:t>super</a:t>
            </a:r>
            <a:r>
              <a:rPr lang="en-US" altLang="en-US" sz="1800">
                <a:latin typeface="Courier New" panose="02070309020205020404" pitchFamily="49" charset="0"/>
              </a:rPr>
              <a:t> Sub2&gt; obj)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{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obj.</a:t>
            </a:r>
            <a:r>
              <a:rPr lang="en-US" altLang="en-US" sz="1800" b="1">
                <a:latin typeface="Courier New" panose="02070309020205020404" pitchFamily="49" charset="0"/>
              </a:rPr>
              <a:t>add</a:t>
            </a:r>
            <a:r>
              <a:rPr lang="en-US" altLang="en-US" sz="1800">
                <a:latin typeface="Courier New" panose="02070309020205020404" pitchFamily="49" charset="0"/>
              </a:rPr>
              <a:t>(</a:t>
            </a:r>
            <a:r>
              <a:rPr lang="en-US" altLang="en-US" sz="1800" b="1">
                <a:latin typeface="Courier New" panose="02070309020205020404" pitchFamily="49" charset="0"/>
              </a:rPr>
              <a:t>new</a:t>
            </a:r>
            <a:r>
              <a:rPr lang="en-US" altLang="en-US" sz="1800">
                <a:latin typeface="Courier New" panose="02070309020205020404" pitchFamily="49" charset="0"/>
              </a:rPr>
              <a:t> Sub2());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obj.</a:t>
            </a:r>
            <a:r>
              <a:rPr lang="en-US" altLang="en-US" sz="1800" b="1">
                <a:latin typeface="Courier New" panose="02070309020205020404" pitchFamily="49" charset="0"/>
              </a:rPr>
              <a:t>get</a:t>
            </a:r>
            <a:r>
              <a:rPr lang="en-US" altLang="en-US" sz="1800">
                <a:latin typeface="Courier New" panose="02070309020205020404" pitchFamily="49" charset="0"/>
              </a:rPr>
              <a:t>(0);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//obj.</a:t>
            </a:r>
            <a:r>
              <a:rPr lang="en-US" altLang="en-US" sz="1800" b="1">
                <a:latin typeface="Courier New" panose="02070309020205020404" pitchFamily="49" charset="0"/>
              </a:rPr>
              <a:t>set</a:t>
            </a:r>
            <a:r>
              <a:rPr lang="en-US" altLang="en-US" sz="1800">
                <a:latin typeface="Courier New" panose="02070309020205020404" pitchFamily="49" charset="0"/>
              </a:rPr>
              <a:t>(0, obj);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}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endParaRPr lang="en-US" altLang="en-US" sz="1800">
              <a:latin typeface="Courier New" panose="02070309020205020404" pitchFamily="49" charset="0"/>
            </a:endParaRP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n-US" altLang="en-US" sz="1800" b="1">
                <a:latin typeface="Courier New" panose="02070309020205020404" pitchFamily="49" charset="0"/>
              </a:rPr>
              <a:t>public</a:t>
            </a:r>
            <a:r>
              <a:rPr lang="en-US" altLang="en-US" sz="1800">
                <a:latin typeface="Courier New" panose="02070309020205020404" pitchFamily="49" charset="0"/>
              </a:rPr>
              <a:t> </a:t>
            </a:r>
            <a:r>
              <a:rPr lang="en-US" altLang="en-US" sz="1800" b="1">
                <a:latin typeface="Courier New" panose="02070309020205020404" pitchFamily="49" charset="0"/>
              </a:rPr>
              <a:t>static</a:t>
            </a:r>
            <a:r>
              <a:rPr lang="en-US" altLang="en-US" sz="1800">
                <a:latin typeface="Courier New" panose="02070309020205020404" pitchFamily="49" charset="0"/>
              </a:rPr>
              <a:t> </a:t>
            </a:r>
            <a:r>
              <a:rPr lang="en-US" altLang="en-US" sz="1800" b="1">
                <a:latin typeface="Courier New" panose="02070309020205020404" pitchFamily="49" charset="0"/>
              </a:rPr>
              <a:t>void</a:t>
            </a:r>
            <a:r>
              <a:rPr lang="en-US" altLang="en-US" sz="1800">
                <a:latin typeface="Courier New" panose="02070309020205020404" pitchFamily="49" charset="0"/>
              </a:rPr>
              <a:t> show(List&lt;? </a:t>
            </a:r>
            <a:r>
              <a:rPr lang="en-US" altLang="en-US" sz="1800" b="1">
                <a:latin typeface="Courier New" panose="02070309020205020404" pitchFamily="49" charset="0"/>
              </a:rPr>
              <a:t>extends</a:t>
            </a:r>
            <a:r>
              <a:rPr lang="en-US" altLang="en-US" sz="1800">
                <a:latin typeface="Courier New" panose="02070309020205020404" pitchFamily="49" charset="0"/>
              </a:rPr>
              <a:t> Parent &gt; obj)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{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//obj.</a:t>
            </a:r>
            <a:r>
              <a:rPr lang="en-US" altLang="en-US" sz="1800" b="1">
                <a:latin typeface="Courier New" panose="02070309020205020404" pitchFamily="49" charset="0"/>
              </a:rPr>
              <a:t>add</a:t>
            </a:r>
            <a:r>
              <a:rPr lang="en-US" altLang="en-US" sz="1800">
                <a:latin typeface="Courier New" panose="02070309020205020404" pitchFamily="49" charset="0"/>
              </a:rPr>
              <a:t>(new Sub2());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//obj.</a:t>
            </a:r>
            <a:r>
              <a:rPr lang="en-US" altLang="en-US" sz="1800" b="1">
                <a:latin typeface="Courier New" panose="02070309020205020404" pitchFamily="49" charset="0"/>
              </a:rPr>
              <a:t>set</a:t>
            </a:r>
            <a:r>
              <a:rPr lang="en-US" altLang="en-US" sz="1800">
                <a:latin typeface="Courier New" panose="02070309020205020404" pitchFamily="49" charset="0"/>
              </a:rPr>
              <a:t>(0,new Sub2());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obj.</a:t>
            </a:r>
            <a:r>
              <a:rPr lang="en-US" altLang="en-US" sz="1800" b="1">
                <a:latin typeface="Courier New" panose="02070309020205020404" pitchFamily="49" charset="0"/>
              </a:rPr>
              <a:t>get</a:t>
            </a:r>
            <a:r>
              <a:rPr lang="en-US" altLang="en-US" sz="1800">
                <a:latin typeface="Courier New" panose="02070309020205020404" pitchFamily="49" charset="0"/>
              </a:rPr>
              <a:t>(0);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endParaRPr lang="en-US" altLang="en-US" sz="1800">
              <a:latin typeface="Courier New" panose="02070309020205020404" pitchFamily="49" charset="0"/>
            </a:endParaRP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}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endParaRPr lang="en-US" altLang="en-US" sz="1800">
              <a:latin typeface="Courier New" panose="02070309020205020404" pitchFamily="49" charset="0"/>
            </a:endParaRPr>
          </a:p>
        </p:txBody>
      </p:sp>
    </p:spTree>
  </p:cSld>
  <p:clrMapOvr>
    <a:masterClrMapping/>
  </p:clrMapOvr>
  <p:transition advClick="0"/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>
            <a:extLst>
              <a:ext uri="{FF2B5EF4-FFF2-40B4-BE49-F238E27FC236}">
                <a16:creationId xmlns:a16="http://schemas.microsoft.com/office/drawing/2014/main" id="{0C416889-E4DA-748D-53A3-4A5C403286E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800"/>
              <a:t>Bounded-Test Class</a:t>
            </a:r>
          </a:p>
        </p:txBody>
      </p:sp>
      <p:sp>
        <p:nvSpPr>
          <p:cNvPr id="71683" name="Rectangle 3">
            <a:extLst>
              <a:ext uri="{FF2B5EF4-FFF2-40B4-BE49-F238E27FC236}">
                <a16:creationId xmlns:a16="http://schemas.microsoft.com/office/drawing/2014/main" id="{5D6ACE26-0F93-21F0-5BC0-B71965474C5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lvl="1" eaLnBrk="1" hangingPunct="1">
              <a:buFontTx/>
              <a:buNone/>
            </a:pPr>
            <a:r>
              <a:rPr lang="en-US" altLang="en-US" sz="2000" b="1">
                <a:latin typeface="Courier New" panose="02070309020205020404" pitchFamily="49" charset="0"/>
              </a:rPr>
              <a:t>public</a:t>
            </a:r>
            <a:r>
              <a:rPr lang="en-US" altLang="en-US" sz="2000">
                <a:latin typeface="Courier New" panose="02070309020205020404" pitchFamily="49" charset="0"/>
              </a:rPr>
              <a:t> </a:t>
            </a:r>
            <a:r>
              <a:rPr lang="en-US" altLang="en-US" sz="2000" b="1">
                <a:latin typeface="Courier New" panose="02070309020205020404" pitchFamily="49" charset="0"/>
              </a:rPr>
              <a:t>static</a:t>
            </a:r>
            <a:r>
              <a:rPr lang="en-US" altLang="en-US" sz="2000">
                <a:latin typeface="Courier New" panose="02070309020205020404" pitchFamily="49" charset="0"/>
              </a:rPr>
              <a:t> </a:t>
            </a:r>
            <a:r>
              <a:rPr lang="en-US" altLang="en-US" sz="2000" b="1">
                <a:latin typeface="Courier New" panose="02070309020205020404" pitchFamily="49" charset="0"/>
              </a:rPr>
              <a:t>void</a:t>
            </a:r>
            <a:r>
              <a:rPr lang="en-US" altLang="en-US" sz="2000">
                <a:latin typeface="Courier New" panose="02070309020205020404" pitchFamily="49" charset="0"/>
              </a:rPr>
              <a:t> main(String[] args) {</a:t>
            </a:r>
          </a:p>
          <a:p>
            <a:pPr lvl="1" eaLnBrk="1" hangingPunct="1">
              <a:buFontTx/>
              <a:buNone/>
            </a:pPr>
            <a:endParaRPr lang="en-US" altLang="en-US" sz="2000">
              <a:latin typeface="Courier New" panose="02070309020205020404" pitchFamily="49" charset="0"/>
            </a:endParaRPr>
          </a:p>
          <a:p>
            <a:pPr lvl="1" eaLnBrk="1" hangingPunct="1">
              <a:buFontTx/>
              <a:buNone/>
            </a:pPr>
            <a:r>
              <a:rPr lang="en-US" altLang="en-US" sz="2000">
                <a:latin typeface="Courier New" panose="02070309020205020404" pitchFamily="49" charset="0"/>
              </a:rPr>
              <a:t>ArrayList&lt;Parent&gt; p1 = </a:t>
            </a:r>
            <a:r>
              <a:rPr lang="en-US" altLang="en-US" sz="2000" b="1">
                <a:latin typeface="Courier New" panose="02070309020205020404" pitchFamily="49" charset="0"/>
              </a:rPr>
              <a:t>new</a:t>
            </a:r>
            <a:r>
              <a:rPr lang="en-US" altLang="en-US" sz="2000">
                <a:latin typeface="Courier New" panose="02070309020205020404" pitchFamily="49" charset="0"/>
              </a:rPr>
              <a:t> ArrayList&lt;Parent&gt;();</a:t>
            </a:r>
          </a:p>
          <a:p>
            <a:pPr lvl="1" eaLnBrk="1" hangingPunct="1">
              <a:buFontTx/>
              <a:buNone/>
            </a:pPr>
            <a:endParaRPr lang="en-US" altLang="en-US" sz="2000">
              <a:latin typeface="Courier New" panose="02070309020205020404" pitchFamily="49" charset="0"/>
            </a:endParaRPr>
          </a:p>
          <a:p>
            <a:pPr lvl="1" eaLnBrk="1" hangingPunct="1">
              <a:buFontTx/>
              <a:buNone/>
            </a:pPr>
            <a:r>
              <a:rPr lang="en-US" altLang="en-US" sz="2000" i="1">
                <a:latin typeface="Courier New" panose="02070309020205020404" pitchFamily="49" charset="0"/>
              </a:rPr>
              <a:t>display</a:t>
            </a:r>
            <a:r>
              <a:rPr lang="en-US" altLang="en-US" sz="2000">
                <a:latin typeface="Courier New" panose="02070309020205020404" pitchFamily="49" charset="0"/>
              </a:rPr>
              <a:t>(p1);</a:t>
            </a:r>
          </a:p>
          <a:p>
            <a:pPr lvl="1" eaLnBrk="1" hangingPunct="1">
              <a:buFontTx/>
              <a:buNone/>
            </a:pPr>
            <a:r>
              <a:rPr lang="en-US" altLang="en-US" sz="2000">
                <a:latin typeface="Courier New" panose="02070309020205020404" pitchFamily="49" charset="0"/>
              </a:rPr>
              <a:t>ArrayList&lt;Sub1&gt; p2 = </a:t>
            </a:r>
            <a:r>
              <a:rPr lang="en-US" altLang="en-US" sz="2000" b="1">
                <a:latin typeface="Courier New" panose="02070309020205020404" pitchFamily="49" charset="0"/>
              </a:rPr>
              <a:t>new</a:t>
            </a:r>
            <a:r>
              <a:rPr lang="en-US" altLang="en-US" sz="2000">
                <a:latin typeface="Courier New" panose="02070309020205020404" pitchFamily="49" charset="0"/>
              </a:rPr>
              <a:t> ArrayList&lt;Sub1&gt;();</a:t>
            </a:r>
          </a:p>
          <a:p>
            <a:pPr lvl="1" eaLnBrk="1" hangingPunct="1">
              <a:buFontTx/>
              <a:buNone/>
            </a:pPr>
            <a:r>
              <a:rPr lang="en-US" altLang="en-US" sz="2000" i="1">
                <a:latin typeface="Courier New" panose="02070309020205020404" pitchFamily="49" charset="0"/>
              </a:rPr>
              <a:t>display</a:t>
            </a:r>
            <a:r>
              <a:rPr lang="en-US" altLang="en-US" sz="2000">
                <a:latin typeface="Courier New" panose="02070309020205020404" pitchFamily="49" charset="0"/>
              </a:rPr>
              <a:t>(p2);</a:t>
            </a:r>
          </a:p>
          <a:p>
            <a:pPr lvl="1" eaLnBrk="1" hangingPunct="1">
              <a:buFontTx/>
              <a:buNone/>
            </a:pPr>
            <a:endParaRPr lang="en-US" altLang="en-US" sz="2000">
              <a:latin typeface="Courier New" panose="02070309020205020404" pitchFamily="49" charset="0"/>
            </a:endParaRPr>
          </a:p>
          <a:p>
            <a:pPr lvl="1" eaLnBrk="1" hangingPunct="1">
              <a:buFontTx/>
              <a:buNone/>
            </a:pPr>
            <a:r>
              <a:rPr lang="en-US" altLang="en-US" sz="2000">
                <a:latin typeface="Courier New" panose="02070309020205020404" pitchFamily="49" charset="0"/>
              </a:rPr>
              <a:t>ArrayList&lt;Sub2&gt; p3 = </a:t>
            </a:r>
            <a:r>
              <a:rPr lang="en-US" altLang="en-US" sz="2000" b="1">
                <a:latin typeface="Courier New" panose="02070309020205020404" pitchFamily="49" charset="0"/>
              </a:rPr>
              <a:t>new</a:t>
            </a:r>
            <a:r>
              <a:rPr lang="en-US" altLang="en-US" sz="2000">
                <a:latin typeface="Courier New" panose="02070309020205020404" pitchFamily="49" charset="0"/>
              </a:rPr>
              <a:t> ArrayList&lt;Sub2&gt;();</a:t>
            </a:r>
          </a:p>
          <a:p>
            <a:pPr lvl="1" eaLnBrk="1" hangingPunct="1">
              <a:buFontTx/>
              <a:buNone/>
            </a:pPr>
            <a:r>
              <a:rPr lang="en-US" altLang="en-US" sz="2000" i="1">
                <a:latin typeface="Courier New" panose="02070309020205020404" pitchFamily="49" charset="0"/>
              </a:rPr>
              <a:t>display</a:t>
            </a:r>
            <a:r>
              <a:rPr lang="en-US" altLang="en-US" sz="2000">
                <a:latin typeface="Courier New" panose="02070309020205020404" pitchFamily="49" charset="0"/>
              </a:rPr>
              <a:t>(p3);</a:t>
            </a:r>
          </a:p>
          <a:p>
            <a:pPr lvl="1" eaLnBrk="1" hangingPunct="1">
              <a:buFontTx/>
              <a:buNone/>
            </a:pPr>
            <a:endParaRPr lang="en-US" altLang="en-US" sz="2000">
              <a:latin typeface="Courier New" panose="02070309020205020404" pitchFamily="49" charset="0"/>
            </a:endParaRPr>
          </a:p>
          <a:p>
            <a:pPr lvl="1" eaLnBrk="1" hangingPunct="1">
              <a:buFontTx/>
              <a:buNone/>
            </a:pPr>
            <a:r>
              <a:rPr lang="en-US" altLang="en-US" sz="2000" i="1">
                <a:latin typeface="Courier New" panose="02070309020205020404" pitchFamily="49" charset="0"/>
              </a:rPr>
              <a:t>show</a:t>
            </a:r>
            <a:r>
              <a:rPr lang="en-US" altLang="en-US" sz="2000">
                <a:latin typeface="Courier New" panose="02070309020205020404" pitchFamily="49" charset="0"/>
              </a:rPr>
              <a:t>(p3);</a:t>
            </a:r>
          </a:p>
          <a:p>
            <a:pPr lvl="1" eaLnBrk="1" hangingPunct="1">
              <a:buFontTx/>
              <a:buNone/>
            </a:pPr>
            <a:r>
              <a:rPr lang="en-US" altLang="en-US" sz="2000">
                <a:latin typeface="Courier New" panose="02070309020205020404" pitchFamily="49" charset="0"/>
              </a:rPr>
              <a:t>}</a:t>
            </a:r>
          </a:p>
          <a:p>
            <a:pPr lvl="1" eaLnBrk="1" hangingPunct="1">
              <a:buFontTx/>
              <a:buNone/>
            </a:pPr>
            <a:endParaRPr lang="en-US" altLang="en-US" sz="2000">
              <a:latin typeface="Courier New" panose="02070309020205020404" pitchFamily="49" charset="0"/>
            </a:endParaRPr>
          </a:p>
          <a:p>
            <a:pPr eaLnBrk="1" hangingPunct="1"/>
            <a:endParaRPr lang="en-US" altLang="en-US" sz="1600"/>
          </a:p>
        </p:txBody>
      </p:sp>
    </p:spTree>
  </p:cSld>
  <p:clrMapOvr>
    <a:masterClrMapping/>
  </p:clrMapOvr>
  <p:transition advClick="0"/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Title 1">
            <a:extLst>
              <a:ext uri="{FF2B5EF4-FFF2-40B4-BE49-F238E27FC236}">
                <a16:creationId xmlns:a16="http://schemas.microsoft.com/office/drawing/2014/main" id="{B86AB9FF-59B4-AD80-49E4-9AEDC69366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Concurrent Collections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106B0-016A-C15A-95B8-F96C5150CF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sz="2000" i="1" dirty="0" err="1"/>
              <a:t>ConcurrentModificationException</a:t>
            </a:r>
            <a:r>
              <a:rPr lang="en-US" sz="2000" dirty="0"/>
              <a:t> </a:t>
            </a:r>
          </a:p>
          <a:p>
            <a:pPr lvl="1">
              <a:defRPr/>
            </a:pPr>
            <a:r>
              <a:rPr lang="en-US" sz="1800" dirty="0">
                <a:ea typeface="+mn-ea"/>
                <a:cs typeface="+mn-cs"/>
              </a:rPr>
              <a:t>Encountered when Collection is  modified  while using </a:t>
            </a:r>
            <a:r>
              <a:rPr lang="en-US" sz="1800" dirty="0" err="1">
                <a:ea typeface="+mn-ea"/>
                <a:cs typeface="+mn-cs"/>
              </a:rPr>
              <a:t>iterator</a:t>
            </a:r>
            <a:r>
              <a:rPr lang="en-US" sz="1800" dirty="0">
                <a:ea typeface="+mn-ea"/>
                <a:cs typeface="+mn-cs"/>
              </a:rPr>
              <a:t> </a:t>
            </a:r>
          </a:p>
          <a:p>
            <a:pPr>
              <a:defRPr/>
            </a:pPr>
            <a:endParaRPr lang="en-US" sz="2000" i="1" dirty="0"/>
          </a:p>
          <a:p>
            <a:pPr>
              <a:defRPr/>
            </a:pPr>
            <a:endParaRPr lang="en-US" sz="2000" i="1" dirty="0"/>
          </a:p>
          <a:p>
            <a:pPr>
              <a:defRPr/>
            </a:pPr>
            <a:r>
              <a:rPr lang="en-US" sz="2000" i="1" dirty="0" err="1"/>
              <a:t>java.util.concurrent</a:t>
            </a:r>
            <a:r>
              <a:rPr lang="en-US" sz="2000" dirty="0"/>
              <a:t>   package</a:t>
            </a:r>
          </a:p>
          <a:p>
            <a:pPr lvl="1">
              <a:defRPr/>
            </a:pPr>
            <a:r>
              <a:rPr lang="en-US" sz="1800" dirty="0">
                <a:ea typeface="+mn-ea"/>
                <a:cs typeface="+mn-cs"/>
              </a:rPr>
              <a:t>has  Collection classes implementations   to modify collection objects at runtime</a:t>
            </a:r>
            <a:r>
              <a:rPr lang="en-US" sz="2000" dirty="0">
                <a:ea typeface="+mn-ea"/>
                <a:cs typeface="+mn-cs"/>
              </a:rPr>
              <a:t>.</a:t>
            </a:r>
          </a:p>
          <a:p>
            <a:pPr>
              <a:defRPr/>
            </a:pPr>
            <a:endParaRPr lang="en-US" sz="2000" i="1" dirty="0"/>
          </a:p>
          <a:p>
            <a:pPr>
              <a:defRPr/>
            </a:pPr>
            <a:endParaRPr lang="en-US" sz="2000" i="1" dirty="0"/>
          </a:p>
          <a:p>
            <a:pPr>
              <a:defRPr/>
            </a:pPr>
            <a:r>
              <a:rPr lang="en-US" sz="2000" i="1" dirty="0" err="1"/>
              <a:t>ConcurrentHashMap</a:t>
            </a:r>
            <a:r>
              <a:rPr lang="en-US" sz="2000" dirty="0"/>
              <a:t> </a:t>
            </a:r>
          </a:p>
          <a:p>
            <a:pPr lvl="1">
              <a:defRPr/>
            </a:pPr>
            <a:r>
              <a:rPr lang="en-US" sz="1800" dirty="0">
                <a:ea typeface="+mn-ea"/>
                <a:cs typeface="+mn-cs"/>
              </a:rPr>
              <a:t>is the class that is similar to </a:t>
            </a:r>
            <a:r>
              <a:rPr lang="en-US" sz="1800" dirty="0" err="1">
                <a:ea typeface="+mn-ea"/>
                <a:cs typeface="+mn-cs"/>
              </a:rPr>
              <a:t>HashMap</a:t>
            </a:r>
            <a:r>
              <a:rPr lang="en-US" sz="1800" dirty="0">
                <a:ea typeface="+mn-ea"/>
                <a:cs typeface="+mn-cs"/>
              </a:rPr>
              <a:t> but works fine when modifying map at runtime.</a:t>
            </a:r>
          </a:p>
          <a:p>
            <a:pPr>
              <a:defRPr/>
            </a:pPr>
            <a:endParaRPr lang="en-US" sz="2000" dirty="0"/>
          </a:p>
          <a:p>
            <a:pPr>
              <a:defRPr/>
            </a:pPr>
            <a:endParaRPr lang="en-US" sz="2000" dirty="0"/>
          </a:p>
        </p:txBody>
      </p:sp>
    </p:spTree>
  </p:cSld>
  <p:clrMapOvr>
    <a:masterClrMapping/>
  </p:clrMapOvr>
  <p:transition advClick="0"/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0" name="Title 1">
            <a:extLst>
              <a:ext uri="{FF2B5EF4-FFF2-40B4-BE49-F238E27FC236}">
                <a16:creationId xmlns:a16="http://schemas.microsoft.com/office/drawing/2014/main" id="{38652B02-9C03-54AE-6755-89CFA8E22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Concurrent Collections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112754-B643-6F1C-2DCF-87BB599EB4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sz="2000" dirty="0" err="1"/>
              <a:t>Iterator</a:t>
            </a:r>
            <a:r>
              <a:rPr lang="en-US" sz="2000" dirty="0"/>
              <a:t> on Collection objects are </a:t>
            </a:r>
            <a:r>
              <a:rPr lang="en-US" sz="2000" b="1" dirty="0"/>
              <a:t>fail-fast</a:t>
            </a:r>
            <a:r>
              <a:rPr lang="en-US" sz="2000" dirty="0"/>
              <a:t> </a:t>
            </a:r>
          </a:p>
          <a:p>
            <a:pPr>
              <a:defRPr/>
            </a:pPr>
            <a:r>
              <a:rPr lang="en-US" sz="2000" dirty="0"/>
              <a:t>Fail-fast</a:t>
            </a:r>
          </a:p>
          <a:p>
            <a:pPr lvl="1">
              <a:defRPr/>
            </a:pPr>
            <a:r>
              <a:rPr lang="en-US" sz="1800" dirty="0">
                <a:ea typeface="+mn-ea"/>
                <a:cs typeface="+mn-cs"/>
              </a:rPr>
              <a:t>they stop the normal execution to report an error, rather that continuing in a non-deterministic way. </a:t>
            </a:r>
          </a:p>
          <a:p>
            <a:pPr lvl="1">
              <a:defRPr/>
            </a:pPr>
            <a:r>
              <a:rPr lang="en-US" sz="1800" dirty="0">
                <a:ea typeface="+mn-ea"/>
                <a:cs typeface="+mn-cs"/>
              </a:rPr>
              <a:t>The exception is thrown even one thread is violating an object’s Contract</a:t>
            </a:r>
            <a:endParaRPr lang="en-US" sz="1800" dirty="0"/>
          </a:p>
          <a:p>
            <a:pPr lvl="1">
              <a:defRPr/>
            </a:pPr>
            <a:r>
              <a:rPr lang="en-US" sz="1800" dirty="0">
                <a:ea typeface="+mn-ea"/>
                <a:cs typeface="+mn-cs"/>
              </a:rPr>
              <a:t>any modification in the structure or the number of entry in the collection object will trigger this exception thrown by </a:t>
            </a:r>
            <a:r>
              <a:rPr lang="en-US" sz="1800" dirty="0" err="1">
                <a:ea typeface="+mn-ea"/>
                <a:cs typeface="+mn-cs"/>
              </a:rPr>
              <a:t>iterator</a:t>
            </a:r>
            <a:r>
              <a:rPr lang="en-US" sz="1800" dirty="0">
                <a:ea typeface="+mn-ea"/>
                <a:cs typeface="+mn-cs"/>
              </a:rPr>
              <a:t>.</a:t>
            </a:r>
          </a:p>
          <a:p>
            <a:pPr>
              <a:defRPr/>
            </a:pPr>
            <a:endParaRPr lang="en-US" sz="2400" dirty="0"/>
          </a:p>
          <a:p>
            <a:pPr>
              <a:defRPr/>
            </a:pPr>
            <a:r>
              <a:rPr lang="en-US" sz="2000" dirty="0" err="1"/>
              <a:t>HashMap</a:t>
            </a:r>
            <a:r>
              <a:rPr lang="en-US" sz="2000" dirty="0"/>
              <a:t> contains a variable to count the number of modifications </a:t>
            </a:r>
          </a:p>
          <a:p>
            <a:pPr lvl="1">
              <a:defRPr/>
            </a:pPr>
            <a:r>
              <a:rPr lang="en-US" sz="2000" dirty="0">
                <a:ea typeface="+mn-ea"/>
                <a:cs typeface="+mn-cs"/>
              </a:rPr>
              <a:t> </a:t>
            </a:r>
            <a:r>
              <a:rPr lang="en-US" sz="2000" dirty="0" err="1">
                <a:ea typeface="+mn-ea"/>
                <a:cs typeface="+mn-cs"/>
              </a:rPr>
              <a:t>iterator</a:t>
            </a:r>
            <a:r>
              <a:rPr lang="en-US" sz="2000" dirty="0">
                <a:ea typeface="+mn-ea"/>
                <a:cs typeface="+mn-cs"/>
              </a:rPr>
              <a:t> use it when its next() function to get the next entry.</a:t>
            </a:r>
          </a:p>
          <a:p>
            <a:pPr>
              <a:defRPr/>
            </a:pPr>
            <a:endParaRPr lang="en-US" sz="2000" dirty="0"/>
          </a:p>
          <a:p>
            <a:pPr>
              <a:defRPr/>
            </a:pPr>
            <a:r>
              <a:rPr lang="en-US" sz="2000" dirty="0"/>
              <a:t>It keeps count of keys only ,if changing the structure of the map the exception will not be thrown.</a:t>
            </a:r>
          </a:p>
          <a:p>
            <a:pPr lvl="1">
              <a:defRPr/>
            </a:pPr>
            <a:endParaRPr lang="en-US" dirty="0">
              <a:ea typeface="+mn-ea"/>
              <a:cs typeface="+mn-cs"/>
            </a:endParaRPr>
          </a:p>
          <a:p>
            <a:pPr>
              <a:defRPr/>
            </a:pPr>
            <a:endParaRPr lang="en-US" sz="2800" dirty="0"/>
          </a:p>
        </p:txBody>
      </p:sp>
    </p:spTree>
  </p:cSld>
  <p:clrMapOvr>
    <a:masterClrMapping/>
  </p:clrMapOvr>
  <p:transition advClick="0"/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Title 1">
            <a:extLst>
              <a:ext uri="{FF2B5EF4-FFF2-40B4-BE49-F238E27FC236}">
                <a16:creationId xmlns:a16="http://schemas.microsoft.com/office/drawing/2014/main" id="{1747D054-8A6D-A068-7EA2-8A72D19BA6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8229600" cy="381000"/>
          </a:xfrm>
        </p:spPr>
        <p:txBody>
          <a:bodyPr/>
          <a:lstStyle/>
          <a:p>
            <a:r>
              <a:rPr lang="en-US" altLang="en-US" b="1">
                <a:solidFill>
                  <a:schemeClr val="tx1"/>
                </a:solidFill>
              </a:rPr>
              <a:t>CopyOnWriteArrayList</a:t>
            </a:r>
            <a:endParaRPr lang="en-US" altLang="en-US"/>
          </a:p>
        </p:txBody>
      </p:sp>
      <p:sp>
        <p:nvSpPr>
          <p:cNvPr id="161795" name="Content Placeholder 2">
            <a:extLst>
              <a:ext uri="{FF2B5EF4-FFF2-40B4-BE49-F238E27FC236}">
                <a16:creationId xmlns:a16="http://schemas.microsoft.com/office/drawing/2014/main" id="{EE9DEDD3-69BD-D052-AEC2-663CEED476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000"/>
              <a:t>Used to  add or remove elements from the list  </a:t>
            </a:r>
          </a:p>
          <a:p>
            <a:endParaRPr lang="en-US" altLang="en-US" sz="2000"/>
          </a:p>
          <a:p>
            <a:r>
              <a:rPr lang="en-US" altLang="en-US" sz="2000"/>
              <a:t>A thread-safe variant of java.util.ArrayList </a:t>
            </a:r>
          </a:p>
          <a:p>
            <a:endParaRPr lang="en-US" altLang="en-US" sz="2000"/>
          </a:p>
          <a:p>
            <a:r>
              <a:rPr lang="en-US" altLang="en-US" sz="2000"/>
              <a:t>All mutative operations (add, set, and so on) are implemented by making a fresh copy of the underlying array.</a:t>
            </a:r>
          </a:p>
          <a:p>
            <a:endParaRPr lang="en-US" altLang="en-US" sz="2000"/>
          </a:p>
          <a:p>
            <a:r>
              <a:rPr lang="en-US" altLang="en-US" sz="2000"/>
              <a:t>It introduces extra overload to the processing</a:t>
            </a:r>
          </a:p>
          <a:p>
            <a:endParaRPr lang="en-US" altLang="en-US" sz="2000"/>
          </a:p>
          <a:p>
            <a:r>
              <a:rPr lang="en-US" altLang="en-US" sz="2000"/>
              <a:t>Effective when number of modifications are minimal compared to number of traversal operations.</a:t>
            </a:r>
          </a:p>
        </p:txBody>
      </p:sp>
    </p:spTree>
  </p:cSld>
  <p:clrMapOvr>
    <a:masterClrMapping/>
  </p:clrMapOvr>
  <p:transition advClick="0"/>
</p:sld>
</file>

<file path=ppt/theme/theme1.xml><?xml version="1.0" encoding="utf-8"?>
<a:theme xmlns:a="http://schemas.openxmlformats.org/drawingml/2006/main" name="vees">
  <a:themeElements>
    <a:clrScheme name="vees 14">
      <a:dk1>
        <a:srgbClr val="000000"/>
      </a:dk1>
      <a:lt1>
        <a:srgbClr val="FF99CC"/>
      </a:lt1>
      <a:dk2>
        <a:srgbClr val="1C1C1C"/>
      </a:dk2>
      <a:lt2>
        <a:srgbClr val="4D4D4D"/>
      </a:lt2>
      <a:accent1>
        <a:srgbClr val="FF0000"/>
      </a:accent1>
      <a:accent2>
        <a:srgbClr val="FF99CC"/>
      </a:accent2>
      <a:accent3>
        <a:srgbClr val="FFCAE2"/>
      </a:accent3>
      <a:accent4>
        <a:srgbClr val="000000"/>
      </a:accent4>
      <a:accent5>
        <a:srgbClr val="FFAAAA"/>
      </a:accent5>
      <a:accent6>
        <a:srgbClr val="E78AB9"/>
      </a:accent6>
      <a:hlink>
        <a:srgbClr val="9933FF"/>
      </a:hlink>
      <a:folHlink>
        <a:srgbClr val="44C63A"/>
      </a:folHlink>
    </a:clrScheme>
    <a:fontScheme name="vee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vees 1">
        <a:dk1>
          <a:srgbClr val="C0C0C0"/>
        </a:dk1>
        <a:lt1>
          <a:srgbClr val="FFFFFF"/>
        </a:lt1>
        <a:dk2>
          <a:srgbClr val="000099"/>
        </a:dk2>
        <a:lt2>
          <a:srgbClr val="CCECFF"/>
        </a:lt2>
        <a:accent1>
          <a:srgbClr val="FF3399"/>
        </a:accent1>
        <a:accent2>
          <a:srgbClr val="99CCFF"/>
        </a:accent2>
        <a:accent3>
          <a:srgbClr val="AAAACA"/>
        </a:accent3>
        <a:accent4>
          <a:srgbClr val="DADADA"/>
        </a:accent4>
        <a:accent5>
          <a:srgbClr val="FFADCA"/>
        </a:accent5>
        <a:accent6>
          <a:srgbClr val="8AB9E7"/>
        </a:accent6>
        <a:hlink>
          <a:srgbClr val="FF505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vees 2">
        <a:dk1>
          <a:srgbClr val="000000"/>
        </a:dk1>
        <a:lt1>
          <a:srgbClr val="99CCFF"/>
        </a:lt1>
        <a:dk2>
          <a:srgbClr val="1C1C1C"/>
        </a:dk2>
        <a:lt2>
          <a:srgbClr val="4D4D4D"/>
        </a:lt2>
        <a:accent1>
          <a:srgbClr val="CC0066"/>
        </a:accent1>
        <a:accent2>
          <a:srgbClr val="3366FF"/>
        </a:accent2>
        <a:accent3>
          <a:srgbClr val="CAE2FF"/>
        </a:accent3>
        <a:accent4>
          <a:srgbClr val="000000"/>
        </a:accent4>
        <a:accent5>
          <a:srgbClr val="E2AAB8"/>
        </a:accent5>
        <a:accent6>
          <a:srgbClr val="2D5CE7"/>
        </a:accent6>
        <a:hlink>
          <a:srgbClr val="FF0000"/>
        </a:hlink>
        <a:folHlink>
          <a:srgbClr val="FF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vees 3">
        <a:dk1>
          <a:srgbClr val="C0C0C0"/>
        </a:dk1>
        <a:lt1>
          <a:srgbClr val="FFFFFF"/>
        </a:lt1>
        <a:dk2>
          <a:srgbClr val="800000"/>
        </a:dk2>
        <a:lt2>
          <a:srgbClr val="FFCC99"/>
        </a:lt2>
        <a:accent1>
          <a:srgbClr val="FF9900"/>
        </a:accent1>
        <a:accent2>
          <a:srgbClr val="CC00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B90000"/>
        </a:accent6>
        <a:hlink>
          <a:srgbClr val="FF33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vees 4">
        <a:dk1>
          <a:srgbClr val="000000"/>
        </a:dk1>
        <a:lt1>
          <a:srgbClr val="FF9966"/>
        </a:lt1>
        <a:dk2>
          <a:srgbClr val="1C1C1C"/>
        </a:dk2>
        <a:lt2>
          <a:srgbClr val="4D4D4D"/>
        </a:lt2>
        <a:accent1>
          <a:srgbClr val="FF0000"/>
        </a:accent1>
        <a:accent2>
          <a:srgbClr val="FF6699"/>
        </a:accent2>
        <a:accent3>
          <a:srgbClr val="FFCAB8"/>
        </a:accent3>
        <a:accent4>
          <a:srgbClr val="000000"/>
        </a:accent4>
        <a:accent5>
          <a:srgbClr val="FFAAAA"/>
        </a:accent5>
        <a:accent6>
          <a:srgbClr val="E75C8A"/>
        </a:accent6>
        <a:hlink>
          <a:srgbClr val="CC00CC"/>
        </a:hlink>
        <a:folHlink>
          <a:srgbClr val="FF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vees 5">
        <a:dk1>
          <a:srgbClr val="C0C0C0"/>
        </a:dk1>
        <a:lt1>
          <a:srgbClr val="FFFFFF"/>
        </a:lt1>
        <a:dk2>
          <a:srgbClr val="008000"/>
        </a:dk2>
        <a:lt2>
          <a:srgbClr val="CCECFF"/>
        </a:lt2>
        <a:accent1>
          <a:srgbClr val="0066FF"/>
        </a:accent1>
        <a:accent2>
          <a:srgbClr val="00FF00"/>
        </a:accent2>
        <a:accent3>
          <a:srgbClr val="AAC0AA"/>
        </a:accent3>
        <a:accent4>
          <a:srgbClr val="DADADA"/>
        </a:accent4>
        <a:accent5>
          <a:srgbClr val="AAB8FF"/>
        </a:accent5>
        <a:accent6>
          <a:srgbClr val="00E700"/>
        </a:accent6>
        <a:hlink>
          <a:srgbClr val="A29E00"/>
        </a:hlink>
        <a:folHlink>
          <a:srgbClr val="EA8B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vees 6">
        <a:dk1>
          <a:srgbClr val="000000"/>
        </a:dk1>
        <a:lt1>
          <a:srgbClr val="97E183"/>
        </a:lt1>
        <a:dk2>
          <a:srgbClr val="1C1C1C"/>
        </a:dk2>
        <a:lt2>
          <a:srgbClr val="4D4D4D"/>
        </a:lt2>
        <a:accent1>
          <a:srgbClr val="0066FF"/>
        </a:accent1>
        <a:accent2>
          <a:srgbClr val="99FF99"/>
        </a:accent2>
        <a:accent3>
          <a:srgbClr val="C9EEC1"/>
        </a:accent3>
        <a:accent4>
          <a:srgbClr val="000000"/>
        </a:accent4>
        <a:accent5>
          <a:srgbClr val="AAB8FF"/>
        </a:accent5>
        <a:accent6>
          <a:srgbClr val="8AE78A"/>
        </a:accent6>
        <a:hlink>
          <a:srgbClr val="CC9900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vees 7">
        <a:dk1>
          <a:srgbClr val="C0C0C0"/>
        </a:dk1>
        <a:lt1>
          <a:srgbClr val="FFFFFF"/>
        </a:lt1>
        <a:dk2>
          <a:srgbClr val="008080"/>
        </a:dk2>
        <a:lt2>
          <a:srgbClr val="CCECFF"/>
        </a:lt2>
        <a:accent1>
          <a:srgbClr val="29A329"/>
        </a:accent1>
        <a:accent2>
          <a:srgbClr val="00FFFF"/>
        </a:accent2>
        <a:accent3>
          <a:srgbClr val="AAC0C0"/>
        </a:accent3>
        <a:accent4>
          <a:srgbClr val="DADADA"/>
        </a:accent4>
        <a:accent5>
          <a:srgbClr val="ACCEAC"/>
        </a:accent5>
        <a:accent6>
          <a:srgbClr val="00E7E7"/>
        </a:accent6>
        <a:hlink>
          <a:srgbClr val="3B6AFF"/>
        </a:hlink>
        <a:folHlink>
          <a:srgbClr val="FF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vees 8">
        <a:dk1>
          <a:srgbClr val="000000"/>
        </a:dk1>
        <a:lt1>
          <a:srgbClr val="64F0BE"/>
        </a:lt1>
        <a:dk2>
          <a:srgbClr val="1C1C1C"/>
        </a:dk2>
        <a:lt2>
          <a:srgbClr val="4D4D4D"/>
        </a:lt2>
        <a:accent1>
          <a:srgbClr val="008000"/>
        </a:accent1>
        <a:accent2>
          <a:srgbClr val="00FFFF"/>
        </a:accent2>
        <a:accent3>
          <a:srgbClr val="B8F6DB"/>
        </a:accent3>
        <a:accent4>
          <a:srgbClr val="000000"/>
        </a:accent4>
        <a:accent5>
          <a:srgbClr val="AAC0AA"/>
        </a:accent5>
        <a:accent6>
          <a:srgbClr val="00E7E7"/>
        </a:accent6>
        <a:hlink>
          <a:srgbClr val="3366FF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vees 9">
        <a:dk1>
          <a:srgbClr val="C0C0C0"/>
        </a:dk1>
        <a:lt1>
          <a:srgbClr val="FFFFFF"/>
        </a:lt1>
        <a:dk2>
          <a:srgbClr val="CC9900"/>
        </a:dk2>
        <a:lt2>
          <a:srgbClr val="FFFFCC"/>
        </a:lt2>
        <a:accent1>
          <a:srgbClr val="FF3300"/>
        </a:accent1>
        <a:accent2>
          <a:srgbClr val="FFCC66"/>
        </a:accent2>
        <a:accent3>
          <a:srgbClr val="E2CAAA"/>
        </a:accent3>
        <a:accent4>
          <a:srgbClr val="DADADA"/>
        </a:accent4>
        <a:accent5>
          <a:srgbClr val="FFADAA"/>
        </a:accent5>
        <a:accent6>
          <a:srgbClr val="E7B95C"/>
        </a:accent6>
        <a:hlink>
          <a:srgbClr val="008080"/>
        </a:hlink>
        <a:folHlink>
          <a:srgbClr val="33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vees 10">
        <a:dk1>
          <a:srgbClr val="000000"/>
        </a:dk1>
        <a:lt1>
          <a:srgbClr val="EFF274"/>
        </a:lt1>
        <a:dk2>
          <a:srgbClr val="1C1C1C"/>
        </a:dk2>
        <a:lt2>
          <a:srgbClr val="4D4D4D"/>
        </a:lt2>
        <a:accent1>
          <a:srgbClr val="9966FF"/>
        </a:accent1>
        <a:accent2>
          <a:srgbClr val="FFFFCC"/>
        </a:accent2>
        <a:accent3>
          <a:srgbClr val="F6F7BC"/>
        </a:accent3>
        <a:accent4>
          <a:srgbClr val="000000"/>
        </a:accent4>
        <a:accent5>
          <a:srgbClr val="CAB8FF"/>
        </a:accent5>
        <a:accent6>
          <a:srgbClr val="E7E7B9"/>
        </a:accent6>
        <a:hlink>
          <a:srgbClr val="6666FF"/>
        </a:hlink>
        <a:folHlink>
          <a:srgbClr val="99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vees 11">
        <a:dk1>
          <a:srgbClr val="C0C0C0"/>
        </a:dk1>
        <a:lt1>
          <a:srgbClr val="FFFFFF"/>
        </a:lt1>
        <a:dk2>
          <a:srgbClr val="6600CC"/>
        </a:dk2>
        <a:lt2>
          <a:srgbClr val="CCCCFF"/>
        </a:lt2>
        <a:accent1>
          <a:srgbClr val="D60093"/>
        </a:accent1>
        <a:accent2>
          <a:srgbClr val="9999FF"/>
        </a:accent2>
        <a:accent3>
          <a:srgbClr val="B8AAE2"/>
        </a:accent3>
        <a:accent4>
          <a:srgbClr val="DADADA"/>
        </a:accent4>
        <a:accent5>
          <a:srgbClr val="E8AAC8"/>
        </a:accent5>
        <a:accent6>
          <a:srgbClr val="8A8AE7"/>
        </a:accent6>
        <a:hlink>
          <a:srgbClr val="008000"/>
        </a:hlink>
        <a:folHlink>
          <a:srgbClr val="FF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vees 12">
        <a:dk1>
          <a:srgbClr val="000000"/>
        </a:dk1>
        <a:lt1>
          <a:srgbClr val="CC99FF"/>
        </a:lt1>
        <a:dk2>
          <a:srgbClr val="1C1C1C"/>
        </a:dk2>
        <a:lt2>
          <a:srgbClr val="4D4D4D"/>
        </a:lt2>
        <a:accent1>
          <a:srgbClr val="0066FF"/>
        </a:accent1>
        <a:accent2>
          <a:srgbClr val="CCCCFF"/>
        </a:accent2>
        <a:accent3>
          <a:srgbClr val="E2CAFF"/>
        </a:accent3>
        <a:accent4>
          <a:srgbClr val="000000"/>
        </a:accent4>
        <a:accent5>
          <a:srgbClr val="AAB8FF"/>
        </a:accent5>
        <a:accent6>
          <a:srgbClr val="B9B9E7"/>
        </a:accent6>
        <a:hlink>
          <a:srgbClr val="FF0066"/>
        </a:hlink>
        <a:folHlink>
          <a:srgbClr val="66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vees 13">
        <a:dk1>
          <a:srgbClr val="C0C0C0"/>
        </a:dk1>
        <a:lt1>
          <a:srgbClr val="FFFFFF"/>
        </a:lt1>
        <a:dk2>
          <a:srgbClr val="CC0066"/>
        </a:dk2>
        <a:lt2>
          <a:srgbClr val="FFCCCC"/>
        </a:lt2>
        <a:accent1>
          <a:srgbClr val="993366"/>
        </a:accent1>
        <a:accent2>
          <a:srgbClr val="FF9999"/>
        </a:accent2>
        <a:accent3>
          <a:srgbClr val="E2AAB8"/>
        </a:accent3>
        <a:accent4>
          <a:srgbClr val="DADADA"/>
        </a:accent4>
        <a:accent5>
          <a:srgbClr val="CAADB8"/>
        </a:accent5>
        <a:accent6>
          <a:srgbClr val="E78A8A"/>
        </a:accent6>
        <a:hlink>
          <a:srgbClr val="009999"/>
        </a:hlink>
        <a:folHlink>
          <a:srgbClr val="FF99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vees 14">
        <a:dk1>
          <a:srgbClr val="000000"/>
        </a:dk1>
        <a:lt1>
          <a:srgbClr val="FF99CC"/>
        </a:lt1>
        <a:dk2>
          <a:srgbClr val="1C1C1C"/>
        </a:dk2>
        <a:lt2>
          <a:srgbClr val="4D4D4D"/>
        </a:lt2>
        <a:accent1>
          <a:srgbClr val="FF0000"/>
        </a:accent1>
        <a:accent2>
          <a:srgbClr val="FF99CC"/>
        </a:accent2>
        <a:accent3>
          <a:srgbClr val="FFCAE2"/>
        </a:accent3>
        <a:accent4>
          <a:srgbClr val="000000"/>
        </a:accent4>
        <a:accent5>
          <a:srgbClr val="FFAAAA"/>
        </a:accent5>
        <a:accent6>
          <a:srgbClr val="E78AB9"/>
        </a:accent6>
        <a:hlink>
          <a:srgbClr val="9933FF"/>
        </a:hlink>
        <a:folHlink>
          <a:srgbClr val="44C63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vees 15">
        <a:dk1>
          <a:srgbClr val="C0C0C0"/>
        </a:dk1>
        <a:lt1>
          <a:srgbClr val="FFFFFF"/>
        </a:lt1>
        <a:dk2>
          <a:srgbClr val="000000"/>
        </a:dk2>
        <a:lt2>
          <a:srgbClr val="DDDDDD"/>
        </a:lt2>
        <a:accent1>
          <a:srgbClr val="4D4D4D"/>
        </a:accent1>
        <a:accent2>
          <a:srgbClr val="C0C0C0"/>
        </a:accent2>
        <a:accent3>
          <a:srgbClr val="AAAAAA"/>
        </a:accent3>
        <a:accent4>
          <a:srgbClr val="DADADA"/>
        </a:accent4>
        <a:accent5>
          <a:srgbClr val="B2B2B2"/>
        </a:accent5>
        <a:accent6>
          <a:srgbClr val="AEAEAE"/>
        </a:accent6>
        <a:hlink>
          <a:srgbClr val="777777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vees 16">
        <a:dk1>
          <a:srgbClr val="000000"/>
        </a:dk1>
        <a:lt1>
          <a:srgbClr val="FFFFFF"/>
        </a:lt1>
        <a:dk2>
          <a:srgbClr val="1C1C1C"/>
        </a:dk2>
        <a:lt2>
          <a:srgbClr val="4D4D4D"/>
        </a:lt2>
        <a:accent1>
          <a:srgbClr val="4D4D4D"/>
        </a:accent1>
        <a:accent2>
          <a:srgbClr val="DDDDDD"/>
        </a:accent2>
        <a:accent3>
          <a:srgbClr val="FFFFFF"/>
        </a:accent3>
        <a:accent4>
          <a:srgbClr val="000000"/>
        </a:accent4>
        <a:accent5>
          <a:srgbClr val="B2B2B2"/>
        </a:accent5>
        <a:accent6>
          <a:srgbClr val="C8C8C8"/>
        </a:accent6>
        <a:hlink>
          <a:srgbClr val="808080"/>
        </a:hlink>
        <a:folHlink>
          <a:srgbClr val="F8F8F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040</Template>
  <TotalTime>6224</TotalTime>
  <Words>4751</Words>
  <Application>Microsoft Macintosh PowerPoint</Application>
  <PresentationFormat>On-screen Show (4:3)</PresentationFormat>
  <Paragraphs>787</Paragraphs>
  <Slides>62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62</vt:i4>
      </vt:variant>
    </vt:vector>
  </HeadingPairs>
  <TitlesOfParts>
    <vt:vector size="70" baseType="lpstr">
      <vt:lpstr>Batang</vt:lpstr>
      <vt:lpstr>Gulim</vt:lpstr>
      <vt:lpstr>Arial</vt:lpstr>
      <vt:lpstr>Courier New</vt:lpstr>
      <vt:lpstr>Times New Roman</vt:lpstr>
      <vt:lpstr>Times New Roman;Times</vt:lpstr>
      <vt:lpstr>Verdana</vt:lpstr>
      <vt:lpstr>vees</vt:lpstr>
      <vt:lpstr>Java Micro Services</vt:lpstr>
      <vt:lpstr> K.Srivatsan  - vatsank@gmail.com </vt:lpstr>
      <vt:lpstr>Topics</vt:lpstr>
      <vt:lpstr>Topics</vt:lpstr>
      <vt:lpstr>Object Oriented Programming Language</vt:lpstr>
      <vt:lpstr>Pillars of OOP</vt:lpstr>
      <vt:lpstr>Pillars of OOP</vt:lpstr>
      <vt:lpstr>Object Relationships</vt:lpstr>
      <vt:lpstr>Advantages of OOP</vt:lpstr>
      <vt:lpstr>Java Collections Framework</vt:lpstr>
      <vt:lpstr>Java Collection Framework</vt:lpstr>
      <vt:lpstr>Collection categories</vt:lpstr>
      <vt:lpstr>Collection Interface</vt:lpstr>
      <vt:lpstr>List  Interface</vt:lpstr>
      <vt:lpstr>Methods in List Interface</vt:lpstr>
      <vt:lpstr>List Implementations</vt:lpstr>
      <vt:lpstr>Class ArrayList</vt:lpstr>
      <vt:lpstr>Class ArrayList</vt:lpstr>
      <vt:lpstr>Generics </vt:lpstr>
      <vt:lpstr>  Diamond operator </vt:lpstr>
      <vt:lpstr>Two Schemes of Traversing Collections</vt:lpstr>
      <vt:lpstr>The Iterator Interface</vt:lpstr>
      <vt:lpstr>The ListIterator Interface</vt:lpstr>
      <vt:lpstr>Iterator</vt:lpstr>
      <vt:lpstr>O(1) and O(N)</vt:lpstr>
      <vt:lpstr>O(1) and O(N)</vt:lpstr>
      <vt:lpstr>The Four Methods</vt:lpstr>
      <vt:lpstr>Natural Ordering</vt:lpstr>
      <vt:lpstr>Comparable Interface</vt:lpstr>
      <vt:lpstr>Implementing Comparable</vt:lpstr>
      <vt:lpstr>Using a separate Comparator</vt:lpstr>
      <vt:lpstr>Implementing Comparator</vt:lpstr>
      <vt:lpstr>Collections.Sort() with Comparator</vt:lpstr>
      <vt:lpstr>When to use each</vt:lpstr>
      <vt:lpstr>Interface Set</vt:lpstr>
      <vt:lpstr>Set Implementations</vt:lpstr>
      <vt:lpstr>equals” operation of “Set” Interface</vt:lpstr>
      <vt:lpstr>Hash Set - Example</vt:lpstr>
      <vt:lpstr>Hash Set – Duplicates Not Allowed</vt:lpstr>
      <vt:lpstr>Tree Set With Comparators</vt:lpstr>
      <vt:lpstr>Map</vt:lpstr>
      <vt:lpstr>Map Implementations</vt:lpstr>
      <vt:lpstr>Hash Table</vt:lpstr>
      <vt:lpstr>Add To Hash Table</vt:lpstr>
      <vt:lpstr>Hashtable with Duplicate Keys</vt:lpstr>
      <vt:lpstr>Hash Table as Set</vt:lpstr>
      <vt:lpstr>Hash Table as Set</vt:lpstr>
      <vt:lpstr>Tree Map</vt:lpstr>
      <vt:lpstr>Arrays Class</vt:lpstr>
      <vt:lpstr>Arrays Class – fill() and equals() Method</vt:lpstr>
      <vt:lpstr>Arrays Class -Sort and Binary Search </vt:lpstr>
      <vt:lpstr>Arrays Class –toList() </vt:lpstr>
      <vt:lpstr>Arrays Class –asList()</vt:lpstr>
      <vt:lpstr>Using Generic Methods </vt:lpstr>
      <vt:lpstr>Methods with Generic Wild Card (?)</vt:lpstr>
      <vt:lpstr>The Method and Test Class</vt:lpstr>
      <vt:lpstr>Bounded Wild Card</vt:lpstr>
      <vt:lpstr>Bounded</vt:lpstr>
      <vt:lpstr>Bounded-Test Class</vt:lpstr>
      <vt:lpstr>Concurrent Collections</vt:lpstr>
      <vt:lpstr>Concurrent Collections</vt:lpstr>
      <vt:lpstr>CopyOnWriteArrayList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Srivatsan Krishnamachari</cp:lastModifiedBy>
  <cp:revision>547</cp:revision>
  <dcterms:created xsi:type="dcterms:W3CDTF">1601-01-01T00:00:00Z</dcterms:created>
  <dcterms:modified xsi:type="dcterms:W3CDTF">2026-01-05T09:26:00Z</dcterms:modified>
</cp:coreProperties>
</file>