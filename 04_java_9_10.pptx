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2"/>
  </p:notesMasterIdLst>
  <p:sldIdLst>
    <p:sldId id="791" r:id="rId2"/>
    <p:sldId id="790" r:id="rId3"/>
    <p:sldId id="792" r:id="rId4"/>
    <p:sldId id="1532" r:id="rId5"/>
    <p:sldId id="1534" r:id="rId6"/>
    <p:sldId id="1535" r:id="rId7"/>
    <p:sldId id="1536" r:id="rId8"/>
    <p:sldId id="1537" r:id="rId9"/>
    <p:sldId id="1538" r:id="rId10"/>
    <p:sldId id="1539" r:id="rId11"/>
    <p:sldId id="1540" r:id="rId12"/>
    <p:sldId id="1541" r:id="rId13"/>
    <p:sldId id="1542" r:id="rId14"/>
    <p:sldId id="1543" r:id="rId15"/>
    <p:sldId id="1544" r:id="rId16"/>
    <p:sldId id="1545" r:id="rId17"/>
    <p:sldId id="1546" r:id="rId18"/>
    <p:sldId id="1547" r:id="rId19"/>
    <p:sldId id="1548" r:id="rId20"/>
    <p:sldId id="1549" r:id="rId21"/>
    <p:sldId id="1550" r:id="rId22"/>
    <p:sldId id="1551" r:id="rId23"/>
    <p:sldId id="1552" r:id="rId24"/>
    <p:sldId id="1553" r:id="rId25"/>
    <p:sldId id="1555" r:id="rId26"/>
    <p:sldId id="1554" r:id="rId27"/>
    <p:sldId id="1556" r:id="rId28"/>
    <p:sldId id="1557" r:id="rId29"/>
    <p:sldId id="1638" r:id="rId30"/>
    <p:sldId id="1201" r:id="rId31"/>
    <p:sldId id="1383" r:id="rId32"/>
    <p:sldId id="1513" r:id="rId33"/>
    <p:sldId id="1530" r:id="rId34"/>
    <p:sldId id="1519" r:id="rId35"/>
    <p:sldId id="1515" r:id="rId36"/>
    <p:sldId id="1516" r:id="rId37"/>
    <p:sldId id="1517" r:id="rId38"/>
    <p:sldId id="1420" r:id="rId39"/>
    <p:sldId id="1511" r:id="rId40"/>
    <p:sldId id="1159" r:id="rId41"/>
    <p:sldId id="1385" r:id="rId42"/>
    <p:sldId id="1179" r:id="rId43"/>
    <p:sldId id="1181" r:id="rId44"/>
    <p:sldId id="1200" r:id="rId45"/>
    <p:sldId id="1182" r:id="rId46"/>
    <p:sldId id="1531" r:id="rId47"/>
    <p:sldId id="1275" r:id="rId48"/>
    <p:sldId id="1185" r:id="rId49"/>
    <p:sldId id="1192" r:id="rId50"/>
    <p:sldId id="1612" r:id="rId51"/>
    <p:sldId id="1613" r:id="rId52"/>
    <p:sldId id="1614" r:id="rId53"/>
    <p:sldId id="1615" r:id="rId54"/>
    <p:sldId id="1193" r:id="rId55"/>
    <p:sldId id="1619" r:id="rId56"/>
    <p:sldId id="1620" r:id="rId57"/>
    <p:sldId id="1621" r:id="rId58"/>
    <p:sldId id="1632" r:id="rId59"/>
    <p:sldId id="1622" r:id="rId60"/>
    <p:sldId id="1623" r:id="rId61"/>
    <p:sldId id="1624" r:id="rId62"/>
    <p:sldId id="1625" r:id="rId63"/>
    <p:sldId id="1626" r:id="rId64"/>
    <p:sldId id="1627" r:id="rId65"/>
    <p:sldId id="1633" r:id="rId66"/>
    <p:sldId id="1647" r:id="rId67"/>
    <p:sldId id="1648" r:id="rId68"/>
    <p:sldId id="1649" r:id="rId69"/>
    <p:sldId id="1650" r:id="rId70"/>
    <p:sldId id="1652" r:id="rId71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1072" autoAdjust="0"/>
    <p:restoredTop sz="94575" autoAdjust="0"/>
  </p:normalViewPr>
  <p:slideViewPr>
    <p:cSldViewPr>
      <p:cViewPr varScale="1">
        <p:scale>
          <a:sx n="113" d="100"/>
          <a:sy n="113" d="100"/>
        </p:scale>
        <p:origin x="2616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629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0B0560-19EF-3B06-57F6-F8B0D21277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06DF4E9-897D-A82A-5BF7-CEB5ED56BC2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0" name="Rectangle 4">
            <a:extLst>
              <a:ext uri="{FF2B5EF4-FFF2-40B4-BE49-F238E27FC236}">
                <a16:creationId xmlns:a16="http://schemas.microsoft.com/office/drawing/2014/main" id="{D8EF5526-7EA7-B0BF-A3D9-62241EB88C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8F93BAF-8070-9AF6-7125-BE76BF3B46A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DF21297-4C40-3054-6C86-2E9647A22B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570024D-FAD9-2EAE-8E55-6F083EA153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5B308F1D-0D72-8C40-952D-AE500DC8CE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08F1D-0D72-8C40-952D-AE500DC8CE96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279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08F1D-0D72-8C40-952D-AE500DC8CE96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293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78188484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294316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698828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38600" cy="5287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038600" cy="5287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9259649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4441217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983832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320400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8985863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3959240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2684784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409099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838200"/>
            <a:ext cx="40386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0386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9456101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D4F9040-524D-2ED3-FFAD-2512C1775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2DCAC0-1302-D97E-33FA-4FBB58E88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advClick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5268-704F-67E3-E1C6-060A7FD2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-9 and 10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33BA7-CFBA-2FDD-A8F4-02442815F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53363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4F4B-899C-0A51-EC0F-DB67D852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 Type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F4F67-81AF-BB48-3459-E809784A7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Local variables can be declared with the </a:t>
            </a:r>
            <a:r>
              <a:rPr lang="en-IN" sz="24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dirty="0"/>
              <a:t> identifier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Can help write code that’s easier to read.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Eliminates redundant information. </a:t>
            </a:r>
          </a:p>
          <a:p>
            <a:pPr lvl="1">
              <a:lnSpc>
                <a:spcPct val="150000"/>
              </a:lnSpc>
            </a:pPr>
            <a:r>
              <a:rPr lang="en-IN" sz="1800" b="1" i="1" dirty="0"/>
              <a:t>Could also make code less readable use with proper judgment;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No strict rule exists about when it should and shouldn't be used.</a:t>
            </a:r>
          </a:p>
          <a:p>
            <a:pPr lvl="1">
              <a:lnSpc>
                <a:spcPct val="150000"/>
              </a:lnSpc>
            </a:pPr>
            <a:endParaRPr lang="en-IN" sz="1800" dirty="0"/>
          </a:p>
          <a:p>
            <a:r>
              <a:rPr lang="en-IN" sz="24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Reserved type name, not a keyword</a:t>
            </a:r>
          </a:p>
          <a:p>
            <a:pPr lvl="1"/>
            <a:r>
              <a:rPr lang="en-IN" sz="1800" dirty="0"/>
              <a:t>Existing code that uses var as a variable, method, or package name is not affected. </a:t>
            </a:r>
          </a:p>
          <a:p>
            <a:pPr lvl="1"/>
            <a:r>
              <a:rPr lang="en-IN" sz="1800" dirty="0"/>
              <a:t>Code that uses var as a class or interface name is affected needs to be renamed.</a:t>
            </a:r>
          </a:p>
          <a:p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30575184"/>
      </p:ext>
    </p:extLst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56D5-E9EB-CFA0-E603-819E67DC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LVTI -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2BF27-0BE8-8784-3DBD-A6E6B57B8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var list = new </a:t>
            </a:r>
            <a:r>
              <a:rPr lang="en-IN" sz="1800" dirty="0" err="1"/>
              <a:t>ArrayList</a:t>
            </a:r>
            <a:r>
              <a:rPr lang="en-IN" sz="1800" dirty="0"/>
              <a:t>&lt;String&gt;();    </a:t>
            </a:r>
          </a:p>
          <a:p>
            <a:r>
              <a:rPr lang="en-IN" sz="1800" dirty="0"/>
              <a:t>var stream = </a:t>
            </a:r>
            <a:r>
              <a:rPr lang="en-IN" sz="1800" dirty="0" err="1"/>
              <a:t>list.stream</a:t>
            </a:r>
            <a:r>
              <a:rPr lang="en-IN" sz="1800" dirty="0"/>
              <a:t>();            </a:t>
            </a:r>
          </a:p>
          <a:p>
            <a:endParaRPr lang="en-IN" sz="1800" dirty="0"/>
          </a:p>
          <a:p>
            <a:r>
              <a:rPr lang="en-IN" sz="1800" dirty="0"/>
              <a:t>List&lt;String&gt; </a:t>
            </a:r>
            <a:r>
              <a:rPr lang="en-IN" sz="1800" dirty="0" err="1"/>
              <a:t>myList</a:t>
            </a:r>
            <a:r>
              <a:rPr lang="en-IN" sz="1800" dirty="0"/>
              <a:t> = </a:t>
            </a:r>
            <a:r>
              <a:rPr lang="en-IN" sz="1800" dirty="0" err="1"/>
              <a:t>Arrays.asList</a:t>
            </a:r>
            <a:r>
              <a:rPr lang="en-IN" sz="1800" dirty="0"/>
              <a:t>("a", "b", "c");</a:t>
            </a:r>
          </a:p>
          <a:p>
            <a:r>
              <a:rPr lang="en-IN" sz="1800" b="1" dirty="0"/>
              <a:t>for (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b="1" dirty="0"/>
              <a:t> element : </a:t>
            </a:r>
            <a:r>
              <a:rPr lang="en-IN" sz="1800" b="1" dirty="0" err="1"/>
              <a:t>myList</a:t>
            </a:r>
            <a:r>
              <a:rPr lang="en-IN" sz="1800" b="1" dirty="0"/>
              <a:t>) {...}  </a:t>
            </a:r>
          </a:p>
          <a:p>
            <a:endParaRPr lang="en-IN" sz="1800" dirty="0"/>
          </a:p>
          <a:p>
            <a:r>
              <a:rPr lang="en-IN" sz="1800" dirty="0"/>
              <a:t>for (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dirty="0"/>
              <a:t> counter = 0; counter &lt; 10; counter++)  {...}  </a:t>
            </a:r>
          </a:p>
          <a:p>
            <a:endParaRPr lang="en-IN" sz="1800" dirty="0"/>
          </a:p>
          <a:p>
            <a:r>
              <a:rPr lang="en-IN" sz="1800" dirty="0"/>
              <a:t>try (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dirty="0"/>
              <a:t> input = </a:t>
            </a:r>
          </a:p>
          <a:p>
            <a:r>
              <a:rPr lang="en-IN" sz="1800" dirty="0"/>
              <a:t>     new </a:t>
            </a:r>
            <a:r>
              <a:rPr lang="en-IN" sz="1800" dirty="0" err="1"/>
              <a:t>FileInputStream</a:t>
            </a:r>
            <a:r>
              <a:rPr lang="en-IN" sz="1800" dirty="0"/>
              <a:t>("</a:t>
            </a:r>
            <a:r>
              <a:rPr lang="en-IN" sz="1800" dirty="0" err="1"/>
              <a:t>validation.txt</a:t>
            </a:r>
            <a:r>
              <a:rPr lang="en-IN" sz="1800" dirty="0"/>
              <a:t>")) {...}   </a:t>
            </a:r>
          </a:p>
          <a:p>
            <a:endParaRPr lang="en-IN" sz="1800" dirty="0"/>
          </a:p>
          <a:p>
            <a:r>
              <a:rPr lang="en-IN" sz="1800" dirty="0"/>
              <a:t>(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dirty="0"/>
              <a:t> a, 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dirty="0"/>
              <a:t> b) -&gt; a + b;</a:t>
            </a:r>
          </a:p>
          <a:p>
            <a:r>
              <a:rPr lang="en-IN" sz="1800" b="1" dirty="0">
                <a:solidFill>
                  <a:srgbClr val="7030A0"/>
                </a:solidFill>
              </a:rPr>
              <a:t>(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b="1" dirty="0">
                <a:solidFill>
                  <a:srgbClr val="7030A0"/>
                </a:solidFill>
              </a:rPr>
              <a:t> x, y)</a:t>
            </a:r>
            <a:r>
              <a:rPr lang="en-IN" sz="1800" dirty="0">
                <a:solidFill>
                  <a:srgbClr val="7030A0"/>
                </a:solidFill>
              </a:rPr>
              <a:t> </a:t>
            </a:r>
            <a:r>
              <a:rPr lang="en-IN" sz="1800" dirty="0"/>
              <a:t>-&gt; </a:t>
            </a:r>
            <a:r>
              <a:rPr lang="en-IN" sz="1800" dirty="0" err="1"/>
              <a:t>x.process</a:t>
            </a:r>
            <a:r>
              <a:rPr lang="en-IN" sz="1800" dirty="0"/>
              <a:t>(y)      // </a:t>
            </a:r>
            <a:r>
              <a:rPr lang="en-IN" sz="1400" b="1" dirty="0"/>
              <a:t>NOT ALLOWED var and inferred formal parameters</a:t>
            </a:r>
            <a:endParaRPr lang="en-IN" sz="1800" dirty="0"/>
          </a:p>
          <a:p>
            <a:r>
              <a:rPr lang="en-IN" sz="1800" b="1" dirty="0">
                <a:solidFill>
                  <a:srgbClr val="7030A0"/>
                </a:solidFill>
              </a:rPr>
              <a:t>(</a:t>
            </a:r>
            <a:r>
              <a:rPr lang="en-IN" sz="1800" b="1" dirty="0">
                <a:solidFill>
                  <a:schemeClr val="bg1">
                    <a:lumMod val="75000"/>
                  </a:schemeClr>
                </a:solidFill>
              </a:rPr>
              <a:t>var</a:t>
            </a:r>
            <a:r>
              <a:rPr lang="en-IN" sz="1800" b="1" dirty="0">
                <a:solidFill>
                  <a:srgbClr val="7030A0"/>
                </a:solidFill>
              </a:rPr>
              <a:t> x, int y)</a:t>
            </a:r>
            <a:r>
              <a:rPr lang="en-IN" sz="1800" dirty="0"/>
              <a:t> -&gt; </a:t>
            </a:r>
            <a:r>
              <a:rPr lang="en-IN" sz="1800" dirty="0" err="1"/>
              <a:t>x.process</a:t>
            </a:r>
            <a:r>
              <a:rPr lang="en-IN" sz="1800" dirty="0"/>
              <a:t>(y)  // </a:t>
            </a:r>
            <a:r>
              <a:rPr lang="en-IN" sz="1800" b="1" dirty="0"/>
              <a:t>Cannot mix var and manifest types</a:t>
            </a:r>
          </a:p>
          <a:p>
            <a:pPr marL="457200" lvl="1" indent="0">
              <a:buNone/>
            </a:pPr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3476689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0F0CF0-2D21-AD38-D8ED-F5C7EA74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Jshell</a:t>
            </a:r>
            <a:endParaRPr lang="en-US" dirty="0"/>
          </a:p>
        </p:txBody>
      </p:sp>
      <p:sp>
        <p:nvSpPr>
          <p:cNvPr id="126979" name="Text Placeholder 4">
            <a:extLst>
              <a:ext uri="{FF2B5EF4-FFF2-40B4-BE49-F238E27FC236}">
                <a16:creationId xmlns:a16="http://schemas.microsoft.com/office/drawing/2014/main" id="{FA344052-B00C-F481-162C-39783795D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3">
            <a:extLst>
              <a:ext uri="{FF2B5EF4-FFF2-40B4-BE49-F238E27FC236}">
                <a16:creationId xmlns:a16="http://schemas.microsoft.com/office/drawing/2014/main" id="{61C37E81-23A3-AC72-0617-89667D4F2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sp>
        <p:nvSpPr>
          <p:cNvPr id="129027" name="Content Placeholder 4">
            <a:extLst>
              <a:ext uri="{FF2B5EF4-FFF2-40B4-BE49-F238E27FC236}">
                <a16:creationId xmlns:a16="http://schemas.microsoft.com/office/drawing/2014/main" id="{C63F8B6C-0647-A956-2DBB-72B6274A7E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JShell is a Read-Evaluate-Print-Loop (REPL), a command line tool </a:t>
            </a:r>
          </a:p>
          <a:p>
            <a:endParaRPr lang="en-US" altLang="en-US" sz="2000"/>
          </a:p>
          <a:p>
            <a:r>
              <a:rPr lang="en-US" altLang="en-US" sz="2000"/>
              <a:t>Can input specific JShell commands or Java code –(</a:t>
            </a:r>
            <a:r>
              <a:rPr lang="en-US" altLang="en-US" sz="2000" i="1"/>
              <a:t>snippets</a:t>
            </a:r>
            <a:r>
              <a:rPr lang="en-US" altLang="en-US" sz="2000"/>
              <a:t>)</a:t>
            </a:r>
          </a:p>
          <a:p>
            <a:pPr lvl="1"/>
            <a:r>
              <a:rPr lang="en-US" altLang="en-US" sz="2000"/>
              <a:t>Expressions</a:t>
            </a:r>
          </a:p>
          <a:p>
            <a:pPr lvl="1"/>
            <a:r>
              <a:rPr lang="en-US" altLang="en-US" sz="2000"/>
              <a:t>Statements</a:t>
            </a:r>
          </a:p>
          <a:p>
            <a:pPr lvl="1"/>
            <a:r>
              <a:rPr lang="en-US" altLang="en-US" sz="2000"/>
              <a:t>Class declarations</a:t>
            </a:r>
          </a:p>
          <a:p>
            <a:pPr lvl="1"/>
            <a:r>
              <a:rPr lang="en-US" altLang="en-US" sz="2000"/>
              <a:t>Method declarations</a:t>
            </a:r>
          </a:p>
          <a:p>
            <a:pPr lvl="1"/>
            <a:r>
              <a:rPr lang="en-US" altLang="en-US" sz="2000"/>
              <a:t>Import declarations</a:t>
            </a:r>
          </a:p>
          <a:p>
            <a:pPr lvl="1"/>
            <a:endParaRPr lang="en-US" altLang="en-US" sz="2000"/>
          </a:p>
          <a:p>
            <a:r>
              <a:rPr lang="en-US" altLang="en-US" sz="2000"/>
              <a:t>Used for interacting quickly with Java from the command line without the need to compile and run.</a:t>
            </a:r>
          </a:p>
          <a:p>
            <a:endParaRPr lang="en-US" altLang="en-US" sz="1800"/>
          </a:p>
          <a:p>
            <a:r>
              <a:rPr lang="en-US" altLang="en-US" sz="1800"/>
              <a:t>Can  test new coding concepts quickly without the IDE environment </a:t>
            </a:r>
          </a:p>
          <a:p>
            <a:endParaRPr lang="en-US" altLang="en-US" sz="1800"/>
          </a:p>
          <a:p>
            <a:endParaRPr lang="en-US" altLang="en-US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5C2C4758-33D5-9123-5C9D-BC77B55570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Jshell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5F0EB5DF-BB51-1342-F09C-365677ED6F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Immediate feedback is important when learning a programming language and its APIs. </a:t>
            </a:r>
          </a:p>
          <a:p>
            <a:endParaRPr lang="en-US" altLang="en-US" sz="2000"/>
          </a:p>
          <a:p>
            <a:r>
              <a:rPr lang="en-US" altLang="en-US" sz="2000"/>
              <a:t>Try out things with a minimal effort and have immediate feedback. </a:t>
            </a:r>
          </a:p>
          <a:p>
            <a:endParaRPr lang="en-US" altLang="en-US" sz="2000"/>
          </a:p>
          <a:p>
            <a:r>
              <a:rPr lang="en-US" altLang="en-US" sz="2000"/>
              <a:t>No need to create a class, add a main method, add lines of code, perhaps add dependencies, compile, and  run the code. </a:t>
            </a:r>
          </a:p>
          <a:p>
            <a:endParaRPr lang="en-US" altLang="en-US" sz="2000"/>
          </a:p>
          <a:p>
            <a:r>
              <a:rPr lang="en-US" altLang="en-US" sz="2000"/>
              <a:t>Can quickly prototype and experiment with libraries </a:t>
            </a:r>
          </a:p>
          <a:p>
            <a:endParaRPr lang="en-US" altLang="en-US" sz="2000"/>
          </a:p>
          <a:p>
            <a:pPr lvl="1"/>
            <a:r>
              <a:rPr lang="en-US" altLang="en-US" sz="2000"/>
              <a:t>Find the return type of a method</a:t>
            </a:r>
          </a:p>
          <a:p>
            <a:pPr lvl="1"/>
            <a:r>
              <a:rPr lang="en-US" altLang="en-US" sz="2000"/>
              <a:t>Format pattern to show the time zone for a date</a:t>
            </a:r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3">
            <a:extLst>
              <a:ext uri="{FF2B5EF4-FFF2-40B4-BE49-F238E27FC236}">
                <a16:creationId xmlns:a16="http://schemas.microsoft.com/office/drawing/2014/main" id="{6D9B9031-B673-AEFE-924A-A7EC9AACD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Starting  and Stopping JShell</a:t>
            </a:r>
          </a:p>
        </p:txBody>
      </p:sp>
      <p:sp>
        <p:nvSpPr>
          <p:cNvPr id="115715" name="Content Placeholder 4">
            <a:extLst>
              <a:ext uri="{FF2B5EF4-FFF2-40B4-BE49-F238E27FC236}">
                <a16:creationId xmlns:a16="http://schemas.microsoft.com/office/drawing/2014/main" id="{DCC5C534-5254-04FE-95C5-13961FE18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Running </a:t>
            </a:r>
            <a:r>
              <a:rPr lang="en-US" sz="2000" dirty="0" err="1"/>
              <a:t>JShell</a:t>
            </a:r>
            <a:r>
              <a:rPr lang="en-US" sz="2000" dirty="0"/>
              <a:t>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 err="1"/>
              <a:t>Jshell</a:t>
            </a:r>
            <a:r>
              <a:rPr lang="en-US" sz="2000" dirty="0"/>
              <a:t>  [</a:t>
            </a:r>
            <a:r>
              <a:rPr lang="en-US" sz="2000" i="1" dirty="0"/>
              <a:t>options</a:t>
            </a:r>
            <a:r>
              <a:rPr lang="en-US" sz="2000" dirty="0"/>
              <a:t>]  [</a:t>
            </a:r>
            <a:r>
              <a:rPr lang="en-US" sz="2000" i="1" dirty="0"/>
              <a:t>load-files</a:t>
            </a:r>
            <a:r>
              <a:rPr lang="en-US" sz="2000" dirty="0"/>
              <a:t>] </a:t>
            </a:r>
            <a:br>
              <a:rPr lang="en-US" sz="2000" dirty="0"/>
            </a:br>
            <a:endParaRPr lang="en-US" sz="2000" dirty="0"/>
          </a:p>
          <a:p>
            <a:pPr>
              <a:defRPr/>
            </a:pPr>
            <a:r>
              <a:rPr lang="en-US" sz="2000" b="1" i="1" dirty="0"/>
              <a:t>Options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Command-line options separated by spaces.</a:t>
            </a:r>
          </a:p>
          <a:p>
            <a:pPr>
              <a:defRPr/>
            </a:pPr>
            <a:r>
              <a:rPr lang="en-US" sz="2000" b="1" i="1" dirty="0"/>
              <a:t>load-files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One or more scripts to run when the tool is started</a:t>
            </a:r>
          </a:p>
          <a:p>
            <a:pPr lvl="1">
              <a:defRPr/>
            </a:pPr>
            <a:endParaRPr lang="en-US" sz="2000" dirty="0">
              <a:ea typeface="+mn-ea"/>
              <a:cs typeface="+mn-cs"/>
            </a:endParaRPr>
          </a:p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</a:rPr>
              <a:t>F:\&gt;</a:t>
            </a:r>
            <a:r>
              <a:rPr lang="en-US" sz="1800" b="1" dirty="0" err="1">
                <a:solidFill>
                  <a:srgbClr val="FF0000"/>
                </a:solidFill>
              </a:rPr>
              <a:t>jshell</a:t>
            </a:r>
            <a:endParaRPr lang="en-US" sz="1800" b="1" dirty="0">
              <a:solidFill>
                <a:srgbClr val="FF0000"/>
              </a:solidFill>
            </a:endParaRPr>
          </a:p>
          <a:p>
            <a:pPr lvl="1">
              <a:buFontTx/>
              <a:buNone/>
              <a:defRPr/>
            </a:pPr>
            <a:r>
              <a:rPr lang="en-US" sz="2000" dirty="0"/>
              <a:t>|  Welcome to </a:t>
            </a:r>
            <a:r>
              <a:rPr lang="en-US" sz="2000" dirty="0" err="1"/>
              <a:t>JShell</a:t>
            </a:r>
            <a:r>
              <a:rPr lang="en-US" sz="2000" dirty="0"/>
              <a:t> -- Version 9</a:t>
            </a:r>
          </a:p>
          <a:p>
            <a:pPr lvl="1">
              <a:buFontTx/>
              <a:buNone/>
              <a:defRPr/>
            </a:pPr>
            <a:r>
              <a:rPr lang="en-US" sz="2000" dirty="0"/>
              <a:t>|  For an introduction type: /help intro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Exit the </a:t>
            </a:r>
            <a:r>
              <a:rPr lang="en-US" sz="2000" b="1" dirty="0" err="1">
                <a:solidFill>
                  <a:srgbClr val="0070C0"/>
                </a:solidFill>
              </a:rPr>
              <a:t>Jshell</a:t>
            </a:r>
            <a:endParaRPr lang="en-US" sz="20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/exit</a:t>
            </a:r>
          </a:p>
          <a:p>
            <a:pPr lvl="2">
              <a:buFontTx/>
              <a:buNone/>
              <a:defRPr/>
            </a:pPr>
            <a:r>
              <a:rPr lang="en-US" sz="1800" b="1" i="1" dirty="0"/>
              <a:t>| Goodbye $</a:t>
            </a:r>
          </a:p>
          <a:p>
            <a:pPr>
              <a:buFontTx/>
              <a:buNone/>
              <a:defRPr/>
            </a:pPr>
            <a:br>
              <a:rPr lang="en-US" sz="1800" dirty="0"/>
            </a:br>
            <a:endParaRPr lang="en-US" sz="1800" dirty="0"/>
          </a:p>
          <a:p>
            <a:pPr lvl="1">
              <a:defRPr/>
            </a:pP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1">
            <a:extLst>
              <a:ext uri="{FF2B5EF4-FFF2-40B4-BE49-F238E27FC236}">
                <a16:creationId xmlns:a16="http://schemas.microsoft.com/office/drawing/2014/main" id="{BF9F34C3-592B-5D3C-125C-EC6E027BE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Expressions and Scratch Variables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211CB1B-616B-AEDB-9EB9-E7C6D3E88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/>
              <a:t>Scratch Variable:</a:t>
            </a:r>
          </a:p>
          <a:p>
            <a:pPr lvl="1">
              <a:defRPr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Created when a result of an expression is not assigned to a variable</a:t>
            </a:r>
          </a:p>
          <a:p>
            <a:pPr lvl="1">
              <a:defRPr/>
            </a:pPr>
            <a:r>
              <a:rPr lang="en-US" sz="1800" dirty="0"/>
              <a:t>It stores the output of expression to  be used later. </a:t>
            </a:r>
          </a:p>
          <a:p>
            <a:pPr lvl="1">
              <a:defRPr/>
            </a:pPr>
            <a:r>
              <a:rPr lang="en-US" sz="1800" dirty="0"/>
              <a:t>Created by name of $ (</a:t>
            </a:r>
            <a:r>
              <a:rPr lang="en-US" sz="1800" dirty="0" err="1"/>
              <a:t>eg</a:t>
            </a:r>
            <a:r>
              <a:rPr lang="en-US" sz="1800" dirty="0"/>
              <a:t> $1, $2, $3)  and so on. </a:t>
            </a:r>
          </a:p>
          <a:p>
            <a:pPr lvl="1">
              <a:defRPr/>
            </a:pPr>
            <a:r>
              <a:rPr lang="en-US" sz="1800" dirty="0"/>
              <a:t>Can be  run as a  snippet by using   /4</a:t>
            </a:r>
          </a:p>
          <a:p>
            <a:pPr lvl="1">
              <a:defRPr/>
            </a:pPr>
            <a:endParaRPr lang="en-US" sz="1800" dirty="0"/>
          </a:p>
          <a:p>
            <a:pPr>
              <a:defRPr/>
            </a:pPr>
            <a:r>
              <a:rPr lang="en-US" sz="2000" dirty="0" err="1"/>
              <a:t>JShell</a:t>
            </a:r>
            <a:r>
              <a:rPr lang="en-US" sz="2000" dirty="0"/>
              <a:t> won't execute a statement until it knows the statement is completed.</a:t>
            </a:r>
          </a:p>
          <a:p>
            <a:pPr>
              <a:defRPr/>
            </a:pPr>
            <a:r>
              <a:rPr lang="en-US" sz="2000" dirty="0"/>
              <a:t> We'll be prompted to continue entering snippets until a valid statement or block is completed</a:t>
            </a:r>
          </a:p>
          <a:p>
            <a:pPr>
              <a:lnSpc>
                <a:spcPct val="200000"/>
              </a:lnSpc>
              <a:defRPr/>
            </a:pPr>
            <a:r>
              <a:rPr lang="en-US" sz="1800" dirty="0" err="1"/>
              <a:t>j</a:t>
            </a:r>
            <a:r>
              <a:rPr lang="en-US" sz="2000" dirty="0" err="1"/>
              <a:t>shell</a:t>
            </a:r>
            <a:r>
              <a:rPr lang="en-US" sz="2000" dirty="0"/>
              <a:t>&gt; "Hello World"</a:t>
            </a:r>
          </a:p>
          <a:p>
            <a:pPr>
              <a:lnSpc>
                <a:spcPct val="200000"/>
              </a:lnSpc>
              <a:defRPr/>
            </a:pPr>
            <a:r>
              <a:rPr lang="en-US" sz="2000" b="1" dirty="0"/>
              <a:t>$1 ==&gt; "Hello World"</a:t>
            </a: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>
            <a:extLst>
              <a:ext uri="{FF2B5EF4-FFF2-40B4-BE49-F238E27FC236}">
                <a16:creationId xmlns:a16="http://schemas.microsoft.com/office/drawing/2014/main" id="{1B975EB9-CC63-E9D5-50DD-DCAAA4D60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Identifiers</a:t>
            </a:r>
          </a:p>
        </p:txBody>
      </p:sp>
      <p:sp>
        <p:nvSpPr>
          <p:cNvPr id="133123" name="Content Placeholder 2">
            <a:extLst>
              <a:ext uri="{FF2B5EF4-FFF2-40B4-BE49-F238E27FC236}">
                <a16:creationId xmlns:a16="http://schemas.microsoft.com/office/drawing/2014/main" id="{89D66240-8B5D-82C1-298A-D4FA5F8E5D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It's not required to use a semicolon for single statements. </a:t>
            </a:r>
          </a:p>
          <a:p>
            <a:r>
              <a:rPr lang="en-US" altLang="en-US" sz="2000"/>
              <a:t>Need a semicolon between statements </a:t>
            </a:r>
          </a:p>
          <a:p>
            <a:r>
              <a:rPr lang="en-US" altLang="en-US" sz="2000"/>
              <a:t>The use of semicolon (;) is optional at the end of a statement.</a:t>
            </a:r>
          </a:p>
          <a:p>
            <a:endParaRPr lang="sv-SE" altLang="en-US" sz="2000"/>
          </a:p>
          <a:p>
            <a:r>
              <a:rPr lang="sv-SE" altLang="en-US" sz="2000"/>
              <a:t>int x = 20;</a:t>
            </a:r>
          </a:p>
          <a:p>
            <a:r>
              <a:rPr lang="sv-SE" altLang="en-US" sz="2000"/>
              <a:t>x ==&gt; 20</a:t>
            </a:r>
            <a:br>
              <a:rPr lang="en-US" altLang="en-US" sz="2000"/>
            </a:br>
            <a:endParaRPr lang="en-US" altLang="en-US" sz="2000"/>
          </a:p>
          <a:p>
            <a:r>
              <a:rPr lang="en-US" altLang="en-US" sz="2000"/>
              <a:t>String hello = $1 hello ==&gt; "Hello World again" </a:t>
            </a:r>
          </a:p>
          <a:p>
            <a:r>
              <a:rPr lang="en-US" altLang="en-US" sz="2000"/>
              <a:t>System.out.println(hello) Hello World again</a:t>
            </a:r>
          </a:p>
          <a:p>
            <a:endParaRPr lang="en-US" altLang="en-US" sz="2000"/>
          </a:p>
          <a:p>
            <a:r>
              <a:rPr lang="en-US" altLang="en-US" sz="2000"/>
              <a:t>int sum = 1 + 2 ;</a:t>
            </a:r>
          </a:p>
          <a:p>
            <a:r>
              <a:rPr lang="en-US" altLang="en-US" sz="2000"/>
              <a:t>System.out.println(sum) 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itle 1">
            <a:extLst>
              <a:ext uri="{FF2B5EF4-FFF2-40B4-BE49-F238E27FC236}">
                <a16:creationId xmlns:a16="http://schemas.microsoft.com/office/drawing/2014/main" id="{42F986D9-82D5-A3F5-7B1A-D0DB946F0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 b="1"/>
              <a:t>Basic Calculations</a:t>
            </a:r>
            <a:br>
              <a:rPr lang="en-US" altLang="en-US" b="1"/>
            </a:br>
            <a:endParaRPr lang="en-US" altLang="en-US"/>
          </a:p>
        </p:txBody>
      </p:sp>
      <p:sp>
        <p:nvSpPr>
          <p:cNvPr id="134147" name="Content Placeholder 2">
            <a:extLst>
              <a:ext uri="{FF2B5EF4-FFF2-40B4-BE49-F238E27FC236}">
                <a16:creationId xmlns:a16="http://schemas.microsoft.com/office/drawing/2014/main" id="{F29D516C-6B0A-EA2C-6988-C0D0193DFB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/>
              <a:t>jshell&gt; 1+2 $1 ==&gt; 3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jshell&gt; 2+5 $2 ==&gt; 7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jshell&gt; System.out.println("sum of the two scratch variables is:"+($1+$2)) sum of the two scratch variables is:10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jshell&gt; $1+$2 $4 ==&gt; 10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jshell&gt; $2 // we got variable number two!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$2 ==&gt; 5</a:t>
            </a:r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>
            <a:extLst>
              <a:ext uri="{FF2B5EF4-FFF2-40B4-BE49-F238E27FC236}">
                <a16:creationId xmlns:a16="http://schemas.microsoft.com/office/drawing/2014/main" id="{20C54F28-6112-705F-D3B3-2F0252E73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Defining Function </a:t>
            </a:r>
          </a:p>
        </p:txBody>
      </p:sp>
      <p:sp>
        <p:nvSpPr>
          <p:cNvPr id="135171" name="Content Placeholder 2">
            <a:extLst>
              <a:ext uri="{FF2B5EF4-FFF2-40B4-BE49-F238E27FC236}">
                <a16:creationId xmlns:a16="http://schemas.microsoft.com/office/drawing/2014/main" id="{65319FB1-ABE1-3AB8-584A-D5FC51ADEA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Can define function also </a:t>
            </a:r>
          </a:p>
          <a:p>
            <a:r>
              <a:rPr lang="en-US" altLang="en-US" sz="2000"/>
              <a:t>int doubleThis(int i) { return i*2; }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| created method doubleThis(int)</a:t>
            </a:r>
          </a:p>
          <a:p>
            <a:pPr lvl="1"/>
            <a:r>
              <a:rPr lang="en-US" altLang="en-US" sz="2000"/>
              <a:t>doubleThis(5)</a:t>
            </a:r>
          </a:p>
          <a:p>
            <a:pPr lvl="1"/>
            <a:r>
              <a:rPr lang="en-US" altLang="en-US" sz="2000"/>
              <a:t>$7 ==&gt; 10</a:t>
            </a:r>
          </a:p>
          <a:p>
            <a:endParaRPr lang="en-US" altLang="en-US" sz="2000"/>
          </a:p>
          <a:p>
            <a:r>
              <a:rPr lang="en-US" altLang="en-US" sz="2000"/>
              <a:t>int getNegativeValue(int number) { </a:t>
            </a:r>
          </a:p>
          <a:p>
            <a:r>
              <a:rPr lang="en-US" altLang="en-US" sz="2000"/>
              <a:t>   ...&gt; return -number; </a:t>
            </a:r>
          </a:p>
          <a:p>
            <a:r>
              <a:rPr lang="en-US" altLang="en-US" sz="2000"/>
              <a:t>     ...&gt; } </a:t>
            </a:r>
          </a:p>
          <a:p>
            <a:r>
              <a:rPr lang="en-US" altLang="en-US" sz="2000"/>
              <a:t>| created method getNegativeValue(int)</a:t>
            </a:r>
          </a:p>
          <a:p>
            <a:r>
              <a:rPr lang="en-US" altLang="en-US" sz="2000"/>
              <a:t>getNegativeValue(10) </a:t>
            </a:r>
          </a:p>
          <a:p>
            <a:r>
              <a:rPr lang="en-US" altLang="en-US" sz="2000"/>
              <a:t>$5 ==&gt; -10</a:t>
            </a:r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1">
            <a:extLst>
              <a:ext uri="{FF2B5EF4-FFF2-40B4-BE49-F238E27FC236}">
                <a16:creationId xmlns:a16="http://schemas.microsoft.com/office/drawing/2014/main" id="{A35F7763-1E0B-7361-FB2E-678D8B5B0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Calling Methods</a:t>
            </a:r>
          </a:p>
        </p:txBody>
      </p:sp>
      <p:sp>
        <p:nvSpPr>
          <p:cNvPr id="136195" name="Content Placeholder 2">
            <a:extLst>
              <a:ext uri="{FF2B5EF4-FFF2-40B4-BE49-F238E27FC236}">
                <a16:creationId xmlns:a16="http://schemas.microsoft.com/office/drawing/2014/main" id="{A4C6E716-B399-F54F-CB71-5FD82E41D0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v-SE" altLang="en-US" sz="2000"/>
              <a:t>jshell&gt; Math.random()</a:t>
            </a:r>
          </a:p>
          <a:p>
            <a:pPr lvl="1"/>
            <a:r>
              <a:rPr lang="en-US" altLang="en-US" sz="2000"/>
              <a:t>Creates a  scratch variable </a:t>
            </a:r>
          </a:p>
          <a:p>
            <a:endParaRPr lang="sv-SE" altLang="en-US" sz="2000"/>
          </a:p>
          <a:p>
            <a:r>
              <a:rPr lang="sv-SE" altLang="en-US" sz="2000"/>
              <a:t>$1 ==&gt; 0.8564017451278595</a:t>
            </a:r>
          </a:p>
          <a:p>
            <a:endParaRPr lang="sv-SE" altLang="en-US" sz="2000"/>
          </a:p>
          <a:p>
            <a:r>
              <a:rPr lang="sv-SE" altLang="en-US" sz="2000"/>
              <a:t>jshell&gt; $1</a:t>
            </a:r>
          </a:p>
          <a:p>
            <a:r>
              <a:rPr lang="sv-SE" altLang="en-US" sz="2000"/>
              <a:t>$1 ==&gt; 0.8564017451278595</a:t>
            </a:r>
          </a:p>
          <a:p>
            <a:endParaRPr lang="sv-SE" altLang="en-US" sz="2000"/>
          </a:p>
          <a:p>
            <a:pPr>
              <a:buFontTx/>
              <a:buNone/>
            </a:pPr>
            <a:br>
              <a:rPr lang="en-US" altLang="en-US" sz="2000"/>
            </a:br>
            <a:endParaRPr lang="en-US" altLang="en-US" sz="2000"/>
          </a:p>
          <a:p>
            <a:endParaRPr lang="sv-SE" altLang="en-US" sz="2000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0B772793-8189-4C1F-A87F-2015C337C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Flow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E3CDEC43-C5B6-208D-0E85-68BBBB907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z="2400"/>
          </a:p>
          <a:p>
            <a:pPr lvl="1">
              <a:lnSpc>
                <a:spcPct val="150000"/>
              </a:lnSpc>
            </a:pPr>
            <a:r>
              <a:rPr lang="en-US" altLang="en-US" sz="2000"/>
              <a:t>Can use control flows (for, if, while, …). 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  <a:p>
            <a:pPr lvl="1">
              <a:lnSpc>
                <a:spcPct val="150000"/>
              </a:lnSpc>
            </a:pPr>
            <a:r>
              <a:rPr lang="en-US" altLang="en-US" sz="2000"/>
              <a:t>Done by entering condition, using return for each new line: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  <a:p>
            <a:pPr lvl="1">
              <a:lnSpc>
                <a:spcPct val="150000"/>
              </a:lnSpc>
            </a:pPr>
            <a:r>
              <a:rPr lang="en-US" altLang="en-US" sz="2000"/>
              <a:t>jshell&gt; if ("Hello World".equals($1)) {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...&gt; System.out.println(“success");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...&gt; }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// success </a:t>
            </a:r>
          </a:p>
          <a:p>
            <a:pPr>
              <a:buFontTx/>
              <a:buNone/>
            </a:pP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itle 1">
            <a:extLst>
              <a:ext uri="{FF2B5EF4-FFF2-40B4-BE49-F238E27FC236}">
                <a16:creationId xmlns:a16="http://schemas.microsoft.com/office/drawing/2014/main" id="{8ABB24AE-C728-7597-EF8A-D7772E46A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Exceptions – Unchecked </a:t>
            </a:r>
          </a:p>
        </p:txBody>
      </p:sp>
      <p:sp>
        <p:nvSpPr>
          <p:cNvPr id="138243" name="Content Placeholder 2">
            <a:extLst>
              <a:ext uri="{FF2B5EF4-FFF2-40B4-BE49-F238E27FC236}">
                <a16:creationId xmlns:a16="http://schemas.microsoft.com/office/drawing/2014/main" id="{23382E84-4C49-B7F7-E2DE-2E3A9B9DD7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Will automatically catches exceptions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Will display information about them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Allows  to continue the session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This works for unchecked exceptions: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jshell&gt; 1/0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| java.lang.ArithmeticException thrown: / by zero | at (#24:1) 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itle 1">
            <a:extLst>
              <a:ext uri="{FF2B5EF4-FFF2-40B4-BE49-F238E27FC236}">
                <a16:creationId xmlns:a16="http://schemas.microsoft.com/office/drawing/2014/main" id="{973199B4-3E48-FDA4-07BE-68C3719C4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Exceptions –Checked </a:t>
            </a:r>
          </a:p>
        </p:txBody>
      </p:sp>
      <p:sp>
        <p:nvSpPr>
          <p:cNvPr id="139267" name="Content Placeholder 2">
            <a:extLst>
              <a:ext uri="{FF2B5EF4-FFF2-40B4-BE49-F238E27FC236}">
                <a16:creationId xmlns:a16="http://schemas.microsoft.com/office/drawing/2014/main" id="{41B34E56-7926-EDBE-FA5B-4BA32974DC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Checked exceptions, without wrapping them in a try/catch statement: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jshell&gt; FileInputStream fis = new FileInputStream("nonexistentfile.txt")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| java.io.FileNotFoundException thrown: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nonexistentfile.txt (The system cannot find the file specified) | at FileInputStream.open0 (Native Method) | at FileInputStream.open (FileInputStream.java:196) | at FileInputStream.&lt;init&gt; (FileInputStream.java:139) | at FileInputStream.&lt;init&gt; (FileInputStream.java:94) | at (#25:1)</a:t>
            </a:r>
          </a:p>
          <a:p>
            <a:pPr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>
            <a:extLst>
              <a:ext uri="{FF2B5EF4-FFF2-40B4-BE49-F238E27FC236}">
                <a16:creationId xmlns:a16="http://schemas.microsoft.com/office/drawing/2014/main" id="{90B1FB33-E56E-8730-6F34-25248FEC5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a Class</a:t>
            </a:r>
          </a:p>
        </p:txBody>
      </p:sp>
      <p:sp>
        <p:nvSpPr>
          <p:cNvPr id="140291" name="Content Placeholder 2">
            <a:extLst>
              <a:ext uri="{FF2B5EF4-FFF2-40B4-BE49-F238E27FC236}">
                <a16:creationId xmlns:a16="http://schemas.microsoft.com/office/drawing/2014/main" id="{1BF6A167-960F-235E-3A05-9311BD569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/>
              <a:t>Can also declare classes</a:t>
            </a:r>
          </a:p>
          <a:p>
            <a:r>
              <a:rPr lang="en-US" altLang="en-US" sz="1800"/>
              <a:t>Modifiers of methods and fields defined inside a class are applied </a:t>
            </a:r>
          </a:p>
          <a:p>
            <a:r>
              <a:rPr lang="en-US" altLang="en-US" sz="1800"/>
              <a:t>If the code incomplete then hitting enter will not submit the code but the editing will continue on the next line.</a:t>
            </a:r>
          </a:p>
          <a:p>
            <a:endParaRPr lang="en-US" altLang="en-US" sz="1800"/>
          </a:p>
          <a:p>
            <a:pPr lvl="1">
              <a:buFontTx/>
              <a:buNone/>
            </a:pPr>
            <a:r>
              <a:rPr lang="en-US" altLang="en-US" b="1"/>
              <a:t>class BonusCalc {</a:t>
            </a:r>
            <a:br>
              <a:rPr lang="en-US" altLang="en-US" b="1"/>
            </a:br>
            <a:r>
              <a:rPr lang="en-US" altLang="en-US" b="1"/>
              <a:t>...&gt; private int rate;</a:t>
            </a:r>
            <a:br>
              <a:rPr lang="en-US" altLang="en-US" b="1"/>
            </a:br>
            <a:r>
              <a:rPr lang="en-US" altLang="en-US" b="1"/>
              <a:t>...&gt; </a:t>
            </a:r>
            <a:br>
              <a:rPr lang="en-US" altLang="en-US" b="1"/>
            </a:br>
            <a:r>
              <a:rPr lang="en-US" altLang="en-US" b="1"/>
              <a:t>...&gt; BonusCalc(int rate) {</a:t>
            </a:r>
            <a:br>
              <a:rPr lang="en-US" altLang="en-US" b="1"/>
            </a:br>
            <a:r>
              <a:rPr lang="en-US" altLang="en-US" b="1"/>
              <a:t>...&gt; this.rate = rate;</a:t>
            </a:r>
            <a:br>
              <a:rPr lang="en-US" altLang="en-US" b="1"/>
            </a:br>
            <a:r>
              <a:rPr lang="en-US" altLang="en-US" b="1"/>
              <a:t>...&gt; }</a:t>
            </a:r>
            <a:br>
              <a:rPr lang="en-US" altLang="en-US" b="1"/>
            </a:br>
            <a:r>
              <a:rPr lang="en-US" altLang="en-US" b="1"/>
              <a:t>...&gt; </a:t>
            </a:r>
            <a:br>
              <a:rPr lang="en-US" altLang="en-US" b="1"/>
            </a:br>
            <a:r>
              <a:rPr lang="en-US" altLang="en-US" b="1"/>
              <a:t>...&gt; int calc(int salary) {</a:t>
            </a:r>
            <a:br>
              <a:rPr lang="en-US" altLang="en-US" b="1"/>
            </a:br>
            <a:r>
              <a:rPr lang="en-US" altLang="en-US" b="1"/>
              <a:t>...&gt; return salary + (salary * rate) / 100;</a:t>
            </a:r>
            <a:br>
              <a:rPr lang="en-US" altLang="en-US" b="1"/>
            </a:br>
            <a:r>
              <a:rPr lang="en-US" altLang="en-US" b="1"/>
              <a:t>...&gt; }</a:t>
            </a:r>
            <a:br>
              <a:rPr lang="en-US" altLang="en-US" b="1"/>
            </a:br>
            <a:r>
              <a:rPr lang="en-US" altLang="en-US" b="1"/>
              <a:t>...&gt; }</a:t>
            </a:r>
            <a:br>
              <a:rPr lang="en-US" altLang="en-US" b="1"/>
            </a:br>
            <a:endParaRPr lang="en-US" altLang="en-US" b="1"/>
          </a:p>
          <a:p>
            <a:pPr lvl="1">
              <a:buFontTx/>
              <a:buNone/>
            </a:pPr>
            <a:r>
              <a:rPr lang="en-US" altLang="en-US" b="1"/>
              <a:t>| created class BonusCalc</a:t>
            </a:r>
            <a:br>
              <a:rPr lang="en-US" altLang="en-US" b="1"/>
            </a:br>
            <a:endParaRPr lang="en-US" altLang="en-US" b="1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itle 1">
            <a:extLst>
              <a:ext uri="{FF2B5EF4-FFF2-40B4-BE49-F238E27FC236}">
                <a16:creationId xmlns:a16="http://schemas.microsoft.com/office/drawing/2014/main" id="{7E5C396C-8D27-DE61-9B02-B47A35750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Instance</a:t>
            </a:r>
          </a:p>
        </p:txBody>
      </p:sp>
      <p:sp>
        <p:nvSpPr>
          <p:cNvPr id="141315" name="Content Placeholder 2">
            <a:extLst>
              <a:ext uri="{FF2B5EF4-FFF2-40B4-BE49-F238E27FC236}">
                <a16:creationId xmlns:a16="http://schemas.microsoft.com/office/drawing/2014/main" id="{0C896D59-2683-78B9-C9F5-EF72DC6749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/>
              <a:t>BonusCalc threePercentBonusCalc = new BonusCalc(3);</a:t>
            </a:r>
            <a:br>
              <a:rPr lang="en-US" altLang="en-US" sz="1800"/>
            </a:br>
            <a:endParaRPr lang="en-US" altLang="en-US" sz="1800"/>
          </a:p>
          <a:p>
            <a:r>
              <a:rPr lang="en-US" altLang="en-US" sz="1800"/>
              <a:t>threePercentBonusCalc ==&gt; BonusCalc@6093dd95</a:t>
            </a:r>
            <a:br>
              <a:rPr lang="en-US" altLang="en-US" sz="1800"/>
            </a:br>
            <a:endParaRPr lang="en-US" altLang="en-US" sz="1800"/>
          </a:p>
          <a:p>
            <a:r>
              <a:rPr lang="en-US" altLang="en-US" sz="1800"/>
              <a:t>| created variable threePercentBonusCalc : BonusCalc</a:t>
            </a:r>
            <a:br>
              <a:rPr lang="en-US" altLang="en-US" sz="1800"/>
            </a:br>
            <a:endParaRPr lang="en-US" altLang="en-US" sz="1800"/>
          </a:p>
          <a:p>
            <a:r>
              <a:rPr lang="en-US" altLang="en-US" sz="1800"/>
              <a:t>Using the instance:</a:t>
            </a:r>
          </a:p>
          <a:p>
            <a:endParaRPr lang="en-US" altLang="en-US" sz="1800"/>
          </a:p>
          <a:p>
            <a:r>
              <a:rPr lang="en-US" altLang="en-US" sz="1800"/>
              <a:t>threePercentBonusCalc.calc(1500);</a:t>
            </a:r>
            <a:br>
              <a:rPr lang="en-US" altLang="en-US" sz="1800"/>
            </a:br>
            <a:endParaRPr lang="en-US" altLang="en-US" sz="1800"/>
          </a:p>
          <a:p>
            <a:r>
              <a:rPr lang="en-US" altLang="en-US" sz="1800"/>
              <a:t>$11 ==&gt; 1545</a:t>
            </a:r>
            <a:br>
              <a:rPr lang="en-US" altLang="en-US" sz="1800"/>
            </a:br>
            <a:endParaRPr lang="en-US" altLang="en-US" sz="1800"/>
          </a:p>
          <a:p>
            <a:r>
              <a:rPr lang="en-US" altLang="en-US" sz="1800"/>
              <a:t>| created scratch variable $11 : int</a:t>
            </a:r>
            <a:br>
              <a:rPr lang="en-US" altLang="en-US" sz="1800"/>
            </a:br>
            <a:br>
              <a:rPr lang="en-US" altLang="en-US" sz="1800"/>
            </a:br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1">
            <a:extLst>
              <a:ext uri="{FF2B5EF4-FFF2-40B4-BE49-F238E27FC236}">
                <a16:creationId xmlns:a16="http://schemas.microsoft.com/office/drawing/2014/main" id="{17F08222-DED9-4EC4-2D4D-3F6186AF2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Referencing</a:t>
            </a:r>
          </a:p>
        </p:txBody>
      </p:sp>
      <p:sp>
        <p:nvSpPr>
          <p:cNvPr id="142339" name="Content Placeholder 2">
            <a:extLst>
              <a:ext uri="{FF2B5EF4-FFF2-40B4-BE49-F238E27FC236}">
                <a16:creationId xmlns:a16="http://schemas.microsoft.com/office/drawing/2014/main" id="{A8244528-D58C-5809-B605-9F2FB0FA5C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Accepts method definitions that reference methods, variables, or classes that aren’t yet defined. </a:t>
            </a:r>
          </a:p>
          <a:p>
            <a:endParaRPr lang="en-US" altLang="en-US" sz="2000"/>
          </a:p>
          <a:p>
            <a:r>
              <a:rPr lang="en-US" altLang="en-US" sz="2000" b="1"/>
              <a:t>double volume(double radius) {</a:t>
            </a:r>
            <a:r>
              <a:rPr lang="en-US" altLang="en-US" sz="2000"/>
              <a:t> ...&gt; </a:t>
            </a:r>
            <a:r>
              <a:rPr lang="en-US" altLang="en-US" sz="2000" b="1"/>
              <a:t>return 4.0 / 3.0 * PI * cube(radius);</a:t>
            </a:r>
            <a:r>
              <a:rPr lang="en-US" altLang="en-US" sz="2000"/>
              <a:t> ...&gt; </a:t>
            </a:r>
            <a:r>
              <a:rPr lang="en-US" altLang="en-US" sz="2000" b="1"/>
              <a:t>}</a:t>
            </a:r>
            <a:r>
              <a:rPr lang="en-US" altLang="en-US" sz="2000"/>
              <a:t> </a:t>
            </a:r>
          </a:p>
          <a:p>
            <a:pPr lvl="1"/>
            <a:r>
              <a:rPr lang="en-US" altLang="en-US"/>
              <a:t>| created method volume(double), however, it cannot be invoked until variable PI, and method cube(double) are declared </a:t>
            </a:r>
          </a:p>
          <a:p>
            <a:r>
              <a:rPr lang="en-US" altLang="en-US" sz="2000"/>
              <a:t>Jshell code is entered and evaluated sequentially, </a:t>
            </a:r>
          </a:p>
          <a:p>
            <a:r>
              <a:rPr lang="en-US" altLang="en-US" sz="2000"/>
              <a:t>JShell supports forward references in:</a:t>
            </a:r>
          </a:p>
          <a:p>
            <a:r>
              <a:rPr lang="en-US" altLang="en-US" sz="2000"/>
              <a:t>Methods</a:t>
            </a:r>
          </a:p>
          <a:p>
            <a:r>
              <a:rPr lang="en-US" altLang="en-US" sz="2000"/>
              <a:t>The type of</a:t>
            </a:r>
          </a:p>
          <a:p>
            <a:pPr lvl="1"/>
            <a:r>
              <a:rPr lang="en-US" altLang="en-US" sz="2000"/>
              <a:t>Return statements</a:t>
            </a:r>
          </a:p>
          <a:p>
            <a:pPr lvl="1"/>
            <a:r>
              <a:rPr lang="en-US" altLang="en-US" sz="2000"/>
              <a:t>Parameters</a:t>
            </a:r>
          </a:p>
          <a:p>
            <a:pPr lvl="1"/>
            <a:r>
              <a:rPr lang="en-US" altLang="en-US" sz="2000"/>
              <a:t>Variables</a:t>
            </a:r>
          </a:p>
          <a:p>
            <a:r>
              <a:rPr lang="en-US" altLang="en-US" sz="2000"/>
              <a:t>Doesn't support forward references in variable initializes </a:t>
            </a:r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">
            <a:extLst>
              <a:ext uri="{FF2B5EF4-FFF2-40B4-BE49-F238E27FC236}">
                <a16:creationId xmlns:a16="http://schemas.microsoft.com/office/drawing/2014/main" id="{77CB376B-E453-69ED-3141-0ABA39E82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  Complete </a:t>
            </a:r>
          </a:p>
        </p:txBody>
      </p:sp>
      <p:sp>
        <p:nvSpPr>
          <p:cNvPr id="143363" name="Content Placeholder 2">
            <a:extLst>
              <a:ext uri="{FF2B5EF4-FFF2-40B4-BE49-F238E27FC236}">
                <a16:creationId xmlns:a16="http://schemas.microsoft.com/office/drawing/2014/main" id="{4A951E72-709D-CC22-303A-1043E88DDB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z="2000"/>
          </a:p>
          <a:p>
            <a:r>
              <a:rPr lang="en-US" altLang="en-US" sz="2000"/>
              <a:t>Can use  ‘.’ (dot) after the variable and press TAB to get the list all available methods.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Can make JShell auto-complete by typing the beginning of a method and then hit the TAB button.</a:t>
            </a:r>
          </a:p>
          <a:p>
            <a:endParaRPr lang="en-US" altLang="en-US" sz="2000"/>
          </a:p>
          <a:p>
            <a:pPr>
              <a:buFontTx/>
              <a:buNone/>
            </a:pPr>
            <a:br>
              <a:rPr lang="en-US" altLang="en-US" sz="2000"/>
            </a:br>
            <a:endParaRPr lang="en-US" altLang="en-US" sz="2000"/>
          </a:p>
          <a:p>
            <a:endParaRPr lang="en-US" altLang="en-US" sz="2000"/>
          </a:p>
          <a:p>
            <a:pPr>
              <a:buFontTx/>
              <a:buNone/>
            </a:pPr>
            <a:br>
              <a:rPr lang="en-US" altLang="en-US" sz="2400"/>
            </a:br>
            <a:endParaRPr lang="en-US" altLang="en-US" sz="2400"/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itle 1">
            <a:extLst>
              <a:ext uri="{FF2B5EF4-FFF2-40B4-BE49-F238E27FC236}">
                <a16:creationId xmlns:a16="http://schemas.microsoft.com/office/drawing/2014/main" id="{B8E63817-4D3C-1DD5-A593-69C517EAC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Declarations Rules</a:t>
            </a:r>
          </a:p>
        </p:txBody>
      </p:sp>
      <p:sp>
        <p:nvSpPr>
          <p:cNvPr id="144387" name="Content Placeholder 2">
            <a:extLst>
              <a:ext uri="{FF2B5EF4-FFF2-40B4-BE49-F238E27FC236}">
                <a16:creationId xmlns:a16="http://schemas.microsoft.com/office/drawing/2014/main" id="{BDF86B8C-0F04-FD73-9222-38908FAE3E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/>
              <a:t>Declarations outside a class or interface  are created under the following rules:</a:t>
            </a:r>
          </a:p>
          <a:p>
            <a:endParaRPr lang="en-US" altLang="en-US" sz="1800"/>
          </a:p>
          <a:p>
            <a:pPr lvl="1">
              <a:lnSpc>
                <a:spcPct val="150000"/>
              </a:lnSpc>
            </a:pPr>
            <a:r>
              <a:rPr lang="en-US" altLang="en-US" sz="1800"/>
              <a:t>Access modifiers (public, protected, and private) are ignored.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All declaration snippets are accessible to all other snippets: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'final' not permitted in top-level declarations, ignored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The modifiers default and synchronized are not allowed: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The modifier abstract is allowed only on classes:</a:t>
            </a:r>
          </a:p>
          <a:p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1">
            <a:extLst>
              <a:ext uri="{FF2B5EF4-FFF2-40B4-BE49-F238E27FC236}">
                <a16:creationId xmlns:a16="http://schemas.microsoft.com/office/drawing/2014/main" id="{BC02DE90-1F82-4A82-B0BC-35FAEC8DB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imports</a:t>
            </a:r>
          </a:p>
        </p:txBody>
      </p:sp>
      <p:sp>
        <p:nvSpPr>
          <p:cNvPr id="145411" name="Content Placeholder 2">
            <a:extLst>
              <a:ext uri="{FF2B5EF4-FFF2-40B4-BE49-F238E27FC236}">
                <a16:creationId xmlns:a16="http://schemas.microsoft.com/office/drawing/2014/main" id="{5F94A908-D0C9-37F0-8C88-1F851538A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Gives you a list of all the current imported packages. </a:t>
            </a:r>
          </a:p>
          <a:p>
            <a:endParaRPr lang="en-US" altLang="en-US" sz="2000"/>
          </a:p>
          <a:p>
            <a:r>
              <a:rPr lang="en-US" altLang="en-US" sz="2000" b="1"/>
              <a:t>jshell&gt; /imports</a:t>
            </a:r>
          </a:p>
          <a:p>
            <a:endParaRPr lang="en-US" altLang="en-US" sz="2000"/>
          </a:p>
          <a:p>
            <a:r>
              <a:rPr lang="en-US" altLang="en-US" sz="2000"/>
              <a:t>Can import Additional  packages </a:t>
            </a:r>
          </a:p>
          <a:p>
            <a:endParaRPr lang="en-US" altLang="en-US" sz="2000"/>
          </a:p>
          <a:p>
            <a:r>
              <a:rPr lang="en-US" altLang="en-US" sz="2000"/>
              <a:t>Jshell&gt; import java.time.*;</a:t>
            </a:r>
            <a:br>
              <a:rPr lang="en-US" altLang="en-US" sz="2000"/>
            </a:br>
            <a:endParaRPr lang="en-US" altLang="en-US" sz="2000"/>
          </a:p>
          <a:p>
            <a:r>
              <a:rPr lang="en-US" altLang="en-US" sz="2000"/>
              <a:t>Now we can use Java Date Time API:</a:t>
            </a:r>
          </a:p>
          <a:p>
            <a:endParaRPr lang="en-US" altLang="en-US" sz="2000"/>
          </a:p>
          <a:p>
            <a:r>
              <a:rPr lang="en-US" altLang="en-US" sz="2000"/>
              <a:t>Jshell&gt;LocalTime.now();</a:t>
            </a:r>
          </a:p>
          <a:p>
            <a:endParaRPr lang="en-US" altLang="en-US" sz="2000"/>
          </a:p>
          <a:p>
            <a:r>
              <a:rPr lang="en-US" altLang="en-US" sz="2000"/>
              <a:t>Create a Scratch Variable $3</a:t>
            </a:r>
            <a:br>
              <a:rPr lang="en-US" altLang="en-US" sz="2000"/>
            </a:br>
            <a:r>
              <a:rPr lang="en-US" altLang="en-US" sz="2000"/>
              <a:t>$13 ==&gt; 15:29:25.512759800</a:t>
            </a: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itle 1">
            <a:extLst>
              <a:ext uri="{FF2B5EF4-FFF2-40B4-BE49-F238E27FC236}">
                <a16:creationId xmlns:a16="http://schemas.microsoft.com/office/drawing/2014/main" id="{5C7B8E5D-8BE2-8525-619B-61869A309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line</a:t>
            </a:r>
          </a:p>
        </p:txBody>
      </p:sp>
      <p:sp>
        <p:nvSpPr>
          <p:cNvPr id="146435" name="Content Placeholder 2">
            <a:extLst>
              <a:ext uri="{FF2B5EF4-FFF2-40B4-BE49-F238E27FC236}">
                <a16:creationId xmlns:a16="http://schemas.microsoft.com/office/drawing/2014/main" id="{5D252D9E-2F46-8111-B06E-6159C2EBF8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 /list       </a:t>
            </a:r>
          </a:p>
          <a:p>
            <a:pPr lvl="1"/>
            <a:r>
              <a:rPr lang="en-US" altLang="en-US" sz="2000"/>
              <a:t>list the source typed </a:t>
            </a:r>
          </a:p>
          <a:p>
            <a:pPr lvl="1"/>
            <a:r>
              <a:rPr lang="en-US" altLang="en-US" sz="2000"/>
              <a:t>lists by default, all the valid statements </a:t>
            </a:r>
          </a:p>
          <a:p>
            <a:pPr lvl="1"/>
            <a:r>
              <a:rPr lang="en-US" altLang="en-US" sz="2000"/>
              <a:t>Shows a numeric identifier for each snippet </a:t>
            </a:r>
          </a:p>
          <a:p>
            <a:pPr lvl="1"/>
            <a:r>
              <a:rPr lang="en-US" altLang="en-US" sz="2000"/>
              <a:t>Can execute again with identifier</a:t>
            </a:r>
          </a:p>
          <a:p>
            <a:endParaRPr lang="en-US" altLang="en-US" sz="2000"/>
          </a:p>
          <a:p>
            <a:r>
              <a:rPr lang="en-US" altLang="en-US" sz="2000" b="1"/>
              <a:t> /history. </a:t>
            </a:r>
          </a:p>
          <a:p>
            <a:pPr lvl="1"/>
            <a:r>
              <a:rPr lang="en-US" altLang="en-US" sz="2000"/>
              <a:t>history presents all the statements (valid or not) and commands typed:</a:t>
            </a:r>
          </a:p>
          <a:p>
            <a:pPr lvl="1"/>
            <a:endParaRPr lang="en-US" altLang="en-US" sz="2000"/>
          </a:p>
          <a:p>
            <a:r>
              <a:rPr lang="en-US" altLang="en-US" sz="2000" b="1"/>
              <a:t>- retain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If you want the settings to be the default for future sessions, </a:t>
            </a:r>
          </a:p>
          <a:p>
            <a:endParaRPr lang="en-US" altLang="en-US" sz="2000"/>
          </a:p>
          <a:p>
            <a:pPr lvl="1"/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itle 1">
            <a:extLst>
              <a:ext uri="{FF2B5EF4-FFF2-40B4-BE49-F238E27FC236}">
                <a16:creationId xmlns:a16="http://schemas.microsoft.com/office/drawing/2014/main" id="{93D4E1A8-CFDF-D165-296E-649BC508D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Line</a:t>
            </a:r>
          </a:p>
        </p:txBody>
      </p:sp>
      <p:sp>
        <p:nvSpPr>
          <p:cNvPr id="147459" name="Content Placeholder 2">
            <a:extLst>
              <a:ext uri="{FF2B5EF4-FFF2-40B4-BE49-F238E27FC236}">
                <a16:creationId xmlns:a16="http://schemas.microsoft.com/office/drawing/2014/main" id="{A9177B0D-4AB2-883D-DE83-2CDADAE348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/vars</a:t>
            </a:r>
          </a:p>
          <a:p>
            <a:endParaRPr lang="en-US" altLang="en-US" sz="2000"/>
          </a:p>
          <a:p>
            <a:pPr lvl="1"/>
            <a:r>
              <a:rPr lang="en-US" altLang="en-US" sz="2000"/>
              <a:t>List only variables </a:t>
            </a:r>
          </a:p>
          <a:p>
            <a:pPr>
              <a:buFontTx/>
              <a:buNone/>
            </a:pPr>
            <a:endParaRPr lang="en-US" altLang="en-US" sz="2000"/>
          </a:p>
          <a:p>
            <a:r>
              <a:rPr lang="en-US" altLang="en-US" sz="2000"/>
              <a:t>/methods</a:t>
            </a:r>
          </a:p>
          <a:p>
            <a:pPr lvl="1"/>
            <a:r>
              <a:rPr lang="en-US" altLang="en-US" sz="2000"/>
              <a:t>To List only Methods</a:t>
            </a:r>
          </a:p>
          <a:p>
            <a:endParaRPr lang="en-US" altLang="en-US" sz="2000"/>
          </a:p>
          <a:p>
            <a:r>
              <a:rPr lang="en-US" altLang="en-US" sz="2000"/>
              <a:t>/drop 2</a:t>
            </a:r>
          </a:p>
          <a:p>
            <a:pPr lvl="1"/>
            <a:r>
              <a:rPr lang="en-US" altLang="en-US" sz="2000"/>
              <a:t>Delete with the /drop command</a:t>
            </a:r>
          </a:p>
          <a:p>
            <a:pPr lvl="1"/>
            <a:r>
              <a:rPr lang="en-US" altLang="en-US" sz="2000"/>
              <a:t>/drop x  will remove the variable named x.</a:t>
            </a:r>
          </a:p>
          <a:p>
            <a:pPr lvl="1"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itle 1">
            <a:extLst>
              <a:ext uri="{FF2B5EF4-FFF2-40B4-BE49-F238E27FC236}">
                <a16:creationId xmlns:a16="http://schemas.microsoft.com/office/drawing/2014/main" id="{F2873A26-8B07-61A5-1562-2133DDCD7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Line</a:t>
            </a:r>
          </a:p>
        </p:txBody>
      </p:sp>
      <p:sp>
        <p:nvSpPr>
          <p:cNvPr id="148483" name="Content Placeholder 2">
            <a:extLst>
              <a:ext uri="{FF2B5EF4-FFF2-40B4-BE49-F238E27FC236}">
                <a16:creationId xmlns:a16="http://schemas.microsoft.com/office/drawing/2014/main" id="{26E69F41-5532-B9CD-7562-D9ADE998A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‘/edit varname’</a:t>
            </a:r>
          </a:p>
          <a:p>
            <a:pPr lvl="1"/>
            <a:r>
              <a:rPr lang="en-US" altLang="en-US" sz="2000"/>
              <a:t>popup window appears on screen to edit variable!</a:t>
            </a:r>
          </a:p>
          <a:p>
            <a:pPr lvl="1"/>
            <a:r>
              <a:rPr lang="en-US" altLang="en-US" sz="2000"/>
              <a:t>For Implicit variables creates another one with the new value:</a:t>
            </a:r>
          </a:p>
          <a:p>
            <a:pPr lvl="1"/>
            <a:r>
              <a:rPr lang="en-US" altLang="en-US" sz="2000"/>
              <a:t>This doesn't happen with explicitly named variables or types. </a:t>
            </a:r>
          </a:p>
          <a:p>
            <a:endParaRPr lang="en-US" altLang="en-US" sz="1800"/>
          </a:p>
          <a:p>
            <a:r>
              <a:rPr lang="en-US" altLang="en-US" sz="2000" b="1"/>
              <a:t>‘/edit’ </a:t>
            </a:r>
          </a:p>
          <a:p>
            <a:pPr lvl="1"/>
            <a:r>
              <a:rPr lang="en-US" altLang="en-US" sz="2000"/>
              <a:t>Same screen but, it lists all the variables </a:t>
            </a:r>
          </a:p>
          <a:p>
            <a:endParaRPr lang="en-US" altLang="en-US" sz="2000"/>
          </a:p>
          <a:p>
            <a:r>
              <a:rPr lang="en-US" altLang="en-US" sz="2000"/>
              <a:t>/set editor -retain notepad.exe</a:t>
            </a:r>
          </a:p>
          <a:p>
            <a:endParaRPr lang="en-US" altLang="en-US" sz="2000"/>
          </a:p>
          <a:p>
            <a:r>
              <a:rPr lang="en-US" altLang="en-US" sz="2000"/>
              <a:t>|  Editor set to: notepad.exe</a:t>
            </a:r>
          </a:p>
          <a:p>
            <a:r>
              <a:rPr lang="en-US" altLang="en-US" sz="2000"/>
              <a:t>|  Editor setting retained: notepad.exe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1">
            <a:extLst>
              <a:ext uri="{FF2B5EF4-FFF2-40B4-BE49-F238E27FC236}">
                <a16:creationId xmlns:a16="http://schemas.microsoft.com/office/drawing/2014/main" id="{2084ECB2-7913-9B49-D616-254DC25C1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Saving Files</a:t>
            </a:r>
          </a:p>
        </p:txBody>
      </p:sp>
      <p:sp>
        <p:nvSpPr>
          <p:cNvPr id="149507" name="Content Placeholder 2">
            <a:extLst>
              <a:ext uri="{FF2B5EF4-FFF2-40B4-BE49-F238E27FC236}">
                <a16:creationId xmlns:a16="http://schemas.microsoft.com/office/drawing/2014/main" id="{19DD96CC-CAAC-8722-2396-68B493715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All the statements typed in Jshell are lost on exit </a:t>
            </a:r>
          </a:p>
          <a:p>
            <a:endParaRPr lang="en-US" altLang="en-US" sz="2000"/>
          </a:p>
          <a:p>
            <a:r>
              <a:rPr lang="en-US" altLang="en-US" sz="2000" b="1"/>
              <a:t> /save command,</a:t>
            </a:r>
          </a:p>
          <a:p>
            <a:endParaRPr lang="en-US" altLang="en-US" sz="2000"/>
          </a:p>
          <a:p>
            <a:r>
              <a:rPr lang="en-US" altLang="en-US" sz="2000" b="1"/>
              <a:t>/save &lt;file&gt;. </a:t>
            </a:r>
          </a:p>
          <a:p>
            <a:pPr lvl="1"/>
            <a:r>
              <a:rPr lang="en-US" altLang="en-US" sz="2000"/>
              <a:t>Save the commands and snippets currently active to the provided file path.</a:t>
            </a:r>
          </a:p>
          <a:p>
            <a:endParaRPr lang="en-US" altLang="en-US" sz="2000"/>
          </a:p>
          <a:p>
            <a:r>
              <a:rPr lang="en-US" altLang="en-US" sz="2000" b="1"/>
              <a:t>/save -all &lt;file&gt;. </a:t>
            </a:r>
          </a:p>
          <a:p>
            <a:pPr lvl="1"/>
            <a:r>
              <a:rPr lang="en-US" altLang="en-US" sz="2000"/>
              <a:t>Save all commands and snippets, including overwritten, start-up, and failed commands and snippets to the provided file path.</a:t>
            </a:r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itle 1">
            <a:extLst>
              <a:ext uri="{FF2B5EF4-FFF2-40B4-BE49-F238E27FC236}">
                <a16:creationId xmlns:a16="http://schemas.microsoft.com/office/drawing/2014/main" id="{1F3D2902-C02C-BB6B-7329-DEC2E47F5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Saving Files</a:t>
            </a:r>
          </a:p>
        </p:txBody>
      </p:sp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8681481D-8DBE-1FDA-37E2-4126CCDBBB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script can be created externally in an editor</a:t>
            </a:r>
          </a:p>
          <a:p>
            <a:r>
              <a:rPr lang="en-US" altLang="en-US" sz="2000"/>
              <a:t>It can also be  generated from items entered in JShell.</a:t>
            </a:r>
          </a:p>
          <a:p>
            <a:r>
              <a:rPr lang="en-US" altLang="en-US" sz="2000"/>
              <a:t>Can use import statements and code </a:t>
            </a:r>
          </a:p>
          <a:p>
            <a:pPr>
              <a:buFontTx/>
              <a:buNone/>
            </a:pPr>
            <a:r>
              <a:rPr lang="en-US" altLang="en-US" sz="2000"/>
              <a:t> </a:t>
            </a:r>
          </a:p>
          <a:p>
            <a:r>
              <a:rPr lang="en-US" altLang="en-US" sz="2000" b="1"/>
              <a:t>/save mysnippets.jsh</a:t>
            </a:r>
          </a:p>
          <a:p>
            <a:pPr lvl="1"/>
            <a:r>
              <a:rPr lang="en-US" altLang="en-US" sz="2000"/>
              <a:t>To save the current active snippets to mysnippets.jsh.</a:t>
            </a:r>
          </a:p>
          <a:p>
            <a:endParaRPr lang="en-US" altLang="en-US" sz="2000" b="1"/>
          </a:p>
          <a:p>
            <a:r>
              <a:rPr lang="en-US" altLang="en-US" sz="2000" b="1"/>
              <a:t>/save -history myhistory.jsh</a:t>
            </a:r>
            <a:r>
              <a:rPr lang="en-US" altLang="en-US" sz="2000"/>
              <a:t> </a:t>
            </a:r>
          </a:p>
          <a:p>
            <a:pPr lvl="1"/>
            <a:r>
              <a:rPr lang="en-US" altLang="en-US" sz="2000"/>
              <a:t>To save  the history of all of the snippets and commands, </a:t>
            </a:r>
          </a:p>
          <a:p>
            <a:pPr lvl="1"/>
            <a:r>
              <a:rPr lang="en-US" altLang="en-US" sz="2000"/>
              <a:t>Saves both valid and invalid snippets</a:t>
            </a:r>
          </a:p>
          <a:p>
            <a:endParaRPr lang="en-US" altLang="en-US" sz="2000"/>
          </a:p>
          <a:p>
            <a:r>
              <a:rPr lang="en-US" altLang="en-US" sz="2000" b="1"/>
              <a:t>/save -start mystartup.jsh</a:t>
            </a:r>
            <a:r>
              <a:rPr lang="en-US" altLang="en-US" sz="2000"/>
              <a:t> </a:t>
            </a:r>
          </a:p>
          <a:p>
            <a:pPr lvl="1"/>
            <a:r>
              <a:rPr lang="en-US" altLang="en-US" sz="1800"/>
              <a:t>To save the contents of the current startup script setting </a:t>
            </a:r>
          </a:p>
          <a:p>
            <a:pPr lvl="1"/>
            <a:r>
              <a:rPr lang="en-US" altLang="en-US" sz="1800"/>
              <a:t>The file name provided can be any valid file path and name.</a:t>
            </a:r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itle 1">
            <a:extLst>
              <a:ext uri="{FF2B5EF4-FFF2-40B4-BE49-F238E27FC236}">
                <a16:creationId xmlns:a16="http://schemas.microsoft.com/office/drawing/2014/main" id="{4152D39D-A1A0-00E3-0351-945306265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Saving Files</a:t>
            </a:r>
          </a:p>
        </p:txBody>
      </p:sp>
      <p:sp>
        <p:nvSpPr>
          <p:cNvPr id="151555" name="Content Placeholder 2">
            <a:extLst>
              <a:ext uri="{FF2B5EF4-FFF2-40B4-BE49-F238E27FC236}">
                <a16:creationId xmlns:a16="http://schemas.microsoft.com/office/drawing/2014/main" id="{454C9CC1-E6BC-498E-833A-5F419302F5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save my-session.txt</a:t>
            </a:r>
          </a:p>
          <a:p>
            <a:endParaRPr lang="en-US" altLang="en-US" sz="2000"/>
          </a:p>
          <a:p>
            <a:r>
              <a:rPr lang="en-US" altLang="en-US" sz="2000"/>
              <a:t>A text file named </a:t>
            </a:r>
            <a:r>
              <a:rPr lang="en-US" altLang="en-US" sz="2000" i="1"/>
              <a:t>my-session.txt</a:t>
            </a:r>
            <a:r>
              <a:rPr lang="en-US" altLang="en-US" sz="2000"/>
              <a:t> will be saved in the current directory with the following content:</a:t>
            </a:r>
          </a:p>
          <a:p>
            <a:endParaRPr lang="en-US" altLang="en-US" sz="2000"/>
          </a:p>
          <a:p>
            <a:r>
              <a:rPr lang="en-US" altLang="en-US" sz="2000"/>
              <a:t>/open my-session.txt</a:t>
            </a:r>
          </a:p>
          <a:p>
            <a:endParaRPr lang="en-US" altLang="en-US" sz="2000"/>
          </a:p>
          <a:p>
            <a:r>
              <a:rPr lang="en-US" altLang="en-US" sz="2000"/>
              <a:t>All the statements defined in the text file will be executed:</a:t>
            </a:r>
          </a:p>
          <a:p>
            <a:endParaRPr lang="en-US" altLang="en-US" sz="2000"/>
          </a:p>
          <a:p>
            <a:r>
              <a:rPr lang="en-US" altLang="en-US" sz="2000"/>
              <a:t>/open my-session.txt Hello World </a:t>
            </a:r>
          </a:p>
          <a:p>
            <a:endParaRPr lang="en-US" altLang="en-US" sz="2000"/>
          </a:p>
          <a:p>
            <a:r>
              <a:rPr lang="en-US" altLang="en-US" sz="2000"/>
              <a:t>/open Book.java</a:t>
            </a:r>
            <a:br>
              <a:rPr lang="en-US" altLang="en-US" sz="2000"/>
            </a:b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itle 1">
            <a:extLst>
              <a:ext uri="{FF2B5EF4-FFF2-40B4-BE49-F238E27FC236}">
                <a16:creationId xmlns:a16="http://schemas.microsoft.com/office/drawing/2014/main" id="{87E92F9A-9582-A191-46C0-91C59A6060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/>
            </a:br>
            <a:r>
              <a:rPr lang="en-US" altLang="en-US" b="1"/>
              <a:t>Loading Scripts</a:t>
            </a:r>
            <a:br>
              <a:rPr lang="en-US" altLang="en-US" b="1"/>
            </a:br>
            <a:endParaRPr lang="en-US" altLang="en-US"/>
          </a:p>
        </p:txBody>
      </p:sp>
      <p:sp>
        <p:nvSpPr>
          <p:cNvPr id="152579" name="Content Placeholder 2">
            <a:extLst>
              <a:ext uri="{FF2B5EF4-FFF2-40B4-BE49-F238E27FC236}">
                <a16:creationId xmlns:a16="http://schemas.microsoft.com/office/drawing/2014/main" id="{A7DEFD7C-DC4A-72FB-CB09-FD9846AE5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Scripts can be loaded from the command line when a JShell session is started:</a:t>
            </a:r>
          </a:p>
          <a:p>
            <a:endParaRPr lang="en-US" altLang="en-US" sz="2000" b="1"/>
          </a:p>
          <a:p>
            <a:r>
              <a:rPr lang="en-US" altLang="en-US" sz="2000" b="1"/>
              <a:t>jshell mysnippets.jsh</a:t>
            </a:r>
            <a:r>
              <a:rPr lang="en-US" altLang="en-US" sz="2000"/>
              <a:t> </a:t>
            </a:r>
          </a:p>
          <a:p>
            <a:endParaRPr lang="en-US" altLang="en-US" sz="2000"/>
          </a:p>
          <a:p>
            <a:r>
              <a:rPr lang="en-US" altLang="en-US" sz="2000"/>
              <a:t>Scripts can also be loaded within a JShell session by using the /open command:</a:t>
            </a:r>
          </a:p>
          <a:p>
            <a:endParaRPr lang="en-US" altLang="en-US" sz="2000" b="1"/>
          </a:p>
          <a:p>
            <a:r>
              <a:rPr lang="en-US" altLang="en-US" sz="2000" b="1"/>
              <a:t>/open PRINTING</a:t>
            </a:r>
            <a:r>
              <a:rPr lang="en-US" altLang="en-US" sz="2000"/>
              <a:t> </a:t>
            </a:r>
          </a:p>
          <a:p>
            <a:br>
              <a:rPr lang="en-US" altLang="en-US" sz="2000"/>
            </a:b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itle 1">
            <a:extLst>
              <a:ext uri="{FF2B5EF4-FFF2-40B4-BE49-F238E27FC236}">
                <a16:creationId xmlns:a16="http://schemas.microsoft.com/office/drawing/2014/main" id="{8066B512-C4E8-99E5-6F7C-38A6E3724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Feed Back Mode</a:t>
            </a:r>
          </a:p>
        </p:txBody>
      </p:sp>
      <p:sp>
        <p:nvSpPr>
          <p:cNvPr id="153603" name="Content Placeholder 2">
            <a:extLst>
              <a:ext uri="{FF2B5EF4-FFF2-40B4-BE49-F238E27FC236}">
                <a16:creationId xmlns:a16="http://schemas.microsoft.com/office/drawing/2014/main" id="{E21CB978-5F85-5BB3-0546-3F26A9759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/>
              <a:t>Can  change the feedback mode to a different value </a:t>
            </a:r>
          </a:p>
          <a:p>
            <a:r>
              <a:rPr lang="en-US" altLang="en-US" sz="1800"/>
              <a:t>The default feedback mode is normal.</a:t>
            </a:r>
          </a:p>
          <a:p>
            <a:r>
              <a:rPr lang="en-US" altLang="en-US" sz="1800"/>
              <a:t>Using the /set feedback command </a:t>
            </a:r>
          </a:p>
          <a:p>
            <a:r>
              <a:rPr lang="en-US" altLang="en-US" sz="1800"/>
              <a:t>Available feedback modes: | concise | normal | silent | verbose </a:t>
            </a:r>
          </a:p>
          <a:p>
            <a:endParaRPr lang="en-US" altLang="en-US" sz="1800"/>
          </a:p>
          <a:p>
            <a:r>
              <a:rPr lang="en-US" altLang="en-US" sz="1800" b="1"/>
              <a:t>default mode is 'normal’</a:t>
            </a:r>
          </a:p>
          <a:p>
            <a:endParaRPr lang="en-US" altLang="en-US" sz="1800"/>
          </a:p>
          <a:p>
            <a:r>
              <a:rPr lang="en-US" altLang="en-US" sz="1800" b="1"/>
              <a:t>set feedback verbose</a:t>
            </a:r>
          </a:p>
          <a:p>
            <a:pPr lvl="1"/>
            <a:r>
              <a:rPr lang="en-US" altLang="en-US" sz="2000"/>
              <a:t>Shows that that variable has been modified and overwritten </a:t>
            </a:r>
          </a:p>
          <a:p>
            <a:endParaRPr lang="en-US" altLang="en-US" sz="1800"/>
          </a:p>
          <a:p>
            <a:r>
              <a:rPr lang="en-US" altLang="en-US" sz="1800" b="1"/>
              <a:t>/set feedback concise</a:t>
            </a:r>
          </a:p>
          <a:p>
            <a:endParaRPr lang="en-US" altLang="en-US" sz="1800"/>
          </a:p>
          <a:p>
            <a:r>
              <a:rPr lang="en-US" altLang="en-US" sz="1800"/>
              <a:t>int myvar = 3</a:t>
            </a:r>
          </a:p>
          <a:p>
            <a:endParaRPr lang="en-US" altLang="en-US" sz="1800"/>
          </a:p>
          <a:p>
            <a:r>
              <a:rPr lang="en-US" altLang="en-US" sz="1800" b="1"/>
              <a:t>/set feedback verbose</a:t>
            </a:r>
          </a:p>
          <a:p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954246-F187-20C6-9613-2125CD62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Module system</a:t>
            </a:r>
          </a:p>
        </p:txBody>
      </p:sp>
      <p:sp>
        <p:nvSpPr>
          <p:cNvPr id="154627" name="Text Placeholder 4">
            <a:extLst>
              <a:ext uri="{FF2B5EF4-FFF2-40B4-BE49-F238E27FC236}">
                <a16:creationId xmlns:a16="http://schemas.microsoft.com/office/drawing/2014/main" id="{4FEA0523-70BB-1031-0B32-58821D5F3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itle 1">
            <a:extLst>
              <a:ext uri="{FF2B5EF4-FFF2-40B4-BE49-F238E27FC236}">
                <a16:creationId xmlns:a16="http://schemas.microsoft.com/office/drawing/2014/main" id="{5B7027DF-F76C-C138-8F48-19650EA8A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Topics</a:t>
            </a:r>
          </a:p>
        </p:txBody>
      </p:sp>
      <p:sp>
        <p:nvSpPr>
          <p:cNvPr id="155651" name="Content Placeholder 2">
            <a:extLst>
              <a:ext uri="{FF2B5EF4-FFF2-40B4-BE49-F238E27FC236}">
                <a16:creationId xmlns:a16="http://schemas.microsoft.com/office/drawing/2014/main" id="{5A93E0BD-E3B0-14F9-C473-CD8F1A3C59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Introduction to the Java Module Platform System </a:t>
            </a:r>
          </a:p>
          <a:p>
            <a:r>
              <a:rPr lang="en-US" altLang="en-US" sz="2000"/>
              <a:t>Motivation and Goals of the Java Platform Module System </a:t>
            </a:r>
          </a:p>
          <a:p>
            <a:r>
              <a:rPr lang="en-US" altLang="en-US" sz="2000"/>
              <a:t>What is a Module? </a:t>
            </a:r>
          </a:p>
          <a:p>
            <a:r>
              <a:rPr lang="en-US" altLang="en-US" sz="2000"/>
              <a:t>The requires and exports Module Directives</a:t>
            </a:r>
          </a:p>
          <a:p>
            <a:r>
              <a:rPr lang="en-US" altLang="en-US" sz="2000"/>
              <a:t>The Modular JDK </a:t>
            </a:r>
          </a:p>
          <a:p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itle 1">
            <a:extLst>
              <a:ext uri="{FF2B5EF4-FFF2-40B4-BE49-F238E27FC236}">
                <a16:creationId xmlns:a16="http://schemas.microsoft.com/office/drawing/2014/main" id="{3AC919BC-7BED-CE9C-10EB-B71646A36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Need for Modules</a:t>
            </a:r>
            <a:endParaRPr lang="en-US" altLang="en-US"/>
          </a:p>
        </p:txBody>
      </p:sp>
      <p:sp>
        <p:nvSpPr>
          <p:cNvPr id="156675" name="Content Placeholder 2">
            <a:extLst>
              <a:ext uri="{FF2B5EF4-FFF2-40B4-BE49-F238E27FC236}">
                <a16:creationId xmlns:a16="http://schemas.microsoft.com/office/drawing/2014/main" id="{015C6070-9C21-55EB-D6C0-9C97547D4B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/>
              <a:t>Java has strong support for encapsulation and abstraction.</a:t>
            </a:r>
          </a:p>
          <a:p>
            <a:endParaRPr lang="en-US" altLang="en-US" sz="1800"/>
          </a:p>
          <a:p>
            <a:r>
              <a:rPr lang="en-US" altLang="en-US" sz="1800"/>
              <a:t>‘</a:t>
            </a:r>
            <a:r>
              <a:rPr lang="en-US" altLang="en-US" sz="1800" i="1"/>
              <a:t>packages</a:t>
            </a:r>
            <a:r>
              <a:rPr lang="en-US" altLang="en-US" sz="1800"/>
              <a:t>‘ are used to group related classes as per business capabilities. </a:t>
            </a:r>
          </a:p>
          <a:p>
            <a:pPr lvl="1"/>
            <a:r>
              <a:rPr lang="en-US" altLang="en-US" sz="2000"/>
              <a:t>Packages had  ‘access modifiers‘ to control what will be visible and what will be hidden to other classes or packages.</a:t>
            </a:r>
          </a:p>
          <a:p>
            <a:endParaRPr lang="en-US" altLang="en-US" sz="1800"/>
          </a:p>
          <a:p>
            <a:r>
              <a:rPr lang="en-US" altLang="en-US" sz="1800"/>
              <a:t>Dependencies are declared with ‘</a:t>
            </a:r>
            <a:r>
              <a:rPr lang="en-US" altLang="en-US" sz="1800" i="1"/>
              <a:t>import</a:t>
            </a:r>
            <a:r>
              <a:rPr lang="en-US" altLang="en-US" sz="1800"/>
              <a:t>‘ statements; but they are strictly ‘compile time’ constructs. </a:t>
            </a:r>
          </a:p>
          <a:p>
            <a:endParaRPr lang="en-US" altLang="en-US" sz="1800"/>
          </a:p>
          <a:p>
            <a:r>
              <a:rPr lang="en-US" altLang="en-US" sz="1800"/>
              <a:t>Once code is compiled, there is no mechanism to clearly state it’s runtime dependencies. </a:t>
            </a:r>
          </a:p>
          <a:p>
            <a:endParaRPr lang="en-US" altLang="en-US" sz="1800"/>
          </a:p>
          <a:p>
            <a:r>
              <a:rPr lang="en-US" altLang="en-US" sz="1800"/>
              <a:t>Runtime dependency resolution Need  special tools  like  maven. </a:t>
            </a:r>
          </a:p>
          <a:p>
            <a:endParaRPr lang="en-US" altLang="en-US" sz="1800"/>
          </a:p>
          <a:p>
            <a:r>
              <a:rPr lang="en-US" altLang="en-US" sz="1800"/>
              <a:t>Frameworks also started bundling their complete runtime dependencies as in  Spring boot </a:t>
            </a:r>
          </a:p>
          <a:p>
            <a:pPr>
              <a:buFontTx/>
              <a:buNone/>
            </a:pPr>
            <a:br>
              <a:rPr lang="en-US" altLang="en-US" sz="1800"/>
            </a:br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itle 1">
            <a:extLst>
              <a:ext uri="{FF2B5EF4-FFF2-40B4-BE49-F238E27FC236}">
                <a16:creationId xmlns:a16="http://schemas.microsoft.com/office/drawing/2014/main" id="{24952594-45AE-9BB3-3440-1E849694D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What is a module</a:t>
            </a:r>
            <a:endParaRPr lang="en-US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0628298B-E025-9DE6-32C3-C94872584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/>
              <a:t>A Module is a group of closely related packages and resources along with a module descriptor file.</a:t>
            </a:r>
            <a:endParaRPr lang="en-US" sz="2000" dirty="0"/>
          </a:p>
          <a:p>
            <a:pPr lvl="1">
              <a:lnSpc>
                <a:spcPct val="150000"/>
              </a:lnSpc>
              <a:defRPr/>
            </a:pPr>
            <a:r>
              <a:rPr lang="en-US" sz="1800" dirty="0">
                <a:ea typeface="+mn-ea"/>
                <a:cs typeface="+mn-cs"/>
              </a:rPr>
              <a:t>it’s a “package of Java Packages”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>
                <a:ea typeface="+mn-ea"/>
                <a:cs typeface="+mn-cs"/>
              </a:rPr>
              <a:t>abstraction that allows to make code even more reusable</a:t>
            </a: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sz="2000" b="1" dirty="0"/>
              <a:t>Packages</a:t>
            </a:r>
            <a:br>
              <a:rPr lang="en-US" sz="2000" b="1" dirty="0"/>
            </a:br>
            <a:endParaRPr lang="en-US" sz="2000" b="1" dirty="0"/>
          </a:p>
          <a:p>
            <a:pPr lvl="1">
              <a:defRPr/>
            </a:pPr>
            <a:r>
              <a:rPr lang="en-US" sz="2000" b="1" dirty="0"/>
              <a:t>Module is a container of packages</a:t>
            </a:r>
          </a:p>
          <a:p>
            <a:pPr lvl="1"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Module, </a:t>
            </a:r>
            <a:r>
              <a:rPr lang="en-US" sz="2000" b="1" dirty="0"/>
              <a:t>is </a:t>
            </a:r>
            <a:r>
              <a:rPr lang="en-US" sz="2000" b="1" dirty="0">
                <a:ea typeface="+mn-ea"/>
                <a:cs typeface="+mn-cs"/>
              </a:rPr>
              <a:t> organized with the code internally in packages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Helps in organizing code</a:t>
            </a:r>
          </a:p>
          <a:p>
            <a:pPr lvl="1"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Used to determine what code is publicly accessible outside of the module. </a:t>
            </a:r>
            <a:endParaRPr lang="en-US" sz="2000" dirty="0"/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itle 1">
            <a:extLst>
              <a:ext uri="{FF2B5EF4-FFF2-40B4-BE49-F238E27FC236}">
                <a16:creationId xmlns:a16="http://schemas.microsoft.com/office/drawing/2014/main" id="{125DC101-F9EF-0D82-3E6B-446343695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 System</a:t>
            </a:r>
          </a:p>
        </p:txBody>
      </p:sp>
      <p:sp>
        <p:nvSpPr>
          <p:cNvPr id="158723" name="Content Placeholder 2">
            <a:extLst>
              <a:ext uri="{FF2B5EF4-FFF2-40B4-BE49-F238E27FC236}">
                <a16:creationId xmlns:a16="http://schemas.microsoft.com/office/drawing/2014/main" id="{A9999A20-A3A1-569A-DF3A-479C9D4F70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Core highlight of new Java 9 release.</a:t>
            </a:r>
          </a:p>
          <a:p>
            <a:pPr lvl="1"/>
            <a:r>
              <a:rPr lang="en-US" altLang="en-US" sz="2000"/>
              <a:t>Also known as Project Jigshaw. </a:t>
            </a:r>
          </a:p>
          <a:p>
            <a:endParaRPr lang="en-US" altLang="en-US" sz="2000"/>
          </a:p>
          <a:p>
            <a:r>
              <a:rPr lang="en-US" altLang="en-US" sz="2000"/>
              <a:t>Module system has a </a:t>
            </a:r>
            <a:r>
              <a:rPr lang="en-US" altLang="en-US" sz="2000" b="1"/>
              <a:t>“java.base”</a:t>
            </a:r>
            <a:r>
              <a:rPr lang="en-US" altLang="en-US" sz="2000"/>
              <a:t> Module. </a:t>
            </a:r>
          </a:p>
          <a:p>
            <a:pPr lvl="1"/>
            <a:r>
              <a:rPr lang="en-US" altLang="en-US" sz="2000"/>
              <a:t>It’s known as Base Module. </a:t>
            </a:r>
          </a:p>
          <a:p>
            <a:pPr lvl="1"/>
            <a:r>
              <a:rPr lang="en-US" altLang="en-US" sz="2000"/>
              <a:t>Every application gets java.base  </a:t>
            </a:r>
          </a:p>
          <a:p>
            <a:pPr lvl="1"/>
            <a:r>
              <a:rPr lang="en-US" altLang="en-US" sz="2000"/>
              <a:t>packages java.lang, io, math, net, nio, util, security, text, time</a:t>
            </a:r>
          </a:p>
          <a:p>
            <a:pPr lvl="1"/>
            <a:r>
              <a:rPr lang="en-US" altLang="en-US" sz="2000"/>
              <a:t>Separate  Modules exisit for other packges</a:t>
            </a:r>
          </a:p>
          <a:p>
            <a:r>
              <a:rPr lang="en-US" altLang="en-US" sz="2000"/>
              <a:t>Modules are split into some major groups: </a:t>
            </a:r>
          </a:p>
          <a:p>
            <a:endParaRPr lang="en-US" altLang="en-US" sz="2000" i="1"/>
          </a:p>
          <a:p>
            <a:r>
              <a:rPr lang="en-US" altLang="en-US" sz="2000" i="1"/>
              <a:t>java</a:t>
            </a:r>
            <a:r>
              <a:rPr lang="en-US" altLang="en-US" sz="2000"/>
              <a:t> </a:t>
            </a:r>
          </a:p>
          <a:p>
            <a:pPr lvl="1"/>
            <a:r>
              <a:rPr lang="en-US" altLang="en-US"/>
              <a:t>modules are the implementation classes for the core SE Language Specification.</a:t>
            </a:r>
          </a:p>
          <a:p>
            <a:r>
              <a:rPr lang="en-US" altLang="en-US" sz="2000" b="1"/>
              <a:t>JDK</a:t>
            </a:r>
          </a:p>
          <a:p>
            <a:pPr lvl="1"/>
            <a:r>
              <a:rPr lang="en-US" altLang="en-US" b="1"/>
              <a:t>Anything needed by the JDK itself is kept in the </a:t>
            </a:r>
            <a:r>
              <a:rPr lang="en-US" altLang="en-US" b="1" i="1"/>
              <a:t>jdk</a:t>
            </a:r>
            <a:r>
              <a:rPr lang="en-US" altLang="en-US" b="1"/>
              <a:t> modules.</a:t>
            </a:r>
            <a:endParaRPr lang="en-US" altLang="en-US"/>
          </a:p>
        </p:txBody>
      </p:sp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itle 1">
            <a:extLst>
              <a:ext uri="{FF2B5EF4-FFF2-40B4-BE49-F238E27FC236}">
                <a16:creationId xmlns:a16="http://schemas.microsoft.com/office/drawing/2014/main" id="{6B9CA051-9AB2-618F-3E10-56B0CF816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</a:t>
            </a:r>
          </a:p>
        </p:txBody>
      </p:sp>
      <p:sp>
        <p:nvSpPr>
          <p:cNvPr id="159747" name="Content Placeholder 2">
            <a:extLst>
              <a:ext uri="{FF2B5EF4-FFF2-40B4-BE49-F238E27FC236}">
                <a16:creationId xmlns:a16="http://schemas.microsoft.com/office/drawing/2014/main" id="{BCBD7526-F572-34CB-5D8E-9DE12C237D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/>
              <a:t>Modules are artifacts containing code, with metadata describing the module and also its relation to other modules. </a:t>
            </a:r>
          </a:p>
          <a:p>
            <a:endParaRPr lang="en-US" altLang="en-US" sz="1800"/>
          </a:p>
          <a:p>
            <a:r>
              <a:rPr lang="en-US" altLang="en-US" sz="1800"/>
              <a:t>These  are recognizable from compile-time all the way through run-time.</a:t>
            </a:r>
          </a:p>
          <a:p>
            <a:endParaRPr lang="en-US" altLang="en-US" sz="1800"/>
          </a:p>
          <a:p>
            <a:r>
              <a:rPr lang="en-US" altLang="en-US" sz="1800"/>
              <a:t>Application  is  a combination of multiple modules </a:t>
            </a:r>
          </a:p>
          <a:p>
            <a:endParaRPr lang="en-US" altLang="en-US" sz="1800"/>
          </a:p>
          <a:p>
            <a:r>
              <a:rPr lang="en-US" altLang="en-US" sz="1800"/>
              <a:t>A  module represent a specific business capability. </a:t>
            </a:r>
          </a:p>
          <a:p>
            <a:endParaRPr lang="en-US" altLang="en-US" sz="1800"/>
          </a:p>
          <a:p>
            <a:r>
              <a:rPr lang="en-US" altLang="en-US" sz="1800"/>
              <a:t>They are  self-sufficient for that capability, and should expose only interfaces to use the module functionality. </a:t>
            </a:r>
          </a:p>
          <a:p>
            <a:endParaRPr lang="en-US" altLang="en-US" sz="1800"/>
          </a:p>
          <a:p>
            <a:r>
              <a:rPr lang="en-US" altLang="en-US" sz="1800"/>
              <a:t>A Module may  be dependent on other modules, which it should declare explicitly to complete its tasks</a:t>
            </a:r>
          </a:p>
        </p:txBody>
      </p: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itle 1">
            <a:extLst>
              <a:ext uri="{FF2B5EF4-FFF2-40B4-BE49-F238E27FC236}">
                <a16:creationId xmlns:a16="http://schemas.microsoft.com/office/drawing/2014/main" id="{18E45AE3-2415-4E49-EF0B-910A95D53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 Principle</a:t>
            </a:r>
          </a:p>
        </p:txBody>
      </p:sp>
      <p:sp>
        <p:nvSpPr>
          <p:cNvPr id="160771" name="Content Placeholder 2">
            <a:extLst>
              <a:ext uri="{FF2B5EF4-FFF2-40B4-BE49-F238E27FC236}">
                <a16:creationId xmlns:a16="http://schemas.microsoft.com/office/drawing/2014/main" id="{EB4C76A8-B9B5-B70D-7C5D-A87A1957EF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Strong Encapsulation</a:t>
            </a:r>
          </a:p>
          <a:p>
            <a:pPr lvl="1"/>
            <a:r>
              <a:rPr lang="en-US" altLang="en-US" sz="2000"/>
              <a:t>Encapsulation means to hide implementation details, which are not essential to know to use the module correctly. </a:t>
            </a:r>
          </a:p>
          <a:p>
            <a:pPr lvl="1"/>
            <a:r>
              <a:rPr lang="en-US" altLang="en-US" sz="2000"/>
              <a:t>The purpose is that encapsulated code may change freely without affecting users of the module.</a:t>
            </a:r>
          </a:p>
          <a:p>
            <a:endParaRPr lang="en-US" altLang="en-US" sz="2000" b="1"/>
          </a:p>
          <a:p>
            <a:r>
              <a:rPr lang="en-US" altLang="en-US" sz="2000" b="1"/>
              <a:t>Stable Abstraction</a:t>
            </a:r>
          </a:p>
          <a:p>
            <a:pPr lvl="1"/>
            <a:r>
              <a:rPr lang="en-US" altLang="en-US" sz="2000"/>
              <a:t>Abstraction helps to expose module functionality 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Its exposed through interfaces which  are  public APIs. 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When there is change the business logic or implementation inside module code, changes will be transparent to the module users.</a:t>
            </a:r>
          </a:p>
          <a:p>
            <a:pPr>
              <a:buFontTx/>
              <a:buNone/>
            </a:pPr>
            <a:br>
              <a:rPr lang="en-US" altLang="en-US" sz="2000"/>
            </a:b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itle 1">
            <a:extLst>
              <a:ext uri="{FF2B5EF4-FFF2-40B4-BE49-F238E27FC236}">
                <a16:creationId xmlns:a16="http://schemas.microsoft.com/office/drawing/2014/main" id="{6B90EE81-9A18-B525-89A1-04981EA10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 Principle</a:t>
            </a:r>
          </a:p>
        </p:txBody>
      </p:sp>
      <p:sp>
        <p:nvSpPr>
          <p:cNvPr id="161795" name="Content Placeholder 2">
            <a:extLst>
              <a:ext uri="{FF2B5EF4-FFF2-40B4-BE49-F238E27FC236}">
                <a16:creationId xmlns:a16="http://schemas.microsoft.com/office/drawing/2014/main" id="{139EF938-A5F8-1FA4-5D38-F337C98AE6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Explicit dependencies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Modules can be dependent on other modules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These external dependencies must be part of the module definition itself.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These dependencies between modules are often represented as graphs.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Graph at application level, will give better understanding of the application’s architecture.</a:t>
            </a:r>
          </a:p>
          <a:p>
            <a:endParaRPr lang="en-US" altLang="en-US"/>
          </a:p>
        </p:txBody>
      </p: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itle 1">
            <a:extLst>
              <a:ext uri="{FF2B5EF4-FFF2-40B4-BE49-F238E27FC236}">
                <a16:creationId xmlns:a16="http://schemas.microsoft.com/office/drawing/2014/main" id="{19991C83-34A3-6C17-DF0C-E86365EF3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Packaging Modules</a:t>
            </a:r>
          </a:p>
        </p:txBody>
      </p:sp>
      <p:sp>
        <p:nvSpPr>
          <p:cNvPr id="162819" name="Content Placeholder 2">
            <a:extLst>
              <a:ext uri="{FF2B5EF4-FFF2-40B4-BE49-F238E27FC236}">
                <a16:creationId xmlns:a16="http://schemas.microsoft.com/office/drawing/2014/main" id="{1FF70C91-71F4-36B5-549B-FE70B867F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module can be packaged as a jar file that has a </a:t>
            </a:r>
            <a:r>
              <a:rPr lang="en-US" altLang="en-US" sz="2000" b="1"/>
              <a:t>module-info.class </a:t>
            </a:r>
            <a:r>
              <a:rPr lang="en-US" altLang="en-US" sz="2000"/>
              <a:t>file at the root.</a:t>
            </a:r>
          </a:p>
          <a:p>
            <a:endParaRPr lang="en-US" altLang="en-US" sz="2000"/>
          </a:p>
          <a:p>
            <a:r>
              <a:rPr lang="en-US" altLang="en-US" sz="2000"/>
              <a:t>To use a module, Need to include the jar file into modulepath instead of the classpath. </a:t>
            </a:r>
          </a:p>
          <a:p>
            <a:endParaRPr lang="en-US" altLang="en-US" sz="2000"/>
          </a:p>
          <a:p>
            <a:r>
              <a:rPr lang="en-US" altLang="en-US" sz="2000"/>
              <a:t>A modular jar file added to classpath is normal jar file and module-info.class file will be ignored.</a:t>
            </a:r>
          </a:p>
          <a:p>
            <a:pPr>
              <a:buFontTx/>
              <a:buNone/>
            </a:pPr>
            <a:br>
              <a:rPr lang="en-US" altLang="en-US" sz="2000"/>
            </a:b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itle 1">
            <a:extLst>
              <a:ext uri="{FF2B5EF4-FFF2-40B4-BE49-F238E27FC236}">
                <a16:creationId xmlns:a16="http://schemas.microsoft.com/office/drawing/2014/main" id="{B01381A0-6EFC-893F-062C-E996BC5F5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JDK / JRE File Structure</a:t>
            </a:r>
          </a:p>
        </p:txBody>
      </p:sp>
      <p:pic>
        <p:nvPicPr>
          <p:cNvPr id="163843" name="Picture 2">
            <a:extLst>
              <a:ext uri="{FF2B5EF4-FFF2-40B4-BE49-F238E27FC236}">
                <a16:creationId xmlns:a16="http://schemas.microsoft.com/office/drawing/2014/main" id="{CC8FC3FE-4BC5-FD76-C0F0-4D642F825A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8229600" cy="5181600"/>
          </a:xfrm>
          <a:noFill/>
        </p:spPr>
      </p:pic>
    </p:spTree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itle 1">
            <a:extLst>
              <a:ext uri="{FF2B5EF4-FFF2-40B4-BE49-F238E27FC236}">
                <a16:creationId xmlns:a16="http://schemas.microsoft.com/office/drawing/2014/main" id="{D84D253D-7BC3-683A-F265-442A952A1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8 and 9 Comparison</a:t>
            </a:r>
          </a:p>
        </p:txBody>
      </p:sp>
      <p:pic>
        <p:nvPicPr>
          <p:cNvPr id="164867" name="Content Placeholder 3" descr="jdk8_application-450x244.png">
            <a:extLst>
              <a:ext uri="{FF2B5EF4-FFF2-40B4-BE49-F238E27FC236}">
                <a16:creationId xmlns:a16="http://schemas.microsoft.com/office/drawing/2014/main" id="{06ACE100-3D4C-CC49-1D3B-CE7E6D1A57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7467600" cy="2667000"/>
          </a:xfrm>
        </p:spPr>
      </p:pic>
      <p:pic>
        <p:nvPicPr>
          <p:cNvPr id="164868" name="Content Placeholder 3" descr="jdk9_application-450x260.png">
            <a:extLst>
              <a:ext uri="{FF2B5EF4-FFF2-40B4-BE49-F238E27FC236}">
                <a16:creationId xmlns:a16="http://schemas.microsoft.com/office/drawing/2014/main" id="{D95EC33C-8773-AE87-17B3-6F947368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00"/>
            <a:ext cx="75628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itle 1">
            <a:extLst>
              <a:ext uri="{FF2B5EF4-FFF2-40B4-BE49-F238E27FC236}">
                <a16:creationId xmlns:a16="http://schemas.microsoft.com/office/drawing/2014/main" id="{FA4AD6D9-D14B-12DF-A81A-50603CEBC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Modular JDK</a:t>
            </a:r>
            <a:endParaRPr lang="en-US" altLang="en-US"/>
          </a:p>
        </p:txBody>
      </p:sp>
      <p:sp>
        <p:nvSpPr>
          <p:cNvPr id="165891" name="Content Placeholder 2">
            <a:extLst>
              <a:ext uri="{FF2B5EF4-FFF2-40B4-BE49-F238E27FC236}">
                <a16:creationId xmlns:a16="http://schemas.microsoft.com/office/drawing/2014/main" id="{347005F2-E409-C657-25A0-29D643091D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JDK modules always run in module mode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Classpath sees whole JDK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Modules specify which JDK modules they need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Changes JDK structure</a:t>
            </a:r>
          </a:p>
          <a:p>
            <a:pPr lvl="1"/>
            <a:r>
              <a:rPr lang="en-US" altLang="en-US"/>
              <a:t>no more </a:t>
            </a:r>
            <a:r>
              <a:rPr lang="en-US" altLang="en-US" b="1"/>
              <a:t>rt.jar</a:t>
            </a:r>
          </a:p>
          <a:p>
            <a:pPr lvl="1"/>
            <a:r>
              <a:rPr lang="en-US" altLang="en-US"/>
              <a:t>packaged as </a:t>
            </a:r>
            <a:r>
              <a:rPr lang="en-US" altLang="en-US" b="1"/>
              <a:t>.jmod files</a:t>
            </a:r>
          </a:p>
          <a:p>
            <a:pPr lvl="1"/>
            <a:r>
              <a:rPr lang="en-US" altLang="en-US"/>
              <a:t>no more boot classpath</a:t>
            </a:r>
          </a:p>
          <a:p>
            <a:pPr lvl="1"/>
            <a:r>
              <a:rPr lang="en-US" altLang="en-US"/>
              <a:t>no more extension classpath</a:t>
            </a:r>
          </a:p>
          <a:p>
            <a:pPr lvl="1"/>
            <a:endParaRPr lang="en-US" altLang="en-US"/>
          </a:p>
          <a:p>
            <a:r>
              <a:rPr lang="en-US" altLang="en-US" sz="2000" b="1"/>
              <a:t>Creating a module</a:t>
            </a:r>
          </a:p>
          <a:p>
            <a:r>
              <a:rPr lang="en-US" altLang="en-US" sz="2000"/>
              <a:t>What modules does it depend on</a:t>
            </a:r>
          </a:p>
          <a:p>
            <a:pPr lvl="1"/>
            <a:r>
              <a:rPr lang="en-US" altLang="en-US" sz="2000"/>
              <a:t>depends on </a:t>
            </a:r>
            <a:r>
              <a:rPr lang="en-US" altLang="en-US" sz="2000" b="1"/>
              <a:t>java.base by default</a:t>
            </a:r>
          </a:p>
          <a:p>
            <a:r>
              <a:rPr lang="en-US" altLang="en-US" sz="2000"/>
              <a:t>What packages does it export</a:t>
            </a:r>
          </a:p>
          <a:p>
            <a:pPr lvl="1"/>
            <a:r>
              <a:rPr lang="en-US" altLang="en-US" sz="2000"/>
              <a:t>nothing exported by default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itle 1">
            <a:extLst>
              <a:ext uri="{FF2B5EF4-FFF2-40B4-BE49-F238E27FC236}">
                <a16:creationId xmlns:a16="http://schemas.microsoft.com/office/drawing/2014/main" id="{0ECB7AD6-400B-0ED9-F2FD-8BC478358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Resources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9555-B259-6FD0-E242-F68EF00B0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b="1" dirty="0"/>
              <a:t>Each module is responsible for its resources, like media or configuration files.</a:t>
            </a:r>
            <a:endParaRPr lang="en-US" sz="2000" dirty="0"/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In Earlier versions all resources are put into the root level of project and manually managed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resources belonged to different parts of the application.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Modules, can ship required images and XML files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Making projects much easier to manage.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>
            <a:extLst>
              <a:ext uri="{FF2B5EF4-FFF2-40B4-BE49-F238E27FC236}">
                <a16:creationId xmlns:a16="http://schemas.microsoft.com/office/drawing/2014/main" id="{44E78C29-2CF7-59F3-EBE2-D87E611B5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Module Types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803C1-A0DC-0CA6-1665-0623ED589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There are four types of modules in the new module system:</a:t>
            </a:r>
          </a:p>
          <a:p>
            <a:pPr>
              <a:defRPr/>
            </a:pPr>
            <a:r>
              <a:rPr lang="en-US" sz="2000" b="1" dirty="0"/>
              <a:t>System Modules</a:t>
            </a:r>
            <a:r>
              <a:rPr lang="en-US" sz="2000" b="1" i="1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They include the Java SE and JDK modules.</a:t>
            </a:r>
          </a:p>
          <a:p>
            <a:pPr>
              <a:defRPr/>
            </a:pPr>
            <a:r>
              <a:rPr lang="en-US" sz="2000" b="1" dirty="0"/>
              <a:t>Application Modules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Modules that are build by the application developers. 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These are named and defined in the compiled </a:t>
            </a:r>
            <a:r>
              <a:rPr lang="en-US" i="1" dirty="0">
                <a:ea typeface="+mn-ea"/>
                <a:cs typeface="+mn-cs"/>
              </a:rPr>
              <a:t>module-</a:t>
            </a:r>
            <a:r>
              <a:rPr lang="en-US" i="1" dirty="0" err="1">
                <a:ea typeface="+mn-ea"/>
                <a:cs typeface="+mn-cs"/>
              </a:rPr>
              <a:t>info.class</a:t>
            </a:r>
            <a:r>
              <a:rPr lang="en-US" i="1" dirty="0">
                <a:ea typeface="+mn-ea"/>
                <a:cs typeface="+mn-cs"/>
              </a:rPr>
              <a:t> </a:t>
            </a:r>
            <a:r>
              <a:rPr lang="en-US" dirty="0">
                <a:ea typeface="+mn-ea"/>
                <a:cs typeface="+mn-cs"/>
              </a:rPr>
              <a:t>file 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Included in the assembled JAR.</a:t>
            </a:r>
          </a:p>
          <a:p>
            <a:pPr>
              <a:defRPr/>
            </a:pPr>
            <a:r>
              <a:rPr lang="en-US" sz="2000" b="1" dirty="0"/>
              <a:t>Automatic Modules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Can include unofficial modules by adding existing JAR files to the module path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 The name of the module will be derived from the name of the JAR. 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Will have full read access to every other module loaded by the path.</a:t>
            </a:r>
          </a:p>
          <a:p>
            <a:pPr>
              <a:defRPr/>
            </a:pPr>
            <a:r>
              <a:rPr lang="en-US" sz="2000" b="1" dirty="0"/>
              <a:t>Unnamed Module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 When a class or JAR is loaded onto the </a:t>
            </a:r>
            <a:r>
              <a:rPr lang="en-US" dirty="0" err="1">
                <a:ea typeface="+mn-ea"/>
                <a:cs typeface="+mn-cs"/>
              </a:rPr>
              <a:t>classpath</a:t>
            </a:r>
            <a:r>
              <a:rPr lang="en-US" dirty="0">
                <a:ea typeface="+mn-ea"/>
                <a:cs typeface="+mn-cs"/>
              </a:rPr>
              <a:t>, but not the module path, it’s automatically added to the unnamed module. 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It’s a catch-all module to maintain backward compatibility with previously-written Java code.</a:t>
            </a:r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itle 1">
            <a:extLst>
              <a:ext uri="{FF2B5EF4-FFF2-40B4-BE49-F238E27FC236}">
                <a16:creationId xmlns:a16="http://schemas.microsoft.com/office/drawing/2014/main" id="{A963D44B-0055-2989-DED6-27895299F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 Naming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41574-B2F9-1201-FC63-215105B0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Similar to naming  packages </a:t>
            </a:r>
          </a:p>
          <a:p>
            <a:pPr lvl="1">
              <a:defRPr/>
            </a:pPr>
            <a:r>
              <a:rPr lang="en-US" sz="2000" dirty="0"/>
              <a:t>dots are allowed, dashes are not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Can use  project-style (</a:t>
            </a:r>
            <a:r>
              <a:rPr lang="en-US" sz="2000" dirty="0" err="1">
                <a:ea typeface="+mn-ea"/>
                <a:cs typeface="+mn-cs"/>
              </a:rPr>
              <a:t>my.module</a:t>
            </a:r>
            <a:r>
              <a:rPr lang="en-US" sz="2000" dirty="0">
                <a:ea typeface="+mn-ea"/>
                <a:cs typeface="+mn-cs"/>
              </a:rPr>
              <a:t>) </a:t>
            </a:r>
          </a:p>
          <a:p>
            <a:pPr lvl="1">
              <a:defRPr/>
            </a:pPr>
            <a:r>
              <a:rPr lang="en-US" sz="2000" dirty="0"/>
              <a:t>Can use  </a:t>
            </a:r>
            <a:r>
              <a:rPr lang="en-US" sz="2000" dirty="0">
                <a:ea typeface="+mn-ea"/>
                <a:cs typeface="+mn-cs"/>
              </a:rPr>
              <a:t>Reverse-DNS (</a:t>
            </a:r>
            <a:r>
              <a:rPr lang="en-US" sz="2000" i="1" dirty="0" err="1">
                <a:ea typeface="+mn-ea"/>
                <a:cs typeface="+mn-cs"/>
              </a:rPr>
              <a:t>com.training.mymodule</a:t>
            </a:r>
            <a:r>
              <a:rPr lang="en-US" sz="2000" dirty="0">
                <a:ea typeface="+mn-ea"/>
                <a:cs typeface="+mn-cs"/>
              </a:rPr>
              <a:t>). 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dirty="0"/>
              <a:t>Module names should follow package names</a:t>
            </a:r>
          </a:p>
          <a:p>
            <a:pPr>
              <a:defRPr/>
            </a:pPr>
            <a:r>
              <a:rPr lang="en-US" sz="2000" dirty="0"/>
              <a:t>The module name should be the root package:</a:t>
            </a:r>
          </a:p>
          <a:p>
            <a:pPr lvl="1">
              <a:defRPr/>
            </a:pPr>
            <a:r>
              <a:rPr lang="en-US" sz="2000" dirty="0" err="1"/>
              <a:t>com.training</a:t>
            </a:r>
            <a:endParaRPr lang="en-US" sz="2000" dirty="0"/>
          </a:p>
          <a:p>
            <a:pPr>
              <a:defRPr/>
            </a:pPr>
            <a:r>
              <a:rPr lang="en-US" sz="2000" b="1" dirty="0"/>
              <a:t>Module Name</a:t>
            </a:r>
          </a:p>
          <a:p>
            <a:pPr>
              <a:defRPr/>
            </a:pPr>
            <a:r>
              <a:rPr lang="en-US" sz="2000" dirty="0" err="1"/>
              <a:t>com.greetings.hello</a:t>
            </a:r>
            <a:r>
              <a:rPr lang="en-US" sz="2000" dirty="0"/>
              <a:t>    </a:t>
            </a:r>
          </a:p>
          <a:p>
            <a:pPr lvl="1">
              <a:defRPr/>
            </a:pPr>
            <a:r>
              <a:rPr lang="en-US" dirty="0" err="1"/>
              <a:t>com.greetings.hello</a:t>
            </a:r>
            <a:r>
              <a:rPr lang="en-US" dirty="0"/>
              <a:t>            // file system Naming</a:t>
            </a:r>
          </a:p>
          <a:p>
            <a:pPr lvl="1">
              <a:buFontTx/>
              <a:buNone/>
              <a:defRPr/>
            </a:pPr>
            <a:endParaRPr lang="en-US" dirty="0"/>
          </a:p>
          <a:p>
            <a:pPr marL="342900" lvl="1" indent="-342900">
              <a:buFontTx/>
              <a:buChar char="•"/>
              <a:defRPr/>
            </a:pPr>
            <a:r>
              <a:rPr lang="en-US" sz="2000" b="1" dirty="0"/>
              <a:t>Package Name</a:t>
            </a:r>
          </a:p>
          <a:p>
            <a:pPr marL="342900" lvl="1" indent="-342900">
              <a:buFontTx/>
              <a:buChar char="•"/>
              <a:defRPr/>
            </a:pPr>
            <a:r>
              <a:rPr lang="en-US" sz="2000" dirty="0" err="1"/>
              <a:t>com.greetings.hello</a:t>
            </a:r>
            <a:endParaRPr lang="en-US" sz="2000" dirty="0"/>
          </a:p>
          <a:p>
            <a:pPr lvl="1">
              <a:defRPr/>
            </a:pPr>
            <a:r>
              <a:rPr lang="en-US" dirty="0"/>
              <a:t>com/greetings/hello      // file system naming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itle 1">
            <a:extLst>
              <a:ext uri="{FF2B5EF4-FFF2-40B4-BE49-F238E27FC236}">
                <a16:creationId xmlns:a16="http://schemas.microsoft.com/office/drawing/2014/main" id="{43034918-235C-2A35-018F-EB881D6C0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 b="1">
                <a:solidFill>
                  <a:schemeClr val="tx1"/>
                </a:solidFill>
              </a:rPr>
              <a:t>Distribution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69987" name="Content Placeholder 2">
            <a:extLst>
              <a:ext uri="{FF2B5EF4-FFF2-40B4-BE49-F238E27FC236}">
                <a16:creationId xmlns:a16="http://schemas.microsoft.com/office/drawing/2014/main" id="{B5344DEC-B832-04C3-C99C-592A5DA1F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Can be</a:t>
            </a:r>
            <a:r>
              <a:rPr lang="en-US" altLang="en-US" sz="2400"/>
              <a:t> </a:t>
            </a:r>
            <a:r>
              <a:rPr lang="en-US" altLang="en-US" sz="2000"/>
              <a:t>distributed one of two ways: as a JAR file or as an “exploded” compiled project. 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Can create multi-module projects comprised of a “main application” and several library modules.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Can have only one module per JAR file.</a:t>
            </a:r>
            <a:endParaRPr lang="en-US" altLang="en-US" sz="2000"/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Need to make sure to bundle each module in project as a separate jar.</a:t>
            </a:r>
          </a:p>
          <a:p>
            <a:pPr>
              <a:lnSpc>
                <a:spcPct val="150000"/>
              </a:lnSpc>
              <a:buFontTx/>
              <a:buNone/>
            </a:pP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itle 1">
            <a:extLst>
              <a:ext uri="{FF2B5EF4-FFF2-40B4-BE49-F238E27FC236}">
                <a16:creationId xmlns:a16="http://schemas.microsoft.com/office/drawing/2014/main" id="{F734511A-886F-D7B0-A3BD-3E0807A0E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Module Descriptor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E714A-A0C2-3160-D547-A20E262EB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A module includes a descriptor file 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Has several aspects defined in it:</a:t>
            </a:r>
          </a:p>
          <a:p>
            <a:pPr>
              <a:defRPr/>
            </a:pPr>
            <a:r>
              <a:rPr lang="en-US" sz="2000" b="1" dirty="0"/>
              <a:t>Name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The name of the module</a:t>
            </a:r>
          </a:p>
          <a:p>
            <a:pPr>
              <a:defRPr/>
            </a:pPr>
            <a:r>
              <a:rPr lang="en-US" sz="2000" b="1" dirty="0"/>
              <a:t>Dependencies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A list of other modules that this module depends on</a:t>
            </a:r>
          </a:p>
          <a:p>
            <a:pPr>
              <a:defRPr/>
            </a:pPr>
            <a:r>
              <a:rPr lang="en-US" sz="2000" b="1" dirty="0"/>
              <a:t>Public Packages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 A list of all packages to be accessible from outside the module</a:t>
            </a:r>
          </a:p>
          <a:p>
            <a:pPr>
              <a:defRPr/>
            </a:pPr>
            <a:r>
              <a:rPr lang="en-US" sz="2000" b="1" dirty="0"/>
              <a:t>Services Offered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Can provide service implementations that can be consumed by other modules</a:t>
            </a:r>
          </a:p>
          <a:p>
            <a:pPr>
              <a:defRPr/>
            </a:pPr>
            <a:r>
              <a:rPr lang="en-US" sz="2000" b="1" dirty="0"/>
              <a:t>Services Consumed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Allows the current module to be a consumer of a service</a:t>
            </a:r>
          </a:p>
          <a:p>
            <a:pPr>
              <a:defRPr/>
            </a:pPr>
            <a:r>
              <a:rPr lang="en-US" sz="2000" b="1" dirty="0"/>
              <a:t>Reflection Permissions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 Explicitly allows other classes to use reflection to access the private members of a package</a:t>
            </a:r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itle 1">
            <a:extLst>
              <a:ext uri="{FF2B5EF4-FFF2-40B4-BE49-F238E27FC236}">
                <a16:creationId xmlns:a16="http://schemas.microsoft.com/office/drawing/2014/main" id="{3C42D6D2-0309-567F-2BD6-535A193C7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 i="1"/>
            </a:br>
            <a:r>
              <a:rPr lang="en-US" altLang="en-US" b="1" i="1"/>
              <a:t>module-info.java</a:t>
            </a:r>
            <a:r>
              <a:rPr lang="en-US" altLang="en-US" b="1"/>
              <a:t>.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BBF6-5D90-7E5B-681E-8D00AF931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None/>
              <a:defRPr/>
            </a:pPr>
            <a:r>
              <a:rPr lang="en-US" sz="2000" dirty="0"/>
              <a:t>Module Descriptor file contains Module Directive with following information</a:t>
            </a:r>
            <a:endParaRPr lang="en-US" sz="2000" i="1" dirty="0"/>
          </a:p>
          <a:p>
            <a:pPr marL="742950" lvl="2" indent="-342900">
              <a:defRPr/>
            </a:pPr>
            <a:r>
              <a:rPr lang="en-US" sz="2000" dirty="0"/>
              <a:t>Requires</a:t>
            </a:r>
          </a:p>
          <a:p>
            <a:pPr marL="742950" lvl="2" indent="-342900">
              <a:defRPr/>
            </a:pPr>
            <a:r>
              <a:rPr lang="en-US" sz="2000" dirty="0"/>
              <a:t>Exports</a:t>
            </a:r>
          </a:p>
          <a:p>
            <a:pPr marL="742950" lvl="2" indent="-342900">
              <a:defRPr/>
            </a:pPr>
            <a:r>
              <a:rPr lang="en-US" sz="2000" dirty="0"/>
              <a:t>provides…with</a:t>
            </a:r>
          </a:p>
          <a:p>
            <a:pPr marL="742950" lvl="2" indent="-342900">
              <a:defRPr/>
            </a:pPr>
            <a:r>
              <a:rPr lang="en-US" sz="2000" dirty="0"/>
              <a:t>uses and opens</a:t>
            </a:r>
          </a:p>
          <a:p>
            <a:pPr marL="342900" lvl="1" indent="-342900"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Module declaration begins with the keyword module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Followed by a unique module name and a module body enclosed in braces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Body can also be empty</a:t>
            </a:r>
          </a:p>
          <a:p>
            <a:pPr lvl="1">
              <a:buFontTx/>
              <a:buNone/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2000" b="1" dirty="0"/>
              <a:t>module </a:t>
            </a:r>
            <a:r>
              <a:rPr lang="en-US" sz="2000" b="1" i="1" dirty="0" err="1"/>
              <a:t>modulename</a:t>
            </a:r>
            <a:r>
              <a:rPr lang="en-US" sz="2000" b="1" dirty="0"/>
              <a:t> { </a:t>
            </a:r>
            <a:br>
              <a:rPr lang="en-US" sz="2000" b="1" dirty="0"/>
            </a:br>
            <a:r>
              <a:rPr lang="en-US" sz="2000" b="1" dirty="0"/>
              <a:t>}</a:t>
            </a:r>
            <a:endParaRPr lang="en-US" sz="2000" b="1" dirty="0"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itle 1">
            <a:extLst>
              <a:ext uri="{FF2B5EF4-FFF2-40B4-BE49-F238E27FC236}">
                <a16:creationId xmlns:a16="http://schemas.microsoft.com/office/drawing/2014/main" id="{63699FC7-54A0-41B1-2270-CCD95857A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Requires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02805F9E-5B8A-9368-0726-49D41EBB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/>
              <a:t>requires </a:t>
            </a:r>
            <a:r>
              <a:rPr lang="en-US" sz="2000" b="1" i="1" dirty="0" err="1"/>
              <a:t>modulename</a:t>
            </a:r>
            <a:r>
              <a:rPr lang="en-US" sz="2000" b="1" dirty="0"/>
              <a:t>;</a:t>
            </a:r>
          </a:p>
          <a:p>
            <a:pPr lvl="1">
              <a:defRPr/>
            </a:pPr>
            <a:r>
              <a:rPr lang="en-US" sz="2000" dirty="0"/>
              <a:t>specifies that the module depends on another module</a:t>
            </a:r>
          </a:p>
          <a:p>
            <a:pPr lvl="1"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/>
              <a:t>required module is needed at compile and run time. </a:t>
            </a:r>
          </a:p>
          <a:p>
            <a:pPr lvl="2">
              <a:defRPr/>
            </a:pPr>
            <a:endParaRPr lang="en-US" sz="2000" dirty="0"/>
          </a:p>
          <a:p>
            <a:pPr lvl="2">
              <a:defRPr/>
            </a:pPr>
            <a:r>
              <a:rPr lang="en-US" sz="2000" dirty="0"/>
              <a:t>Modules in JDK are searched then module in module path</a:t>
            </a:r>
          </a:p>
          <a:p>
            <a:pPr lvl="2">
              <a:defRPr/>
            </a:pPr>
            <a:r>
              <a:rPr lang="en-US" sz="2000" dirty="0"/>
              <a:t>Throws an error if it doesn't find the module.</a:t>
            </a:r>
          </a:p>
          <a:p>
            <a:pPr lvl="1">
              <a:buFontTx/>
              <a:buNone/>
              <a:defRPr/>
            </a:pPr>
            <a:endParaRPr lang="en-US" sz="2000" b="1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module </a:t>
            </a:r>
            <a:r>
              <a:rPr lang="en-US" sz="2000" b="1" dirty="0" err="1">
                <a:ea typeface="+mn-ea"/>
                <a:cs typeface="+mn-cs"/>
              </a:rPr>
              <a:t>com.training.base</a:t>
            </a:r>
            <a:r>
              <a:rPr lang="en-US" sz="2000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     	requires java.sql;</a:t>
            </a:r>
          </a:p>
          <a:p>
            <a:pPr>
              <a:buFontTx/>
              <a:buNone/>
              <a:defRPr/>
            </a:pPr>
            <a:r>
              <a:rPr lang="en-US" sz="2000" dirty="0"/>
              <a:t>    }</a:t>
            </a:r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itle 1">
            <a:extLst>
              <a:ext uri="{FF2B5EF4-FFF2-40B4-BE49-F238E27FC236}">
                <a16:creationId xmlns:a16="http://schemas.microsoft.com/office/drawing/2014/main" id="{18C0186D-92B7-30B1-2ECA-DA93BF751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Exports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74083" name="Content Placeholder 2">
            <a:extLst>
              <a:ext uri="{FF2B5EF4-FFF2-40B4-BE49-F238E27FC236}">
                <a16:creationId xmlns:a16="http://schemas.microsoft.com/office/drawing/2014/main" id="{5433CC43-B6F2-2656-EE60-75481C29C8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000" b="1"/>
              <a:t>By default, a module doesn’t expose any of its API to other modules.</a:t>
            </a:r>
            <a:r>
              <a:rPr lang="en-US" altLang="en-US" sz="2000"/>
              <a:t> 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directive to expose all public members and their nested public and protected types</a:t>
            </a:r>
            <a:endParaRPr lang="en-US" altLang="en-US" sz="2000"/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The </a:t>
            </a:r>
            <a:r>
              <a:rPr lang="en-US" altLang="en-US" sz="2000" i="1"/>
              <a:t>strong encapsulation ,</a:t>
            </a:r>
            <a:r>
              <a:rPr lang="en-US" altLang="en-US" sz="2000"/>
              <a:t>Code is significantly more secure, 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Need to explicitly open the  API to make it usable.</a:t>
            </a:r>
          </a:p>
          <a:p>
            <a:pPr lvl="1"/>
            <a:endParaRPr lang="en-US" altLang="en-US" sz="2000"/>
          </a:p>
          <a:p>
            <a:pPr lvl="1">
              <a:buFontTx/>
              <a:buNone/>
            </a:pPr>
            <a:r>
              <a:rPr lang="en-US" altLang="en-US" sz="2000" b="1"/>
              <a:t>module my.module {</a:t>
            </a:r>
          </a:p>
          <a:p>
            <a:pPr lvl="1">
              <a:buFontTx/>
              <a:buNone/>
            </a:pPr>
            <a:r>
              <a:rPr lang="en-US" altLang="en-US" sz="2000" b="1"/>
              <a:t>    exports com.my.package.name;</a:t>
            </a:r>
          </a:p>
          <a:p>
            <a:pPr lvl="1">
              <a:buFontTx/>
              <a:buNone/>
            </a:pPr>
            <a:r>
              <a:rPr lang="en-US" altLang="en-US" sz="2000" b="1"/>
              <a:t>}</a:t>
            </a:r>
          </a:p>
          <a:p>
            <a:r>
              <a:rPr lang="en-US" altLang="en-US" sz="2000" i="1"/>
              <a:t>Calling requires my.module</a:t>
            </a:r>
            <a:r>
              <a:rPr lang="en-US" altLang="en-US" sz="2000"/>
              <a:t>, will have access to the public types in  </a:t>
            </a:r>
            <a:r>
              <a:rPr lang="en-US" altLang="en-US" sz="2000" i="1"/>
              <a:t>com.my.package.name</a:t>
            </a:r>
            <a:r>
              <a:rPr lang="en-US" altLang="en-US" sz="2000"/>
              <a:t> package,</a:t>
            </a:r>
          </a:p>
          <a:p>
            <a:pPr lvl="1">
              <a:buFontTx/>
              <a:buNone/>
            </a:pPr>
            <a:r>
              <a:rPr lang="en-US" altLang="en-US" sz="2000"/>
              <a:t> </a:t>
            </a:r>
          </a:p>
        </p:txBody>
      </p:sp>
    </p:spTree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itle 1">
            <a:extLst>
              <a:ext uri="{FF2B5EF4-FFF2-40B4-BE49-F238E27FC236}">
                <a16:creationId xmlns:a16="http://schemas.microsoft.com/office/drawing/2014/main" id="{35713545-15B4-1A63-B080-0D9A1EAA8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 Start Project – First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F4EB5-C008-E571-3D7D-7F0B01B0E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package </a:t>
            </a:r>
            <a:r>
              <a:rPr lang="en-US" b="1" dirty="0" err="1">
                <a:ea typeface="+mn-ea"/>
                <a:cs typeface="+mn-cs"/>
              </a:rPr>
              <a:t>com.training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import </a:t>
            </a:r>
            <a:r>
              <a:rPr lang="en-US" b="1" dirty="0" err="1">
                <a:ea typeface="+mn-ea"/>
                <a:cs typeface="+mn-cs"/>
              </a:rPr>
              <a:t>java.util.ArrayList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class </a:t>
            </a:r>
            <a:r>
              <a:rPr lang="en-US" b="1" dirty="0" err="1">
                <a:ea typeface="+mn-ea"/>
                <a:cs typeface="+mn-cs"/>
              </a:rPr>
              <a:t>FirstExample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main(String[] </a:t>
            </a:r>
            <a:r>
              <a:rPr lang="en-US" b="1" dirty="0" err="1">
                <a:ea typeface="+mn-ea"/>
                <a:cs typeface="+mn-cs"/>
              </a:rPr>
              <a:t>args</a:t>
            </a:r>
            <a:r>
              <a:rPr lang="en-US" b="1" dirty="0">
                <a:ea typeface="+mn-ea"/>
                <a:cs typeface="+mn-cs"/>
              </a:rPr>
              <a:t>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 err="1">
                <a:ea typeface="+mn-ea"/>
                <a:cs typeface="+mn-cs"/>
              </a:rPr>
              <a:t>System.</a:t>
            </a:r>
            <a:r>
              <a:rPr lang="en-US" b="1" i="1" dirty="0" err="1">
                <a:ea typeface="+mn-ea"/>
                <a:cs typeface="+mn-cs"/>
              </a:rPr>
              <a:t>out.println</a:t>
            </a:r>
            <a:r>
              <a:rPr lang="en-US" b="1" i="1" dirty="0">
                <a:ea typeface="+mn-ea"/>
                <a:cs typeface="+mn-cs"/>
              </a:rPr>
              <a:t>("Hello World from Module");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 err="1">
                <a:ea typeface="+mn-ea"/>
                <a:cs typeface="+mn-cs"/>
              </a:rPr>
              <a:t>ArrayList</a:t>
            </a:r>
            <a:r>
              <a:rPr lang="en-US" dirty="0">
                <a:ea typeface="+mn-ea"/>
                <a:cs typeface="+mn-cs"/>
              </a:rPr>
              <a:t>&lt;String&gt; list = </a:t>
            </a:r>
            <a:r>
              <a:rPr lang="en-US" b="1" dirty="0">
                <a:ea typeface="+mn-ea"/>
                <a:cs typeface="+mn-cs"/>
              </a:rPr>
              <a:t>new </a:t>
            </a:r>
            <a:r>
              <a:rPr lang="en-US" b="1" dirty="0" err="1">
                <a:ea typeface="+mn-ea"/>
                <a:cs typeface="+mn-cs"/>
              </a:rPr>
              <a:t>ArrayList</a:t>
            </a:r>
            <a:r>
              <a:rPr lang="en-US" b="1" dirty="0">
                <a:ea typeface="+mn-ea"/>
                <a:cs typeface="+mn-cs"/>
              </a:rPr>
              <a:t>&lt;&gt;();</a:t>
            </a:r>
          </a:p>
          <a:p>
            <a:pPr lvl="1">
              <a:buFontTx/>
              <a:buNone/>
              <a:defRPr/>
            </a:pPr>
            <a:r>
              <a:rPr lang="en-US" dirty="0" err="1">
                <a:ea typeface="+mn-ea"/>
                <a:cs typeface="+mn-cs"/>
              </a:rPr>
              <a:t>list.add</a:t>
            </a:r>
            <a:r>
              <a:rPr lang="en-US" dirty="0">
                <a:ea typeface="+mn-ea"/>
                <a:cs typeface="+mn-cs"/>
              </a:rPr>
              <a:t>("</a:t>
            </a:r>
            <a:r>
              <a:rPr lang="en-US" dirty="0" err="1">
                <a:ea typeface="+mn-ea"/>
                <a:cs typeface="+mn-cs"/>
              </a:rPr>
              <a:t>ramesh</a:t>
            </a:r>
            <a:r>
              <a:rPr lang="en-US" dirty="0">
                <a:ea typeface="+mn-ea"/>
                <a:cs typeface="+mn-cs"/>
              </a:rPr>
              <a:t>");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 err="1">
                <a:ea typeface="+mn-ea"/>
                <a:cs typeface="+mn-cs"/>
              </a:rPr>
              <a:t>System.</a:t>
            </a:r>
            <a:r>
              <a:rPr lang="en-US" b="1" i="1" dirty="0" err="1">
                <a:ea typeface="+mn-ea"/>
                <a:cs typeface="+mn-cs"/>
              </a:rPr>
              <a:t>out.println</a:t>
            </a:r>
            <a:r>
              <a:rPr lang="en-US" b="1" i="1" dirty="0">
                <a:ea typeface="+mn-ea"/>
                <a:cs typeface="+mn-cs"/>
              </a:rPr>
              <a:t>(list);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itle 1">
            <a:extLst>
              <a:ext uri="{FF2B5EF4-FFF2-40B4-BE49-F238E27FC236}">
                <a16:creationId xmlns:a16="http://schemas.microsoft.com/office/drawing/2014/main" id="{84BAFE98-D181-0921-BA23-E320A77BD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Quick Start Project –Show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EA4A5-9648-11ED-3375-D484321B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Class is in a Different Package</a:t>
            </a:r>
          </a:p>
          <a:p>
            <a:pPr lvl="1">
              <a:buFontTx/>
              <a:buNone/>
              <a:defRPr/>
            </a:pPr>
            <a:endParaRPr lang="en-US" b="1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package </a:t>
            </a:r>
            <a:r>
              <a:rPr lang="en-US" b="1" dirty="0" err="1">
                <a:ea typeface="+mn-ea"/>
                <a:cs typeface="+mn-cs"/>
              </a:rPr>
              <a:t>org.exercise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class </a:t>
            </a:r>
            <a:r>
              <a:rPr lang="en-US" b="1" dirty="0" err="1">
                <a:ea typeface="+mn-ea"/>
                <a:cs typeface="+mn-cs"/>
              </a:rPr>
              <a:t>ShowDetails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double show()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return 52.25;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/>
          </a:p>
          <a:p>
            <a:pPr lvl="1">
              <a:buFontTx/>
              <a:buNone/>
              <a:defRPr/>
            </a:pPr>
            <a:r>
              <a:rPr lang="en-US" b="1" dirty="0" err="1">
                <a:solidFill>
                  <a:srgbClr val="C00000"/>
                </a:solidFill>
              </a:rPr>
              <a:t>module.info.java</a:t>
            </a:r>
            <a:endParaRPr lang="en-US" b="1" dirty="0">
              <a:solidFill>
                <a:srgbClr val="C00000"/>
              </a:solidFill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module </a:t>
            </a:r>
            <a:r>
              <a:rPr lang="en-US" b="1" dirty="0" err="1">
                <a:ea typeface="+mn-ea"/>
                <a:cs typeface="+mn-cs"/>
              </a:rPr>
              <a:t>c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om.training.base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b="1" dirty="0">
                <a:ea typeface="+mn-ea"/>
                <a:cs typeface="+mn-cs"/>
              </a:rPr>
              <a:t>{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	exports </a:t>
            </a:r>
            <a:r>
              <a:rPr lang="en-US" b="1" dirty="0" err="1">
                <a:ea typeface="+mn-ea"/>
                <a:cs typeface="+mn-cs"/>
              </a:rPr>
              <a:t>com.training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2"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itle 1">
            <a:extLst>
              <a:ext uri="{FF2B5EF4-FFF2-40B4-BE49-F238E27FC236}">
                <a16:creationId xmlns:a16="http://schemas.microsoft.com/office/drawing/2014/main" id="{010D5113-23C2-BF52-9A6F-9D6E7B478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FristExample-Client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9FF6-FEFC-21B7-BC9E-F21B2F216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package </a:t>
            </a:r>
            <a:r>
              <a:rPr lang="en-US" b="1" dirty="0" err="1">
                <a:ea typeface="+mn-ea"/>
                <a:cs typeface="+mn-cs"/>
              </a:rPr>
              <a:t>com.training.client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//import </a:t>
            </a:r>
            <a:r>
              <a:rPr lang="en-US" dirty="0" err="1">
                <a:ea typeface="+mn-ea"/>
                <a:cs typeface="+mn-cs"/>
              </a:rPr>
              <a:t>org.exercise.ShowDetails</a:t>
            </a:r>
            <a:r>
              <a:rPr lang="en-US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import </a:t>
            </a:r>
            <a:r>
              <a:rPr lang="en-US" b="1" dirty="0" err="1">
                <a:ea typeface="+mn-ea"/>
                <a:cs typeface="+mn-cs"/>
              </a:rPr>
              <a:t>com.training.FirstExample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class Example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main(String[] </a:t>
            </a:r>
            <a:r>
              <a:rPr lang="en-US" b="1" dirty="0" err="1">
                <a:ea typeface="+mn-ea"/>
                <a:cs typeface="+mn-cs"/>
              </a:rPr>
              <a:t>args</a:t>
            </a:r>
            <a:r>
              <a:rPr lang="en-US" b="1" dirty="0">
                <a:ea typeface="+mn-ea"/>
                <a:cs typeface="+mn-cs"/>
              </a:rPr>
              <a:t>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try {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String </a:t>
            </a:r>
            <a:r>
              <a:rPr lang="en-US" dirty="0" err="1">
                <a:ea typeface="+mn-ea"/>
                <a:cs typeface="+mn-cs"/>
              </a:rPr>
              <a:t>arr</a:t>
            </a:r>
            <a:r>
              <a:rPr lang="en-US" dirty="0">
                <a:ea typeface="+mn-ea"/>
                <a:cs typeface="+mn-cs"/>
              </a:rPr>
              <a:t>[] = {"a", "b" ,"c"};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 err="1">
                <a:ea typeface="+mn-ea"/>
                <a:cs typeface="+mn-cs"/>
              </a:rPr>
              <a:t>FirstExample.</a:t>
            </a:r>
            <a:r>
              <a:rPr lang="en-US" i="1" dirty="0" err="1">
                <a:ea typeface="+mn-ea"/>
                <a:cs typeface="+mn-cs"/>
              </a:rPr>
              <a:t>main</a:t>
            </a:r>
            <a:r>
              <a:rPr lang="en-US" i="1" dirty="0">
                <a:ea typeface="+mn-ea"/>
                <a:cs typeface="+mn-cs"/>
              </a:rPr>
              <a:t>(</a:t>
            </a:r>
            <a:r>
              <a:rPr lang="en-US" i="1" dirty="0" err="1">
                <a:ea typeface="+mn-ea"/>
                <a:cs typeface="+mn-cs"/>
              </a:rPr>
              <a:t>arr</a:t>
            </a:r>
            <a:r>
              <a:rPr lang="en-US" i="1" dirty="0">
                <a:ea typeface="+mn-ea"/>
                <a:cs typeface="+mn-cs"/>
              </a:rPr>
              <a:t>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//</a:t>
            </a:r>
            <a:r>
              <a:rPr lang="en-US" dirty="0" err="1">
                <a:ea typeface="+mn-ea"/>
                <a:cs typeface="+mn-cs"/>
              </a:rPr>
              <a:t>ShowDetails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u="sng" dirty="0" err="1">
                <a:ea typeface="+mn-ea"/>
                <a:cs typeface="+mn-cs"/>
              </a:rPr>
              <a:t>obj</a:t>
            </a:r>
            <a:r>
              <a:rPr lang="en-US" u="sng" dirty="0">
                <a:ea typeface="+mn-ea"/>
                <a:cs typeface="+mn-cs"/>
              </a:rPr>
              <a:t> = new </a:t>
            </a:r>
            <a:r>
              <a:rPr lang="en-US" u="sng" dirty="0" err="1">
                <a:ea typeface="+mn-ea"/>
                <a:cs typeface="+mn-cs"/>
              </a:rPr>
              <a:t>ShowDetails</a:t>
            </a:r>
            <a:r>
              <a:rPr lang="en-US" u="sng" dirty="0">
                <a:ea typeface="+mn-ea"/>
                <a:cs typeface="+mn-cs"/>
              </a:rPr>
              <a:t>();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//  </a:t>
            </a:r>
            <a:r>
              <a:rPr lang="en-US" dirty="0" err="1">
                <a:ea typeface="+mn-ea"/>
                <a:cs typeface="+mn-cs"/>
              </a:rPr>
              <a:t>System.out.println</a:t>
            </a:r>
            <a:r>
              <a:rPr lang="en-US" dirty="0">
                <a:ea typeface="+mn-ea"/>
                <a:cs typeface="+mn-cs"/>
              </a:rPr>
              <a:t>(</a:t>
            </a:r>
            <a:r>
              <a:rPr lang="en-US" dirty="0" err="1">
                <a:ea typeface="+mn-ea"/>
                <a:cs typeface="+mn-cs"/>
              </a:rPr>
              <a:t>obj.show</a:t>
            </a:r>
            <a:r>
              <a:rPr lang="en-US" dirty="0">
                <a:ea typeface="+mn-ea"/>
                <a:cs typeface="+mn-cs"/>
              </a:rPr>
              <a:t>());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</a:t>
            </a:r>
            <a:r>
              <a:rPr lang="en-US" b="1" dirty="0">
                <a:ea typeface="+mn-ea"/>
                <a:cs typeface="+mn-cs"/>
              </a:rPr>
              <a:t>catch (Exception e) {</a:t>
            </a:r>
          </a:p>
          <a:p>
            <a:pPr lvl="1">
              <a:buFontTx/>
              <a:buNone/>
              <a:defRPr/>
            </a:pPr>
            <a:r>
              <a:rPr lang="en-US" dirty="0" err="1">
                <a:ea typeface="+mn-ea"/>
                <a:cs typeface="+mn-cs"/>
              </a:rPr>
              <a:t>e.printStackTrace</a:t>
            </a:r>
            <a:r>
              <a:rPr lang="en-US" dirty="0">
                <a:ea typeface="+mn-ea"/>
                <a:cs typeface="+mn-cs"/>
              </a:rPr>
              <a:t>();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 }  }</a:t>
            </a:r>
          </a:p>
          <a:p>
            <a:pPr lvl="1"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itle 1">
            <a:extLst>
              <a:ext uri="{FF2B5EF4-FFF2-40B4-BE49-F238E27FC236}">
                <a16:creationId xmlns:a16="http://schemas.microsoft.com/office/drawing/2014/main" id="{C0D4BC58-BB69-1872-4323-BEB3D3C89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Client – module-info.java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08175-F644-2CE7-02F2-33506A870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module </a:t>
            </a:r>
            <a:r>
              <a:rPr lang="en-US" b="1" dirty="0" err="1">
                <a:ea typeface="+mn-ea"/>
                <a:cs typeface="+mn-cs"/>
              </a:rPr>
              <a:t>com.training.client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requires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com.training.base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  <a:endParaRPr lang="en-US" dirty="0"/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4641907D-50DD-FF93-230C-725AF7336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Exports … To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F9671-918F-8642-6882-1C6034F51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b="1" dirty="0"/>
              <a:t>Opens up public classes </a:t>
            </a:r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r>
              <a:rPr lang="en-US" b="1" dirty="0"/>
              <a:t>But can restrict which modules have access to the APIs </a:t>
            </a:r>
          </a:p>
          <a:p>
            <a:pPr lvl="1"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/>
              <a:t>Effectively a kind of "friend" access</a:t>
            </a:r>
          </a:p>
          <a:p>
            <a:pPr lvl="1"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/>
              <a:t>To specify in a comma-separated list precisely which module’s or modules’ code can access the exported package</a:t>
            </a:r>
          </a:p>
          <a:p>
            <a:pPr>
              <a:buFontTx/>
              <a:buNone/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module </a:t>
            </a:r>
            <a:r>
              <a:rPr lang="en-US" sz="2000" dirty="0" err="1">
                <a:ea typeface="+mn-ea"/>
                <a:cs typeface="+mn-cs"/>
              </a:rPr>
              <a:t>my.module</a:t>
            </a:r>
            <a:r>
              <a:rPr lang="en-US" sz="2000" dirty="0">
                <a:ea typeface="+mn-ea"/>
                <a:cs typeface="+mn-cs"/>
              </a:rPr>
              <a:t> {</a:t>
            </a:r>
          </a:p>
          <a:p>
            <a:pPr>
              <a:defRPr/>
            </a:pPr>
            <a:endParaRPr lang="en-US" sz="2000" b="1" dirty="0"/>
          </a:p>
          <a:p>
            <a:pPr lvl="1">
              <a:buFontTx/>
              <a:buNone/>
              <a:defRPr/>
            </a:pPr>
            <a:r>
              <a:rPr lang="en-US" sz="2000" b="1" dirty="0"/>
              <a:t> exports</a:t>
            </a:r>
            <a:r>
              <a:rPr lang="en-US" sz="2000" dirty="0"/>
              <a:t> </a:t>
            </a:r>
            <a:r>
              <a:rPr lang="en-US" sz="2000" dirty="0" err="1"/>
              <a:t>my.package</a:t>
            </a:r>
            <a:r>
              <a:rPr lang="en-US" sz="2000" dirty="0"/>
              <a:t> </a:t>
            </a:r>
            <a:r>
              <a:rPr lang="en-US" sz="2000" b="1" dirty="0"/>
              <a:t>to</a:t>
            </a:r>
            <a:r>
              <a:rPr lang="en-US" sz="2000" dirty="0"/>
              <a:t> </a:t>
            </a:r>
            <a:r>
              <a:rPr lang="en-US" sz="2000" dirty="0" err="1"/>
              <a:t>other.module</a:t>
            </a:r>
            <a:r>
              <a:rPr lang="en-US" sz="2000" dirty="0"/>
              <a:t>, </a:t>
            </a:r>
            <a:r>
              <a:rPr lang="en-US" sz="2000" dirty="0" err="1"/>
              <a:t>another.module</a:t>
            </a:r>
            <a:r>
              <a:rPr lang="en-US" sz="2000" dirty="0"/>
              <a:t>; </a:t>
            </a:r>
            <a:br>
              <a:rPr lang="en-US" sz="2000" dirty="0"/>
            </a:br>
            <a:endParaRPr lang="en-US" sz="2000" b="1" dirty="0"/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A84F9C46-5D79-2EA4-759C-F10978AD4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Exports 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2F958-94A4-E74A-A354-FDDE329F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package </a:t>
            </a:r>
            <a:r>
              <a:rPr lang="en-US" sz="2000" b="1" dirty="0" err="1">
                <a:solidFill>
                  <a:srgbClr val="FF0000"/>
                </a:solidFill>
                <a:ea typeface="+mn-ea"/>
                <a:cs typeface="+mn-cs"/>
              </a:rPr>
              <a:t>com.training.one</a:t>
            </a:r>
            <a:r>
              <a:rPr lang="en-US" sz="2000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public class </a:t>
            </a:r>
            <a:r>
              <a:rPr lang="en-US" sz="2000" b="1" dirty="0" err="1">
                <a:ea typeface="+mn-ea"/>
                <a:cs typeface="+mn-cs"/>
              </a:rPr>
              <a:t>FirstExample</a:t>
            </a:r>
            <a:r>
              <a:rPr lang="en-US" sz="2000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public static void show() {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	</a:t>
            </a:r>
            <a:r>
              <a:rPr lang="en-US" sz="2000" dirty="0" err="1">
                <a:ea typeface="+mn-ea"/>
                <a:cs typeface="+mn-cs"/>
              </a:rPr>
              <a:t>System.</a:t>
            </a:r>
            <a:r>
              <a:rPr lang="en-US" sz="2000" b="1" i="1" dirty="0" err="1">
                <a:ea typeface="+mn-ea"/>
                <a:cs typeface="+mn-cs"/>
              </a:rPr>
              <a:t>out.println</a:t>
            </a:r>
            <a:r>
              <a:rPr lang="en-US" sz="2000" b="1" i="1" dirty="0">
                <a:ea typeface="+mn-ea"/>
                <a:cs typeface="+mn-cs"/>
              </a:rPr>
              <a:t>("Inside Module One");</a:t>
            </a:r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module </a:t>
            </a:r>
            <a:r>
              <a:rPr lang="en-US" b="1" dirty="0" err="1">
                <a:ea typeface="+mn-ea"/>
                <a:cs typeface="+mn-cs"/>
              </a:rPr>
              <a:t>com.training.reqstatic.one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	exports 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com.training.one</a:t>
            </a:r>
            <a:r>
              <a:rPr lang="en-US" b="1" dirty="0">
                <a:ea typeface="+mn-ea"/>
                <a:cs typeface="+mn-cs"/>
              </a:rPr>
              <a:t> to </a:t>
            </a:r>
            <a:r>
              <a:rPr lang="en-US" b="1" dirty="0" err="1">
                <a:solidFill>
                  <a:srgbClr val="C00000"/>
                </a:solidFill>
                <a:ea typeface="+mn-ea"/>
                <a:cs typeface="+mn-cs"/>
              </a:rPr>
              <a:t>com.training.reqstatic.two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  <a:endParaRPr lang="en-US" sz="2400" dirty="0"/>
          </a:p>
        </p:txBody>
      </p:sp>
    </p:spTree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itle 1">
            <a:extLst>
              <a:ext uri="{FF2B5EF4-FFF2-40B4-BE49-F238E27FC236}">
                <a16:creationId xmlns:a16="http://schemas.microsoft.com/office/drawing/2014/main" id="{058BAABF-8558-F52E-1B3C-1DDC4ABD3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61D33-1590-8C96-56DB-08B977E98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package </a:t>
            </a:r>
            <a:r>
              <a:rPr lang="en-US" b="1" dirty="0" err="1">
                <a:ea typeface="+mn-ea"/>
                <a:cs typeface="+mn-cs"/>
              </a:rPr>
              <a:t>com.training.two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C00000"/>
                </a:solidFill>
                <a:ea typeface="+mn-ea"/>
                <a:cs typeface="+mn-cs"/>
              </a:rPr>
              <a:t>import </a:t>
            </a:r>
            <a:r>
              <a:rPr lang="en-US" b="1" dirty="0" err="1">
                <a:solidFill>
                  <a:srgbClr val="C00000"/>
                </a:solidFill>
                <a:ea typeface="+mn-ea"/>
                <a:cs typeface="+mn-cs"/>
              </a:rPr>
              <a:t>com.training.one</a:t>
            </a:r>
            <a:r>
              <a:rPr lang="en-US" b="1" dirty="0">
                <a:solidFill>
                  <a:srgbClr val="C00000"/>
                </a:solidFill>
                <a:ea typeface="+mn-ea"/>
                <a:cs typeface="+mn-cs"/>
              </a:rPr>
              <a:t>.*;</a:t>
            </a:r>
          </a:p>
          <a:p>
            <a:pPr lvl="1">
              <a:buFontTx/>
              <a:buNone/>
              <a:defRPr/>
            </a:pPr>
            <a:endParaRPr lang="en-US" b="1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class </a:t>
            </a:r>
            <a:r>
              <a:rPr lang="en-US" b="1" dirty="0" err="1">
                <a:ea typeface="+mn-ea"/>
                <a:cs typeface="+mn-cs"/>
              </a:rPr>
              <a:t>ExampleTwo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double </a:t>
            </a:r>
            <a:r>
              <a:rPr lang="en-US" b="1" dirty="0" err="1">
                <a:ea typeface="+mn-ea"/>
                <a:cs typeface="+mn-cs"/>
              </a:rPr>
              <a:t>getDiscount</a:t>
            </a:r>
            <a:r>
              <a:rPr lang="en-US" b="1" dirty="0">
                <a:ea typeface="+mn-ea"/>
                <a:cs typeface="+mn-cs"/>
              </a:rPr>
              <a:t>()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	</a:t>
            </a:r>
            <a:r>
              <a:rPr lang="en-US" dirty="0" err="1">
                <a:ea typeface="+mn-ea"/>
                <a:cs typeface="+mn-cs"/>
              </a:rPr>
              <a:t>FirstExample.</a:t>
            </a:r>
            <a:r>
              <a:rPr lang="en-US" i="1" dirty="0" err="1">
                <a:ea typeface="+mn-ea"/>
                <a:cs typeface="+mn-cs"/>
              </a:rPr>
              <a:t>show</a:t>
            </a:r>
            <a:r>
              <a:rPr lang="en-US" i="1" dirty="0">
                <a:ea typeface="+mn-ea"/>
                <a:cs typeface="+mn-cs"/>
              </a:rPr>
              <a:t>();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		return 10;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/>
              <a:t>module </a:t>
            </a:r>
            <a:r>
              <a:rPr lang="en-US" b="1" dirty="0" err="1"/>
              <a:t>com.training.reqstatic.two</a:t>
            </a:r>
            <a:r>
              <a:rPr lang="en-US" b="1" dirty="0"/>
              <a:t> {</a:t>
            </a:r>
          </a:p>
          <a:p>
            <a:pPr lvl="1">
              <a:buFontTx/>
              <a:buNone/>
              <a:defRPr/>
            </a:pPr>
            <a:endParaRPr lang="en-US" dirty="0"/>
          </a:p>
          <a:p>
            <a:pPr lvl="1">
              <a:buFontTx/>
              <a:buNone/>
              <a:defRPr/>
            </a:pPr>
            <a:r>
              <a:rPr lang="en-US" dirty="0"/>
              <a:t>       </a:t>
            </a:r>
            <a:r>
              <a:rPr lang="en-US" b="1" dirty="0"/>
              <a:t>requires </a:t>
            </a:r>
            <a:r>
              <a:rPr lang="en-US" b="1" dirty="0" err="1">
                <a:solidFill>
                  <a:srgbClr val="C00000"/>
                </a:solidFill>
              </a:rPr>
              <a:t>com.training.reqstatic.one</a:t>
            </a:r>
            <a:r>
              <a:rPr lang="en-US" b="1" dirty="0"/>
              <a:t>;</a:t>
            </a:r>
          </a:p>
          <a:p>
            <a:pPr lvl="1">
              <a:buFontTx/>
              <a:buNone/>
              <a:defRPr/>
            </a:pPr>
            <a:endParaRPr lang="en-US" dirty="0"/>
          </a:p>
          <a:p>
            <a:pPr lvl="1">
              <a:buFontTx/>
              <a:buNone/>
              <a:defRPr/>
            </a:pPr>
            <a:r>
              <a:rPr lang="en-US" dirty="0"/>
              <a:t>}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itle 1">
            <a:extLst>
              <a:ext uri="{FF2B5EF4-FFF2-40B4-BE49-F238E27FC236}">
                <a16:creationId xmlns:a16="http://schemas.microsoft.com/office/drawing/2014/main" id="{8372D48E-54C1-350F-7C55-FB6E5866F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585E-2A4F-D13B-1AF6-A5F86B3D2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/>
              <a:t>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pPr lvl="1">
              <a:buFontTx/>
              <a:buNone/>
              <a:defRPr/>
            </a:pPr>
            <a:endParaRPr lang="en-US" dirty="0"/>
          </a:p>
          <a:p>
            <a:pPr lvl="1">
              <a:buFontTx/>
              <a:buNone/>
              <a:defRPr/>
            </a:pPr>
            <a:r>
              <a:rPr lang="en-US" dirty="0"/>
              <a:t>	</a:t>
            </a:r>
            <a:r>
              <a:rPr lang="en-US" dirty="0" err="1"/>
              <a:t>ExampleTwo</a:t>
            </a:r>
            <a:r>
              <a:rPr lang="en-US" dirty="0"/>
              <a:t> two = </a:t>
            </a:r>
            <a:r>
              <a:rPr lang="en-US" b="1" dirty="0"/>
              <a:t>new </a:t>
            </a:r>
            <a:r>
              <a:rPr lang="en-US" b="1" dirty="0" err="1"/>
              <a:t>ExampleTwo</a:t>
            </a:r>
            <a:r>
              <a:rPr lang="en-US" b="1" dirty="0"/>
              <a:t>();</a:t>
            </a:r>
          </a:p>
          <a:p>
            <a:pPr lvl="1">
              <a:buFontTx/>
              <a:buNone/>
              <a:defRPr/>
            </a:pPr>
            <a:endParaRPr lang="en-US" dirty="0"/>
          </a:p>
          <a:p>
            <a:pPr lvl="1">
              <a:buFontTx/>
              <a:buNone/>
              <a:defRPr/>
            </a:pPr>
            <a:r>
              <a:rPr lang="en-US" dirty="0"/>
              <a:t> 	</a:t>
            </a:r>
            <a:r>
              <a:rPr lang="en-US" dirty="0" err="1"/>
              <a:t>System.</a:t>
            </a:r>
            <a:r>
              <a:rPr lang="en-US" b="1" i="1" dirty="0" err="1"/>
              <a:t>out.println</a:t>
            </a:r>
            <a:r>
              <a:rPr lang="en-US" b="1" i="1" dirty="0"/>
              <a:t>(</a:t>
            </a:r>
            <a:r>
              <a:rPr lang="en-US" b="1" i="1" dirty="0" err="1"/>
              <a:t>two.getDiscount</a:t>
            </a:r>
            <a:r>
              <a:rPr lang="en-US" b="1" i="1" dirty="0"/>
              <a:t>());</a:t>
            </a:r>
          </a:p>
          <a:p>
            <a:pPr lvl="1">
              <a:buFontTx/>
              <a:buNone/>
              <a:defRPr/>
            </a:pPr>
            <a:r>
              <a:rPr lang="en-US" dirty="0"/>
              <a:t>   }</a:t>
            </a:r>
          </a:p>
          <a:p>
            <a:pPr lvl="1">
              <a:buFontTx/>
              <a:buNone/>
              <a:defRPr/>
            </a:pPr>
            <a:r>
              <a:rPr lang="en-US" dirty="0"/>
              <a:t>}</a:t>
            </a:r>
          </a:p>
          <a:p>
            <a:pPr lvl="1">
              <a:buFontTx/>
              <a:buNone/>
              <a:defRPr/>
            </a:pPr>
            <a:endParaRPr lang="en-US" b="1" dirty="0"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itle 1">
            <a:extLst>
              <a:ext uri="{FF2B5EF4-FFF2-40B4-BE49-F238E27FC236}">
                <a16:creationId xmlns:a16="http://schemas.microsoft.com/office/drawing/2014/main" id="{03EA5B92-95DD-5B75-A0AE-4D0572D38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Visibility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83299" name="Content Placeholder 2">
            <a:extLst>
              <a:ext uri="{FF2B5EF4-FFF2-40B4-BE49-F238E27FC236}">
                <a16:creationId xmlns:a16="http://schemas.microsoft.com/office/drawing/2014/main" id="{3FB7C3FD-B916-646A-DBA4-2573F2992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A lot of libraries depend on reflection to work their magic</a:t>
            </a:r>
            <a:r>
              <a:rPr lang="en-US" altLang="en-US" sz="2000"/>
              <a:t> </a:t>
            </a:r>
          </a:p>
          <a:p>
            <a:pPr lvl="1"/>
            <a:r>
              <a:rPr lang="en-US" altLang="en-US" sz="2000"/>
              <a:t>Junit ,Spring</a:t>
            </a:r>
          </a:p>
          <a:p>
            <a:endParaRPr lang="en-US" altLang="en-US" sz="2000"/>
          </a:p>
          <a:p>
            <a:r>
              <a:rPr lang="en-US" altLang="en-US" sz="2000"/>
              <a:t>By default in Java 9,  gives access to public classes, methods, and fields in exported packages. </a:t>
            </a:r>
          </a:p>
          <a:p>
            <a:endParaRPr lang="en-US" altLang="en-US" sz="2000"/>
          </a:p>
          <a:p>
            <a:r>
              <a:rPr lang="en-US" altLang="en-US" sz="2000"/>
              <a:t>By Using reflection also can not access non-public members </a:t>
            </a:r>
          </a:p>
          <a:p>
            <a:endParaRPr lang="en-US" altLang="en-US" sz="2000"/>
          </a:p>
          <a:p>
            <a:r>
              <a:rPr lang="en-US" altLang="en-US" sz="2000"/>
              <a:t> </a:t>
            </a:r>
            <a:r>
              <a:rPr lang="en-US" altLang="en-US" sz="2000" i="1"/>
              <a:t>open</a:t>
            </a:r>
            <a:r>
              <a:rPr lang="en-US" altLang="en-US" sz="2000"/>
              <a:t>, </a:t>
            </a:r>
            <a:r>
              <a:rPr lang="en-US" altLang="en-US" sz="2000" i="1"/>
              <a:t>opens</a:t>
            </a:r>
            <a:r>
              <a:rPr lang="en-US" altLang="en-US" sz="2000"/>
              <a:t>, and </a:t>
            </a:r>
            <a:r>
              <a:rPr lang="en-US" altLang="en-US" sz="2000" i="1"/>
              <a:t>opens…to</a:t>
            </a:r>
            <a:r>
              <a:rPr lang="en-US" altLang="en-US" sz="2000"/>
              <a:t> options are used to grant access for reflection during </a:t>
            </a:r>
            <a:r>
              <a:rPr lang="en-US" altLang="en-US" sz="2000" b="1"/>
              <a:t>runtime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itle 1">
            <a:extLst>
              <a:ext uri="{FF2B5EF4-FFF2-40B4-BE49-F238E27FC236}">
                <a16:creationId xmlns:a16="http://schemas.microsoft.com/office/drawing/2014/main" id="{285A5AD9-0161-E12D-C05A-3A2B3B07C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Opens</a:t>
            </a:r>
            <a:br>
              <a:rPr lang="en-US" altLang="en-US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84323" name="Content Placeholder 2">
            <a:extLst>
              <a:ext uri="{FF2B5EF4-FFF2-40B4-BE49-F238E27FC236}">
                <a16:creationId xmlns:a16="http://schemas.microsoft.com/office/drawing/2014/main" id="{3B71202A-9615-1B35-7168-7165A12765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Before Java 9, it was possible to use reflection to examine every type and member in a package, even the </a:t>
            </a:r>
            <a:r>
              <a:rPr lang="en-US" altLang="en-US" sz="2000" i="1"/>
              <a:t>private</a:t>
            </a:r>
            <a:r>
              <a:rPr lang="en-US" altLang="en-US" sz="2000"/>
              <a:t> ones. 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Nothing was truly encapsulated, which can open up all kinds of problems for developers of the libraries.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Java 9 enforces </a:t>
            </a:r>
            <a:r>
              <a:rPr lang="en-US" altLang="en-US" sz="2000" i="1"/>
              <a:t>strong encapsulation</a:t>
            </a:r>
            <a:r>
              <a:rPr lang="en-US" altLang="en-US" sz="2000"/>
              <a:t>, Can </a:t>
            </a:r>
            <a:r>
              <a:rPr lang="en-US" altLang="en-US" sz="2000" b="1"/>
              <a:t>explicitly grant permission for other modules to reflect our classes.</a:t>
            </a:r>
            <a:endParaRPr lang="en-US" altLang="en-US"/>
          </a:p>
        </p:txBody>
      </p:sp>
    </p:spTree>
  </p:cSld>
  <p:clrMapOvr>
    <a:masterClrMapping/>
  </p:clrMapOvr>
  <p:transition advClick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itle 1">
            <a:extLst>
              <a:ext uri="{FF2B5EF4-FFF2-40B4-BE49-F238E27FC236}">
                <a16:creationId xmlns:a16="http://schemas.microsoft.com/office/drawing/2014/main" id="{55493DF4-8D7F-4483-6C43-E07F655A2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Opens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2885C-22C3-CFE9-FBB0-429F842A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To allow full reflection open the package up to  all other modules </a:t>
            </a:r>
          </a:p>
          <a:p>
            <a:pPr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module </a:t>
            </a:r>
            <a:r>
              <a:rPr lang="en-US" sz="2000" dirty="0" err="1">
                <a:ea typeface="+mn-ea"/>
                <a:cs typeface="+mn-cs"/>
              </a:rPr>
              <a:t>my.module</a:t>
            </a:r>
            <a:r>
              <a:rPr lang="en-US" sz="2000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  opens </a:t>
            </a:r>
            <a:r>
              <a:rPr lang="en-US" sz="2000" dirty="0" err="1">
                <a:ea typeface="+mn-ea"/>
                <a:cs typeface="+mn-cs"/>
              </a:rPr>
              <a:t>com.my.package</a:t>
            </a:r>
            <a:r>
              <a:rPr lang="en-US" sz="2000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>
              <a:defRPr/>
            </a:pPr>
            <a:r>
              <a:rPr lang="en-US" sz="2000" b="1" dirty="0"/>
              <a:t>Opens … To</a:t>
            </a:r>
            <a:br>
              <a:rPr lang="en-US" sz="2000" b="1" dirty="0"/>
            </a:br>
            <a:endParaRPr lang="en-US" sz="2000" dirty="0"/>
          </a:p>
          <a:p>
            <a:pPr lvl="1">
              <a:defRPr/>
            </a:pPr>
            <a:r>
              <a:rPr lang="en-US" sz="2000" dirty="0"/>
              <a:t>Can </a:t>
            </a:r>
            <a:r>
              <a:rPr lang="en-US" sz="2000" b="1" dirty="0"/>
              <a:t>selectively open our packages to a pre-approved list of modules, in this case, using the </a:t>
            </a:r>
            <a:r>
              <a:rPr lang="en-US" sz="2000" b="1" i="1" dirty="0"/>
              <a:t>opens…to</a:t>
            </a:r>
            <a:r>
              <a:rPr lang="en-US" sz="2000" b="1" dirty="0"/>
              <a:t> directive</a:t>
            </a:r>
            <a:r>
              <a:rPr lang="en-US" sz="2000" dirty="0"/>
              <a:t>:</a:t>
            </a:r>
          </a:p>
          <a:p>
            <a:pPr lvl="1">
              <a:buFontTx/>
              <a:buNone/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2000" dirty="0"/>
              <a:t>module </a:t>
            </a:r>
            <a:r>
              <a:rPr lang="en-US" sz="2000" dirty="0" err="1"/>
              <a:t>my.module</a:t>
            </a:r>
            <a:r>
              <a:rPr lang="en-US" sz="2000" dirty="0"/>
              <a:t> {</a:t>
            </a:r>
          </a:p>
          <a:p>
            <a:pPr lvl="1">
              <a:buFontTx/>
              <a:buNone/>
              <a:defRPr/>
            </a:pPr>
            <a:r>
              <a:rPr lang="en-US" sz="2000" dirty="0"/>
              <a:t>    opens </a:t>
            </a:r>
            <a:r>
              <a:rPr lang="en-US" sz="2000" dirty="0" err="1"/>
              <a:t>com.my.package</a:t>
            </a:r>
            <a:r>
              <a:rPr lang="en-US" sz="2000" dirty="0"/>
              <a:t> to </a:t>
            </a:r>
            <a:r>
              <a:rPr lang="en-US" sz="2000" dirty="0" err="1"/>
              <a:t>moduleOne</a:t>
            </a:r>
            <a:r>
              <a:rPr lang="en-US" sz="2000" dirty="0"/>
              <a:t>, </a:t>
            </a:r>
            <a:r>
              <a:rPr lang="en-US" sz="2000" dirty="0" err="1"/>
              <a:t>moduleTwo</a:t>
            </a:r>
            <a:r>
              <a:rPr lang="en-US" sz="2000" dirty="0"/>
              <a:t>, etc.;</a:t>
            </a:r>
          </a:p>
          <a:p>
            <a:pPr lvl="1">
              <a:buFontTx/>
              <a:buNone/>
              <a:defRPr/>
            </a:pPr>
            <a:r>
              <a:rPr lang="en-US" sz="2000" dirty="0"/>
              <a:t>}</a:t>
            </a:r>
          </a:p>
          <a:p>
            <a:pPr>
              <a:buFontTx/>
              <a:buNone/>
              <a:defRPr/>
            </a:pPr>
            <a:br>
              <a:rPr lang="en-US" sz="2000" dirty="0"/>
            </a:br>
            <a:endParaRPr lang="en-US" sz="2000" dirty="0"/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itle 1">
            <a:extLst>
              <a:ext uri="{FF2B5EF4-FFF2-40B4-BE49-F238E27FC236}">
                <a16:creationId xmlns:a16="http://schemas.microsoft.com/office/drawing/2014/main" id="{C463BE39-F5F4-4342-E245-4B38AA1F5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3E3D9-91F2-9336-A999-D7A8125A7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package </a:t>
            </a:r>
            <a:r>
              <a:rPr lang="en-US" b="1" dirty="0" err="1">
                <a:ea typeface="+mn-ea"/>
                <a:cs typeface="+mn-cs"/>
              </a:rPr>
              <a:t>org.reflect.client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class </a:t>
            </a:r>
            <a:r>
              <a:rPr lang="en-US" b="1" dirty="0" err="1">
                <a:ea typeface="+mn-ea"/>
                <a:cs typeface="+mn-cs"/>
              </a:rPr>
              <a:t>MyObject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</a:t>
            </a:r>
            <a:r>
              <a:rPr lang="en-US" b="1" dirty="0">
                <a:ea typeface="+mn-ea"/>
                <a:cs typeface="+mn-cs"/>
              </a:rPr>
              <a:t>private </a:t>
            </a:r>
            <a:r>
              <a:rPr lang="en-US" b="1" dirty="0" err="1">
                <a:ea typeface="+mn-ea"/>
                <a:cs typeface="+mn-cs"/>
              </a:rPr>
              <a:t>int</a:t>
            </a:r>
            <a:r>
              <a:rPr lang="en-US" b="1" dirty="0">
                <a:ea typeface="+mn-ea"/>
                <a:cs typeface="+mn-cs"/>
              </a:rPr>
              <a:t> </a:t>
            </a:r>
            <a:r>
              <a:rPr lang="en-US" b="1" u="sng" dirty="0" err="1">
                <a:ea typeface="+mn-ea"/>
                <a:cs typeface="+mn-cs"/>
              </a:rPr>
              <a:t>anInt</a:t>
            </a:r>
            <a:r>
              <a:rPr lang="en-US" b="1" u="sng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</a:t>
            </a:r>
            <a:r>
              <a:rPr lang="en-US" b="1" dirty="0">
                <a:ea typeface="+mn-ea"/>
                <a:cs typeface="+mn-cs"/>
              </a:rPr>
              <a:t>private String </a:t>
            </a:r>
            <a:r>
              <a:rPr lang="en-US" b="1" u="sng" dirty="0" err="1">
                <a:ea typeface="+mn-ea"/>
                <a:cs typeface="+mn-cs"/>
              </a:rPr>
              <a:t>aString</a:t>
            </a:r>
            <a:r>
              <a:rPr lang="en-US" b="1" u="sng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</a:t>
            </a:r>
            <a:r>
              <a:rPr lang="en-US" b="1" dirty="0">
                <a:ea typeface="+mn-ea"/>
                <a:cs typeface="+mn-cs"/>
              </a:rPr>
              <a:t>public </a:t>
            </a:r>
            <a:r>
              <a:rPr lang="en-US" b="1" dirty="0" err="1">
                <a:ea typeface="+mn-ea"/>
                <a:cs typeface="+mn-cs"/>
              </a:rPr>
              <a:t>MyObject</a:t>
            </a:r>
            <a:r>
              <a:rPr lang="en-US" b="1" dirty="0">
                <a:ea typeface="+mn-ea"/>
                <a:cs typeface="+mn-cs"/>
              </a:rPr>
              <a:t>(</a:t>
            </a:r>
            <a:r>
              <a:rPr lang="en-US" b="1" dirty="0" err="1">
                <a:ea typeface="+mn-ea"/>
                <a:cs typeface="+mn-cs"/>
              </a:rPr>
              <a:t>int</a:t>
            </a:r>
            <a:r>
              <a:rPr lang="en-US" b="1" dirty="0">
                <a:ea typeface="+mn-ea"/>
                <a:cs typeface="+mn-cs"/>
              </a:rPr>
              <a:t> </a:t>
            </a:r>
            <a:r>
              <a:rPr lang="en-US" b="1" dirty="0" err="1">
                <a:ea typeface="+mn-ea"/>
                <a:cs typeface="+mn-cs"/>
              </a:rPr>
              <a:t>anInt</a:t>
            </a:r>
            <a:r>
              <a:rPr lang="en-US" b="1" dirty="0">
                <a:ea typeface="+mn-ea"/>
                <a:cs typeface="+mn-cs"/>
              </a:rPr>
              <a:t>, String </a:t>
            </a:r>
            <a:r>
              <a:rPr lang="en-US" b="1" dirty="0" err="1">
                <a:ea typeface="+mn-ea"/>
                <a:cs typeface="+mn-cs"/>
              </a:rPr>
              <a:t>aString</a:t>
            </a:r>
            <a:r>
              <a:rPr lang="en-US" b="1" dirty="0">
                <a:ea typeface="+mn-ea"/>
                <a:cs typeface="+mn-cs"/>
              </a:rPr>
              <a:t>) {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</a:t>
            </a:r>
            <a:r>
              <a:rPr lang="en-US" b="1" dirty="0" err="1">
                <a:ea typeface="+mn-ea"/>
                <a:cs typeface="+mn-cs"/>
              </a:rPr>
              <a:t>this.anInt</a:t>
            </a:r>
            <a:r>
              <a:rPr lang="en-US" b="1" dirty="0">
                <a:ea typeface="+mn-ea"/>
                <a:cs typeface="+mn-cs"/>
              </a:rPr>
              <a:t> = </a:t>
            </a:r>
            <a:r>
              <a:rPr lang="en-US" b="1" dirty="0" err="1">
                <a:ea typeface="+mn-ea"/>
                <a:cs typeface="+mn-cs"/>
              </a:rPr>
              <a:t>anInt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</a:t>
            </a:r>
            <a:r>
              <a:rPr lang="en-US" b="1" dirty="0" err="1">
                <a:ea typeface="+mn-ea"/>
                <a:cs typeface="+mn-cs"/>
              </a:rPr>
              <a:t>this.aString</a:t>
            </a:r>
            <a:r>
              <a:rPr lang="en-US" b="1" dirty="0">
                <a:ea typeface="+mn-ea"/>
                <a:cs typeface="+mn-cs"/>
              </a:rPr>
              <a:t> = </a:t>
            </a:r>
            <a:r>
              <a:rPr lang="en-US" b="1" dirty="0" err="1">
                <a:ea typeface="+mn-ea"/>
                <a:cs typeface="+mn-cs"/>
              </a:rPr>
              <a:t>aString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2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module </a:t>
            </a:r>
            <a:r>
              <a:rPr lang="en-US" b="1" dirty="0" err="1">
                <a:ea typeface="+mn-ea"/>
                <a:cs typeface="+mn-cs"/>
              </a:rPr>
              <a:t>org.refl.client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</a:t>
            </a:r>
            <a:r>
              <a:rPr lang="en-US" b="1" dirty="0">
                <a:ea typeface="+mn-ea"/>
                <a:cs typeface="+mn-cs"/>
              </a:rPr>
              <a:t>opens </a:t>
            </a:r>
            <a:r>
              <a:rPr lang="en-US" b="1" dirty="0" err="1">
                <a:ea typeface="+mn-ea"/>
                <a:cs typeface="+mn-cs"/>
              </a:rPr>
              <a:t>org.reflect.client</a:t>
            </a:r>
            <a:r>
              <a:rPr lang="en-US" b="1" dirty="0">
                <a:ea typeface="+mn-ea"/>
                <a:cs typeface="+mn-cs"/>
              </a:rPr>
              <a:t> to </a:t>
            </a:r>
            <a:r>
              <a:rPr lang="en-US" b="1" dirty="0" err="1">
                <a:ea typeface="+mn-ea"/>
                <a:cs typeface="+mn-cs"/>
              </a:rPr>
              <a:t>org.reflection</a:t>
            </a:r>
            <a:r>
              <a:rPr lang="en-US" b="1" dirty="0">
                <a:ea typeface="+mn-ea"/>
                <a:cs typeface="+mn-cs"/>
              </a:rPr>
              <a:t> ;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    requires </a:t>
            </a:r>
            <a:r>
              <a:rPr lang="en-US" b="1" dirty="0" err="1">
                <a:ea typeface="+mn-ea"/>
                <a:cs typeface="+mn-cs"/>
              </a:rPr>
              <a:t>org.reflection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2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 advClick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itle 1">
            <a:extLst>
              <a:ext uri="{FF2B5EF4-FFF2-40B4-BE49-F238E27FC236}">
                <a16:creationId xmlns:a16="http://schemas.microsoft.com/office/drawing/2014/main" id="{79ED795E-63C7-AA01-B3F9-0C2172BF6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 Example</a:t>
            </a:r>
          </a:p>
        </p:txBody>
      </p:sp>
      <p:sp>
        <p:nvSpPr>
          <p:cNvPr id="187395" name="Content Placeholder 2">
            <a:extLst>
              <a:ext uri="{FF2B5EF4-FFF2-40B4-BE49-F238E27FC236}">
                <a16:creationId xmlns:a16="http://schemas.microsoft.com/office/drawing/2014/main" id="{E18F802F-5CB5-9811-1C8C-8DE1EC8250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r>
              <a:rPr lang="en-US" altLang="en-US"/>
              <a:t>package org.reflect.client;</a:t>
            </a:r>
          </a:p>
          <a:p>
            <a:pPr lvl="1">
              <a:buFontTx/>
              <a:buNone/>
            </a:pPr>
            <a:r>
              <a:rPr lang="en-US" altLang="en-US"/>
              <a:t>import java.util.*;</a:t>
            </a:r>
          </a:p>
          <a:p>
            <a:pPr lvl="1">
              <a:buFontTx/>
              <a:buNone/>
            </a:pPr>
            <a:r>
              <a:rPr lang="en-US" altLang="en-US"/>
              <a:t>import com.training.utils.*;</a:t>
            </a:r>
          </a:p>
          <a:p>
            <a:pPr lvl="1">
              <a:buFontTx/>
              <a:buNone/>
            </a:pPr>
            <a:r>
              <a:rPr lang="en-US" altLang="en-US"/>
              <a:t>public class Application {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public static void main(String[] args) {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        MyObject obj = new MyObject(4, "test string");</a:t>
            </a:r>
          </a:p>
          <a:p>
            <a:pPr lvl="1">
              <a:buFontTx/>
              <a:buNone/>
            </a:pPr>
            <a:r>
              <a:rPr lang="en-US" altLang="en-US"/>
              <a:t>        Map&lt;String, Object&gt; map;</a:t>
            </a:r>
          </a:p>
          <a:p>
            <a:pPr lvl="1">
              <a:buFontTx/>
              <a:buNone/>
            </a:pPr>
            <a:r>
              <a:rPr lang="en-US" altLang="en-US"/>
              <a:t>		try {</a:t>
            </a:r>
          </a:p>
          <a:p>
            <a:pPr lvl="1">
              <a:buFontTx/>
              <a:buNone/>
            </a:pPr>
            <a:r>
              <a:rPr lang="en-US" altLang="en-US"/>
              <a:t>			map = PropsUtil.getProperties(obj);</a:t>
            </a:r>
          </a:p>
          <a:p>
            <a:pPr lvl="1">
              <a:buFontTx/>
              <a:buNone/>
            </a:pPr>
            <a:r>
              <a:rPr lang="en-US" altLang="en-US"/>
              <a:t>	        System.out.println(map);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	} catch (IllegalAccessException e) {</a:t>
            </a:r>
          </a:p>
          <a:p>
            <a:pPr lvl="1">
              <a:buFontTx/>
              <a:buNone/>
            </a:pPr>
            <a:r>
              <a:rPr lang="en-US" altLang="en-US"/>
              <a:t>			e.printStackTrace();</a:t>
            </a:r>
          </a:p>
          <a:p>
            <a:pPr lvl="1">
              <a:buFontTx/>
              <a:buNone/>
            </a:pPr>
            <a:r>
              <a:rPr lang="en-US" altLang="en-US"/>
              <a:t>		}</a:t>
            </a:r>
          </a:p>
          <a:p>
            <a:pPr lvl="1">
              <a:buFontTx/>
              <a:buNone/>
            </a:pPr>
            <a:r>
              <a:rPr lang="en-US" altLang="en-US"/>
              <a:t>    }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}</a:t>
            </a:r>
          </a:p>
          <a:p>
            <a:pPr lvl="1"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itle 1">
            <a:extLst>
              <a:ext uri="{FF2B5EF4-FFF2-40B4-BE49-F238E27FC236}">
                <a16:creationId xmlns:a16="http://schemas.microsoft.com/office/drawing/2014/main" id="{0E4EBC29-0BCD-1653-3BF1-DD5DF334A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Props Util</a:t>
            </a:r>
          </a:p>
        </p:txBody>
      </p:sp>
      <p:sp>
        <p:nvSpPr>
          <p:cNvPr id="188419" name="Content Placeholder 2">
            <a:extLst>
              <a:ext uri="{FF2B5EF4-FFF2-40B4-BE49-F238E27FC236}">
                <a16:creationId xmlns:a16="http://schemas.microsoft.com/office/drawing/2014/main" id="{A38700EC-7731-F8E5-8135-B31A2BE50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r>
              <a:rPr lang="en-US" altLang="en-US"/>
              <a:t>package com.training.utils;</a:t>
            </a:r>
          </a:p>
          <a:p>
            <a:pPr lvl="1">
              <a:buFontTx/>
              <a:buNone/>
            </a:pPr>
            <a:r>
              <a:rPr lang="en-US" altLang="en-US"/>
              <a:t>import java.util.*;</a:t>
            </a:r>
          </a:p>
          <a:p>
            <a:pPr lvl="1">
              <a:buFontTx/>
              <a:buNone/>
            </a:pPr>
            <a:r>
              <a:rPr lang="en-US" altLang="en-US"/>
              <a:t>import java.lang.reflect.*;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public class PropsUtil {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	  public static Map&lt;String, Object&gt; getProperties(Object object) throws IllegalAccessException {</a:t>
            </a:r>
          </a:p>
          <a:p>
            <a:pPr lvl="1">
              <a:buFontTx/>
              <a:buNone/>
            </a:pPr>
            <a:r>
              <a:rPr lang="en-US" altLang="en-US"/>
              <a:t>	      Class&lt;?&gt; theClass = object.getClass();</a:t>
            </a:r>
          </a:p>
          <a:p>
            <a:pPr lvl="1">
              <a:buFontTx/>
              <a:buNone/>
            </a:pPr>
            <a:r>
              <a:rPr lang="en-US" altLang="en-US"/>
              <a:t>	      Field[] declaredFields = theClass.getDeclaredFields();</a:t>
            </a:r>
          </a:p>
          <a:p>
            <a:pPr lvl="1">
              <a:buFontTx/>
              <a:buNone/>
            </a:pPr>
            <a:r>
              <a:rPr lang="en-US" altLang="en-US"/>
              <a:t>	      Map&lt;String, Object&gt; fieldsMap = new HashMap&lt;&gt;();</a:t>
            </a:r>
          </a:p>
          <a:p>
            <a:pPr lvl="1">
              <a:buFontTx/>
              <a:buNone/>
            </a:pPr>
            <a:r>
              <a:rPr lang="en-US" altLang="en-US"/>
              <a:t>	      for (Field declaredField : declaredFields) {</a:t>
            </a:r>
          </a:p>
          <a:p>
            <a:pPr lvl="1">
              <a:buFontTx/>
              <a:buNone/>
            </a:pPr>
            <a:r>
              <a:rPr lang="en-US" altLang="en-US"/>
              <a:t>	          declaredField.setAccessible(true);</a:t>
            </a:r>
          </a:p>
          <a:p>
            <a:pPr lvl="1">
              <a:buFontTx/>
              <a:buNone/>
            </a:pPr>
            <a:r>
              <a:rPr lang="en-US" altLang="en-US"/>
              <a:t>	          Object o = declaredField.get(object);</a:t>
            </a:r>
          </a:p>
          <a:p>
            <a:pPr lvl="1">
              <a:buFontTx/>
              <a:buNone/>
            </a:pPr>
            <a:r>
              <a:rPr lang="en-US" altLang="en-US"/>
              <a:t>	          fieldsMap.put(declaredField.getName(), o);</a:t>
            </a:r>
          </a:p>
          <a:p>
            <a:pPr lvl="1">
              <a:buFontTx/>
              <a:buNone/>
            </a:pPr>
            <a:r>
              <a:rPr lang="en-US" altLang="en-US"/>
              <a:t>	      }</a:t>
            </a:r>
          </a:p>
          <a:p>
            <a:pPr lvl="1">
              <a:buFontTx/>
              <a:buNone/>
            </a:pPr>
            <a:r>
              <a:rPr lang="en-US" altLang="en-US"/>
              <a:t>	      return fieldsMap;</a:t>
            </a:r>
          </a:p>
          <a:p>
            <a:pPr lvl="1">
              <a:buFontTx/>
              <a:buNone/>
            </a:pPr>
            <a:r>
              <a:rPr lang="en-US" altLang="en-US"/>
              <a:t>	  }</a:t>
            </a:r>
          </a:p>
          <a:p>
            <a:pPr lvl="1">
              <a:buFontTx/>
              <a:buNone/>
            </a:pPr>
            <a:endParaRPr lang="en-US" altLang="en-US"/>
          </a:p>
          <a:p>
            <a:pPr lvl="1">
              <a:buFontTx/>
              <a:buNone/>
            </a:pPr>
            <a:r>
              <a:rPr lang="en-US" altLang="en-US"/>
              <a:t>}</a:t>
            </a:r>
          </a:p>
          <a:p>
            <a:pPr lvl="1"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itle 1">
            <a:extLst>
              <a:ext uri="{FF2B5EF4-FFF2-40B4-BE49-F238E27FC236}">
                <a16:creationId xmlns:a16="http://schemas.microsoft.com/office/drawing/2014/main" id="{F3547393-B250-BF3F-A7AD-1CC8F64A1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913A3-BE75-94A2-51D4-A0B1B868F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module </a:t>
            </a:r>
            <a:r>
              <a:rPr lang="en-US" b="1" dirty="0" err="1">
                <a:ea typeface="+mn-ea"/>
                <a:cs typeface="+mn-cs"/>
              </a:rPr>
              <a:t>org.reflection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exports </a:t>
            </a:r>
            <a:r>
              <a:rPr lang="en-US" b="1" dirty="0" err="1">
                <a:ea typeface="+mn-ea"/>
                <a:cs typeface="+mn-cs"/>
              </a:rPr>
              <a:t>com.training.utils</a:t>
            </a:r>
            <a:r>
              <a:rPr lang="en-US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  <a:endParaRPr lang="en-US" dirty="0"/>
          </a:p>
        </p:txBody>
      </p:sp>
    </p:spTree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itle 1">
            <a:extLst>
              <a:ext uri="{FF2B5EF4-FFF2-40B4-BE49-F238E27FC236}">
                <a16:creationId xmlns:a16="http://schemas.microsoft.com/office/drawing/2014/main" id="{1B2FE8DC-3E9D-8B29-E30F-D5D8E065F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pic>
        <p:nvPicPr>
          <p:cNvPr id="190467" name="Content Placeholder 3" descr="java-9-modules-visibility-640x228.png">
            <a:extLst>
              <a:ext uri="{FF2B5EF4-FFF2-40B4-BE49-F238E27FC236}">
                <a16:creationId xmlns:a16="http://schemas.microsoft.com/office/drawing/2014/main" id="{405A3390-5736-EBB7-9FF8-F5B6F1B905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838200"/>
            <a:ext cx="7543800" cy="5562600"/>
          </a:xfr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itle 1">
            <a:extLst>
              <a:ext uri="{FF2B5EF4-FFF2-40B4-BE49-F238E27FC236}">
                <a16:creationId xmlns:a16="http://schemas.microsoft.com/office/drawing/2014/main" id="{FC71160B-15EC-8106-2168-86BD55415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takeWhile</a:t>
            </a:r>
          </a:p>
        </p:txBody>
      </p:sp>
      <p:sp>
        <p:nvSpPr>
          <p:cNvPr id="215043" name="Content Placeholder 2">
            <a:extLst>
              <a:ext uri="{FF2B5EF4-FFF2-40B4-BE49-F238E27FC236}">
                <a16:creationId xmlns:a16="http://schemas.microsoft.com/office/drawing/2014/main" id="{4EC9726B-9D3E-989F-75C1-94F5014CF1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Takes all the values until the predicate returns false. </a:t>
            </a:r>
          </a:p>
          <a:p>
            <a:endParaRPr lang="en-US" altLang="en-US" sz="2000"/>
          </a:p>
          <a:p>
            <a:r>
              <a:rPr lang="en-US" altLang="en-US" sz="2000"/>
              <a:t>It returns a stream consisting of the longest prefix of elements taken from this stream matching the given predicate.</a:t>
            </a:r>
          </a:p>
          <a:p>
            <a:endParaRPr lang="en-US" altLang="en-US" sz="2000"/>
          </a:p>
          <a:p>
            <a:endParaRPr lang="en-US" altLang="en-US" sz="2000"/>
          </a:p>
          <a:p>
            <a:pPr lvl="1">
              <a:buFontTx/>
              <a:buNone/>
            </a:pPr>
            <a:r>
              <a:rPr lang="en-US" altLang="en-US" sz="2000" b="1"/>
              <a:t>Stream.of("a","b","c","","e","f").takeWhile(s-&gt;!s.isEmpty()) .forEach(System.out::print); </a:t>
            </a:r>
          </a:p>
          <a:p>
            <a:endParaRPr lang="en-US" altLang="en-US" sz="2000"/>
          </a:p>
          <a:p>
            <a:r>
              <a:rPr lang="en-US" altLang="en-US" sz="2000" b="1"/>
              <a:t>Print abc </a:t>
            </a:r>
          </a:p>
          <a:p>
            <a:pPr lvl="1"/>
            <a:r>
              <a:rPr lang="en-US" altLang="en-US" sz="2000"/>
              <a:t>Takes all a, b, and c values, then once string is empty</a:t>
            </a:r>
          </a:p>
          <a:p>
            <a:pPr lvl="1"/>
            <a:r>
              <a:rPr lang="en-US" altLang="en-US" sz="2000"/>
              <a:t>Stopped executing.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Title 1">
            <a:extLst>
              <a:ext uri="{FF2B5EF4-FFF2-40B4-BE49-F238E27FC236}">
                <a16:creationId xmlns:a16="http://schemas.microsoft.com/office/drawing/2014/main" id="{095F949D-F53D-A4AE-8AC3-14AD67A7E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Drop While</a:t>
            </a:r>
          </a:p>
        </p:txBody>
      </p:sp>
      <p:sp>
        <p:nvSpPr>
          <p:cNvPr id="216067" name="Content Placeholder 2">
            <a:extLst>
              <a:ext uri="{FF2B5EF4-FFF2-40B4-BE49-F238E27FC236}">
                <a16:creationId xmlns:a16="http://schemas.microsoft.com/office/drawing/2014/main" id="{59DE436A-AF72-92BA-0923-91A2C9CD2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dropWhile(Predicate Interface)</a:t>
            </a:r>
          </a:p>
          <a:p>
            <a:endParaRPr lang="en-US" altLang="en-US" sz="2000"/>
          </a:p>
          <a:p>
            <a:r>
              <a:rPr lang="en-US" altLang="en-US" sz="2000"/>
              <a:t>Throw away all the values at the start until the predicate returns true. </a:t>
            </a:r>
          </a:p>
          <a:p>
            <a:endParaRPr lang="en-US" altLang="en-US" sz="2000"/>
          </a:p>
          <a:p>
            <a:r>
              <a:rPr lang="en-US" altLang="en-US" sz="2000"/>
              <a:t>In case of ordered stream, a stream consisting of the remaining elements of this stream after dropping the longest prefix of elements matching the given predicate.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itle 1">
            <a:extLst>
              <a:ext uri="{FF2B5EF4-FFF2-40B4-BE49-F238E27FC236}">
                <a16:creationId xmlns:a16="http://schemas.microsoft.com/office/drawing/2014/main" id="{DE7CF7DD-0475-770A-9932-47F672041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Drop While</a:t>
            </a:r>
          </a:p>
        </p:txBody>
      </p:sp>
      <p:sp>
        <p:nvSpPr>
          <p:cNvPr id="217091" name="Content Placeholder 2">
            <a:extLst>
              <a:ext uri="{FF2B5EF4-FFF2-40B4-BE49-F238E27FC236}">
                <a16:creationId xmlns:a16="http://schemas.microsoft.com/office/drawing/2014/main" id="{E011EB58-12AD-B823-B48D-1B999957C7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Drops a,b and c values, then once string is empty, it takes all the values.</a:t>
            </a:r>
          </a:p>
          <a:p>
            <a:endParaRPr lang="en-US" altLang="en-US" sz="2400"/>
          </a:p>
          <a:p>
            <a:pPr lvl="1">
              <a:buFontTx/>
              <a:buNone/>
            </a:pPr>
            <a:endParaRPr lang="en-US" altLang="en-US" sz="2000"/>
          </a:p>
          <a:p>
            <a:pPr lvl="1">
              <a:buFontTx/>
              <a:buNone/>
            </a:pPr>
            <a:r>
              <a:rPr lang="en-US" altLang="en-US" sz="2000"/>
              <a:t>Stream.of("a","b","c","","e","f").dropWhile(s-&gt; !s.isEmpty()) .forEach(System.out::print); System.out.println(); </a:t>
            </a:r>
          </a:p>
          <a:p>
            <a:pPr lvl="1">
              <a:buFontTx/>
              <a:buNone/>
            </a:pPr>
            <a:endParaRPr lang="en-US" altLang="en-US" sz="2000"/>
          </a:p>
          <a:p>
            <a:r>
              <a:rPr lang="en-US" altLang="en-US" sz="2400"/>
              <a:t>Output   =&gt; ef ef</a:t>
            </a:r>
          </a:p>
        </p:txBody>
      </p:sp>
    </p:spTree>
  </p:cSld>
  <p:clrMapOvr>
    <a:masterClrMapping/>
  </p:clrMapOvr>
  <p:transition advClick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Title 1">
            <a:extLst>
              <a:ext uri="{FF2B5EF4-FFF2-40B4-BE49-F238E27FC236}">
                <a16:creationId xmlns:a16="http://schemas.microsoft.com/office/drawing/2014/main" id="{DB5891EB-CB01-F420-65A3-1CA74CC4D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Iterate</a:t>
            </a:r>
          </a:p>
        </p:txBody>
      </p:sp>
      <p:sp>
        <p:nvSpPr>
          <p:cNvPr id="218115" name="Content Placeholder 2">
            <a:extLst>
              <a:ext uri="{FF2B5EF4-FFF2-40B4-BE49-F238E27FC236}">
                <a16:creationId xmlns:a16="http://schemas.microsoft.com/office/drawing/2014/main" id="{E35EEAA3-1C1E-4B2B-F1DE-DD510FF4D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z="2000"/>
          </a:p>
          <a:p>
            <a:r>
              <a:rPr lang="en-US" altLang="en-US" sz="2000"/>
              <a:t>iterate(T seed, Predicate&lt;? super T&gt; hasNext, UnaryOperator&lt;T&gt; next) </a:t>
            </a:r>
          </a:p>
          <a:p>
            <a:endParaRPr lang="en-US" altLang="en-US" sz="2000"/>
          </a:p>
          <a:p>
            <a:r>
              <a:rPr lang="en-US" altLang="en-US" sz="2000"/>
              <a:t>Got hasNext with predicate as parameter which stops the loop once hasNext predicate returns false.</a:t>
            </a:r>
          </a:p>
          <a:p>
            <a:endParaRPr lang="en-US" altLang="en-US" sz="2000"/>
          </a:p>
          <a:p>
            <a:pPr lvl="1">
              <a:buFontTx/>
              <a:buNone/>
            </a:pPr>
            <a:r>
              <a:rPr lang="en-US" altLang="en-US" sz="2000"/>
              <a:t>IntStream.iterate(</a:t>
            </a:r>
            <a:r>
              <a:rPr lang="en-US" altLang="en-US" sz="2000" b="1">
                <a:solidFill>
                  <a:srgbClr val="FF0000"/>
                </a:solidFill>
              </a:rPr>
              <a:t>3</a:t>
            </a:r>
            <a:r>
              <a:rPr lang="en-US" altLang="en-US" sz="2000"/>
              <a:t>, </a:t>
            </a:r>
            <a:r>
              <a:rPr lang="en-US" altLang="en-US" sz="2000" b="1"/>
              <a:t>x -&gt; x &lt; 10</a:t>
            </a:r>
            <a:r>
              <a:rPr lang="en-US" altLang="en-US" sz="2000"/>
              <a:t>, </a:t>
            </a:r>
            <a:r>
              <a:rPr lang="en-US" altLang="en-US" sz="2000" b="1">
                <a:solidFill>
                  <a:srgbClr val="C00000"/>
                </a:solidFill>
              </a:rPr>
              <a:t>x -&gt; x+3)</a:t>
            </a:r>
            <a:r>
              <a:rPr lang="en-US" altLang="en-US" sz="2000"/>
              <a:t>.forEach(System.out::println); </a:t>
            </a:r>
          </a:p>
          <a:p>
            <a:pPr lvl="1">
              <a:buFontTx/>
              <a:buNone/>
            </a:pPr>
            <a:r>
              <a:rPr lang="en-US" altLang="en-US" sz="2000"/>
              <a:t>} </a:t>
            </a:r>
          </a:p>
          <a:p>
            <a:endParaRPr lang="en-US" altLang="en-US" sz="2000"/>
          </a:p>
          <a:p>
            <a:r>
              <a:rPr lang="en-US" altLang="en-US" sz="2000" b="1"/>
              <a:t>Prints  3,6,9</a:t>
            </a:r>
          </a:p>
        </p:txBody>
      </p:sp>
    </p:spTree>
  </p:cSld>
  <p:clrMapOvr>
    <a:masterClrMapping/>
  </p:clrMapOvr>
  <p:transition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itle 1">
            <a:extLst>
              <a:ext uri="{FF2B5EF4-FFF2-40B4-BE49-F238E27FC236}">
                <a16:creationId xmlns:a16="http://schemas.microsoft.com/office/drawing/2014/main" id="{7ABB3DA0-4DDA-F0DB-5BD9-665F10286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ofNullable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19139" name="Content Placeholder 2">
            <a:extLst>
              <a:ext uri="{FF2B5EF4-FFF2-40B4-BE49-F238E27FC236}">
                <a16:creationId xmlns:a16="http://schemas.microsoft.com/office/drawing/2014/main" id="{B2967895-BE6B-1999-EC1F-4FBC8EC1C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static &lt;T&gt; Stream&lt;T&gt; ofNullable(T t)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Used to prevent NullPointerExceptions and to avoid null checks for streams.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returns a sequential Stream containing single element, if non-null, otherwise returns an empty Stream.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/>
              <a:t>long count = Stream.ofNullable(100).count(); System.out.println(count);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/>
              <a:t>count = Stream.ofNullable(null).count(); System.out.println(count); 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5790</TotalTime>
  <Words>4490</Words>
  <Application>Microsoft Macintosh PowerPoint</Application>
  <PresentationFormat>On-screen Show (4:3)</PresentationFormat>
  <Paragraphs>767</Paragraphs>
  <Slides>70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Times New Roman</vt:lpstr>
      <vt:lpstr>vees</vt:lpstr>
      <vt:lpstr>java -9 and 10</vt:lpstr>
      <vt:lpstr>Local Variable Type Inference</vt:lpstr>
      <vt:lpstr>LVTI - Var</vt:lpstr>
      <vt:lpstr>Jshell</vt:lpstr>
      <vt:lpstr>Introduction</vt:lpstr>
      <vt:lpstr>Need for Jshell</vt:lpstr>
      <vt:lpstr>Starting  and Stopping JShell</vt:lpstr>
      <vt:lpstr>Expressions and Scratch Variables</vt:lpstr>
      <vt:lpstr>Identifiers</vt:lpstr>
      <vt:lpstr> Basic Calculations </vt:lpstr>
      <vt:lpstr>Defining Function </vt:lpstr>
      <vt:lpstr>Calling Methods</vt:lpstr>
      <vt:lpstr>Control Flow</vt:lpstr>
      <vt:lpstr>Exceptions – Unchecked </vt:lpstr>
      <vt:lpstr>Exceptions –Checked </vt:lpstr>
      <vt:lpstr>Creating a Class</vt:lpstr>
      <vt:lpstr>Creating Instance</vt:lpstr>
      <vt:lpstr>Forward Referencing</vt:lpstr>
      <vt:lpstr>Auto  Complete </vt:lpstr>
      <vt:lpstr>Declarations Rules</vt:lpstr>
      <vt:lpstr>imports</vt:lpstr>
      <vt:lpstr>Command line</vt:lpstr>
      <vt:lpstr>Command Line</vt:lpstr>
      <vt:lpstr>Command Line</vt:lpstr>
      <vt:lpstr>Saving Files</vt:lpstr>
      <vt:lpstr>Saving Files</vt:lpstr>
      <vt:lpstr>Saving Files</vt:lpstr>
      <vt:lpstr> Loading Scripts </vt:lpstr>
      <vt:lpstr>Feed Back Mode</vt:lpstr>
      <vt:lpstr>Module system</vt:lpstr>
      <vt:lpstr>Topics</vt:lpstr>
      <vt:lpstr>Need for Modules</vt:lpstr>
      <vt:lpstr>What is a module</vt:lpstr>
      <vt:lpstr>Module System</vt:lpstr>
      <vt:lpstr>Module</vt:lpstr>
      <vt:lpstr>Module Principle</vt:lpstr>
      <vt:lpstr>Module Principle</vt:lpstr>
      <vt:lpstr>Packaging Modules</vt:lpstr>
      <vt:lpstr>JDK / JRE File Structure</vt:lpstr>
      <vt:lpstr>Java 8 and 9 Comparison</vt:lpstr>
      <vt:lpstr>Modular JDK</vt:lpstr>
      <vt:lpstr> Resources </vt:lpstr>
      <vt:lpstr> Module Types </vt:lpstr>
      <vt:lpstr>Module Naming Rules</vt:lpstr>
      <vt:lpstr> Distribution </vt:lpstr>
      <vt:lpstr> Module Descriptor </vt:lpstr>
      <vt:lpstr> module-info.java. </vt:lpstr>
      <vt:lpstr> Requires </vt:lpstr>
      <vt:lpstr> Exports </vt:lpstr>
      <vt:lpstr>Quick Start Project – First Example</vt:lpstr>
      <vt:lpstr>Quick Start Project –Show Details</vt:lpstr>
      <vt:lpstr>FristExample-Client Project</vt:lpstr>
      <vt:lpstr>Client – module-info.java</vt:lpstr>
      <vt:lpstr> Exports … To </vt:lpstr>
      <vt:lpstr>Exports  to</vt:lpstr>
      <vt:lpstr>Requires</vt:lpstr>
      <vt:lpstr>exports</vt:lpstr>
      <vt:lpstr> Visibility </vt:lpstr>
      <vt:lpstr> Opens </vt:lpstr>
      <vt:lpstr>Opens</vt:lpstr>
      <vt:lpstr>Open Example</vt:lpstr>
      <vt:lpstr>Open Example</vt:lpstr>
      <vt:lpstr>Props Util</vt:lpstr>
      <vt:lpstr>Opens</vt:lpstr>
      <vt:lpstr>Summary</vt:lpstr>
      <vt:lpstr>takeWhile</vt:lpstr>
      <vt:lpstr>Drop While</vt:lpstr>
      <vt:lpstr>Drop While</vt:lpstr>
      <vt:lpstr>Iterate</vt:lpstr>
      <vt:lpstr> ofNullable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Srivatsan Krishnamachari</cp:lastModifiedBy>
  <cp:revision>546</cp:revision>
  <dcterms:created xsi:type="dcterms:W3CDTF">1601-01-01T00:00:00Z</dcterms:created>
  <dcterms:modified xsi:type="dcterms:W3CDTF">2026-01-06T16:30:28Z</dcterms:modified>
</cp:coreProperties>
</file>