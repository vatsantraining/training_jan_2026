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1"/>
  </p:sldMasterIdLst>
  <p:notesMasterIdLst>
    <p:notesMasterId r:id="rId48"/>
  </p:notesMasterIdLst>
  <p:sldIdLst>
    <p:sldId id="914" r:id="rId2"/>
    <p:sldId id="1056" r:id="rId3"/>
    <p:sldId id="998" r:id="rId4"/>
    <p:sldId id="1025" r:id="rId5"/>
    <p:sldId id="999" r:id="rId6"/>
    <p:sldId id="1002" r:id="rId7"/>
    <p:sldId id="1000" r:id="rId8"/>
    <p:sldId id="1022" r:id="rId9"/>
    <p:sldId id="1026" r:id="rId10"/>
    <p:sldId id="1060" r:id="rId11"/>
    <p:sldId id="1070" r:id="rId12"/>
    <p:sldId id="1061" r:id="rId13"/>
    <p:sldId id="1071" r:id="rId14"/>
    <p:sldId id="1062" r:id="rId15"/>
    <p:sldId id="1073" r:id="rId16"/>
    <p:sldId id="1063" r:id="rId17"/>
    <p:sldId id="1067" r:id="rId18"/>
    <p:sldId id="1072" r:id="rId19"/>
    <p:sldId id="1068" r:id="rId20"/>
    <p:sldId id="1074" r:id="rId21"/>
    <p:sldId id="1006" r:id="rId22"/>
    <p:sldId id="1023" r:id="rId23"/>
    <p:sldId id="1003" r:id="rId24"/>
    <p:sldId id="1024" r:id="rId25"/>
    <p:sldId id="1012" r:id="rId26"/>
    <p:sldId id="1027" r:id="rId27"/>
    <p:sldId id="1028" r:id="rId28"/>
    <p:sldId id="1029" r:id="rId29"/>
    <p:sldId id="1005" r:id="rId30"/>
    <p:sldId id="1007" r:id="rId31"/>
    <p:sldId id="1004" r:id="rId32"/>
    <p:sldId id="1010" r:id="rId33"/>
    <p:sldId id="1017" r:id="rId34"/>
    <p:sldId id="1039" r:id="rId35"/>
    <p:sldId id="1041" r:id="rId36"/>
    <p:sldId id="1053" r:id="rId37"/>
    <p:sldId id="1036" r:id="rId38"/>
    <p:sldId id="1043" r:id="rId39"/>
    <p:sldId id="1054" r:id="rId40"/>
    <p:sldId id="1046" r:id="rId41"/>
    <p:sldId id="1048" r:id="rId42"/>
    <p:sldId id="1066" r:id="rId43"/>
    <p:sldId id="1065" r:id="rId44"/>
    <p:sldId id="1064" r:id="rId45"/>
    <p:sldId id="1059" r:id="rId46"/>
    <p:sldId id="1057" r:id="rId4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127" d="100"/>
          <a:sy n="127" d="100"/>
        </p:scale>
        <p:origin x="221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8460"/>
    </p:cViewPr>
  </p:sorterViewPr>
  <p:notesViewPr>
    <p:cSldViewPr>
      <p:cViewPr varScale="1">
        <p:scale>
          <a:sx n="96" d="100"/>
          <a:sy n="96" d="100"/>
        </p:scale>
        <p:origin x="3808" y="17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5FE9AB38-CC70-16E9-F717-FDC566299CA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94211" name="Rectangle 3">
            <a:extLst>
              <a:ext uri="{FF2B5EF4-FFF2-40B4-BE49-F238E27FC236}">
                <a16:creationId xmlns:a16="http://schemas.microsoft.com/office/drawing/2014/main" id="{454E6E2B-55D1-0C0C-2EBC-55A8C3589562}"/>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ECDFDCE6-FF11-C3A8-020C-9519EC75641D}"/>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3" name="Rectangle 5">
            <a:extLst>
              <a:ext uri="{FF2B5EF4-FFF2-40B4-BE49-F238E27FC236}">
                <a16:creationId xmlns:a16="http://schemas.microsoft.com/office/drawing/2014/main" id="{74B61FA6-7FD1-7FBD-F3DE-BD4F3637134A}"/>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4214" name="Rectangle 6">
            <a:extLst>
              <a:ext uri="{FF2B5EF4-FFF2-40B4-BE49-F238E27FC236}">
                <a16:creationId xmlns:a16="http://schemas.microsoft.com/office/drawing/2014/main" id="{AC5E1835-74F5-20CC-6FA6-68FAC66A8D4E}"/>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94215" name="Rectangle 7">
            <a:extLst>
              <a:ext uri="{FF2B5EF4-FFF2-40B4-BE49-F238E27FC236}">
                <a16:creationId xmlns:a16="http://schemas.microsoft.com/office/drawing/2014/main" id="{06173A40-61FE-9DB4-A97F-A5B4270F6898}"/>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7D5225B4-C484-534A-9CDE-3164CBD97F9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eeksforgeeks.org/devops/what-is-security-group-in-aws-and-how-to-create-it/"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www.geeksforgeeks.org/devops/amazon-vpc-introduction-to-amazon-virtual-cloud/"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BA6724E1-82D4-84A6-DC51-37CC07D5575F}"/>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3247E32D-743C-B265-CB37-3017DE7FED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4579" name="Slide Number Placeholder 3">
            <a:extLst>
              <a:ext uri="{FF2B5EF4-FFF2-40B4-BE49-F238E27FC236}">
                <a16:creationId xmlns:a16="http://schemas.microsoft.com/office/drawing/2014/main" id="{AB9E0EFE-3EE0-A003-0EF9-D8050FE25C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60C192-39C3-CA43-A332-D23A520A731A}"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9FB55CE0-6F82-8B5D-0992-BE65C348E896}"/>
              </a:ext>
            </a:extLst>
          </p:cNvPr>
          <p:cNvSpPr>
            <a:spLocks noGrp="1" noRot="1" noChangeAspect="1" noChangeArrowheads="1" noTextEdit="1"/>
          </p:cNvSpPr>
          <p:nvPr>
            <p:ph type="sldImg"/>
          </p:nvPr>
        </p:nvSpPr>
        <p:spPr>
          <a:ln/>
        </p:spPr>
      </p:sp>
      <p:sp>
        <p:nvSpPr>
          <p:cNvPr id="27650" name="Notes Placeholder 2">
            <a:extLst>
              <a:ext uri="{FF2B5EF4-FFF2-40B4-BE49-F238E27FC236}">
                <a16:creationId xmlns:a16="http://schemas.microsoft.com/office/drawing/2014/main" id="{01B0D132-8545-4CC6-26AF-1C0A635F63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1" name="Slide Number Placeholder 3">
            <a:extLst>
              <a:ext uri="{FF2B5EF4-FFF2-40B4-BE49-F238E27FC236}">
                <a16:creationId xmlns:a16="http://schemas.microsoft.com/office/drawing/2014/main" id="{9758EC91-EB9F-AD92-B75C-832F30913B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A8C833F-8732-3545-8700-1DC35C791803}"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C8ADFC58-A417-E40C-463D-088DDD22D062}"/>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708F50D0-2EE0-2291-6496-A4E0801FAB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0723" name="Slide Number Placeholder 3">
            <a:extLst>
              <a:ext uri="{FF2B5EF4-FFF2-40B4-BE49-F238E27FC236}">
                <a16:creationId xmlns:a16="http://schemas.microsoft.com/office/drawing/2014/main" id="{85ADF16A-BCC2-C02B-C66B-A936293AF7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B43D6B2-D6EC-9241-A85E-1AC09EDD91BD}"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54CFB5F9-2F5A-F345-FC7D-93D475943A3F}"/>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92E1BC93-F5E7-CDB9-A184-394961609F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4819" name="Slide Number Placeholder 3">
            <a:extLst>
              <a:ext uri="{FF2B5EF4-FFF2-40B4-BE49-F238E27FC236}">
                <a16:creationId xmlns:a16="http://schemas.microsoft.com/office/drawing/2014/main" id="{9BEB52E0-3441-8CDA-D9CC-223FC5F575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0068F0-513D-1A4E-971F-70FD3B404D72}"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a:extLst>
              <a:ext uri="{FF2B5EF4-FFF2-40B4-BE49-F238E27FC236}">
                <a16:creationId xmlns:a16="http://schemas.microsoft.com/office/drawing/2014/main" id="{65BCE3B6-A96F-0DDB-58BD-261FF1A554CE}"/>
              </a:ext>
            </a:extLst>
          </p:cNvPr>
          <p:cNvSpPr>
            <a:spLocks noGrp="1" noRot="1" noChangeAspect="1" noChangeArrowheads="1" noTextEdit="1"/>
          </p:cNvSpPr>
          <p:nvPr>
            <p:ph type="sldImg"/>
          </p:nvPr>
        </p:nvSpPr>
        <p:spPr>
          <a:ln/>
        </p:spPr>
      </p:sp>
      <p:sp>
        <p:nvSpPr>
          <p:cNvPr id="37890" name="Notes Placeholder 2">
            <a:extLst>
              <a:ext uri="{FF2B5EF4-FFF2-40B4-BE49-F238E27FC236}">
                <a16:creationId xmlns:a16="http://schemas.microsoft.com/office/drawing/2014/main" id="{319E819B-6A91-C781-55A1-DFBF1F5EE3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t>Security groups and NACL both act as virtual firewalls, which control the traffic from Inbound and Outbound of the resources. In this article, we will discuss the difference between Security Groups and NACL on Amazon Web Services.</a:t>
            </a:r>
          </a:p>
          <a:p>
            <a:r>
              <a:rPr lang="en-IN" altLang="en-US" b="1"/>
              <a:t>Security Group</a:t>
            </a:r>
          </a:p>
          <a:p>
            <a:r>
              <a:rPr lang="en-IN" altLang="en-US"/>
              <a:t>Security groups are virtual shields or protectors of EC2 instances. Unless specifically allowed By default all inbound traffic is blocked, whereas all outbound traffic is allowed from the instance. To know more about security groups in AWS, refer to </a:t>
            </a:r>
            <a:r>
              <a:rPr lang="en-IN" altLang="en-US" u="sng">
                <a:hlinkClick r:id="rId3"/>
              </a:rPr>
              <a:t>What is security group in AWS and how to create it</a:t>
            </a:r>
            <a:r>
              <a:rPr lang="en-IN" altLang="en-US"/>
              <a:t>.</a:t>
            </a:r>
          </a:p>
          <a:p>
            <a:br>
              <a:rPr lang="en-IN" altLang="en-US"/>
            </a:br>
            <a:r>
              <a:rPr lang="en-IN" altLang="en-US"/>
              <a:t>We can edit inbound and outbound rules after creating the Security Group. Here is an example of default outbound rules which allow all traffic for all protocols.</a:t>
            </a:r>
          </a:p>
          <a:p>
            <a:br>
              <a:rPr lang="en-IN" altLang="en-US"/>
            </a:br>
            <a:endParaRPr lang="en-IN" altLang="en-US"/>
          </a:p>
          <a:p>
            <a:r>
              <a:rPr lang="en-IN" altLang="en-US" b="1"/>
              <a:t>Limitations of Security Groups</a:t>
            </a:r>
          </a:p>
          <a:p>
            <a:r>
              <a:rPr lang="en-IN" altLang="en-US"/>
              <a:t>Here are some Limitations of Security Groups in AWS:</a:t>
            </a:r>
          </a:p>
          <a:p>
            <a:r>
              <a:rPr lang="en-IN" altLang="en-US"/>
              <a:t>For a specific Security Group, the maximum Inbound and Outbound rules is 60</a:t>
            </a:r>
          </a:p>
          <a:p>
            <a:r>
              <a:rPr lang="en-IN" altLang="en-US"/>
              <a:t>For any region the default limit of security groups is 2,500 and it can be extended 10,000 Maximum for any further extension we have to do service requests.</a:t>
            </a:r>
          </a:p>
          <a:p>
            <a:r>
              <a:rPr lang="en-IN" altLang="en-US"/>
              <a:t>Cannot be applied to the multiple</a:t>
            </a:r>
            <a:r>
              <a:rPr lang="en-IN" altLang="en-US" u="sng">
                <a:hlinkClick r:id="rId4"/>
              </a:rPr>
              <a:t> VPCs</a:t>
            </a:r>
            <a:r>
              <a:rPr lang="en-IN" altLang="en-US"/>
              <a:t>.</a:t>
            </a:r>
          </a:p>
          <a:p>
            <a:r>
              <a:rPr lang="en-IN" altLang="en-US" b="1"/>
              <a:t>NACL</a:t>
            </a:r>
          </a:p>
          <a:p>
            <a:r>
              <a:rPr lang="en-IN" altLang="en-US"/>
              <a:t>Network Access Control List is also a virtual firewall for subnets, which controls the Inbound and Outbound traffic of Subnets. After the creation of VPC, a Default NACL will be associated and allow all Inbound and Outbound Traffic.</a:t>
            </a:r>
          </a:p>
          <a:p>
            <a:r>
              <a:rPr lang="en-IN" altLang="en-US"/>
              <a:t>In NACL just like Security Groups, it contains set of Inbound and Outbound Rules , that can either allow or deny Traffic into or out of subnets. Since we have option to allow or deny traffic the order of the rules becomes important so that AWS uses a concept of rule number.</a:t>
            </a:r>
          </a:p>
          <a:p>
            <a:br>
              <a:rPr lang="en-IN" altLang="en-US"/>
            </a:br>
            <a:endParaRPr lang="en-US" altLang="en-US"/>
          </a:p>
        </p:txBody>
      </p:sp>
      <p:sp>
        <p:nvSpPr>
          <p:cNvPr id="37891" name="Slide Number Placeholder 3">
            <a:extLst>
              <a:ext uri="{FF2B5EF4-FFF2-40B4-BE49-F238E27FC236}">
                <a16:creationId xmlns:a16="http://schemas.microsoft.com/office/drawing/2014/main" id="{BDC57065-9DD2-32DE-E82B-091B1D8AAD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5C39E0-7D46-6243-BE51-FB189A742F9A}"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B5F269F7-0088-70D2-1D98-0FC68065A3FB}"/>
              </a:ext>
            </a:extLst>
          </p:cNvPr>
          <p:cNvSpPr>
            <a:spLocks noGrp="1" noRot="1" noChangeAspect="1" noChangeArrowheads="1" noTextEdit="1"/>
          </p:cNvSpPr>
          <p:nvPr>
            <p:ph type="sldImg"/>
          </p:nvPr>
        </p:nvSpPr>
        <p:spPr>
          <a:ln/>
        </p:spPr>
      </p:sp>
      <p:sp>
        <p:nvSpPr>
          <p:cNvPr id="62466" name="Notes Placeholder 2">
            <a:extLst>
              <a:ext uri="{FF2B5EF4-FFF2-40B4-BE49-F238E27FC236}">
                <a16:creationId xmlns:a16="http://schemas.microsoft.com/office/drawing/2014/main" id="{BF312AD2-0936-6CF3-4264-03D064FB81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br>
              <a:rPr lang="en-IN" altLang="en-US"/>
            </a:br>
            <a:endParaRPr lang="en-US" altLang="en-US"/>
          </a:p>
        </p:txBody>
      </p:sp>
      <p:sp>
        <p:nvSpPr>
          <p:cNvPr id="62467" name="Slide Number Placeholder 3">
            <a:extLst>
              <a:ext uri="{FF2B5EF4-FFF2-40B4-BE49-F238E27FC236}">
                <a16:creationId xmlns:a16="http://schemas.microsoft.com/office/drawing/2014/main" id="{116A9957-FD7E-09B8-7589-3AA9EE3676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0BC342-BBE9-9E4F-B092-389514F131BE}"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a:extLst>
              <a:ext uri="{FF2B5EF4-FFF2-40B4-BE49-F238E27FC236}">
                <a16:creationId xmlns:a16="http://schemas.microsoft.com/office/drawing/2014/main" id="{059C19CE-9028-BD63-C6EE-ACCA9DAF261F}"/>
              </a:ext>
            </a:extLst>
          </p:cNvPr>
          <p:cNvSpPr>
            <a:spLocks noGrp="1" noRot="1" noChangeAspect="1" noChangeArrowheads="1" noTextEdit="1"/>
          </p:cNvSpPr>
          <p:nvPr>
            <p:ph type="sldImg"/>
          </p:nvPr>
        </p:nvSpPr>
        <p:spPr>
          <a:ln/>
        </p:spPr>
      </p:sp>
      <p:sp>
        <p:nvSpPr>
          <p:cNvPr id="64514" name="Notes Placeholder 2">
            <a:extLst>
              <a:ext uri="{FF2B5EF4-FFF2-40B4-BE49-F238E27FC236}">
                <a16:creationId xmlns:a16="http://schemas.microsoft.com/office/drawing/2014/main" id="{A27E6537-907B-54E0-4189-83D3A65AD6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4515" name="Slide Number Placeholder 3">
            <a:extLst>
              <a:ext uri="{FF2B5EF4-FFF2-40B4-BE49-F238E27FC236}">
                <a16:creationId xmlns:a16="http://schemas.microsoft.com/office/drawing/2014/main" id="{CBD3507D-3E23-E581-1E19-C786DF6C8E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A811B2-DDBF-D748-AA60-F1D1E680443C}"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a:extLst>
              <a:ext uri="{FF2B5EF4-FFF2-40B4-BE49-F238E27FC236}">
                <a16:creationId xmlns:a16="http://schemas.microsoft.com/office/drawing/2014/main" id="{2AA78D99-B8E4-CA05-46D5-DCF2E8C93B56}"/>
              </a:ext>
            </a:extLst>
          </p:cNvPr>
          <p:cNvSpPr>
            <a:spLocks noGrp="1" noRot="1" noChangeAspect="1" noChangeArrowheads="1" noTextEdit="1"/>
          </p:cNvSpPr>
          <p:nvPr>
            <p:ph type="sldImg"/>
          </p:nvPr>
        </p:nvSpPr>
        <p:spPr>
          <a:ln/>
        </p:spPr>
      </p:sp>
      <p:sp>
        <p:nvSpPr>
          <p:cNvPr id="66562" name="Notes Placeholder 2">
            <a:extLst>
              <a:ext uri="{FF2B5EF4-FFF2-40B4-BE49-F238E27FC236}">
                <a16:creationId xmlns:a16="http://schemas.microsoft.com/office/drawing/2014/main" id="{500BC43B-5494-74D3-EE92-B905DFC9E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t>A</a:t>
            </a:r>
            <a:endParaRPr lang="en-US" altLang="en-US"/>
          </a:p>
        </p:txBody>
      </p:sp>
      <p:sp>
        <p:nvSpPr>
          <p:cNvPr id="66563" name="Slide Number Placeholder 3">
            <a:extLst>
              <a:ext uri="{FF2B5EF4-FFF2-40B4-BE49-F238E27FC236}">
                <a16:creationId xmlns:a16="http://schemas.microsoft.com/office/drawing/2014/main" id="{8CE5F831-95CB-36E7-DA55-43E2F8024C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7C0581-0AA3-944A-AEE6-97E683DD9785}"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a:extLst>
              <a:ext uri="{FF2B5EF4-FFF2-40B4-BE49-F238E27FC236}">
                <a16:creationId xmlns:a16="http://schemas.microsoft.com/office/drawing/2014/main" id="{8BF01311-DBEB-491B-C0FA-C02B03E2E2EF}"/>
              </a:ext>
            </a:extLst>
          </p:cNvPr>
          <p:cNvSpPr>
            <a:spLocks noGrp="1" noRot="1" noChangeAspect="1" noChangeArrowheads="1" noTextEdit="1"/>
          </p:cNvSpPr>
          <p:nvPr>
            <p:ph type="sldImg"/>
          </p:nvPr>
        </p:nvSpPr>
        <p:spPr>
          <a:ln/>
        </p:spPr>
      </p:sp>
      <p:sp>
        <p:nvSpPr>
          <p:cNvPr id="68610" name="Notes Placeholder 2">
            <a:extLst>
              <a:ext uri="{FF2B5EF4-FFF2-40B4-BE49-F238E27FC236}">
                <a16:creationId xmlns:a16="http://schemas.microsoft.com/office/drawing/2014/main" id="{FDAC05AB-A7B8-30BE-E151-232795712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8611" name="Slide Number Placeholder 3">
            <a:extLst>
              <a:ext uri="{FF2B5EF4-FFF2-40B4-BE49-F238E27FC236}">
                <a16:creationId xmlns:a16="http://schemas.microsoft.com/office/drawing/2014/main" id="{8CA89D94-65BE-A2B1-AC0C-6B9496395F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04766BD-7F7A-0048-8385-BFAC884D090F}"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a:extLst>
              <a:ext uri="{FF2B5EF4-FFF2-40B4-BE49-F238E27FC236}">
                <a16:creationId xmlns:a16="http://schemas.microsoft.com/office/drawing/2014/main" id="{4228E023-8F2C-4BE3-2D5C-9DB9825C4654}"/>
              </a:ext>
            </a:extLst>
          </p:cNvPr>
          <p:cNvSpPr>
            <a:spLocks noGrp="1" noRot="1" noChangeAspect="1" noChangeArrowheads="1" noTextEdit="1"/>
          </p:cNvSpPr>
          <p:nvPr>
            <p:ph type="sldImg"/>
          </p:nvPr>
        </p:nvSpPr>
        <p:spPr>
          <a:ln/>
        </p:spPr>
      </p:sp>
      <p:sp>
        <p:nvSpPr>
          <p:cNvPr id="70658" name="Notes Placeholder 2">
            <a:extLst>
              <a:ext uri="{FF2B5EF4-FFF2-40B4-BE49-F238E27FC236}">
                <a16:creationId xmlns:a16="http://schemas.microsoft.com/office/drawing/2014/main" id="{22D34124-3CA7-D32D-A670-89F6C96E5D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br>
              <a:rPr lang="en-IN" altLang="en-US"/>
            </a:br>
            <a:endParaRPr lang="en-IN" altLang="en-US"/>
          </a:p>
          <a:p>
            <a:endParaRPr lang="en-US" altLang="en-US"/>
          </a:p>
        </p:txBody>
      </p:sp>
      <p:sp>
        <p:nvSpPr>
          <p:cNvPr id="70659" name="Slide Number Placeholder 3">
            <a:extLst>
              <a:ext uri="{FF2B5EF4-FFF2-40B4-BE49-F238E27FC236}">
                <a16:creationId xmlns:a16="http://schemas.microsoft.com/office/drawing/2014/main" id="{0AE8C388-CE0C-BA80-6EC4-6C5639A03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A1372FD-2B8F-FA49-B6BF-3D93B92A7586}"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9B184DF-DAEC-A5A6-3579-7521315D50B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B4074D7-DC7C-C2A0-FD65-6588B19C4C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C6431F3-A093-AAA5-C5E4-8634307697BD}"/>
              </a:ext>
            </a:extLst>
          </p:cNvPr>
          <p:cNvSpPr>
            <a:spLocks noGrp="1" noChangeArrowheads="1"/>
          </p:cNvSpPr>
          <p:nvPr>
            <p:ph type="sldNum" sz="quarter" idx="12"/>
          </p:nvPr>
        </p:nvSpPr>
        <p:spPr>
          <a:ln/>
        </p:spPr>
        <p:txBody>
          <a:bodyPr/>
          <a:lstStyle>
            <a:lvl1pPr>
              <a:defRPr/>
            </a:lvl1pPr>
          </a:lstStyle>
          <a:p>
            <a:pPr>
              <a:defRPr/>
            </a:pPr>
            <a:fld id="{66F37113-4EDF-2F42-8DB1-F17F6B6279D1}" type="slidenum">
              <a:rPr lang="en-US" altLang="en-US"/>
              <a:pPr>
                <a:defRPr/>
              </a:pPr>
              <a:t>‹#›</a:t>
            </a:fld>
            <a:endParaRPr lang="en-US" altLang="en-US"/>
          </a:p>
        </p:txBody>
      </p:sp>
    </p:spTree>
    <p:extLst>
      <p:ext uri="{BB962C8B-B14F-4D97-AF65-F5344CB8AC3E}">
        <p14:creationId xmlns:p14="http://schemas.microsoft.com/office/powerpoint/2010/main" val="190877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D4B9E0E-71E7-5D92-B51D-A236C3F2B6F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366E361-ECC2-46BC-22C3-62CEBEDDE7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5D455EF-CF83-8745-4D03-AF4595E4CE61}"/>
              </a:ext>
            </a:extLst>
          </p:cNvPr>
          <p:cNvSpPr>
            <a:spLocks noGrp="1" noChangeArrowheads="1"/>
          </p:cNvSpPr>
          <p:nvPr>
            <p:ph type="sldNum" sz="quarter" idx="12"/>
          </p:nvPr>
        </p:nvSpPr>
        <p:spPr>
          <a:ln/>
        </p:spPr>
        <p:txBody>
          <a:bodyPr/>
          <a:lstStyle>
            <a:lvl1pPr>
              <a:defRPr/>
            </a:lvl1pPr>
          </a:lstStyle>
          <a:p>
            <a:pPr>
              <a:defRPr/>
            </a:pPr>
            <a:fld id="{F537657C-EA34-B444-BAC3-BF1372B867D8}" type="slidenum">
              <a:rPr lang="en-US" altLang="en-US"/>
              <a:pPr>
                <a:defRPr/>
              </a:pPr>
              <a:t>‹#›</a:t>
            </a:fld>
            <a:endParaRPr lang="en-US" altLang="en-US"/>
          </a:p>
        </p:txBody>
      </p:sp>
    </p:spTree>
    <p:extLst>
      <p:ext uri="{BB962C8B-B14F-4D97-AF65-F5344CB8AC3E}">
        <p14:creationId xmlns:p14="http://schemas.microsoft.com/office/powerpoint/2010/main" val="137246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A65E25F-27FA-AD11-7EF7-DA133C20E36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D6D8487-C293-7881-3AD9-142695DC7F1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94E69B5-DFA6-7299-3BCB-DFEDDF3D89A6}"/>
              </a:ext>
            </a:extLst>
          </p:cNvPr>
          <p:cNvSpPr>
            <a:spLocks noGrp="1" noChangeArrowheads="1"/>
          </p:cNvSpPr>
          <p:nvPr>
            <p:ph type="sldNum" sz="quarter" idx="12"/>
          </p:nvPr>
        </p:nvSpPr>
        <p:spPr>
          <a:ln/>
        </p:spPr>
        <p:txBody>
          <a:bodyPr/>
          <a:lstStyle>
            <a:lvl1pPr>
              <a:defRPr/>
            </a:lvl1pPr>
          </a:lstStyle>
          <a:p>
            <a:pPr>
              <a:defRPr/>
            </a:pPr>
            <a:fld id="{B358DA3A-BE18-794E-BAD7-F984BE281A8A}" type="slidenum">
              <a:rPr lang="en-US" altLang="en-US"/>
              <a:pPr>
                <a:defRPr/>
              </a:pPr>
              <a:t>‹#›</a:t>
            </a:fld>
            <a:endParaRPr lang="en-US" altLang="en-US"/>
          </a:p>
        </p:txBody>
      </p:sp>
    </p:spTree>
    <p:extLst>
      <p:ext uri="{BB962C8B-B14F-4D97-AF65-F5344CB8AC3E}">
        <p14:creationId xmlns:p14="http://schemas.microsoft.com/office/powerpoint/2010/main" val="219969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90600"/>
            <a:ext cx="40386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40386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EE5ED28-F0AE-1771-F742-EA20B3024E6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B413322-3B25-F8B8-6F63-201FC61A18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E0B3DBF-70C6-4DB9-5305-F20986A9CD5D}"/>
              </a:ext>
            </a:extLst>
          </p:cNvPr>
          <p:cNvSpPr>
            <a:spLocks noGrp="1" noChangeArrowheads="1"/>
          </p:cNvSpPr>
          <p:nvPr>
            <p:ph type="sldNum" sz="quarter" idx="12"/>
          </p:nvPr>
        </p:nvSpPr>
        <p:spPr>
          <a:ln/>
        </p:spPr>
        <p:txBody>
          <a:bodyPr/>
          <a:lstStyle>
            <a:lvl1pPr>
              <a:defRPr/>
            </a:lvl1pPr>
          </a:lstStyle>
          <a:p>
            <a:pPr>
              <a:defRPr/>
            </a:pPr>
            <a:fld id="{9A9304E4-2862-F544-9397-D3FC4985143B}" type="slidenum">
              <a:rPr lang="en-US" altLang="en-US"/>
              <a:pPr>
                <a:defRPr/>
              </a:pPr>
              <a:t>‹#›</a:t>
            </a:fld>
            <a:endParaRPr lang="en-US" altLang="en-US"/>
          </a:p>
        </p:txBody>
      </p:sp>
    </p:spTree>
    <p:extLst>
      <p:ext uri="{BB962C8B-B14F-4D97-AF65-F5344CB8AC3E}">
        <p14:creationId xmlns:p14="http://schemas.microsoft.com/office/powerpoint/2010/main" val="2412493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D8CD503-3D59-A547-6FC1-FAFE0992898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CF39D19-05BF-F719-604D-54B9CC6C7CF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F231382A-78EC-3840-E5D1-EA7B1B720502}"/>
              </a:ext>
            </a:extLst>
          </p:cNvPr>
          <p:cNvSpPr>
            <a:spLocks noGrp="1" noChangeArrowheads="1"/>
          </p:cNvSpPr>
          <p:nvPr>
            <p:ph type="sldNum" sz="quarter" idx="12"/>
          </p:nvPr>
        </p:nvSpPr>
        <p:spPr>
          <a:ln/>
        </p:spPr>
        <p:txBody>
          <a:bodyPr/>
          <a:lstStyle>
            <a:lvl1pPr>
              <a:defRPr/>
            </a:lvl1pPr>
          </a:lstStyle>
          <a:p>
            <a:pPr>
              <a:defRPr/>
            </a:pPr>
            <a:fld id="{71BE2062-C200-6E44-88E2-14AE2B283883}" type="slidenum">
              <a:rPr lang="en-US" altLang="en-US"/>
              <a:pPr>
                <a:defRPr/>
              </a:pPr>
              <a:t>‹#›</a:t>
            </a:fld>
            <a:endParaRPr lang="en-US" altLang="en-US"/>
          </a:p>
        </p:txBody>
      </p:sp>
    </p:spTree>
    <p:extLst>
      <p:ext uri="{BB962C8B-B14F-4D97-AF65-F5344CB8AC3E}">
        <p14:creationId xmlns:p14="http://schemas.microsoft.com/office/powerpoint/2010/main" val="952245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575F82E-997B-CA60-53FD-C12D083D3A3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993E36C-91B8-5F03-CE4D-D054C6CDF2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36C0633-F81F-0A95-E6BA-5E08BBA68B6A}"/>
              </a:ext>
            </a:extLst>
          </p:cNvPr>
          <p:cNvSpPr>
            <a:spLocks noGrp="1" noChangeArrowheads="1"/>
          </p:cNvSpPr>
          <p:nvPr>
            <p:ph type="sldNum" sz="quarter" idx="12"/>
          </p:nvPr>
        </p:nvSpPr>
        <p:spPr>
          <a:ln/>
        </p:spPr>
        <p:txBody>
          <a:bodyPr/>
          <a:lstStyle>
            <a:lvl1pPr>
              <a:defRPr/>
            </a:lvl1pPr>
          </a:lstStyle>
          <a:p>
            <a:pPr>
              <a:defRPr/>
            </a:pPr>
            <a:fld id="{F0E63EB3-9B77-7D46-B462-2B03E7C91E28}" type="slidenum">
              <a:rPr lang="en-US" altLang="en-US"/>
              <a:pPr>
                <a:defRPr/>
              </a:pPr>
              <a:t>‹#›</a:t>
            </a:fld>
            <a:endParaRPr lang="en-US" altLang="en-US"/>
          </a:p>
        </p:txBody>
      </p:sp>
    </p:spTree>
    <p:extLst>
      <p:ext uri="{BB962C8B-B14F-4D97-AF65-F5344CB8AC3E}">
        <p14:creationId xmlns:p14="http://schemas.microsoft.com/office/powerpoint/2010/main" val="4102084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1C3F50C-4E41-4787-314B-4366CAD603F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4A54BBF2-645D-5228-9857-E61DE706BA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9FF18DA-744C-7C10-DE4E-C141B11439B7}"/>
              </a:ext>
            </a:extLst>
          </p:cNvPr>
          <p:cNvSpPr>
            <a:spLocks noGrp="1" noChangeArrowheads="1"/>
          </p:cNvSpPr>
          <p:nvPr>
            <p:ph type="sldNum" sz="quarter" idx="12"/>
          </p:nvPr>
        </p:nvSpPr>
        <p:spPr>
          <a:ln/>
        </p:spPr>
        <p:txBody>
          <a:bodyPr/>
          <a:lstStyle>
            <a:lvl1pPr>
              <a:defRPr/>
            </a:lvl1pPr>
          </a:lstStyle>
          <a:p>
            <a:pPr>
              <a:defRPr/>
            </a:pPr>
            <a:fld id="{D6572CC7-1D63-254D-ADCA-2BA0EA2C9ADF}" type="slidenum">
              <a:rPr lang="en-US" altLang="en-US"/>
              <a:pPr>
                <a:defRPr/>
              </a:pPr>
              <a:t>‹#›</a:t>
            </a:fld>
            <a:endParaRPr lang="en-US" altLang="en-US"/>
          </a:p>
        </p:txBody>
      </p:sp>
    </p:spTree>
    <p:extLst>
      <p:ext uri="{BB962C8B-B14F-4D97-AF65-F5344CB8AC3E}">
        <p14:creationId xmlns:p14="http://schemas.microsoft.com/office/powerpoint/2010/main" val="2707356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9538390-E9FB-06E8-2987-D7EF2FFF26D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3DC3CF1-14E4-45EF-52AF-C25493DE1EA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01D5557-CC59-06B6-A9DD-4BF12EC90FF2}"/>
              </a:ext>
            </a:extLst>
          </p:cNvPr>
          <p:cNvSpPr>
            <a:spLocks noGrp="1" noChangeArrowheads="1"/>
          </p:cNvSpPr>
          <p:nvPr>
            <p:ph type="sldNum" sz="quarter" idx="12"/>
          </p:nvPr>
        </p:nvSpPr>
        <p:spPr>
          <a:ln/>
        </p:spPr>
        <p:txBody>
          <a:bodyPr/>
          <a:lstStyle>
            <a:lvl1pPr>
              <a:defRPr/>
            </a:lvl1pPr>
          </a:lstStyle>
          <a:p>
            <a:pPr>
              <a:defRPr/>
            </a:pPr>
            <a:fld id="{E8F39D38-18F6-2448-BA94-D68EBA841823}" type="slidenum">
              <a:rPr lang="en-US" altLang="en-US"/>
              <a:pPr>
                <a:defRPr/>
              </a:pPr>
              <a:t>‹#›</a:t>
            </a:fld>
            <a:endParaRPr lang="en-US" altLang="en-US"/>
          </a:p>
        </p:txBody>
      </p:sp>
    </p:spTree>
    <p:extLst>
      <p:ext uri="{BB962C8B-B14F-4D97-AF65-F5344CB8AC3E}">
        <p14:creationId xmlns:p14="http://schemas.microsoft.com/office/powerpoint/2010/main" val="2940781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55EF4CC-CC1C-B894-0AD6-0925A645C51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CEBA2C3-DCEF-B534-5D2D-C35D5D71D4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BDD88E8-29D8-C0A8-1076-0FB0F74A0BD6}"/>
              </a:ext>
            </a:extLst>
          </p:cNvPr>
          <p:cNvSpPr>
            <a:spLocks noGrp="1" noChangeArrowheads="1"/>
          </p:cNvSpPr>
          <p:nvPr>
            <p:ph type="sldNum" sz="quarter" idx="12"/>
          </p:nvPr>
        </p:nvSpPr>
        <p:spPr>
          <a:ln/>
        </p:spPr>
        <p:txBody>
          <a:bodyPr/>
          <a:lstStyle>
            <a:lvl1pPr>
              <a:defRPr/>
            </a:lvl1pPr>
          </a:lstStyle>
          <a:p>
            <a:pPr>
              <a:defRPr/>
            </a:pPr>
            <a:fld id="{02202E95-68F3-2C4D-9195-282EFB33AA10}" type="slidenum">
              <a:rPr lang="en-US" altLang="en-US"/>
              <a:pPr>
                <a:defRPr/>
              </a:pPr>
              <a:t>‹#›</a:t>
            </a:fld>
            <a:endParaRPr lang="en-US" altLang="en-US"/>
          </a:p>
        </p:txBody>
      </p:sp>
    </p:spTree>
    <p:extLst>
      <p:ext uri="{BB962C8B-B14F-4D97-AF65-F5344CB8AC3E}">
        <p14:creationId xmlns:p14="http://schemas.microsoft.com/office/powerpoint/2010/main" val="3676599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FE0BDF2-E7FF-E46A-7528-7362FD7D404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71AAD30-470A-5B19-A1B2-4911249E4BE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80DB772-9489-FFB1-0BBC-DA5ABB4EE4CE}"/>
              </a:ext>
            </a:extLst>
          </p:cNvPr>
          <p:cNvSpPr>
            <a:spLocks noGrp="1" noChangeArrowheads="1"/>
          </p:cNvSpPr>
          <p:nvPr>
            <p:ph type="sldNum" sz="quarter" idx="12"/>
          </p:nvPr>
        </p:nvSpPr>
        <p:spPr>
          <a:ln/>
        </p:spPr>
        <p:txBody>
          <a:bodyPr/>
          <a:lstStyle>
            <a:lvl1pPr>
              <a:defRPr/>
            </a:lvl1pPr>
          </a:lstStyle>
          <a:p>
            <a:pPr>
              <a:defRPr/>
            </a:pPr>
            <a:fld id="{C713EC22-1380-2E4D-83A9-20719BA96851}" type="slidenum">
              <a:rPr lang="en-US" altLang="en-US"/>
              <a:pPr>
                <a:defRPr/>
              </a:pPr>
              <a:t>‹#›</a:t>
            </a:fld>
            <a:endParaRPr lang="en-US" altLang="en-US"/>
          </a:p>
        </p:txBody>
      </p:sp>
    </p:spTree>
    <p:extLst>
      <p:ext uri="{BB962C8B-B14F-4D97-AF65-F5344CB8AC3E}">
        <p14:creationId xmlns:p14="http://schemas.microsoft.com/office/powerpoint/2010/main" val="3256691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77BEBEF-826D-3EDB-AE5F-AFD009AEE9E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37C87AC-3251-778A-2787-CB5341A16CE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6B7F762-15CD-BFCA-991A-53ED15F38423}"/>
              </a:ext>
            </a:extLst>
          </p:cNvPr>
          <p:cNvSpPr>
            <a:spLocks noGrp="1" noChangeArrowheads="1"/>
          </p:cNvSpPr>
          <p:nvPr>
            <p:ph type="sldNum" sz="quarter" idx="12"/>
          </p:nvPr>
        </p:nvSpPr>
        <p:spPr>
          <a:ln/>
        </p:spPr>
        <p:txBody>
          <a:bodyPr/>
          <a:lstStyle>
            <a:lvl1pPr>
              <a:defRPr/>
            </a:lvl1pPr>
          </a:lstStyle>
          <a:p>
            <a:pPr>
              <a:defRPr/>
            </a:pPr>
            <a:fld id="{10C6AE08-D596-AF4C-883B-F6CB69902741}" type="slidenum">
              <a:rPr lang="en-US" altLang="en-US"/>
              <a:pPr>
                <a:defRPr/>
              </a:pPr>
              <a:t>‹#›</a:t>
            </a:fld>
            <a:endParaRPr lang="en-US" altLang="en-US"/>
          </a:p>
        </p:txBody>
      </p:sp>
    </p:spTree>
    <p:extLst>
      <p:ext uri="{BB962C8B-B14F-4D97-AF65-F5344CB8AC3E}">
        <p14:creationId xmlns:p14="http://schemas.microsoft.com/office/powerpoint/2010/main" val="1205400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BE8BE07-607E-6759-F391-0E7C7ED258DC}"/>
              </a:ext>
            </a:extLst>
          </p:cNvPr>
          <p:cNvSpPr>
            <a:spLocks noGrp="1" noChangeArrowheads="1"/>
          </p:cNvSpPr>
          <p:nvPr>
            <p:ph type="title"/>
          </p:nvPr>
        </p:nvSpPr>
        <p:spPr bwMode="auto">
          <a:xfrm>
            <a:off x="457200" y="274638"/>
            <a:ext cx="82296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318F0A84-BB2B-479F-7880-D0EFB2E640F8}"/>
              </a:ext>
            </a:extLst>
          </p:cNvPr>
          <p:cNvSpPr>
            <a:spLocks noGrp="1" noChangeArrowheads="1"/>
          </p:cNvSpPr>
          <p:nvPr>
            <p:ph type="body" idx="1"/>
          </p:nvPr>
        </p:nvSpPr>
        <p:spPr bwMode="auto">
          <a:xfrm>
            <a:off x="457200" y="990600"/>
            <a:ext cx="8229600"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53988" name="Rectangle 4">
            <a:extLst>
              <a:ext uri="{FF2B5EF4-FFF2-40B4-BE49-F238E27FC236}">
                <a16:creationId xmlns:a16="http://schemas.microsoft.com/office/drawing/2014/main" id="{C6E43F2D-BA03-E1EB-28D3-6D9F2622A3ED}"/>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553989" name="Rectangle 5">
            <a:extLst>
              <a:ext uri="{FF2B5EF4-FFF2-40B4-BE49-F238E27FC236}">
                <a16:creationId xmlns:a16="http://schemas.microsoft.com/office/drawing/2014/main" id="{7118F836-D746-7107-389A-205F63E7CA0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553990" name="Rectangle 6">
            <a:extLst>
              <a:ext uri="{FF2B5EF4-FFF2-40B4-BE49-F238E27FC236}">
                <a16:creationId xmlns:a16="http://schemas.microsoft.com/office/drawing/2014/main" id="{6DB715B3-8591-3B78-0426-20590193F550}"/>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27DDFBB9-858E-F94E-9E10-1D1BFCEDBD4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3200">
          <a:solidFill>
            <a:schemeClr val="tx2"/>
          </a:solidFill>
          <a:latin typeface="Arial" charset="0"/>
        </a:defRPr>
      </a:lvl6pPr>
      <a:lvl7pPr marL="914400" algn="ctr" rtl="0" fontAlgn="base">
        <a:spcBef>
          <a:spcPct val="0"/>
        </a:spcBef>
        <a:spcAft>
          <a:spcPct val="0"/>
        </a:spcAft>
        <a:defRPr sz="3200">
          <a:solidFill>
            <a:schemeClr val="tx2"/>
          </a:solidFill>
          <a:latin typeface="Arial" charset="0"/>
        </a:defRPr>
      </a:lvl7pPr>
      <a:lvl8pPr marL="1371600" algn="ctr" rtl="0" fontAlgn="base">
        <a:spcBef>
          <a:spcPct val="0"/>
        </a:spcBef>
        <a:spcAft>
          <a:spcPct val="0"/>
        </a:spcAft>
        <a:defRPr sz="3200">
          <a:solidFill>
            <a:schemeClr val="tx2"/>
          </a:solidFill>
          <a:latin typeface="Arial" charset="0"/>
        </a:defRPr>
      </a:lvl8pPr>
      <a:lvl9pPr marL="1828800" algn="ctr" rtl="0" fontAlgn="base">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oogle.com/search?q=Database+Credential+Rotation&amp;sca_esv=55a4e0c02f0bf2c1&amp;rlz=1C5MACD_enIN1078IN1081&amp;biw=1336&amp;bih=759&amp;sxsrf=ANbL-n66ZcWVALC7CwiordHtrfQEv03T7Q%3A1770560968828&amp;ei=yJ2IabWOMo2XseMPuYe8oAk&amp;ved=2ahUKEwj09cvojcqSAxV1VmwGHaAUBtwQgK4QegQIBxAB&amp;uact=5&amp;oq=AWS+Secrets+Manager%0D%0A&amp;gs_lp=Egxnd3Mtd2l6LXNlcnAiFEFXUyBTZWNyZXRzIE1hbmFnZXIKMgoQABhHGNYEGLADMgoQABhHGNYEGLADMgoQABhHGNYEGLADMgoQABhHGNYEGLADMgoQABhHGNYEGLADMgoQABhHGNYEGLADMgoQABhHGNYEGLADMgoQABhHGNYEGLADSKkNUJsJWJsJcAN4AZABAJgBAKABAKoBALgBA8gBAPgBAvgBAZgCA6ACDZgDAIgGAZAGCJIHATOgBwCyBwC4BwDCBwUwLjIuMcgHCYAIAQ&amp;sclient=gws-wiz-serp&amp;mstk=AUtExfA1OZRlmN3Rmf7BBBJzf-hCQirhQ5dL0wPkjY89Dtse8B9bpRW5ue8SetfzmkOH9ixubSlUSzdA1skX_xpRqGaa0E3EwUd_quu-kCRRZWHjDQqWxh7cayfPt_FZV355mdiGlQ2b7q5sl_Tee3TDo_dZJp_PfmYgA-mK5C4U3mf-Vrk67vhB7c66wD-JkiLzzcYwb-IUsyNLLMYAUNnbxZUpwMGRGrXhnkOTmJE2TmgrnoxkB_RWJmXoCOBWNanfvAY91-MSIqZObHKbm9DJkPZF&amp;csui=3"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console.aws.amazon.com/cloudtrai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5" descr="AWS Tutorial | Amazon Web Services Tutorial - Javatpoint">
            <a:extLst>
              <a:ext uri="{FF2B5EF4-FFF2-40B4-BE49-F238E27FC236}">
                <a16:creationId xmlns:a16="http://schemas.microsoft.com/office/drawing/2014/main" id="{1FC463F2-E8FF-70EF-AC71-3639A01EFA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600200"/>
            <a:ext cx="3429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F5FB0C65-418A-85FE-EDCA-919876A8BEB2}"/>
              </a:ext>
            </a:extLst>
          </p:cNvPr>
          <p:cNvSpPr>
            <a:spLocks noGrp="1" noChangeArrowheads="1"/>
          </p:cNvSpPr>
          <p:nvPr>
            <p:ph type="title"/>
          </p:nvPr>
        </p:nvSpPr>
        <p:spPr/>
        <p:txBody>
          <a:bodyPr/>
          <a:lstStyle/>
          <a:p>
            <a:r>
              <a:rPr lang="en-US" altLang="en-US"/>
              <a:t>Topics</a:t>
            </a:r>
          </a:p>
        </p:txBody>
      </p:sp>
      <p:sp>
        <p:nvSpPr>
          <p:cNvPr id="15362" name="Content Placeholder 2">
            <a:extLst>
              <a:ext uri="{FF2B5EF4-FFF2-40B4-BE49-F238E27FC236}">
                <a16:creationId xmlns:a16="http://schemas.microsoft.com/office/drawing/2014/main" id="{4A693C73-C8F1-1139-2C10-EDC3F93F1D00}"/>
              </a:ext>
            </a:extLst>
          </p:cNvPr>
          <p:cNvSpPr>
            <a:spLocks noGrp="1" noChangeArrowheads="1"/>
          </p:cNvSpPr>
          <p:nvPr>
            <p:ph idx="1"/>
          </p:nvPr>
        </p:nvSpPr>
        <p:spPr/>
        <p:txBody>
          <a:bodyPr/>
          <a:lstStyle/>
          <a:p>
            <a:r>
              <a:rPr lang="en-US" altLang="en-US" sz="1600"/>
              <a:t>AWS Global Infrastructure (Regions, Availability Zones)</a:t>
            </a:r>
          </a:p>
          <a:p>
            <a:r>
              <a:rPr lang="en-US" altLang="en-US" sz="1600"/>
              <a:t>Identity and Access Management (IAM)</a:t>
            </a:r>
          </a:p>
          <a:p>
            <a:r>
              <a:rPr lang="en-US" altLang="en-US" sz="1600"/>
              <a:t>Amazon EC2 (Instances, AMIs, Auto Scaling)</a:t>
            </a:r>
          </a:p>
          <a:p>
            <a:r>
              <a:rPr lang="en-US" altLang="en-US" sz="1600"/>
              <a:t>AWS Lambda (Serverless Computing)</a:t>
            </a:r>
          </a:p>
          <a:p>
            <a:r>
              <a:rPr lang="en-US" altLang="en-US" sz="1600"/>
              <a:t>Amazon S3 (Buckets, Versioning, Lifecycle Policies)</a:t>
            </a:r>
          </a:p>
          <a:p>
            <a:r>
              <a:rPr lang="en-US" altLang="en-US" sz="1600"/>
              <a:t>Amazon VPC (Subnets, Route Tables, NAT)</a:t>
            </a:r>
          </a:p>
          <a:p>
            <a:r>
              <a:rPr lang="en-US" altLang="en-US" sz="1600"/>
              <a:t>Security Groups &amp; NACLs</a:t>
            </a:r>
          </a:p>
          <a:p>
            <a:r>
              <a:rPr lang="en-US" altLang="en-US" sz="1600"/>
              <a:t>AWS KMS (Key Management Service)</a:t>
            </a:r>
          </a:p>
          <a:p>
            <a:r>
              <a:rPr lang="en-US" altLang="en-US" sz="1600"/>
              <a:t>AWS Secrets Manager</a:t>
            </a:r>
          </a:p>
          <a:p>
            <a:r>
              <a:rPr lang="en-US" altLang="en-US" sz="1600"/>
              <a:t>AWS Shield &amp; WAF</a:t>
            </a:r>
          </a:p>
          <a:p>
            <a:r>
              <a:rPr lang="en-US" altLang="en-US" sz="1600"/>
              <a:t>Amazon CloudWatch</a:t>
            </a:r>
          </a:p>
          <a:p>
            <a:r>
              <a:rPr lang="en-US" altLang="en-US" sz="1600"/>
              <a:t>AWS CloudTrail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267FDADD-982D-7D68-3065-8447A7E9BB11}"/>
              </a:ext>
            </a:extLst>
          </p:cNvPr>
          <p:cNvSpPr>
            <a:spLocks noGrp="1" noChangeArrowheads="1"/>
          </p:cNvSpPr>
          <p:nvPr>
            <p:ph type="title"/>
          </p:nvPr>
        </p:nvSpPr>
        <p:spPr/>
        <p:txBody>
          <a:bodyPr/>
          <a:lstStyle/>
          <a:p>
            <a:r>
              <a:rPr lang="en-US" altLang="en-US"/>
              <a:t>Amazon Web Service</a:t>
            </a:r>
            <a:endParaRPr lang="en-IN" altLang="en-US"/>
          </a:p>
        </p:txBody>
      </p:sp>
      <p:sp>
        <p:nvSpPr>
          <p:cNvPr id="16386" name="Content Placeholder 2">
            <a:extLst>
              <a:ext uri="{FF2B5EF4-FFF2-40B4-BE49-F238E27FC236}">
                <a16:creationId xmlns:a16="http://schemas.microsoft.com/office/drawing/2014/main" id="{4B83F7AB-F88E-CBA7-3050-3AAA6643C5F2}"/>
              </a:ext>
            </a:extLst>
          </p:cNvPr>
          <p:cNvSpPr>
            <a:spLocks noGrp="1" noChangeArrowheads="1"/>
          </p:cNvSpPr>
          <p:nvPr>
            <p:ph idx="1"/>
          </p:nvPr>
        </p:nvSpPr>
        <p:spPr/>
        <p:txBody>
          <a:bodyPr/>
          <a:lstStyle/>
          <a:p>
            <a:pPr>
              <a:lnSpc>
                <a:spcPct val="150000"/>
              </a:lnSpc>
            </a:pPr>
            <a:r>
              <a:rPr lang="en-US" altLang="en-US" sz="2000">
                <a:solidFill>
                  <a:srgbClr val="4A4A4A"/>
                </a:solidFill>
              </a:rPr>
              <a:t>Known  as AWS, subsidiary of Amazon.com </a:t>
            </a:r>
          </a:p>
          <a:p>
            <a:pPr>
              <a:lnSpc>
                <a:spcPct val="150000"/>
              </a:lnSpc>
            </a:pPr>
            <a:r>
              <a:rPr lang="en-US" altLang="en-US" sz="2000">
                <a:solidFill>
                  <a:srgbClr val="4A4A4A"/>
                </a:solidFill>
              </a:rPr>
              <a:t>Offering</a:t>
            </a:r>
            <a:r>
              <a:rPr lang="en-US" altLang="en-US" sz="2000" b="1">
                <a:solidFill>
                  <a:srgbClr val="4A4A4A"/>
                </a:solidFill>
              </a:rPr>
              <a:t> cloud-computing services </a:t>
            </a:r>
            <a:r>
              <a:rPr lang="en-US" altLang="en-US" sz="2000">
                <a:solidFill>
                  <a:srgbClr val="4A4A4A"/>
                </a:solidFill>
              </a:rPr>
              <a:t>at very affordable rates</a:t>
            </a:r>
          </a:p>
          <a:p>
            <a:pPr lvl="1">
              <a:lnSpc>
                <a:spcPct val="150000"/>
              </a:lnSpc>
            </a:pPr>
            <a:r>
              <a:rPr lang="en-US" altLang="en-US" sz="2000">
                <a:solidFill>
                  <a:srgbClr val="4A4A4A"/>
                </a:solidFill>
              </a:rPr>
              <a:t>Used by small scale companies to big enterprises </a:t>
            </a:r>
            <a:endParaRPr lang="en-US" altLang="en-US" sz="1600">
              <a:solidFill>
                <a:srgbClr val="4A4A4A"/>
              </a:solidFill>
            </a:endParaRPr>
          </a:p>
          <a:p>
            <a:pPr lvl="1" algn="just">
              <a:lnSpc>
                <a:spcPct val="150000"/>
              </a:lnSpc>
            </a:pPr>
            <a:r>
              <a:rPr lang="en-US" altLang="en-US" sz="2000">
                <a:solidFill>
                  <a:srgbClr val="000000"/>
                </a:solidFill>
              </a:rPr>
              <a:t>Provides servers and other IT infrastructure </a:t>
            </a:r>
          </a:p>
          <a:p>
            <a:pPr lvl="1" algn="just">
              <a:lnSpc>
                <a:spcPct val="150000"/>
              </a:lnSpc>
            </a:pPr>
            <a:r>
              <a:rPr lang="en-US" altLang="en-US" sz="2000">
                <a:solidFill>
                  <a:srgbClr val="000000"/>
                </a:solidFill>
              </a:rPr>
              <a:t>Can instantly spin up hundreds or thousands of servers and deliver results faster. </a:t>
            </a:r>
          </a:p>
          <a:p>
            <a:pPr lvl="1" algn="just">
              <a:lnSpc>
                <a:spcPct val="150000"/>
              </a:lnSpc>
            </a:pPr>
            <a:r>
              <a:rPr lang="en-US" altLang="en-US" sz="2000">
                <a:solidFill>
                  <a:srgbClr val="000000"/>
                </a:solidFill>
              </a:rPr>
              <a:t>Need to  pay only for what is being used with no up-front expenses and no long-term commitments</a:t>
            </a:r>
          </a:p>
          <a:p>
            <a:pPr>
              <a:lnSpc>
                <a:spcPct val="150000"/>
              </a:lnSpc>
            </a:pPr>
            <a:br>
              <a:rPr lang="en-US" altLang="en-US" sz="1200"/>
            </a:br>
            <a:endParaRPr lang="en-US" altLang="en-US" sz="2000">
              <a:solidFill>
                <a:srgbClr val="4A4A4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1AD16FB8-BB1D-B74E-8D75-CFBC52292446}"/>
              </a:ext>
            </a:extLst>
          </p:cNvPr>
          <p:cNvSpPr>
            <a:spLocks noGrp="1" noChangeArrowheads="1"/>
          </p:cNvSpPr>
          <p:nvPr>
            <p:ph type="title"/>
          </p:nvPr>
        </p:nvSpPr>
        <p:spPr/>
        <p:txBody>
          <a:bodyPr/>
          <a:lstStyle/>
          <a:p>
            <a:r>
              <a:rPr lang="en-US" altLang="en-US"/>
              <a:t>Cloud Computing</a:t>
            </a:r>
            <a:endParaRPr lang="en-IN" altLang="en-US"/>
          </a:p>
        </p:txBody>
      </p:sp>
      <p:sp>
        <p:nvSpPr>
          <p:cNvPr id="3" name="Content Placeholder 2">
            <a:extLst>
              <a:ext uri="{FF2B5EF4-FFF2-40B4-BE49-F238E27FC236}">
                <a16:creationId xmlns:a16="http://schemas.microsoft.com/office/drawing/2014/main" id="{A7E627E9-AB34-8931-E92E-20FA84048002}"/>
              </a:ext>
            </a:extLst>
          </p:cNvPr>
          <p:cNvSpPr>
            <a:spLocks noGrp="1"/>
          </p:cNvSpPr>
          <p:nvPr>
            <p:ph idx="1"/>
          </p:nvPr>
        </p:nvSpPr>
        <p:spPr/>
        <p:txBody>
          <a:bodyPr/>
          <a:lstStyle/>
          <a:p>
            <a:pPr>
              <a:defRPr/>
            </a:pPr>
            <a:r>
              <a:rPr lang="en-US" altLang="en-US" sz="2000" dirty="0">
                <a:solidFill>
                  <a:srgbClr val="4A4A4A"/>
                </a:solidFill>
              </a:rPr>
              <a:t>Using remote servers on the internet to store, manage and process data rather than a local server or personal computer. </a:t>
            </a:r>
          </a:p>
          <a:p>
            <a:pPr>
              <a:defRPr/>
            </a:pPr>
            <a:r>
              <a:rPr lang="en-US" sz="2000" dirty="0">
                <a:solidFill>
                  <a:srgbClr val="292929"/>
                </a:solidFill>
              </a:rPr>
              <a:t>Clouds can be categorized into three types:</a:t>
            </a:r>
          </a:p>
          <a:p>
            <a:pPr>
              <a:defRPr/>
            </a:pPr>
            <a:r>
              <a:rPr lang="en-US" sz="2000" b="1" dirty="0">
                <a:solidFill>
                  <a:srgbClr val="292929"/>
                </a:solidFill>
              </a:rPr>
              <a:t>Public</a:t>
            </a:r>
            <a:r>
              <a:rPr lang="en-US" sz="2000" dirty="0">
                <a:solidFill>
                  <a:srgbClr val="292929"/>
                </a:solidFill>
              </a:rPr>
              <a:t> </a:t>
            </a:r>
          </a:p>
          <a:p>
            <a:pPr lvl="1">
              <a:defRPr/>
            </a:pPr>
            <a:r>
              <a:rPr lang="en-US" sz="2000" dirty="0">
                <a:solidFill>
                  <a:srgbClr val="292929"/>
                </a:solidFill>
              </a:rPr>
              <a:t>Managed by an organization which is open to use by the general public</a:t>
            </a:r>
          </a:p>
          <a:p>
            <a:pPr lvl="2">
              <a:defRPr/>
            </a:pPr>
            <a:r>
              <a:rPr lang="en-IN" sz="1600" b="1" i="1" dirty="0">
                <a:solidFill>
                  <a:srgbClr val="202124"/>
                </a:solidFill>
              </a:rPr>
              <a:t>Amazon Web </a:t>
            </a:r>
            <a:r>
              <a:rPr lang="en-IN" sz="1600" b="1" i="1" dirty="0" err="1">
                <a:solidFill>
                  <a:srgbClr val="202124"/>
                </a:solidFill>
              </a:rPr>
              <a:t>Services,Microsoft</a:t>
            </a:r>
            <a:r>
              <a:rPr lang="en-IN" sz="1600" b="1" i="1" dirty="0">
                <a:solidFill>
                  <a:srgbClr val="202124"/>
                </a:solidFill>
              </a:rPr>
              <a:t> </a:t>
            </a:r>
            <a:r>
              <a:rPr lang="en-IN" sz="1600" b="1" i="1" dirty="0" err="1">
                <a:solidFill>
                  <a:srgbClr val="202124"/>
                </a:solidFill>
              </a:rPr>
              <a:t>Azure,IBM</a:t>
            </a:r>
            <a:r>
              <a:rPr lang="en-IN" sz="1600" b="1" i="1" dirty="0">
                <a:solidFill>
                  <a:srgbClr val="202124"/>
                </a:solidFill>
              </a:rPr>
              <a:t> Cloud.</a:t>
            </a:r>
          </a:p>
          <a:p>
            <a:pPr>
              <a:defRPr/>
            </a:pPr>
            <a:br>
              <a:rPr lang="en-IN" sz="1400" dirty="0"/>
            </a:br>
            <a:r>
              <a:rPr lang="en-US" sz="2000" b="1" dirty="0">
                <a:solidFill>
                  <a:srgbClr val="292929"/>
                </a:solidFill>
              </a:rPr>
              <a:t>Private</a:t>
            </a:r>
            <a:r>
              <a:rPr lang="en-US" sz="2000" dirty="0">
                <a:solidFill>
                  <a:srgbClr val="292929"/>
                </a:solidFill>
              </a:rPr>
              <a:t> </a:t>
            </a:r>
          </a:p>
          <a:p>
            <a:pPr lvl="1">
              <a:defRPr/>
            </a:pPr>
            <a:r>
              <a:rPr lang="en-US" sz="2000" dirty="0">
                <a:solidFill>
                  <a:srgbClr val="292929"/>
                </a:solidFill>
              </a:rPr>
              <a:t>Virtualizes and shares IT infrastructure within a single organization</a:t>
            </a:r>
          </a:p>
          <a:p>
            <a:pPr lvl="2">
              <a:defRPr/>
            </a:pPr>
            <a:r>
              <a:rPr lang="en-US" sz="1600" b="1" i="1" dirty="0">
                <a:solidFill>
                  <a:srgbClr val="292929"/>
                </a:solidFill>
              </a:rPr>
              <a:t>HPE,DELL </a:t>
            </a:r>
            <a:r>
              <a:rPr lang="en-US" sz="1600" b="1" i="1" dirty="0" err="1">
                <a:solidFill>
                  <a:srgbClr val="292929"/>
                </a:solidFill>
              </a:rPr>
              <a:t>EMC,Vmware</a:t>
            </a:r>
            <a:endParaRPr lang="en-US" sz="1600" b="1" i="1" dirty="0">
              <a:solidFill>
                <a:srgbClr val="292929"/>
              </a:solidFill>
            </a:endParaRPr>
          </a:p>
          <a:p>
            <a:pPr>
              <a:defRPr/>
            </a:pPr>
            <a:r>
              <a:rPr lang="en-US" sz="2000" b="1" dirty="0">
                <a:solidFill>
                  <a:srgbClr val="292929"/>
                </a:solidFill>
              </a:rPr>
              <a:t>Hybrid</a:t>
            </a:r>
            <a:r>
              <a:rPr lang="en-US" sz="2000" dirty="0">
                <a:solidFill>
                  <a:srgbClr val="292929"/>
                </a:solidFill>
              </a:rPr>
              <a:t> </a:t>
            </a:r>
          </a:p>
          <a:p>
            <a:pPr lvl="1">
              <a:defRPr/>
            </a:pPr>
            <a:r>
              <a:rPr lang="en-US" sz="2000" dirty="0">
                <a:solidFill>
                  <a:srgbClr val="292929"/>
                </a:solidFill>
              </a:rPr>
              <a:t>A mix of a public and a private cloud</a:t>
            </a:r>
          </a:p>
          <a:p>
            <a:pPr lvl="2">
              <a:defRPr/>
            </a:pPr>
            <a:r>
              <a:rPr lang="en-US" sz="1600" b="1" i="1" dirty="0">
                <a:solidFill>
                  <a:srgbClr val="292929"/>
                </a:solidFill>
              </a:rPr>
              <a:t>AWS Outposts, Azure Stack, Azure Arc, Google Anthos and VMware Cloud on AWS.</a:t>
            </a:r>
          </a:p>
          <a:p>
            <a:pPr lvl="1">
              <a:defRPr/>
            </a:pPr>
            <a:endParaRPr lang="en-US" sz="2000" dirty="0">
              <a:solidFill>
                <a:srgbClr val="292929"/>
              </a:solidFill>
            </a:endParaRPr>
          </a:p>
          <a:p>
            <a:pPr lvl="1">
              <a:defRPr/>
            </a:pPr>
            <a:endParaRPr lang="en-US" sz="2000" dirty="0">
              <a:solidFill>
                <a:srgbClr val="292929"/>
              </a:solidFill>
            </a:endParaRPr>
          </a:p>
          <a:p>
            <a:pPr marL="0" indent="0">
              <a:buFontTx/>
              <a:buNone/>
              <a:defRPr/>
            </a:pPr>
            <a:br>
              <a:rPr lang="en-US" sz="2000" dirty="0"/>
            </a:b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65A7A951-8161-3CD3-42EE-91D299DF19AF}"/>
              </a:ext>
            </a:extLst>
          </p:cNvPr>
          <p:cNvSpPr>
            <a:spLocks noGrp="1" noChangeArrowheads="1"/>
          </p:cNvSpPr>
          <p:nvPr>
            <p:ph type="title"/>
          </p:nvPr>
        </p:nvSpPr>
        <p:spPr/>
        <p:txBody>
          <a:bodyPr/>
          <a:lstStyle/>
          <a:p>
            <a:r>
              <a:rPr lang="en-US" altLang="en-US"/>
              <a:t>Cloud Computing</a:t>
            </a:r>
            <a:endParaRPr lang="en-IN" altLang="en-US"/>
          </a:p>
        </p:txBody>
      </p:sp>
      <p:sp>
        <p:nvSpPr>
          <p:cNvPr id="18434" name="Content Placeholder 2">
            <a:extLst>
              <a:ext uri="{FF2B5EF4-FFF2-40B4-BE49-F238E27FC236}">
                <a16:creationId xmlns:a16="http://schemas.microsoft.com/office/drawing/2014/main" id="{ECAEF94D-8129-26DF-1905-4479EA12094D}"/>
              </a:ext>
            </a:extLst>
          </p:cNvPr>
          <p:cNvSpPr>
            <a:spLocks noGrp="1" noChangeArrowheads="1"/>
          </p:cNvSpPr>
          <p:nvPr>
            <p:ph idx="1"/>
          </p:nvPr>
        </p:nvSpPr>
        <p:spPr/>
        <p:txBody>
          <a:bodyPr/>
          <a:lstStyle/>
          <a:p>
            <a:pPr algn="just"/>
            <a:r>
              <a:rPr lang="en-US" altLang="en-US" sz="2000" b="1">
                <a:solidFill>
                  <a:srgbClr val="4A4A4A"/>
                </a:solidFill>
              </a:rPr>
              <a:t>SaaS (Software as a Service)</a:t>
            </a:r>
            <a:endParaRPr lang="en-US" altLang="en-US" sz="2000">
              <a:solidFill>
                <a:srgbClr val="4A4A4A"/>
              </a:solidFill>
            </a:endParaRPr>
          </a:p>
          <a:p>
            <a:pPr lvl="1" algn="just">
              <a:lnSpc>
                <a:spcPct val="150000"/>
              </a:lnSpc>
              <a:buFont typeface="Arial" panose="020B0604020202020204" pitchFamily="34" charset="0"/>
              <a:buChar char="•"/>
            </a:pPr>
            <a:r>
              <a:rPr lang="en-US" altLang="en-US" sz="2000">
                <a:solidFill>
                  <a:srgbClr val="4A4A4A"/>
                </a:solidFill>
              </a:rPr>
              <a:t>It allows companies to use software without having to purchase them</a:t>
            </a:r>
          </a:p>
          <a:p>
            <a:pPr lvl="1" algn="just">
              <a:lnSpc>
                <a:spcPct val="150000"/>
              </a:lnSpc>
              <a:buFont typeface="Arial" panose="020B0604020202020204" pitchFamily="34" charset="0"/>
              <a:buChar char="•"/>
            </a:pPr>
            <a:r>
              <a:rPr lang="en-US" altLang="en-US" sz="2000">
                <a:solidFill>
                  <a:srgbClr val="4A4A4A"/>
                </a:solidFill>
              </a:rPr>
              <a:t>Reduces the expenditure of the company drastically</a:t>
            </a:r>
          </a:p>
          <a:p>
            <a:pPr lvl="2" indent="-285750" algn="just">
              <a:lnSpc>
                <a:spcPct val="150000"/>
              </a:lnSpc>
            </a:pPr>
            <a:r>
              <a:rPr lang="en-US" altLang="en-US" sz="2000">
                <a:solidFill>
                  <a:srgbClr val="4A4A4A"/>
                </a:solidFill>
              </a:rPr>
              <a:t>Since they are already installed on the cloud server they can be quickly deployed and therefore saves time.</a:t>
            </a:r>
          </a:p>
          <a:p>
            <a:pPr lvl="1" algn="just">
              <a:lnSpc>
                <a:spcPct val="150000"/>
              </a:lnSpc>
              <a:buFont typeface="Arial" panose="020B0604020202020204" pitchFamily="34" charset="0"/>
              <a:buChar char="•"/>
            </a:pPr>
            <a:r>
              <a:rPr lang="en-US" altLang="en-US" sz="2000">
                <a:solidFill>
                  <a:srgbClr val="4A4A4A"/>
                </a:solidFill>
              </a:rPr>
              <a:t>Many of them run directly through web browser</a:t>
            </a:r>
          </a:p>
          <a:p>
            <a:pPr lvl="1" algn="just">
              <a:lnSpc>
                <a:spcPct val="150000"/>
              </a:lnSpc>
              <a:buFont typeface="Arial" panose="020B0604020202020204" pitchFamily="34" charset="0"/>
              <a:buChar char="•"/>
            </a:pPr>
            <a:r>
              <a:rPr lang="en-US" altLang="en-US" sz="2000" i="1">
                <a:solidFill>
                  <a:srgbClr val="C00000"/>
                </a:solidFill>
              </a:rPr>
              <a:t>Example : Dropbox, Salesforce, Cisco WebEx, GoToMeeting</a:t>
            </a:r>
          </a:p>
          <a:p>
            <a:pPr lvl="1" algn="just">
              <a:lnSpc>
                <a:spcPct val="150000"/>
              </a:lnSpc>
              <a:buFont typeface="Arial" panose="020B0604020202020204" pitchFamily="34" charset="0"/>
              <a:buChar char="•"/>
            </a:pPr>
            <a:endParaRPr lang="en-US" altLang="en-US" sz="2000">
              <a:solidFill>
                <a:srgbClr val="4A4A4A"/>
              </a:solidFill>
            </a:endParaRPr>
          </a:p>
          <a:p>
            <a:pPr lvl="1" algn="just">
              <a:buFont typeface="Arial" panose="020B0604020202020204" pitchFamily="34" charset="0"/>
              <a:buChar char="•"/>
            </a:pPr>
            <a:endParaRPr lang="en-US" altLang="en-US" sz="2000">
              <a:solidFill>
                <a:srgbClr val="4A4A4A"/>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4BD3822B-63FC-E2EC-39B5-707921FEAE0B}"/>
              </a:ext>
            </a:extLst>
          </p:cNvPr>
          <p:cNvSpPr>
            <a:spLocks noGrp="1" noChangeArrowheads="1"/>
          </p:cNvSpPr>
          <p:nvPr>
            <p:ph type="title"/>
          </p:nvPr>
        </p:nvSpPr>
        <p:spPr/>
        <p:txBody>
          <a:bodyPr/>
          <a:lstStyle/>
          <a:p>
            <a:br>
              <a:rPr lang="en-US" altLang="en-US"/>
            </a:br>
            <a:r>
              <a:rPr lang="en-US" altLang="en-US"/>
              <a:t>Advantages of Cloud Computing</a:t>
            </a:r>
            <a:br>
              <a:rPr lang="en-US" altLang="en-US"/>
            </a:br>
            <a:endParaRPr lang="en-IN" altLang="en-US"/>
          </a:p>
        </p:txBody>
      </p:sp>
      <p:sp>
        <p:nvSpPr>
          <p:cNvPr id="19458" name="Content Placeholder 2">
            <a:extLst>
              <a:ext uri="{FF2B5EF4-FFF2-40B4-BE49-F238E27FC236}">
                <a16:creationId xmlns:a16="http://schemas.microsoft.com/office/drawing/2014/main" id="{3931B294-4009-1228-7413-0D96AE531A11}"/>
              </a:ext>
            </a:extLst>
          </p:cNvPr>
          <p:cNvSpPr>
            <a:spLocks noGrp="1" noChangeArrowheads="1"/>
          </p:cNvSpPr>
          <p:nvPr>
            <p:ph idx="1"/>
          </p:nvPr>
        </p:nvSpPr>
        <p:spPr/>
        <p:txBody>
          <a:bodyPr/>
          <a:lstStyle/>
          <a:p>
            <a:pPr algn="just"/>
            <a:r>
              <a:rPr lang="en-US" altLang="en-US" sz="1800" b="1">
                <a:solidFill>
                  <a:srgbClr val="000000"/>
                </a:solidFill>
              </a:rPr>
              <a:t>Cost-Efficient</a:t>
            </a:r>
            <a:r>
              <a:rPr lang="en-US" altLang="en-US" sz="1800">
                <a:solidFill>
                  <a:srgbClr val="000000"/>
                </a:solidFill>
              </a:rPr>
              <a:t>  </a:t>
            </a:r>
          </a:p>
          <a:p>
            <a:pPr lvl="1" algn="just">
              <a:buFont typeface="Arial" panose="020B0604020202020204" pitchFamily="34" charset="0"/>
              <a:buChar char="•"/>
            </a:pPr>
            <a:r>
              <a:rPr lang="en-US" altLang="en-US" sz="1800">
                <a:solidFill>
                  <a:srgbClr val="000000"/>
                </a:solidFill>
              </a:rPr>
              <a:t>Using cloud computing, only pay for the amount that’s used</a:t>
            </a:r>
          </a:p>
          <a:p>
            <a:pPr algn="just"/>
            <a:r>
              <a:rPr lang="en-US" altLang="en-US" sz="1800" b="1">
                <a:solidFill>
                  <a:srgbClr val="000000"/>
                </a:solidFill>
              </a:rPr>
              <a:t>Reliability</a:t>
            </a:r>
            <a:r>
              <a:rPr lang="en-US" altLang="en-US" sz="1800">
                <a:solidFill>
                  <a:srgbClr val="000000"/>
                </a:solidFill>
              </a:rPr>
              <a:t> </a:t>
            </a:r>
          </a:p>
          <a:p>
            <a:pPr lvl="1" algn="just">
              <a:buFont typeface="Arial" panose="020B0604020202020204" pitchFamily="34" charset="0"/>
              <a:buChar char="•"/>
            </a:pPr>
            <a:r>
              <a:rPr lang="en-US" altLang="en-US" sz="1800">
                <a:solidFill>
                  <a:srgbClr val="000000"/>
                </a:solidFill>
              </a:rPr>
              <a:t>A cloud computing platform provides much more managed, reliable and consistent service than an in-house IT infrastructure. </a:t>
            </a:r>
          </a:p>
          <a:p>
            <a:pPr algn="just"/>
            <a:r>
              <a:rPr lang="en-US" altLang="en-US" sz="1800" b="1">
                <a:solidFill>
                  <a:srgbClr val="000000"/>
                </a:solidFill>
              </a:rPr>
              <a:t>Unlimited Storage</a:t>
            </a:r>
            <a:r>
              <a:rPr lang="en-US" altLang="en-US" sz="1800">
                <a:solidFill>
                  <a:srgbClr val="000000"/>
                </a:solidFill>
              </a:rPr>
              <a:t> </a:t>
            </a:r>
          </a:p>
          <a:p>
            <a:pPr lvl="1" algn="just">
              <a:buFont typeface="Arial" panose="020B0604020202020204" pitchFamily="34" charset="0"/>
              <a:buChar char="•"/>
            </a:pPr>
            <a:r>
              <a:rPr lang="en-US" altLang="en-US" sz="1800">
                <a:solidFill>
                  <a:srgbClr val="000000"/>
                </a:solidFill>
              </a:rPr>
              <a:t>Cloud computing provides almost unlimited storage capacity</a:t>
            </a:r>
          </a:p>
          <a:p>
            <a:pPr lvl="1" algn="just">
              <a:buFont typeface="Arial" panose="020B0604020202020204" pitchFamily="34" charset="0"/>
              <a:buChar char="•"/>
            </a:pPr>
            <a:r>
              <a:rPr lang="en-US" altLang="en-US" sz="1800">
                <a:solidFill>
                  <a:srgbClr val="000000"/>
                </a:solidFill>
              </a:rPr>
              <a:t>Can access as much or as little as we need.</a:t>
            </a:r>
          </a:p>
          <a:p>
            <a:pPr algn="just"/>
            <a:r>
              <a:rPr lang="en-US" altLang="en-US" sz="1800" b="1">
                <a:solidFill>
                  <a:srgbClr val="000000"/>
                </a:solidFill>
              </a:rPr>
              <a:t>Backup &amp; Recovery</a:t>
            </a:r>
            <a:r>
              <a:rPr lang="en-US" altLang="en-US" sz="1800">
                <a:solidFill>
                  <a:srgbClr val="000000"/>
                </a:solidFill>
              </a:rPr>
              <a:t> </a:t>
            </a:r>
          </a:p>
          <a:p>
            <a:pPr lvl="1" algn="just">
              <a:buFont typeface="Arial" panose="020B0604020202020204" pitchFamily="34" charset="0"/>
              <a:buChar char="•"/>
            </a:pPr>
            <a:r>
              <a:rPr lang="en-US" altLang="en-US" sz="1800">
                <a:solidFill>
                  <a:srgbClr val="000000"/>
                </a:solidFill>
              </a:rPr>
              <a:t>Storing data in the cloud, backing it up and restoring the same is relatively easier than storing it on a physical device. </a:t>
            </a:r>
          </a:p>
          <a:p>
            <a:pPr lvl="1" algn="just">
              <a:buFont typeface="Arial" panose="020B0604020202020204" pitchFamily="34" charset="0"/>
              <a:buChar char="•"/>
            </a:pPr>
            <a:r>
              <a:rPr lang="en-US" altLang="en-US" sz="1800">
                <a:solidFill>
                  <a:srgbClr val="000000"/>
                </a:solidFill>
              </a:rPr>
              <a:t>The cloud service providers also have enough technology to recover our data, so there is the convenience of recovering our data anytime.</a:t>
            </a:r>
          </a:p>
          <a:p>
            <a:pPr algn="just"/>
            <a:r>
              <a:rPr lang="en-US" altLang="en-US" sz="1800" b="1">
                <a:solidFill>
                  <a:srgbClr val="000000"/>
                </a:solidFill>
              </a:rPr>
              <a:t>Easy Access to Information</a:t>
            </a:r>
            <a:r>
              <a:rPr lang="en-US" altLang="en-US" sz="1800">
                <a:solidFill>
                  <a:srgbClr val="000000"/>
                </a:solidFill>
              </a:rPr>
              <a:t> </a:t>
            </a:r>
          </a:p>
          <a:p>
            <a:pPr lvl="1" algn="just">
              <a:buFont typeface="Arial" panose="020B0604020202020204" pitchFamily="34" charset="0"/>
              <a:buChar char="•"/>
            </a:pPr>
            <a:r>
              <a:rPr lang="en-US" altLang="en-US" sz="1800">
                <a:solidFill>
                  <a:srgbClr val="000000"/>
                </a:solidFill>
              </a:rPr>
              <a:t>Can access account from anywhere in the world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AB48A338-A1A0-E187-47E0-BA12FBA053E3}"/>
              </a:ext>
            </a:extLst>
          </p:cNvPr>
          <p:cNvSpPr>
            <a:spLocks noGrp="1" noChangeArrowheads="1"/>
          </p:cNvSpPr>
          <p:nvPr>
            <p:ph type="title"/>
          </p:nvPr>
        </p:nvSpPr>
        <p:spPr/>
        <p:txBody>
          <a:bodyPr/>
          <a:lstStyle/>
          <a:p>
            <a:r>
              <a:rPr lang="en-US" altLang="en-US"/>
              <a:t>Cloud Computing</a:t>
            </a:r>
            <a:endParaRPr lang="en-IN" altLang="en-US"/>
          </a:p>
        </p:txBody>
      </p:sp>
      <p:sp>
        <p:nvSpPr>
          <p:cNvPr id="20482" name="Content Placeholder 2">
            <a:extLst>
              <a:ext uri="{FF2B5EF4-FFF2-40B4-BE49-F238E27FC236}">
                <a16:creationId xmlns:a16="http://schemas.microsoft.com/office/drawing/2014/main" id="{FC5366BA-0A0D-94FE-A484-49FAB8F3CEB2}"/>
              </a:ext>
            </a:extLst>
          </p:cNvPr>
          <p:cNvSpPr>
            <a:spLocks noGrp="1" noChangeArrowheads="1"/>
          </p:cNvSpPr>
          <p:nvPr>
            <p:ph idx="1"/>
          </p:nvPr>
        </p:nvSpPr>
        <p:spPr/>
        <p:txBody>
          <a:bodyPr/>
          <a:lstStyle/>
          <a:p>
            <a:pPr algn="just"/>
            <a:r>
              <a:rPr lang="en-US" altLang="en-US" sz="2000" b="1">
                <a:solidFill>
                  <a:srgbClr val="4A4A4A"/>
                </a:solidFill>
              </a:rPr>
              <a:t>PaaS (Platform as a Service)</a:t>
            </a:r>
            <a:endParaRPr lang="en-US" altLang="en-US" sz="2000">
              <a:solidFill>
                <a:srgbClr val="4A4A4A"/>
              </a:solidFill>
            </a:endParaRPr>
          </a:p>
          <a:p>
            <a:pPr lvl="1" algn="just">
              <a:lnSpc>
                <a:spcPct val="150000"/>
              </a:lnSpc>
              <a:buFont typeface="Arial" panose="020B0604020202020204" pitchFamily="34" charset="0"/>
              <a:buChar char="•"/>
            </a:pPr>
            <a:r>
              <a:rPr lang="en-US" altLang="en-US" sz="2000">
                <a:solidFill>
                  <a:srgbClr val="4A4A4A"/>
                </a:solidFill>
              </a:rPr>
              <a:t>It allows developers to </a:t>
            </a:r>
            <a:r>
              <a:rPr lang="en-US" altLang="en-US" sz="2000" b="1" i="1">
                <a:solidFill>
                  <a:srgbClr val="4A4A4A"/>
                </a:solidFill>
              </a:rPr>
              <a:t>build applications, collaborate on projects</a:t>
            </a:r>
            <a:r>
              <a:rPr lang="en-US" altLang="en-US" sz="2000">
                <a:solidFill>
                  <a:srgbClr val="4A4A4A"/>
                </a:solidFill>
              </a:rPr>
              <a:t> without having to purchase or maintain infrastructure.</a:t>
            </a:r>
          </a:p>
          <a:p>
            <a:pPr lvl="1" algn="just">
              <a:lnSpc>
                <a:spcPct val="150000"/>
              </a:lnSpc>
              <a:buFont typeface="Arial" panose="020B0604020202020204" pitchFamily="34" charset="0"/>
              <a:buChar char="•"/>
            </a:pPr>
            <a:r>
              <a:rPr lang="en-US" altLang="en-US" sz="2000">
                <a:solidFill>
                  <a:srgbClr val="4A4A4A"/>
                </a:solidFill>
              </a:rPr>
              <a:t>Delivers a framework for developers that they can build upon and use to create customized applications. </a:t>
            </a:r>
          </a:p>
          <a:p>
            <a:pPr lvl="1" algn="just">
              <a:lnSpc>
                <a:spcPct val="150000"/>
              </a:lnSpc>
              <a:buFont typeface="Arial" panose="020B0604020202020204" pitchFamily="34" charset="0"/>
              <a:buChar char="•"/>
            </a:pPr>
            <a:r>
              <a:rPr lang="en-US" altLang="en-US" sz="2000">
                <a:solidFill>
                  <a:srgbClr val="4A4A4A"/>
                </a:solidFill>
              </a:rPr>
              <a:t>All servers, storage, and networking can be managed by the enterprise or a third-party provider while the developers can maintain management of the applications.</a:t>
            </a:r>
          </a:p>
          <a:p>
            <a:pPr lvl="1" algn="just">
              <a:buFont typeface="Arial" panose="020B0604020202020204" pitchFamily="34" charset="0"/>
              <a:buChar char="•"/>
            </a:pPr>
            <a:endParaRPr lang="en-US" altLang="en-US" sz="2000" b="1" i="1">
              <a:solidFill>
                <a:srgbClr val="C00000"/>
              </a:solidFill>
            </a:endParaRPr>
          </a:p>
          <a:p>
            <a:pPr lvl="1" algn="just">
              <a:buFont typeface="Arial" panose="020B0604020202020204" pitchFamily="34" charset="0"/>
              <a:buChar char="•"/>
            </a:pPr>
            <a:r>
              <a:rPr lang="en-US" altLang="en-US" sz="2000" b="1" i="1">
                <a:solidFill>
                  <a:srgbClr val="C00000"/>
                </a:solidFill>
              </a:rPr>
              <a:t>Example : AWS Elastic Beanstalk, Windows Azure, Heroku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3640879B-67A7-DAD6-50BB-7F4175F0F17C}"/>
              </a:ext>
            </a:extLst>
          </p:cNvPr>
          <p:cNvSpPr>
            <a:spLocks noGrp="1" noChangeArrowheads="1"/>
          </p:cNvSpPr>
          <p:nvPr>
            <p:ph type="title"/>
          </p:nvPr>
        </p:nvSpPr>
        <p:spPr/>
        <p:txBody>
          <a:bodyPr/>
          <a:lstStyle/>
          <a:p>
            <a:r>
              <a:rPr lang="en-US" altLang="en-US"/>
              <a:t>Cloud Computing</a:t>
            </a:r>
            <a:endParaRPr lang="en-IN" altLang="en-US"/>
          </a:p>
        </p:txBody>
      </p:sp>
      <p:sp>
        <p:nvSpPr>
          <p:cNvPr id="21506" name="Content Placeholder 2">
            <a:extLst>
              <a:ext uri="{FF2B5EF4-FFF2-40B4-BE49-F238E27FC236}">
                <a16:creationId xmlns:a16="http://schemas.microsoft.com/office/drawing/2014/main" id="{D9E257B9-732B-7EB1-ECAF-44DD5BBF523F}"/>
              </a:ext>
            </a:extLst>
          </p:cNvPr>
          <p:cNvSpPr>
            <a:spLocks noGrp="1" noChangeArrowheads="1"/>
          </p:cNvSpPr>
          <p:nvPr>
            <p:ph idx="1"/>
          </p:nvPr>
        </p:nvSpPr>
        <p:spPr/>
        <p:txBody>
          <a:bodyPr/>
          <a:lstStyle/>
          <a:p>
            <a:pPr algn="just"/>
            <a:r>
              <a:rPr lang="en-US" altLang="en-US" sz="2000" b="1">
                <a:solidFill>
                  <a:srgbClr val="4A4A4A"/>
                </a:solidFill>
              </a:rPr>
              <a:t>IaaS (Infrastructure as a Service)</a:t>
            </a:r>
            <a:endParaRPr lang="en-US" altLang="en-US" sz="2000">
              <a:solidFill>
                <a:srgbClr val="4A4A4A"/>
              </a:solidFill>
            </a:endParaRPr>
          </a:p>
          <a:p>
            <a:pPr lvl="1" algn="just">
              <a:lnSpc>
                <a:spcPct val="150000"/>
              </a:lnSpc>
              <a:buFont typeface="Arial" panose="020B0604020202020204" pitchFamily="34" charset="0"/>
              <a:buChar char="•"/>
            </a:pPr>
            <a:r>
              <a:rPr lang="en-US" altLang="en-US" sz="2000">
                <a:solidFill>
                  <a:srgbClr val="4A4A4A"/>
                </a:solidFill>
              </a:rPr>
              <a:t>It allows companies </a:t>
            </a:r>
            <a:r>
              <a:rPr lang="en-US" altLang="en-US" sz="2000" b="1" i="1">
                <a:solidFill>
                  <a:srgbClr val="4A4A4A"/>
                </a:solidFill>
              </a:rPr>
              <a:t>to rent servers, storage space,</a:t>
            </a:r>
            <a:r>
              <a:rPr lang="en-US" altLang="en-US" sz="2000">
                <a:solidFill>
                  <a:srgbClr val="4A4A4A"/>
                </a:solidFill>
              </a:rPr>
              <a:t> etc. from a cloud provider.</a:t>
            </a:r>
          </a:p>
          <a:p>
            <a:pPr lvl="1">
              <a:lnSpc>
                <a:spcPct val="150000"/>
              </a:lnSpc>
            </a:pPr>
            <a:r>
              <a:rPr lang="en-US" altLang="en-US" sz="2000">
                <a:solidFill>
                  <a:srgbClr val="4A4A4A"/>
                </a:solidFill>
              </a:rPr>
              <a:t>Businesses can  purchase resources on-demand and as-needed instead of having to buy hardware outright.</a:t>
            </a:r>
          </a:p>
          <a:p>
            <a:pPr lvl="1"/>
            <a:endParaRPr lang="en-US" altLang="en-US" sz="1600">
              <a:solidFill>
                <a:srgbClr val="4A4A4A"/>
              </a:solidFill>
            </a:endParaRPr>
          </a:p>
          <a:p>
            <a:r>
              <a:rPr lang="en-IN" altLang="en-US" sz="2000"/>
              <a:t>Example : </a:t>
            </a:r>
          </a:p>
          <a:p>
            <a:pPr lvl="1"/>
            <a:r>
              <a:rPr lang="en-IN" altLang="en-US" sz="1600"/>
              <a:t>DigitalOcean, ,Google Compute Engine (GCE),Amazon Web Services (AWS)</a:t>
            </a:r>
            <a:endParaRPr lang="en-US" altLang="en-US" sz="2000">
              <a:solidFill>
                <a:srgbClr val="4A4A4A"/>
              </a:solidFill>
            </a:endParaRPr>
          </a:p>
          <a:p>
            <a:endParaRPr lang="en-US" altLang="en-US" sz="2000" i="1" u="sng">
              <a:solidFill>
                <a:srgbClr val="C00000"/>
              </a:solidFill>
            </a:endParaRPr>
          </a:p>
          <a:p>
            <a:r>
              <a:rPr lang="en-US" altLang="en-US" sz="2000" b="1" i="1" u="sng">
                <a:solidFill>
                  <a:srgbClr val="C00000"/>
                </a:solidFill>
              </a:rPr>
              <a:t>AWS, is a mixture of SaaS ,PaaS and IaaS</a:t>
            </a:r>
          </a:p>
          <a:p>
            <a:endParaRPr lang="en-IN" altLang="en-US" sz="2000"/>
          </a:p>
          <a:p>
            <a:endParaRPr lang="en-IN" altLang="en-US"/>
          </a:p>
          <a:p>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339257E1-5C05-0180-1263-64E8C407E166}"/>
              </a:ext>
            </a:extLst>
          </p:cNvPr>
          <p:cNvSpPr>
            <a:spLocks noGrp="1" noChangeArrowheads="1"/>
          </p:cNvSpPr>
          <p:nvPr>
            <p:ph type="title"/>
          </p:nvPr>
        </p:nvSpPr>
        <p:spPr/>
        <p:txBody>
          <a:bodyPr/>
          <a:lstStyle/>
          <a:p>
            <a:r>
              <a:rPr lang="en-US" altLang="en-US"/>
              <a:t>Key benefits of AWS</a:t>
            </a:r>
            <a:endParaRPr lang="en-IN" altLang="en-US"/>
          </a:p>
        </p:txBody>
      </p:sp>
      <p:sp>
        <p:nvSpPr>
          <p:cNvPr id="3" name="Content Placeholder 2">
            <a:extLst>
              <a:ext uri="{FF2B5EF4-FFF2-40B4-BE49-F238E27FC236}">
                <a16:creationId xmlns:a16="http://schemas.microsoft.com/office/drawing/2014/main" id="{C9719172-03DC-F49D-C6E9-53499737576F}"/>
              </a:ext>
            </a:extLst>
          </p:cNvPr>
          <p:cNvSpPr>
            <a:spLocks noGrp="1"/>
          </p:cNvSpPr>
          <p:nvPr>
            <p:ph idx="1"/>
          </p:nvPr>
        </p:nvSpPr>
        <p:spPr/>
        <p:txBody>
          <a:bodyPr/>
          <a:lstStyle/>
          <a:p>
            <a:pPr>
              <a:lnSpc>
                <a:spcPct val="150000"/>
              </a:lnSpc>
              <a:buFont typeface="Arial" panose="020B0604020202020204" pitchFamily="34" charset="0"/>
              <a:buChar char="•"/>
              <a:defRPr/>
            </a:pPr>
            <a:r>
              <a:rPr lang="en-US" sz="2000" dirty="0">
                <a:solidFill>
                  <a:srgbClr val="292929"/>
                </a:solidFill>
              </a:rPr>
              <a:t>Most mature cloud platform</a:t>
            </a:r>
          </a:p>
          <a:p>
            <a:pPr>
              <a:lnSpc>
                <a:spcPct val="150000"/>
              </a:lnSpc>
              <a:buFont typeface="Arial" panose="020B0604020202020204" pitchFamily="34" charset="0"/>
              <a:buChar char="•"/>
              <a:defRPr/>
            </a:pPr>
            <a:r>
              <a:rPr lang="en-US" sz="2000" dirty="0">
                <a:solidFill>
                  <a:srgbClr val="292929"/>
                </a:solidFill>
              </a:rPr>
              <a:t>Support to number of SDK languages</a:t>
            </a:r>
          </a:p>
          <a:p>
            <a:pPr>
              <a:lnSpc>
                <a:spcPct val="150000"/>
              </a:lnSpc>
              <a:buFont typeface="Arial" panose="020B0604020202020204" pitchFamily="34" charset="0"/>
              <a:buChar char="•"/>
              <a:defRPr/>
            </a:pPr>
            <a:r>
              <a:rPr lang="en-US" sz="2000" dirty="0">
                <a:solidFill>
                  <a:srgbClr val="292929"/>
                </a:solidFill>
              </a:rPr>
              <a:t>Larger community support </a:t>
            </a:r>
          </a:p>
          <a:p>
            <a:pPr marL="0" indent="0">
              <a:buFontTx/>
              <a:buNone/>
              <a:defRPr/>
            </a:pPr>
            <a:br>
              <a:rPr lang="en-US" dirty="0">
                <a:latin typeface="medium-content-sans-serif-font"/>
              </a:rPr>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72BCCECE-A4FA-7235-7E0D-9B37DBC4F741}"/>
              </a:ext>
            </a:extLst>
          </p:cNvPr>
          <p:cNvSpPr>
            <a:spLocks noGrp="1" noChangeArrowheads="1"/>
          </p:cNvSpPr>
          <p:nvPr>
            <p:ph type="title"/>
          </p:nvPr>
        </p:nvSpPr>
        <p:spPr/>
        <p:txBody>
          <a:bodyPr/>
          <a:lstStyle/>
          <a:p>
            <a:r>
              <a:rPr lang="en-US" altLang="en-US"/>
              <a:t>AWS Global Infrastructure</a:t>
            </a:r>
          </a:p>
        </p:txBody>
      </p:sp>
      <p:sp>
        <p:nvSpPr>
          <p:cNvPr id="23554" name="Content Placeholder 2">
            <a:extLst>
              <a:ext uri="{FF2B5EF4-FFF2-40B4-BE49-F238E27FC236}">
                <a16:creationId xmlns:a16="http://schemas.microsoft.com/office/drawing/2014/main" id="{D0991216-3893-BEE3-F77E-DF0C79EFC03C}"/>
              </a:ext>
            </a:extLst>
          </p:cNvPr>
          <p:cNvSpPr>
            <a:spLocks noGrp="1" noChangeArrowheads="1"/>
          </p:cNvSpPr>
          <p:nvPr>
            <p:ph idx="1"/>
          </p:nvPr>
        </p:nvSpPr>
        <p:spPr/>
        <p:txBody>
          <a:bodyPr/>
          <a:lstStyle/>
          <a:p>
            <a:pPr>
              <a:lnSpc>
                <a:spcPct val="150000"/>
              </a:lnSpc>
            </a:pPr>
            <a:r>
              <a:rPr lang="en-IN" altLang="en-US" sz="1800"/>
              <a:t>Designed for high availability, security, and low latency</a:t>
            </a:r>
          </a:p>
          <a:p>
            <a:pPr>
              <a:lnSpc>
                <a:spcPct val="150000"/>
              </a:lnSpc>
            </a:pPr>
            <a:r>
              <a:rPr lang="en-IN" altLang="en-US" sz="1800"/>
              <a:t>It consists of more than 400 geographic Regions and 123 Availability Zones</a:t>
            </a:r>
          </a:p>
          <a:p>
            <a:pPr lvl="1">
              <a:lnSpc>
                <a:spcPct val="150000"/>
              </a:lnSpc>
            </a:pPr>
            <a:r>
              <a:rPr lang="en-IN" altLang="en-US" sz="1800"/>
              <a:t>Regions are physically isolated, separate geographic areas</a:t>
            </a:r>
          </a:p>
          <a:p>
            <a:pPr>
              <a:lnSpc>
                <a:spcPct val="150000"/>
              </a:lnSpc>
            </a:pPr>
            <a:r>
              <a:rPr lang="en-IN" altLang="en-US" sz="1800" b="1"/>
              <a:t>AWS Regions</a:t>
            </a:r>
          </a:p>
          <a:p>
            <a:pPr lvl="1">
              <a:lnSpc>
                <a:spcPct val="150000"/>
              </a:lnSpc>
            </a:pPr>
            <a:r>
              <a:rPr lang="en-IN" altLang="en-US" sz="1800"/>
              <a:t>A physical location usually containing three or more Availability Zones.</a:t>
            </a:r>
          </a:p>
          <a:p>
            <a:pPr lvl="1">
              <a:lnSpc>
                <a:spcPct val="150000"/>
              </a:lnSpc>
            </a:pPr>
            <a:r>
              <a:rPr lang="en-IN" altLang="en-US" sz="1800"/>
              <a:t>Used to minimize latency, comply with data sovereignty regulations, and manage costs </a:t>
            </a:r>
          </a:p>
          <a:p>
            <a:pPr lvl="1">
              <a:lnSpc>
                <a:spcPct val="150000"/>
              </a:lnSpc>
            </a:pPr>
            <a:r>
              <a:rPr lang="en-IN" altLang="en-US" sz="1800"/>
              <a:t>Regions are independent of others to ensure maximum fault tolerance.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A802E2A7-2A15-EEE8-1620-6DEB134DBE8B}"/>
              </a:ext>
            </a:extLst>
          </p:cNvPr>
          <p:cNvSpPr>
            <a:spLocks noGrp="1" noChangeArrowheads="1"/>
          </p:cNvSpPr>
          <p:nvPr>
            <p:ph type="title"/>
          </p:nvPr>
        </p:nvSpPr>
        <p:spPr/>
        <p:txBody>
          <a:bodyPr/>
          <a:lstStyle/>
          <a:p>
            <a:r>
              <a:rPr lang="en-US" altLang="en-US"/>
              <a:t>Availability Zones</a:t>
            </a:r>
          </a:p>
        </p:txBody>
      </p:sp>
      <p:sp>
        <p:nvSpPr>
          <p:cNvPr id="25602" name="Content Placeholder 2">
            <a:extLst>
              <a:ext uri="{FF2B5EF4-FFF2-40B4-BE49-F238E27FC236}">
                <a16:creationId xmlns:a16="http://schemas.microsoft.com/office/drawing/2014/main" id="{8BEA8968-DBCE-1105-831F-74B65BC72FE3}"/>
              </a:ext>
            </a:extLst>
          </p:cNvPr>
          <p:cNvSpPr>
            <a:spLocks noGrp="1" noChangeArrowheads="1"/>
          </p:cNvSpPr>
          <p:nvPr>
            <p:ph idx="1"/>
          </p:nvPr>
        </p:nvSpPr>
        <p:spPr/>
        <p:txBody>
          <a:bodyPr/>
          <a:lstStyle/>
          <a:p>
            <a:pPr>
              <a:lnSpc>
                <a:spcPct val="150000"/>
              </a:lnSpc>
            </a:pPr>
            <a:r>
              <a:rPr lang="en-IN" altLang="en-US" sz="1800"/>
              <a:t>One or more discrete data centres with power, networking, and connectivity within an AWS Region.</a:t>
            </a:r>
          </a:p>
          <a:p>
            <a:pPr>
              <a:lnSpc>
                <a:spcPct val="150000"/>
              </a:lnSpc>
            </a:pPr>
            <a:r>
              <a:rPr lang="en-IN" altLang="en-US" sz="1800"/>
              <a:t>They are physically separated from one another, providing fault isolation</a:t>
            </a:r>
          </a:p>
          <a:p>
            <a:pPr lvl="1">
              <a:lnSpc>
                <a:spcPct val="150000"/>
              </a:lnSpc>
            </a:pPr>
            <a:r>
              <a:rPr lang="en-IN" altLang="en-US" sz="1800" i="1"/>
              <a:t>If one fails, others continue to operate.</a:t>
            </a:r>
          </a:p>
          <a:p>
            <a:pPr>
              <a:lnSpc>
                <a:spcPct val="150000"/>
              </a:lnSpc>
            </a:pPr>
            <a:r>
              <a:rPr lang="en-IN" altLang="en-US" sz="1800"/>
              <a:t>Zones within a region are connected by low-latency, high-bandwidth networking.</a:t>
            </a:r>
          </a:p>
          <a:p>
            <a:pPr>
              <a:lnSpc>
                <a:spcPct val="150000"/>
              </a:lnSpc>
            </a:pPr>
            <a:r>
              <a:rPr lang="en-IN" altLang="en-US" sz="1800"/>
              <a:t>Designated by the region code followed by a letter </a:t>
            </a:r>
          </a:p>
          <a:p>
            <a:pPr lvl="1">
              <a:lnSpc>
                <a:spcPct val="150000"/>
              </a:lnSpc>
            </a:pPr>
            <a:r>
              <a:rPr lang="en-IN" altLang="en-US" sz="1800"/>
              <a:t> us-east-2a, us-east-2b. </a:t>
            </a:r>
          </a:p>
          <a:p>
            <a:pPr>
              <a:lnSpc>
                <a:spcPct val="150000"/>
              </a:lnSpc>
            </a:pPr>
            <a:endParaRPr lang="en-US" altLang="en-US" sz="1800"/>
          </a:p>
          <a:p>
            <a:pPr>
              <a:lnSpc>
                <a:spcPct val="150000"/>
              </a:lnSpc>
            </a:pP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84C88917-5FE8-A2CC-9139-DACEB44BD8CB}"/>
              </a:ext>
            </a:extLst>
          </p:cNvPr>
          <p:cNvSpPr>
            <a:spLocks noGrp="1" noChangeArrowheads="1"/>
          </p:cNvSpPr>
          <p:nvPr>
            <p:ph type="title"/>
          </p:nvPr>
        </p:nvSpPr>
        <p:spPr/>
        <p:txBody>
          <a:bodyPr/>
          <a:lstStyle/>
          <a:p>
            <a:r>
              <a:rPr lang="en-US" altLang="en-US"/>
              <a:t>IAM</a:t>
            </a:r>
          </a:p>
        </p:txBody>
      </p:sp>
      <p:sp>
        <p:nvSpPr>
          <p:cNvPr id="26626" name="Content Placeholder 2">
            <a:extLst>
              <a:ext uri="{FF2B5EF4-FFF2-40B4-BE49-F238E27FC236}">
                <a16:creationId xmlns:a16="http://schemas.microsoft.com/office/drawing/2014/main" id="{627C67A1-9493-1195-97E9-5D9190744B58}"/>
              </a:ext>
            </a:extLst>
          </p:cNvPr>
          <p:cNvSpPr>
            <a:spLocks noGrp="1" noChangeArrowheads="1"/>
          </p:cNvSpPr>
          <p:nvPr>
            <p:ph idx="1"/>
          </p:nvPr>
        </p:nvSpPr>
        <p:spPr/>
        <p:txBody>
          <a:bodyPr/>
          <a:lstStyle/>
          <a:p>
            <a:pPr>
              <a:lnSpc>
                <a:spcPct val="150000"/>
              </a:lnSpc>
            </a:pPr>
            <a:r>
              <a:rPr lang="en-IN" altLang="en-US" sz="2000" b="1">
                <a:solidFill>
                  <a:srgbClr val="FF0000"/>
                </a:solidFill>
              </a:rPr>
              <a:t>I</a:t>
            </a:r>
            <a:r>
              <a:rPr lang="en-IN" altLang="en-US" sz="1800"/>
              <a:t>dentity and </a:t>
            </a:r>
            <a:r>
              <a:rPr lang="en-IN" altLang="en-US" sz="1800" b="1">
                <a:solidFill>
                  <a:srgbClr val="FF0000"/>
                </a:solidFill>
              </a:rPr>
              <a:t>A</a:t>
            </a:r>
            <a:r>
              <a:rPr lang="en-IN" altLang="en-US" sz="1800"/>
              <a:t>ccess </a:t>
            </a:r>
            <a:r>
              <a:rPr lang="en-IN" altLang="en-US" sz="1800" b="1">
                <a:solidFill>
                  <a:srgbClr val="FF0000"/>
                </a:solidFill>
              </a:rPr>
              <a:t>M</a:t>
            </a:r>
            <a:r>
              <a:rPr lang="en-IN" altLang="en-US" sz="1800"/>
              <a:t>anagement </a:t>
            </a:r>
          </a:p>
          <a:p>
            <a:pPr>
              <a:lnSpc>
                <a:spcPct val="150000"/>
              </a:lnSpc>
            </a:pPr>
            <a:r>
              <a:rPr lang="en-IN" altLang="en-US" sz="1800"/>
              <a:t>Security framework of policies, processes, and technologies </a:t>
            </a:r>
          </a:p>
          <a:p>
            <a:pPr lvl="1">
              <a:lnSpc>
                <a:spcPct val="150000"/>
              </a:lnSpc>
            </a:pPr>
            <a:r>
              <a:rPr lang="en-IN" altLang="en-US" sz="1800" i="1"/>
              <a:t>To authorize users, devices, apps to  access the right resources for the right reasons at the right time. </a:t>
            </a:r>
          </a:p>
          <a:p>
            <a:pPr>
              <a:lnSpc>
                <a:spcPct val="150000"/>
              </a:lnSpc>
            </a:pPr>
            <a:r>
              <a:rPr lang="en-IN" altLang="en-US" sz="1800"/>
              <a:t>Controlling access via authentication and authorization managing digital identities across hybrid/cloud environments. </a:t>
            </a:r>
          </a:p>
          <a:p>
            <a:pPr>
              <a:lnSpc>
                <a:spcPct val="150000"/>
              </a:lnSpc>
            </a:pPr>
            <a:r>
              <a:rPr lang="en-IN" altLang="en-US" sz="1800"/>
              <a:t>Provides IT teams with visibility and control over access to applications, data, and systems. </a:t>
            </a:r>
          </a:p>
          <a:p>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D260691B-5461-6F3E-4A51-5A40C516CDC7}"/>
              </a:ext>
            </a:extLst>
          </p:cNvPr>
          <p:cNvSpPr>
            <a:spLocks noGrp="1" noChangeArrowheads="1"/>
          </p:cNvSpPr>
          <p:nvPr>
            <p:ph type="title"/>
          </p:nvPr>
        </p:nvSpPr>
        <p:spPr/>
        <p:txBody>
          <a:bodyPr/>
          <a:lstStyle/>
          <a:p>
            <a:br>
              <a:rPr lang="en-IN" altLang="en-US" b="1"/>
            </a:br>
            <a:r>
              <a:rPr lang="en-IN" altLang="en-US" b="1"/>
              <a:t>Key Benefits of IAM</a:t>
            </a:r>
            <a:br>
              <a:rPr lang="en-IN" altLang="en-US"/>
            </a:br>
            <a:endParaRPr lang="en-US" altLang="en-US"/>
          </a:p>
        </p:txBody>
      </p:sp>
      <p:sp>
        <p:nvSpPr>
          <p:cNvPr id="28674" name="Content Placeholder 2">
            <a:extLst>
              <a:ext uri="{FF2B5EF4-FFF2-40B4-BE49-F238E27FC236}">
                <a16:creationId xmlns:a16="http://schemas.microsoft.com/office/drawing/2014/main" id="{492A9A76-D3B0-E85F-3218-B9FF358F6D8E}"/>
              </a:ext>
            </a:extLst>
          </p:cNvPr>
          <p:cNvSpPr>
            <a:spLocks noGrp="1" noChangeArrowheads="1"/>
          </p:cNvSpPr>
          <p:nvPr>
            <p:ph idx="1"/>
          </p:nvPr>
        </p:nvSpPr>
        <p:spPr/>
        <p:txBody>
          <a:bodyPr/>
          <a:lstStyle/>
          <a:p>
            <a:r>
              <a:rPr lang="en-IN" altLang="en-US" sz="2000"/>
              <a:t>Protects sensitive data by limiting access to authorized personnel and reducing the attack surface, particularly regarding credential theft.</a:t>
            </a:r>
          </a:p>
          <a:p>
            <a:r>
              <a:rPr lang="en-IN" altLang="en-US" sz="2000"/>
              <a:t>Helps organizations meet regulatory requirements by auditing and controlling access.</a:t>
            </a:r>
          </a:p>
          <a:p>
            <a:r>
              <a:rPr lang="en-IN" altLang="en-US" sz="2000"/>
              <a:t>Streamlines user access and reduces administrative burdens.</a:t>
            </a:r>
          </a:p>
          <a:p>
            <a:r>
              <a:rPr lang="en-IN" altLang="en-US" sz="2000"/>
              <a:t>Automates manual processes, saving time and resources. </a:t>
            </a:r>
          </a:p>
          <a:p>
            <a:r>
              <a:rPr lang="en-IN" altLang="en-US" sz="2000"/>
              <a:t>It supports many types including the following</a:t>
            </a:r>
          </a:p>
          <a:p>
            <a:pPr lvl="1">
              <a:lnSpc>
                <a:spcPct val="150000"/>
              </a:lnSpc>
            </a:pPr>
            <a:r>
              <a:rPr lang="en-IN" altLang="en-US" sz="2000" b="1"/>
              <a:t>Multi-Factor Authentication (MFA)</a:t>
            </a:r>
            <a:endParaRPr lang="en-IN" altLang="en-US" sz="2000"/>
          </a:p>
          <a:p>
            <a:pPr lvl="1">
              <a:lnSpc>
                <a:spcPct val="150000"/>
              </a:lnSpc>
            </a:pPr>
            <a:r>
              <a:rPr lang="en-IN" altLang="en-US" sz="2000" b="1"/>
              <a:t>Role-Based Access Control (RBAC)</a:t>
            </a:r>
            <a:r>
              <a:rPr lang="en-IN" altLang="en-US" sz="2000"/>
              <a:t> </a:t>
            </a:r>
          </a:p>
          <a:p>
            <a:pPr lvl="1">
              <a:lnSpc>
                <a:spcPct val="150000"/>
              </a:lnSpc>
            </a:pPr>
            <a:r>
              <a:rPr lang="en-IN" altLang="en-US" sz="2000" b="1"/>
              <a:t>Single Sign-On (SSO)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3EF9AF55-FB08-86AF-54F3-33D2FDD62D40}"/>
              </a:ext>
            </a:extLst>
          </p:cNvPr>
          <p:cNvSpPr>
            <a:spLocks noGrp="1" noChangeArrowheads="1"/>
          </p:cNvSpPr>
          <p:nvPr>
            <p:ph type="title"/>
          </p:nvPr>
        </p:nvSpPr>
        <p:spPr/>
        <p:txBody>
          <a:bodyPr/>
          <a:lstStyle/>
          <a:p>
            <a:r>
              <a:rPr lang="en-US" altLang="en-US"/>
              <a:t>AWS Lambda</a:t>
            </a:r>
          </a:p>
        </p:txBody>
      </p:sp>
      <p:sp>
        <p:nvSpPr>
          <p:cNvPr id="29698" name="Content Placeholder 2">
            <a:extLst>
              <a:ext uri="{FF2B5EF4-FFF2-40B4-BE49-F238E27FC236}">
                <a16:creationId xmlns:a16="http://schemas.microsoft.com/office/drawing/2014/main" id="{7048B87F-45CF-628E-C65A-F1A257612229}"/>
              </a:ext>
            </a:extLst>
          </p:cNvPr>
          <p:cNvSpPr>
            <a:spLocks noGrp="1" noChangeArrowheads="1"/>
          </p:cNvSpPr>
          <p:nvPr>
            <p:ph idx="1"/>
          </p:nvPr>
        </p:nvSpPr>
        <p:spPr/>
        <p:txBody>
          <a:bodyPr/>
          <a:lstStyle/>
          <a:p>
            <a:r>
              <a:rPr lang="en-IN" altLang="en-US" sz="1800"/>
              <a:t>Lambda is a serverless computing service </a:t>
            </a:r>
          </a:p>
          <a:p>
            <a:endParaRPr lang="en-IN" altLang="en-US" sz="1800"/>
          </a:p>
          <a:p>
            <a:r>
              <a:rPr lang="en-IN" altLang="en-US" sz="1800" b="1" u="sng"/>
              <a:t> “serverless” computing</a:t>
            </a:r>
          </a:p>
          <a:p>
            <a:pPr lvl="1"/>
            <a:r>
              <a:rPr lang="en-IN" altLang="en-US" sz="1800"/>
              <a:t>AWS Lambda is a fully managed service that takes care of the infrastructure </a:t>
            </a:r>
          </a:p>
          <a:p>
            <a:pPr lvl="1"/>
            <a:r>
              <a:rPr lang="en-IN" altLang="en-US" sz="1800"/>
              <a:t>Servers, the operating systems, the network layer and the rest of the infrastructure are provided by Lambda</a:t>
            </a:r>
          </a:p>
          <a:p>
            <a:pPr lvl="1"/>
            <a:r>
              <a:rPr lang="en-IN" altLang="en-US" sz="1800"/>
              <a:t>Just need to write application code.</a:t>
            </a:r>
          </a:p>
          <a:p>
            <a:endParaRPr lang="en-IN" altLang="en-US" sz="1800"/>
          </a:p>
          <a:p>
            <a:r>
              <a:rPr lang="en-IN" altLang="en-US" sz="1800"/>
              <a:t>Lambda functions </a:t>
            </a:r>
          </a:p>
          <a:p>
            <a:pPr lvl="1"/>
            <a:r>
              <a:rPr lang="en-IN" altLang="en-US" sz="1800"/>
              <a:t>Serving web pages </a:t>
            </a:r>
          </a:p>
          <a:p>
            <a:pPr lvl="1"/>
            <a:r>
              <a:rPr lang="en-IN" altLang="en-US" sz="1800"/>
              <a:t>Processing streams of data </a:t>
            </a:r>
          </a:p>
          <a:p>
            <a:pPr lvl="1"/>
            <a:r>
              <a:rPr lang="en-IN" altLang="en-US" sz="1800"/>
              <a:t>Calling APIs</a:t>
            </a:r>
          </a:p>
          <a:p>
            <a:pPr lvl="1"/>
            <a:r>
              <a:rPr lang="en-IN" altLang="en-US" sz="1800"/>
              <a:t>Integration other AWS services.</a:t>
            </a:r>
            <a:br>
              <a:rPr lang="en-IN" altLang="en-US" sz="1800"/>
            </a:br>
            <a:endParaRPr lang="en-IN"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10B08F58-CDF8-9819-F7ED-B3DCDE312F01}"/>
              </a:ext>
            </a:extLst>
          </p:cNvPr>
          <p:cNvSpPr>
            <a:spLocks noGrp="1" noChangeArrowheads="1"/>
          </p:cNvSpPr>
          <p:nvPr>
            <p:ph type="title"/>
          </p:nvPr>
        </p:nvSpPr>
        <p:spPr/>
        <p:txBody>
          <a:bodyPr/>
          <a:lstStyle/>
          <a:p>
            <a:br>
              <a:rPr lang="en-IN" altLang="en-US" b="1"/>
            </a:br>
            <a:r>
              <a:rPr lang="en-IN" altLang="en-US" b="1"/>
              <a:t>AWS Lambda</a:t>
            </a:r>
            <a:br>
              <a:rPr lang="en-IN" altLang="en-US" b="1"/>
            </a:br>
            <a:endParaRPr lang="en-US" altLang="en-US"/>
          </a:p>
        </p:txBody>
      </p:sp>
      <p:sp>
        <p:nvSpPr>
          <p:cNvPr id="31746" name="Content Placeholder 2">
            <a:extLst>
              <a:ext uri="{FF2B5EF4-FFF2-40B4-BE49-F238E27FC236}">
                <a16:creationId xmlns:a16="http://schemas.microsoft.com/office/drawing/2014/main" id="{B499B08A-49AE-C820-BC62-6547832D9AE8}"/>
              </a:ext>
            </a:extLst>
          </p:cNvPr>
          <p:cNvSpPr>
            <a:spLocks noGrp="1" noChangeArrowheads="1"/>
          </p:cNvSpPr>
          <p:nvPr>
            <p:ph idx="1"/>
          </p:nvPr>
        </p:nvSpPr>
        <p:spPr/>
        <p:txBody>
          <a:bodyPr/>
          <a:lstStyle/>
          <a:p>
            <a:r>
              <a:rPr lang="en-IN" altLang="en-US" sz="1800"/>
              <a:t>Each Lambda function runs in its own container. </a:t>
            </a:r>
          </a:p>
          <a:p>
            <a:endParaRPr lang="en-IN" altLang="en-US" sz="1800"/>
          </a:p>
          <a:p>
            <a:r>
              <a:rPr lang="en-IN" altLang="en-US" sz="1800"/>
              <a:t>Lambda packages functions  into a new container </a:t>
            </a:r>
          </a:p>
          <a:p>
            <a:pPr lvl="1"/>
            <a:r>
              <a:rPr lang="en-IN" altLang="en-US" sz="1800"/>
              <a:t>Executes that container on a multi-tenant cluster of machines managed by AWS. </a:t>
            </a:r>
          </a:p>
          <a:p>
            <a:endParaRPr lang="en-IN" altLang="en-US" sz="1800"/>
          </a:p>
          <a:p>
            <a:r>
              <a:rPr lang="en-IN" altLang="en-US" sz="1800"/>
              <a:t>Before the functions start running, each function’s container is allocated its necessary RAM and CPU capacity. </a:t>
            </a:r>
          </a:p>
          <a:p>
            <a:endParaRPr lang="en-IN" altLang="en-US" sz="1800"/>
          </a:p>
          <a:p>
            <a:r>
              <a:rPr lang="en-IN" altLang="en-US" sz="1800"/>
              <a:t>Once the functions finish running, the RAM allocated at the beginning is multiplied by the amount of time the function spent running. </a:t>
            </a:r>
          </a:p>
          <a:p>
            <a:endParaRPr lang="en-IN" altLang="en-US" sz="1800"/>
          </a:p>
          <a:p>
            <a:r>
              <a:rPr lang="en-IN" altLang="en-US" sz="1800"/>
              <a:t>The customers then get charged based on the allocated memory and the amount of run time the function took to complete.</a:t>
            </a:r>
            <a:br>
              <a:rPr lang="en-IN" altLang="en-US" sz="1800"/>
            </a:br>
            <a:br>
              <a:rPr lang="en-IN" altLang="en-US" sz="1800"/>
            </a:br>
            <a:endParaRPr lang="en-US" altLang="en-US" sz="1800"/>
          </a:p>
          <a:p>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1E2D7391-1523-3D31-A665-1C49DE6CDA09}"/>
              </a:ext>
            </a:extLst>
          </p:cNvPr>
          <p:cNvSpPr>
            <a:spLocks noGrp="1" noChangeArrowheads="1"/>
          </p:cNvSpPr>
          <p:nvPr>
            <p:ph type="title"/>
          </p:nvPr>
        </p:nvSpPr>
        <p:spPr/>
        <p:txBody>
          <a:bodyPr/>
          <a:lstStyle/>
          <a:p>
            <a:r>
              <a:rPr lang="en-US" altLang="en-US"/>
              <a:t>Supported </a:t>
            </a:r>
            <a:r>
              <a:rPr lang="en-IN" altLang="en-US"/>
              <a:t>Languages</a:t>
            </a:r>
            <a:r>
              <a:rPr lang="en-US" altLang="en-US"/>
              <a:t> and Runtimes</a:t>
            </a:r>
          </a:p>
        </p:txBody>
      </p:sp>
      <p:sp>
        <p:nvSpPr>
          <p:cNvPr id="32770" name="Content Placeholder 2">
            <a:extLst>
              <a:ext uri="{FF2B5EF4-FFF2-40B4-BE49-F238E27FC236}">
                <a16:creationId xmlns:a16="http://schemas.microsoft.com/office/drawing/2014/main" id="{77605E72-102B-55F6-74F4-4992E66A28BB}"/>
              </a:ext>
            </a:extLst>
          </p:cNvPr>
          <p:cNvSpPr>
            <a:spLocks noGrp="1" noChangeArrowheads="1"/>
          </p:cNvSpPr>
          <p:nvPr>
            <p:ph idx="1"/>
          </p:nvPr>
        </p:nvSpPr>
        <p:spPr/>
        <p:txBody>
          <a:bodyPr/>
          <a:lstStyle/>
          <a:p>
            <a:r>
              <a:rPr lang="en-IN" altLang="en-US" sz="1800"/>
              <a:t> AWS Lambda  support following programming languages,</a:t>
            </a:r>
          </a:p>
          <a:p>
            <a:pPr lvl="2">
              <a:lnSpc>
                <a:spcPct val="150000"/>
              </a:lnSpc>
            </a:pPr>
            <a:r>
              <a:rPr lang="en-IN" altLang="en-US" sz="2000"/>
              <a:t>Node.js </a:t>
            </a:r>
          </a:p>
          <a:p>
            <a:pPr lvl="2">
              <a:lnSpc>
                <a:spcPct val="150000"/>
              </a:lnSpc>
            </a:pPr>
            <a:r>
              <a:rPr lang="en-IN" altLang="en-US" sz="2000"/>
              <a:t>Python </a:t>
            </a:r>
          </a:p>
          <a:p>
            <a:pPr lvl="2">
              <a:lnSpc>
                <a:spcPct val="150000"/>
              </a:lnSpc>
            </a:pPr>
            <a:r>
              <a:rPr lang="en-IN" altLang="en-US" sz="2000"/>
              <a:t>Ruby </a:t>
            </a:r>
          </a:p>
          <a:p>
            <a:pPr lvl="2">
              <a:lnSpc>
                <a:spcPct val="150000"/>
              </a:lnSpc>
            </a:pPr>
            <a:r>
              <a:rPr lang="en-IN" altLang="en-US" sz="2000"/>
              <a:t>Java </a:t>
            </a:r>
          </a:p>
          <a:p>
            <a:pPr lvl="2">
              <a:lnSpc>
                <a:spcPct val="150000"/>
              </a:lnSpc>
            </a:pPr>
            <a:r>
              <a:rPr lang="en-IN" altLang="en-US" sz="2000"/>
              <a:t>Go </a:t>
            </a:r>
          </a:p>
          <a:p>
            <a:pPr lvl="2">
              <a:lnSpc>
                <a:spcPct val="150000"/>
              </a:lnSpc>
            </a:pPr>
            <a:r>
              <a:rPr lang="en-IN" altLang="en-US" sz="2000"/>
              <a:t>C#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8B470555-190B-7CF5-5318-9811D0D0C711}"/>
              </a:ext>
            </a:extLst>
          </p:cNvPr>
          <p:cNvSpPr>
            <a:spLocks noGrp="1" noChangeArrowheads="1"/>
          </p:cNvSpPr>
          <p:nvPr>
            <p:ph type="title"/>
          </p:nvPr>
        </p:nvSpPr>
        <p:spPr/>
        <p:txBody>
          <a:bodyPr/>
          <a:lstStyle/>
          <a:p>
            <a:r>
              <a:rPr lang="en-IN" altLang="en-US"/>
              <a:t>Amazon Virtual Private Cloud</a:t>
            </a:r>
            <a:endParaRPr lang="en-US" altLang="en-US"/>
          </a:p>
        </p:txBody>
      </p:sp>
      <p:sp>
        <p:nvSpPr>
          <p:cNvPr id="33794" name="Content Placeholder 2">
            <a:extLst>
              <a:ext uri="{FF2B5EF4-FFF2-40B4-BE49-F238E27FC236}">
                <a16:creationId xmlns:a16="http://schemas.microsoft.com/office/drawing/2014/main" id="{9EC8A5FC-348A-CF2B-6D5D-EF3A1526F8D4}"/>
              </a:ext>
            </a:extLst>
          </p:cNvPr>
          <p:cNvSpPr>
            <a:spLocks noGrp="1" noChangeArrowheads="1"/>
          </p:cNvSpPr>
          <p:nvPr>
            <p:ph idx="1"/>
          </p:nvPr>
        </p:nvSpPr>
        <p:spPr/>
        <p:txBody>
          <a:bodyPr/>
          <a:lstStyle/>
          <a:p>
            <a:r>
              <a:rPr lang="en-IN" altLang="en-US" sz="1800"/>
              <a:t>Consists of the following Components </a:t>
            </a:r>
          </a:p>
          <a:p>
            <a:r>
              <a:rPr lang="en-IN" altLang="en-US" sz="1800" b="1"/>
              <a:t>Subnets</a:t>
            </a:r>
          </a:p>
          <a:p>
            <a:r>
              <a:rPr lang="en-IN" altLang="en-US" sz="1800" b="1"/>
              <a:t>Route tables</a:t>
            </a:r>
          </a:p>
          <a:p>
            <a:r>
              <a:rPr lang="en-IN" altLang="en-US" sz="1800" b="1"/>
              <a:t>NAT gateways</a:t>
            </a:r>
            <a:r>
              <a:rPr lang="en-IN" altLang="en-US" sz="1800"/>
              <a:t> </a:t>
            </a:r>
          </a:p>
          <a:p>
            <a:endParaRPr lang="en-IN" altLang="en-US" sz="1800" b="1"/>
          </a:p>
          <a:p>
            <a:r>
              <a:rPr lang="en-IN" altLang="en-US" sz="1800" b="1"/>
              <a:t>Subnets</a:t>
            </a:r>
            <a:r>
              <a:rPr lang="en-IN" altLang="en-US" sz="1800"/>
              <a:t> </a:t>
            </a:r>
          </a:p>
          <a:p>
            <a:pPr lvl="1"/>
            <a:r>
              <a:rPr lang="en-IN" altLang="en-US" sz="1800"/>
              <a:t>Divisions of VPC's IP address range.</a:t>
            </a:r>
          </a:p>
          <a:p>
            <a:r>
              <a:rPr lang="en-IN" altLang="en-US" sz="1800" b="1"/>
              <a:t>Route Tables</a:t>
            </a:r>
            <a:r>
              <a:rPr lang="en-IN" altLang="en-US" sz="1800"/>
              <a:t> </a:t>
            </a:r>
          </a:p>
          <a:p>
            <a:pPr lvl="1"/>
            <a:r>
              <a:rPr lang="en-IN" altLang="en-US" sz="1800"/>
              <a:t>Routes that determine where network traffic from a subnet is directed.</a:t>
            </a:r>
          </a:p>
          <a:p>
            <a:r>
              <a:rPr lang="en-IN" altLang="en-US" sz="1800" b="1"/>
              <a:t>NAT Gateways</a:t>
            </a:r>
            <a:r>
              <a:rPr lang="en-IN" altLang="en-US" sz="1800"/>
              <a:t> </a:t>
            </a:r>
          </a:p>
          <a:p>
            <a:pPr lvl="1"/>
            <a:r>
              <a:rPr lang="en-IN" altLang="en-US" sz="1800"/>
              <a:t>Instances in a private subnet to connect to external services without allowing unsolicited inbound connections from the internet.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4D0FAD3F-6ABB-9091-151D-15559EF267B1}"/>
              </a:ext>
            </a:extLst>
          </p:cNvPr>
          <p:cNvSpPr>
            <a:spLocks noGrp="1" noChangeArrowheads="1"/>
          </p:cNvSpPr>
          <p:nvPr>
            <p:ph type="title"/>
          </p:nvPr>
        </p:nvSpPr>
        <p:spPr/>
        <p:txBody>
          <a:bodyPr/>
          <a:lstStyle/>
          <a:p>
            <a:r>
              <a:rPr lang="en-IN" altLang="en-US"/>
              <a:t>Amazon Virtual Private Cloud</a:t>
            </a:r>
            <a:endParaRPr lang="en-US" altLang="en-US"/>
          </a:p>
        </p:txBody>
      </p:sp>
      <p:sp>
        <p:nvSpPr>
          <p:cNvPr id="35842" name="Content Placeholder 2">
            <a:extLst>
              <a:ext uri="{FF2B5EF4-FFF2-40B4-BE49-F238E27FC236}">
                <a16:creationId xmlns:a16="http://schemas.microsoft.com/office/drawing/2014/main" id="{26C13379-0EC0-70B7-61B5-DAE4C5C62840}"/>
              </a:ext>
            </a:extLst>
          </p:cNvPr>
          <p:cNvSpPr>
            <a:spLocks noGrp="1" noChangeArrowheads="1"/>
          </p:cNvSpPr>
          <p:nvPr>
            <p:ph idx="1"/>
          </p:nvPr>
        </p:nvSpPr>
        <p:spPr/>
        <p:txBody>
          <a:bodyPr/>
          <a:lstStyle/>
          <a:p>
            <a:r>
              <a:rPr lang="en-IN" altLang="en-US" sz="1800" b="1"/>
              <a:t>Subnets</a:t>
            </a:r>
          </a:p>
          <a:p>
            <a:pPr lvl="1"/>
            <a:r>
              <a:rPr lang="en-IN" altLang="en-US" sz="1800"/>
              <a:t>Range of IP addresses within VPC</a:t>
            </a:r>
          </a:p>
          <a:p>
            <a:pPr lvl="1"/>
            <a:r>
              <a:rPr lang="en-IN" altLang="en-US" sz="1800"/>
              <a:t>Available within a specific Availability Zone (AZ). </a:t>
            </a:r>
          </a:p>
          <a:p>
            <a:pPr lvl="1"/>
            <a:r>
              <a:rPr lang="en-IN" altLang="en-US" sz="1800"/>
              <a:t>It can be either public or private: </a:t>
            </a:r>
          </a:p>
          <a:p>
            <a:r>
              <a:rPr lang="en-IN" altLang="en-US" sz="1800" b="1"/>
              <a:t>Public Subnet</a:t>
            </a:r>
            <a:r>
              <a:rPr lang="en-IN" altLang="en-US" sz="1800"/>
              <a:t>: </a:t>
            </a:r>
          </a:p>
          <a:p>
            <a:pPr lvl="1"/>
            <a:r>
              <a:rPr lang="en-IN" altLang="en-US" sz="1800"/>
              <a:t>"public" if its associated route table contains a route to an Internet Gateway (IGW) for all non-local traffic (destination 0.0.0.0/0 for IPv4). </a:t>
            </a:r>
          </a:p>
          <a:p>
            <a:pPr lvl="1"/>
            <a:r>
              <a:rPr lang="en-IN" altLang="en-US" sz="1800"/>
              <a:t>Resources like web servers, can have public IP addresses and communicate directly with the internet.</a:t>
            </a:r>
          </a:p>
          <a:p>
            <a:r>
              <a:rPr lang="en-IN" altLang="en-US" sz="1800" b="1"/>
              <a:t>Private Subnet</a:t>
            </a:r>
            <a:r>
              <a:rPr lang="en-IN" altLang="en-US" sz="1800"/>
              <a:t>: </a:t>
            </a:r>
          </a:p>
          <a:p>
            <a:pPr lvl="1"/>
            <a:r>
              <a:rPr lang="en-IN" altLang="en-US" sz="1800"/>
              <a:t>Does not have a direct route to an Internet Gateway. </a:t>
            </a:r>
          </a:p>
          <a:p>
            <a:pPr lvl="1"/>
            <a:r>
              <a:rPr lang="en-IN" altLang="en-US" sz="1800"/>
              <a:t>Resources such as databases or application servers, remain isolated from unsolicited inbound internet traffic</a:t>
            </a:r>
          </a:p>
          <a:p>
            <a:pPr lvl="1"/>
            <a:r>
              <a:rPr lang="en-IN" altLang="en-US" sz="1800"/>
              <a:t>May achieve outbound connectivity through a NAT gateway. </a:t>
            </a:r>
          </a:p>
          <a:p>
            <a:endParaRPr lang="en-US" altLang="en-US" sz="180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C7BA31D0-FC94-037A-FFFC-2917C2A15EEF}"/>
              </a:ext>
            </a:extLst>
          </p:cNvPr>
          <p:cNvSpPr>
            <a:spLocks noGrp="1" noChangeArrowheads="1"/>
          </p:cNvSpPr>
          <p:nvPr>
            <p:ph type="title"/>
          </p:nvPr>
        </p:nvSpPr>
        <p:spPr/>
        <p:txBody>
          <a:bodyPr/>
          <a:lstStyle/>
          <a:p>
            <a:br>
              <a:rPr lang="en-IN" altLang="en-US" b="1"/>
            </a:br>
            <a:r>
              <a:rPr lang="en-IN" altLang="en-US" b="1"/>
              <a:t>Route Tables</a:t>
            </a:r>
            <a:br>
              <a:rPr lang="en-IN" altLang="en-US" b="1"/>
            </a:br>
            <a:endParaRPr lang="en-US" altLang="en-US"/>
          </a:p>
        </p:txBody>
      </p:sp>
      <p:sp>
        <p:nvSpPr>
          <p:cNvPr id="36866" name="Content Placeholder 2">
            <a:extLst>
              <a:ext uri="{FF2B5EF4-FFF2-40B4-BE49-F238E27FC236}">
                <a16:creationId xmlns:a16="http://schemas.microsoft.com/office/drawing/2014/main" id="{E1A51C8E-694D-4379-DAB5-1791C7C977F2}"/>
              </a:ext>
            </a:extLst>
          </p:cNvPr>
          <p:cNvSpPr>
            <a:spLocks noGrp="1" noChangeArrowheads="1"/>
          </p:cNvSpPr>
          <p:nvPr>
            <p:ph idx="1"/>
          </p:nvPr>
        </p:nvSpPr>
        <p:spPr>
          <a:xfrm>
            <a:off x="457200" y="762000"/>
            <a:ext cx="8229600" cy="5364163"/>
          </a:xfrm>
        </p:spPr>
        <p:txBody>
          <a:bodyPr/>
          <a:lstStyle/>
          <a:p>
            <a:r>
              <a:rPr lang="en-IN" altLang="en-US" sz="1800"/>
              <a:t>A route table is a set of rules that dictates the flow of traffic leaving a subnet. </a:t>
            </a:r>
          </a:p>
          <a:p>
            <a:r>
              <a:rPr lang="en-IN" altLang="en-US" sz="1800" b="1"/>
              <a:t>Main Route Table</a:t>
            </a:r>
            <a:r>
              <a:rPr lang="en-IN" altLang="en-US" sz="1800"/>
              <a:t>: </a:t>
            </a:r>
          </a:p>
          <a:p>
            <a:pPr lvl="1"/>
            <a:r>
              <a:rPr lang="en-IN" altLang="en-US" sz="1800"/>
              <a:t>When a VPC is created, a main (default) route table is automatically generated and implicitly associated with all subnets that do not have an explicit association.</a:t>
            </a:r>
          </a:p>
          <a:p>
            <a:r>
              <a:rPr lang="en-IN" altLang="en-US" sz="1800" b="1"/>
              <a:t>Custom Route Tables</a:t>
            </a:r>
            <a:r>
              <a:rPr lang="en-IN" altLang="en-US" sz="1800"/>
              <a:t>: </a:t>
            </a:r>
          </a:p>
          <a:p>
            <a:pPr lvl="1"/>
            <a:r>
              <a:rPr lang="en-IN" altLang="en-US" sz="1800"/>
              <a:t>Can create custom route tables for more granular control over routing. </a:t>
            </a:r>
          </a:p>
          <a:p>
            <a:pPr lvl="1"/>
            <a:r>
              <a:rPr lang="en-IN" altLang="en-US" sz="1800"/>
              <a:t>It is a best practice to create custom route tables and explicitly associate each subnet with one</a:t>
            </a:r>
          </a:p>
          <a:p>
            <a:pPr lvl="1"/>
            <a:r>
              <a:rPr lang="en-IN" altLang="en-US" sz="1800"/>
              <a:t>Can define different routing rules for different subnets (e.g., public vs. private).</a:t>
            </a:r>
          </a:p>
          <a:p>
            <a:r>
              <a:rPr lang="en-IN" altLang="en-US" sz="1800" b="1"/>
              <a:t>Routes</a:t>
            </a:r>
            <a:r>
              <a:rPr lang="en-IN" altLang="en-US" sz="1800"/>
              <a:t>:</a:t>
            </a:r>
          </a:p>
          <a:p>
            <a:pPr lvl="1"/>
            <a:r>
              <a:rPr lang="en-IN" altLang="en-US" sz="1800"/>
              <a:t> Each route specifies a destination which can be an Internet Gateway, NAT Gateway, VPC Peering connection, or other network components.</a:t>
            </a:r>
          </a:p>
          <a:p>
            <a:pPr lvl="1"/>
            <a:r>
              <a:rPr lang="en-IN" altLang="en-US" sz="1800"/>
              <a:t> A default "local" route is always present, enabling communication among all subnets within the same VPC.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EAFBF5F8-93E7-69F0-72B9-784BEB975415}"/>
              </a:ext>
            </a:extLst>
          </p:cNvPr>
          <p:cNvSpPr>
            <a:spLocks noGrp="1" noChangeArrowheads="1"/>
          </p:cNvSpPr>
          <p:nvPr>
            <p:ph type="title"/>
          </p:nvPr>
        </p:nvSpPr>
        <p:spPr/>
        <p:txBody>
          <a:bodyPr/>
          <a:lstStyle/>
          <a:p>
            <a:br>
              <a:rPr lang="en-IN" altLang="en-US" b="1"/>
            </a:br>
            <a:r>
              <a:rPr lang="en-IN" altLang="en-US" b="1"/>
              <a:t>NAT Gateways</a:t>
            </a:r>
            <a:br>
              <a:rPr lang="en-IN" altLang="en-US" b="1"/>
            </a:br>
            <a:endParaRPr lang="en-US" altLang="en-US"/>
          </a:p>
        </p:txBody>
      </p:sp>
      <p:sp>
        <p:nvSpPr>
          <p:cNvPr id="38914" name="Content Placeholder 2">
            <a:extLst>
              <a:ext uri="{FF2B5EF4-FFF2-40B4-BE49-F238E27FC236}">
                <a16:creationId xmlns:a16="http://schemas.microsoft.com/office/drawing/2014/main" id="{770F67F6-0BAC-DEE6-D8CC-9D22F07C3D53}"/>
              </a:ext>
            </a:extLst>
          </p:cNvPr>
          <p:cNvSpPr>
            <a:spLocks noGrp="1" noChangeArrowheads="1"/>
          </p:cNvSpPr>
          <p:nvPr>
            <p:ph idx="1"/>
          </p:nvPr>
        </p:nvSpPr>
        <p:spPr>
          <a:xfrm>
            <a:off x="457200" y="914400"/>
            <a:ext cx="8229600" cy="5211763"/>
          </a:xfrm>
        </p:spPr>
        <p:txBody>
          <a:bodyPr/>
          <a:lstStyle/>
          <a:p>
            <a:pPr>
              <a:lnSpc>
                <a:spcPct val="150000"/>
              </a:lnSpc>
            </a:pPr>
            <a:r>
              <a:rPr lang="en-IN" altLang="en-US" sz="2000"/>
              <a:t>A Network Address Translation (NAT) gateway is an AWS-managed service that allows instances in private subnets to initiate outbound IPv4 traffic to the internet or other AWS services</a:t>
            </a:r>
          </a:p>
          <a:p>
            <a:pPr>
              <a:lnSpc>
                <a:spcPct val="150000"/>
              </a:lnSpc>
            </a:pPr>
            <a:r>
              <a:rPr lang="en-IN" altLang="en-US" sz="2000"/>
              <a:t>A NAT gateway must be created in a </a:t>
            </a:r>
            <a:r>
              <a:rPr lang="en-IN" altLang="en-US" sz="2000" b="1"/>
              <a:t>public subnet</a:t>
            </a:r>
            <a:r>
              <a:rPr lang="en-IN" altLang="en-US" sz="2000"/>
              <a:t>.</a:t>
            </a:r>
          </a:p>
          <a:p>
            <a:pPr>
              <a:lnSpc>
                <a:spcPct val="150000"/>
              </a:lnSpc>
            </a:pPr>
            <a:r>
              <a:rPr lang="en-IN" altLang="en-US" sz="2000"/>
              <a:t>The private subnet's route table must be configured with a default route (0.0.0.0/0) that targets the NAT gateway.</a:t>
            </a:r>
          </a:p>
          <a:p>
            <a:pPr>
              <a:lnSpc>
                <a:spcPct val="150000"/>
              </a:lnSpc>
            </a:pPr>
            <a:r>
              <a:rPr lang="en-IN" altLang="en-US" sz="2000"/>
              <a:t>Traffic from a private instance destined for the internet is routed to the NAT gateway, which translates the instance's private IP address to its own public IP address and then sends the traffic through the Internet Gateway.</a:t>
            </a:r>
          </a:p>
          <a:p>
            <a:pPr>
              <a:lnSpc>
                <a:spcPct val="150000"/>
              </a:lnSpc>
            </a:pPr>
            <a:endParaRPr lang="en-US" altLang="en-US" sz="2000"/>
          </a:p>
          <a:p>
            <a:pPr>
              <a:lnSpc>
                <a:spcPct val="150000"/>
              </a:lnSpc>
            </a:pPr>
            <a:endParaRPr lang="en-US" alt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CEACADDF-F592-7F7E-7DE1-88B2E46E6D6B}"/>
              </a:ext>
            </a:extLst>
          </p:cNvPr>
          <p:cNvSpPr>
            <a:spLocks noGrp="1" noChangeArrowheads="1"/>
          </p:cNvSpPr>
          <p:nvPr>
            <p:ph type="title"/>
          </p:nvPr>
        </p:nvSpPr>
        <p:spPr/>
        <p:txBody>
          <a:bodyPr/>
          <a:lstStyle/>
          <a:p>
            <a:r>
              <a:rPr lang="en-US" altLang="en-US"/>
              <a:t>AWS Services</a:t>
            </a:r>
            <a:endParaRPr lang="en-IN" altLang="en-US"/>
          </a:p>
        </p:txBody>
      </p:sp>
      <p:sp>
        <p:nvSpPr>
          <p:cNvPr id="39938" name="Content Placeholder 2">
            <a:extLst>
              <a:ext uri="{FF2B5EF4-FFF2-40B4-BE49-F238E27FC236}">
                <a16:creationId xmlns:a16="http://schemas.microsoft.com/office/drawing/2014/main" id="{E70B7554-7973-5A25-01F8-3FE2796781BD}"/>
              </a:ext>
            </a:extLst>
          </p:cNvPr>
          <p:cNvSpPr>
            <a:spLocks noGrp="1" noChangeArrowheads="1"/>
          </p:cNvSpPr>
          <p:nvPr>
            <p:ph idx="1"/>
          </p:nvPr>
        </p:nvSpPr>
        <p:spPr/>
        <p:txBody>
          <a:bodyPr/>
          <a:lstStyle/>
          <a:p>
            <a:pPr>
              <a:lnSpc>
                <a:spcPct val="150000"/>
              </a:lnSpc>
            </a:pPr>
            <a:r>
              <a:rPr lang="en-US" altLang="en-US" sz="2000" b="1">
                <a:solidFill>
                  <a:srgbClr val="4A4A4A"/>
                </a:solidFill>
              </a:rPr>
              <a:t>Compute</a:t>
            </a:r>
          </a:p>
          <a:p>
            <a:pPr lvl="1">
              <a:lnSpc>
                <a:spcPct val="150000"/>
              </a:lnSpc>
            </a:pPr>
            <a:r>
              <a:rPr lang="en-US" altLang="en-US" sz="2000" b="1">
                <a:solidFill>
                  <a:srgbClr val="4A4A4A"/>
                </a:solidFill>
              </a:rPr>
              <a:t>It </a:t>
            </a:r>
            <a:r>
              <a:rPr lang="en-US" altLang="en-US" sz="2000">
                <a:solidFill>
                  <a:srgbClr val="4A4A4A"/>
                </a:solidFill>
              </a:rPr>
              <a:t> is used to process data on the cloud by making use of powerful processors which serve multiple instances at a time.</a:t>
            </a:r>
          </a:p>
          <a:p>
            <a:pPr>
              <a:lnSpc>
                <a:spcPct val="150000"/>
              </a:lnSpc>
            </a:pPr>
            <a:r>
              <a:rPr lang="en-US" altLang="en-US" sz="2000" b="1">
                <a:solidFill>
                  <a:srgbClr val="4A4A4A"/>
                </a:solidFill>
              </a:rPr>
              <a:t>Storage and Content Delivery</a:t>
            </a:r>
          </a:p>
          <a:p>
            <a:pPr lvl="1">
              <a:lnSpc>
                <a:spcPct val="150000"/>
              </a:lnSpc>
              <a:buFont typeface="Arial" panose="020B0604020202020204" pitchFamily="34" charset="0"/>
              <a:buChar char="•"/>
            </a:pPr>
            <a:r>
              <a:rPr lang="en-US" altLang="en-US" sz="2000" b="1">
                <a:solidFill>
                  <a:srgbClr val="4A4A4A"/>
                </a:solidFill>
              </a:rPr>
              <a:t>The </a:t>
            </a:r>
            <a:r>
              <a:rPr lang="en-US" altLang="en-US" sz="2000">
                <a:solidFill>
                  <a:srgbClr val="4A4A4A"/>
                </a:solidFill>
              </a:rPr>
              <a:t> storage as the name suggests, is used to store data in the cloud, this data can be stored anywhere but content delivery on the other hand is used to cache data nearer to the user so as to provide low latency.</a:t>
            </a:r>
          </a:p>
          <a:p>
            <a:pPr>
              <a:lnSpc>
                <a:spcPct val="150000"/>
              </a:lnSpc>
            </a:pPr>
            <a:r>
              <a:rPr lang="en-US" altLang="en-US" sz="2000" b="1">
                <a:solidFill>
                  <a:srgbClr val="4A4A4A"/>
                </a:solidFill>
              </a:rPr>
              <a:t>Database</a:t>
            </a:r>
          </a:p>
          <a:p>
            <a:pPr lvl="1">
              <a:lnSpc>
                <a:spcPct val="150000"/>
              </a:lnSpc>
              <a:buFont typeface="Arial" panose="020B0604020202020204" pitchFamily="34" charset="0"/>
              <a:buChar char="•"/>
            </a:pPr>
            <a:r>
              <a:rPr lang="en-US" altLang="en-US" sz="2000">
                <a:solidFill>
                  <a:srgbClr val="4A4A4A"/>
                </a:solidFill>
              </a:rPr>
              <a:t>The database domain is used to provide reliable relational and non relational database instances managed by AWS.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17DD50F9-5CA4-C7C0-7D1E-CE534718CEEC}"/>
              </a:ext>
            </a:extLst>
          </p:cNvPr>
          <p:cNvSpPr>
            <a:spLocks noGrp="1" noChangeArrowheads="1"/>
          </p:cNvSpPr>
          <p:nvPr>
            <p:ph type="title"/>
          </p:nvPr>
        </p:nvSpPr>
        <p:spPr/>
        <p:txBody>
          <a:bodyPr/>
          <a:lstStyle/>
          <a:p>
            <a:r>
              <a:rPr lang="en-US" altLang="en-US"/>
              <a:t>AWS Service</a:t>
            </a:r>
            <a:endParaRPr lang="en-IN" altLang="en-US"/>
          </a:p>
        </p:txBody>
      </p:sp>
      <p:sp>
        <p:nvSpPr>
          <p:cNvPr id="3" name="Content Placeholder 2">
            <a:extLst>
              <a:ext uri="{FF2B5EF4-FFF2-40B4-BE49-F238E27FC236}">
                <a16:creationId xmlns:a16="http://schemas.microsoft.com/office/drawing/2014/main" id="{1A436A65-FE84-CE25-8D6C-43601353BA3D}"/>
              </a:ext>
            </a:extLst>
          </p:cNvPr>
          <p:cNvSpPr>
            <a:spLocks noGrp="1"/>
          </p:cNvSpPr>
          <p:nvPr>
            <p:ph idx="1"/>
          </p:nvPr>
        </p:nvSpPr>
        <p:spPr/>
        <p:txBody>
          <a:bodyPr/>
          <a:lstStyle/>
          <a:p>
            <a:pPr>
              <a:buFont typeface="Arial" panose="020B0604020202020204" pitchFamily="34" charset="0"/>
              <a:buChar char="•"/>
              <a:defRPr/>
            </a:pPr>
            <a:r>
              <a:rPr lang="en-US" sz="2000" b="1" dirty="0">
                <a:solidFill>
                  <a:srgbClr val="4A4A4A"/>
                </a:solidFill>
              </a:rPr>
              <a:t>Networking</a:t>
            </a:r>
          </a:p>
          <a:p>
            <a:pPr lvl="1">
              <a:buFont typeface="Arial" panose="020B0604020202020204" pitchFamily="34" charset="0"/>
              <a:buChar char="•"/>
              <a:defRPr/>
            </a:pPr>
            <a:r>
              <a:rPr lang="en-US" sz="2000" dirty="0">
                <a:solidFill>
                  <a:srgbClr val="4A4A4A"/>
                </a:solidFill>
              </a:rPr>
              <a:t>It includes services which provide a variety of networking features such as security, faster access etc.</a:t>
            </a:r>
          </a:p>
          <a:p>
            <a:pPr>
              <a:buFont typeface="Arial" panose="020B0604020202020204" pitchFamily="34" charset="0"/>
              <a:buChar char="•"/>
              <a:defRPr/>
            </a:pPr>
            <a:r>
              <a:rPr lang="en-US" sz="2000" b="1" dirty="0">
                <a:solidFill>
                  <a:srgbClr val="4A4A4A"/>
                </a:solidFill>
              </a:rPr>
              <a:t>Management Tools</a:t>
            </a:r>
          </a:p>
          <a:p>
            <a:pPr lvl="1">
              <a:buFont typeface="Arial" panose="020B0604020202020204" pitchFamily="34" charset="0"/>
              <a:buChar char="•"/>
              <a:defRPr/>
            </a:pPr>
            <a:r>
              <a:rPr lang="en-US" sz="2000" dirty="0">
                <a:solidFill>
                  <a:srgbClr val="4A4A4A"/>
                </a:solidFill>
              </a:rPr>
              <a:t>It includes services which can be used to manage and monitor your AWS instances.</a:t>
            </a:r>
          </a:p>
          <a:p>
            <a:pPr>
              <a:buFont typeface="Arial" panose="020B0604020202020204" pitchFamily="34" charset="0"/>
              <a:buChar char="•"/>
              <a:defRPr/>
            </a:pPr>
            <a:r>
              <a:rPr lang="en-US" sz="2000" b="1" dirty="0">
                <a:solidFill>
                  <a:srgbClr val="4A4A4A"/>
                </a:solidFill>
              </a:rPr>
              <a:t>Security and Identity</a:t>
            </a:r>
          </a:p>
          <a:p>
            <a:pPr lvl="1">
              <a:buFont typeface="Arial" panose="020B0604020202020204" pitchFamily="34" charset="0"/>
              <a:buChar char="•"/>
              <a:defRPr/>
            </a:pPr>
            <a:r>
              <a:rPr lang="en-US" sz="2000" dirty="0">
                <a:solidFill>
                  <a:srgbClr val="4A4A4A"/>
                </a:solidFill>
              </a:rPr>
              <a:t>It includes services for user authentication or limiting access to a certain set of audience on your AWS resources.</a:t>
            </a:r>
          </a:p>
          <a:p>
            <a:pPr>
              <a:buFont typeface="Arial" panose="020B0604020202020204" pitchFamily="34" charset="0"/>
              <a:buChar char="•"/>
              <a:defRPr/>
            </a:pPr>
            <a:r>
              <a:rPr lang="en-US" sz="2000" b="1" dirty="0">
                <a:solidFill>
                  <a:srgbClr val="4A4A4A"/>
                </a:solidFill>
              </a:rPr>
              <a:t>Application Services</a:t>
            </a:r>
          </a:p>
          <a:p>
            <a:pPr lvl="1">
              <a:buFont typeface="Arial" panose="020B0604020202020204" pitchFamily="34" charset="0"/>
              <a:buChar char="•"/>
              <a:defRPr/>
            </a:pPr>
            <a:r>
              <a:rPr lang="en-US" sz="2000" b="1" dirty="0">
                <a:solidFill>
                  <a:srgbClr val="4A4A4A"/>
                </a:solidFill>
              </a:rPr>
              <a:t>It </a:t>
            </a:r>
            <a:r>
              <a:rPr lang="en-US" sz="2000" dirty="0">
                <a:solidFill>
                  <a:srgbClr val="4A4A4A"/>
                </a:solidFill>
              </a:rPr>
              <a:t> includes simple services like notifications, emailing and queuing.</a:t>
            </a:r>
          </a:p>
          <a:p>
            <a:pPr marL="0" indent="0">
              <a:buFontTx/>
              <a:buNone/>
              <a:defRPr/>
            </a:pPr>
            <a:br>
              <a:rPr lang="en-US" sz="2000" dirty="0"/>
            </a:br>
            <a:endParaRPr lang="en-IN" sz="2000" dirty="0"/>
          </a:p>
          <a:p>
            <a:pPr>
              <a:defRPr/>
            </a:pPr>
            <a:endParaRPr lang="en-IN"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7E89EAE7-6390-F114-240E-3C85DF85C811}"/>
              </a:ext>
            </a:extLst>
          </p:cNvPr>
          <p:cNvSpPr>
            <a:spLocks noGrp="1" noChangeArrowheads="1"/>
          </p:cNvSpPr>
          <p:nvPr>
            <p:ph type="title"/>
          </p:nvPr>
        </p:nvSpPr>
        <p:spPr/>
        <p:txBody>
          <a:bodyPr/>
          <a:lstStyle/>
          <a:p>
            <a:r>
              <a:rPr lang="en-US" altLang="en-US"/>
              <a:t>AWS Architecture</a:t>
            </a:r>
            <a:endParaRPr lang="en-IN" altLang="en-US"/>
          </a:p>
        </p:txBody>
      </p:sp>
      <p:pic>
        <p:nvPicPr>
          <p:cNvPr id="41986" name="Content Placeholder 3">
            <a:extLst>
              <a:ext uri="{FF2B5EF4-FFF2-40B4-BE49-F238E27FC236}">
                <a16:creationId xmlns:a16="http://schemas.microsoft.com/office/drawing/2014/main" id="{6AAB1BEB-3E09-321B-4A45-120222225A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63575" y="990600"/>
            <a:ext cx="7816850" cy="5135563"/>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679164-EC55-6F7B-CDC7-55FD6877CDB4}"/>
              </a:ext>
            </a:extLst>
          </p:cNvPr>
          <p:cNvSpPr>
            <a:spLocks noGrp="1"/>
          </p:cNvSpPr>
          <p:nvPr>
            <p:ph type="title"/>
          </p:nvPr>
        </p:nvSpPr>
        <p:spPr/>
        <p:txBody>
          <a:bodyPr/>
          <a:lstStyle/>
          <a:p>
            <a:pPr>
              <a:defRPr/>
            </a:pPr>
            <a:r>
              <a:rPr lang="en-US" sz="3600" dirty="0">
                <a:solidFill>
                  <a:srgbClr val="000000"/>
                </a:solidFill>
              </a:rPr>
              <a:t>Elastic Compute Cloud-</a:t>
            </a:r>
            <a:r>
              <a:rPr lang="en-US" dirty="0">
                <a:solidFill>
                  <a:srgbClr val="000000"/>
                </a:solidFill>
              </a:rPr>
              <a:t>EC2</a:t>
            </a:r>
            <a:endParaRPr lang="en-IN" dirty="0"/>
          </a:p>
        </p:txBody>
      </p:sp>
      <p:sp>
        <p:nvSpPr>
          <p:cNvPr id="43010" name="Text Placeholder 4">
            <a:extLst>
              <a:ext uri="{FF2B5EF4-FFF2-40B4-BE49-F238E27FC236}">
                <a16:creationId xmlns:a16="http://schemas.microsoft.com/office/drawing/2014/main" id="{30F09DF4-D28F-3F42-87A0-C687B712A7CB}"/>
              </a:ext>
            </a:extLst>
          </p:cNvPr>
          <p:cNvSpPr>
            <a:spLocks noGrp="1" noChangeArrowheads="1"/>
          </p:cNvSpPr>
          <p:nvPr>
            <p:ph type="body" idx="1"/>
          </p:nvPr>
        </p:nvSpPr>
        <p:spPr/>
        <p:txBody>
          <a:bodyPr/>
          <a:lstStyle/>
          <a:p>
            <a:endParaRPr lang="en-I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6320FCB0-15D8-7C59-FC30-648482F574B3}"/>
              </a:ext>
            </a:extLst>
          </p:cNvPr>
          <p:cNvSpPr>
            <a:spLocks noGrp="1" noChangeArrowheads="1"/>
          </p:cNvSpPr>
          <p:nvPr>
            <p:ph type="title"/>
          </p:nvPr>
        </p:nvSpPr>
        <p:spPr/>
        <p:txBody>
          <a:bodyPr/>
          <a:lstStyle/>
          <a:p>
            <a:r>
              <a:rPr lang="en-US" altLang="en-US" b="1">
                <a:solidFill>
                  <a:srgbClr val="000000"/>
                </a:solidFill>
              </a:rPr>
              <a:t>Elastic Compute Cloud</a:t>
            </a:r>
            <a:endParaRPr lang="en-IN" altLang="en-US"/>
          </a:p>
        </p:txBody>
      </p:sp>
      <p:sp>
        <p:nvSpPr>
          <p:cNvPr id="3" name="Content Placeholder 2">
            <a:extLst>
              <a:ext uri="{FF2B5EF4-FFF2-40B4-BE49-F238E27FC236}">
                <a16:creationId xmlns:a16="http://schemas.microsoft.com/office/drawing/2014/main" id="{6D8A6B68-3DB5-60A8-5A72-BF739F0038F9}"/>
              </a:ext>
            </a:extLst>
          </p:cNvPr>
          <p:cNvSpPr>
            <a:spLocks noGrp="1"/>
          </p:cNvSpPr>
          <p:nvPr>
            <p:ph idx="1"/>
          </p:nvPr>
        </p:nvSpPr>
        <p:spPr/>
        <p:txBody>
          <a:bodyPr/>
          <a:lstStyle/>
          <a:p>
            <a:pPr>
              <a:defRPr/>
            </a:pPr>
            <a:r>
              <a:rPr lang="en-US" sz="2000" dirty="0">
                <a:solidFill>
                  <a:srgbClr val="292929"/>
                </a:solidFill>
              </a:rPr>
              <a:t>EC2 is short for Elastic Compute Cloud. </a:t>
            </a:r>
          </a:p>
          <a:p>
            <a:pPr>
              <a:defRPr/>
            </a:pPr>
            <a:endParaRPr lang="en-US" sz="2000" dirty="0">
              <a:solidFill>
                <a:srgbClr val="292929"/>
              </a:solidFill>
            </a:endParaRPr>
          </a:p>
          <a:p>
            <a:pPr>
              <a:defRPr/>
            </a:pPr>
            <a:r>
              <a:rPr lang="en-US" sz="2000" dirty="0">
                <a:solidFill>
                  <a:srgbClr val="292929"/>
                </a:solidFill>
              </a:rPr>
              <a:t>It is a service which provides with a virtual server called an instance. </a:t>
            </a:r>
          </a:p>
          <a:p>
            <a:pPr>
              <a:defRPr/>
            </a:pPr>
            <a:endParaRPr lang="en-US" sz="2000" dirty="0">
              <a:solidFill>
                <a:srgbClr val="292929"/>
              </a:solidFill>
            </a:endParaRPr>
          </a:p>
          <a:p>
            <a:pPr>
              <a:defRPr/>
            </a:pPr>
            <a:r>
              <a:rPr lang="en-US" sz="2000" dirty="0">
                <a:solidFill>
                  <a:srgbClr val="292929"/>
                </a:solidFill>
              </a:rPr>
              <a:t>With EC2, can set up and configure the OS and install applications on this instance.</a:t>
            </a:r>
          </a:p>
          <a:p>
            <a:pPr marL="0" indent="0">
              <a:buFontTx/>
              <a:buNone/>
              <a:defRPr/>
            </a:pPr>
            <a:endParaRPr lang="en-US" sz="2000" dirty="0"/>
          </a:p>
          <a:p>
            <a:pPr>
              <a:defRPr/>
            </a:pPr>
            <a:r>
              <a:rPr lang="en-US" sz="2000" dirty="0">
                <a:solidFill>
                  <a:srgbClr val="000000"/>
                </a:solidFill>
              </a:rPr>
              <a:t>EC2 instances can be resized, and the number of instances scaled up or down as per our requirement. </a:t>
            </a:r>
          </a:p>
          <a:p>
            <a:pPr marL="0" indent="0">
              <a:buFontTx/>
              <a:buNone/>
              <a:defRPr/>
            </a:pPr>
            <a:br>
              <a:rPr lang="en-US" sz="2000" dirty="0"/>
            </a:br>
            <a:endParaRPr lang="en-IN"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AADDA7AF-58BC-714D-DC51-59F4741188C7}"/>
              </a:ext>
            </a:extLst>
          </p:cNvPr>
          <p:cNvSpPr>
            <a:spLocks noGrp="1" noChangeArrowheads="1"/>
          </p:cNvSpPr>
          <p:nvPr>
            <p:ph type="title"/>
          </p:nvPr>
        </p:nvSpPr>
        <p:spPr/>
        <p:txBody>
          <a:bodyPr/>
          <a:lstStyle/>
          <a:p>
            <a:r>
              <a:rPr lang="en-US" altLang="en-US"/>
              <a:t>EC2 Instance</a:t>
            </a:r>
            <a:endParaRPr lang="en-IN" altLang="en-US"/>
          </a:p>
        </p:txBody>
      </p:sp>
      <p:pic>
        <p:nvPicPr>
          <p:cNvPr id="45058" name="Picture 2">
            <a:extLst>
              <a:ext uri="{FF2B5EF4-FFF2-40B4-BE49-F238E27FC236}">
                <a16:creationId xmlns:a16="http://schemas.microsoft.com/office/drawing/2014/main" id="{3A91F581-0A80-3263-CD59-856AA936EC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16063" y="990600"/>
            <a:ext cx="6111875" cy="5135563"/>
          </a:xfr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72108D91-5060-E6A1-3BC7-917133F4E622}"/>
              </a:ext>
            </a:extLst>
          </p:cNvPr>
          <p:cNvSpPr>
            <a:spLocks noGrp="1" noChangeArrowheads="1"/>
          </p:cNvSpPr>
          <p:nvPr>
            <p:ph type="title"/>
          </p:nvPr>
        </p:nvSpPr>
        <p:spPr/>
        <p:txBody>
          <a:bodyPr/>
          <a:lstStyle/>
          <a:p>
            <a:r>
              <a:rPr lang="en-US" altLang="en-US"/>
              <a:t>EC2 Instance</a:t>
            </a:r>
            <a:endParaRPr lang="en-IN" altLang="en-US"/>
          </a:p>
        </p:txBody>
      </p:sp>
      <p:sp>
        <p:nvSpPr>
          <p:cNvPr id="46082" name="Content Placeholder 2">
            <a:extLst>
              <a:ext uri="{FF2B5EF4-FFF2-40B4-BE49-F238E27FC236}">
                <a16:creationId xmlns:a16="http://schemas.microsoft.com/office/drawing/2014/main" id="{2CE6E9B4-E776-40D1-122C-AE14518AACB0}"/>
              </a:ext>
            </a:extLst>
          </p:cNvPr>
          <p:cNvSpPr>
            <a:spLocks noGrp="1" noChangeArrowheads="1"/>
          </p:cNvSpPr>
          <p:nvPr>
            <p:ph idx="1"/>
          </p:nvPr>
        </p:nvSpPr>
        <p:spPr/>
        <p:txBody>
          <a:bodyPr/>
          <a:lstStyle/>
          <a:p>
            <a:r>
              <a:rPr lang="en-US" altLang="en-US" sz="2000" b="1">
                <a:solidFill>
                  <a:srgbClr val="292929"/>
                </a:solidFill>
              </a:rPr>
              <a:t>Instance</a:t>
            </a:r>
            <a:r>
              <a:rPr lang="en-US" altLang="en-US" sz="2000">
                <a:solidFill>
                  <a:srgbClr val="292929"/>
                </a:solidFill>
              </a:rPr>
              <a:t> is an Amazon Elastic Block Storage backed instance, </a:t>
            </a:r>
          </a:p>
          <a:p>
            <a:pPr lvl="1"/>
            <a:r>
              <a:rPr lang="en-US" altLang="en-US" sz="2000">
                <a:solidFill>
                  <a:srgbClr val="292929"/>
                </a:solidFill>
              </a:rPr>
              <a:t>i.e., root is an EBS volume.</a:t>
            </a:r>
          </a:p>
          <a:p>
            <a:endParaRPr lang="en-US" altLang="en-US" sz="2000">
              <a:solidFill>
                <a:srgbClr val="292929"/>
              </a:solidFill>
            </a:endParaRPr>
          </a:p>
          <a:p>
            <a:r>
              <a:rPr lang="en-US" altLang="en-US" sz="2000">
                <a:solidFill>
                  <a:srgbClr val="292929"/>
                </a:solidFill>
              </a:rPr>
              <a:t>EBS provides persistent block storage volumes for use to the instance.</a:t>
            </a:r>
          </a:p>
          <a:p>
            <a:endParaRPr lang="en-US" altLang="en-US" sz="2000">
              <a:solidFill>
                <a:srgbClr val="292929"/>
              </a:solidFill>
            </a:endParaRPr>
          </a:p>
          <a:p>
            <a:pPr lvl="1">
              <a:lnSpc>
                <a:spcPct val="150000"/>
              </a:lnSpc>
              <a:buFont typeface="Arial" panose="020B0604020202020204" pitchFamily="34" charset="0"/>
              <a:buChar char="•"/>
            </a:pPr>
            <a:r>
              <a:rPr lang="en-US" altLang="en-US" sz="2000">
                <a:solidFill>
                  <a:srgbClr val="292929"/>
                </a:solidFill>
              </a:rPr>
              <a:t>Protects instance from component failure</a:t>
            </a:r>
          </a:p>
          <a:p>
            <a:pPr lvl="1">
              <a:lnSpc>
                <a:spcPct val="150000"/>
              </a:lnSpc>
              <a:buFont typeface="Arial" panose="020B0604020202020204" pitchFamily="34" charset="0"/>
              <a:buChar char="•"/>
            </a:pPr>
            <a:r>
              <a:rPr lang="en-US" altLang="en-US" sz="2000">
                <a:solidFill>
                  <a:srgbClr val="292929"/>
                </a:solidFill>
              </a:rPr>
              <a:t>High availability and durability</a:t>
            </a:r>
          </a:p>
          <a:p>
            <a:pPr lvl="1">
              <a:lnSpc>
                <a:spcPct val="150000"/>
              </a:lnSpc>
              <a:buFont typeface="Arial" panose="020B0604020202020204" pitchFamily="34" charset="0"/>
              <a:buChar char="•"/>
            </a:pPr>
            <a:r>
              <a:rPr lang="en-US" altLang="en-US" sz="2000">
                <a:solidFill>
                  <a:srgbClr val="292929"/>
                </a:solidFill>
              </a:rPr>
              <a:t>Consistent and low-latency performance</a:t>
            </a:r>
          </a:p>
          <a:p>
            <a:pPr lvl="1">
              <a:lnSpc>
                <a:spcPct val="150000"/>
              </a:lnSpc>
              <a:buFont typeface="Arial" panose="020B0604020202020204" pitchFamily="34" charset="0"/>
              <a:buChar char="•"/>
            </a:pPr>
            <a:r>
              <a:rPr lang="en-US" altLang="en-US" sz="2000">
                <a:solidFill>
                  <a:srgbClr val="292929"/>
                </a:solidFill>
              </a:rPr>
              <a:t>Scale usage up or down within minutes</a:t>
            </a:r>
          </a:p>
          <a:p>
            <a:endParaRPr lang="en-US" altLang="en-US" sz="2000">
              <a:solidFill>
                <a:srgbClr val="29292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549BFB87-1F08-354B-7D14-26C1BF7C20B7}"/>
              </a:ext>
            </a:extLst>
          </p:cNvPr>
          <p:cNvSpPr>
            <a:spLocks noGrp="1" noChangeArrowheads="1"/>
          </p:cNvSpPr>
          <p:nvPr>
            <p:ph type="title"/>
          </p:nvPr>
        </p:nvSpPr>
        <p:spPr/>
        <p:txBody>
          <a:bodyPr/>
          <a:lstStyle/>
          <a:p>
            <a:r>
              <a:rPr lang="en-US" altLang="en-US"/>
              <a:t>EC2 Instance </a:t>
            </a:r>
            <a:endParaRPr lang="en-IN" altLang="en-US"/>
          </a:p>
        </p:txBody>
      </p:sp>
      <p:sp>
        <p:nvSpPr>
          <p:cNvPr id="3" name="Content Placeholder 2">
            <a:extLst>
              <a:ext uri="{FF2B5EF4-FFF2-40B4-BE49-F238E27FC236}">
                <a16:creationId xmlns:a16="http://schemas.microsoft.com/office/drawing/2014/main" id="{63DAF219-35BE-6739-B6FC-681F0EC4A591}"/>
              </a:ext>
            </a:extLst>
          </p:cNvPr>
          <p:cNvSpPr>
            <a:spLocks noGrp="1"/>
          </p:cNvSpPr>
          <p:nvPr>
            <p:ph idx="1"/>
          </p:nvPr>
        </p:nvSpPr>
        <p:spPr/>
        <p:txBody>
          <a:bodyPr/>
          <a:lstStyle/>
          <a:p>
            <a:pPr>
              <a:lnSpc>
                <a:spcPct val="150000"/>
              </a:lnSpc>
              <a:defRPr/>
            </a:pPr>
            <a:r>
              <a:rPr lang="en-US" sz="2000" dirty="0">
                <a:solidFill>
                  <a:srgbClr val="292929"/>
                </a:solidFill>
              </a:rPr>
              <a:t>Can be created by using the Admin Console</a:t>
            </a:r>
          </a:p>
          <a:p>
            <a:pPr>
              <a:lnSpc>
                <a:spcPct val="150000"/>
              </a:lnSpc>
              <a:defRPr/>
            </a:pPr>
            <a:r>
              <a:rPr lang="en-US" sz="2000" dirty="0">
                <a:solidFill>
                  <a:srgbClr val="292929"/>
                </a:solidFill>
              </a:rPr>
              <a:t>Instance Creation involved three main steps</a:t>
            </a:r>
          </a:p>
          <a:p>
            <a:pPr lvl="1">
              <a:lnSpc>
                <a:spcPct val="150000"/>
              </a:lnSpc>
              <a:buFont typeface="+mj-lt"/>
              <a:buAutoNum type="arabicPeriod"/>
              <a:defRPr/>
            </a:pPr>
            <a:r>
              <a:rPr lang="en-US" sz="2000" dirty="0">
                <a:solidFill>
                  <a:srgbClr val="292929"/>
                </a:solidFill>
              </a:rPr>
              <a:t>Launch an Instance</a:t>
            </a:r>
          </a:p>
          <a:p>
            <a:pPr lvl="1">
              <a:lnSpc>
                <a:spcPct val="150000"/>
              </a:lnSpc>
              <a:buFont typeface="+mj-lt"/>
              <a:buAutoNum type="arabicPeriod"/>
              <a:defRPr/>
            </a:pPr>
            <a:r>
              <a:rPr lang="en-US" sz="2000" dirty="0">
                <a:solidFill>
                  <a:srgbClr val="292929"/>
                </a:solidFill>
              </a:rPr>
              <a:t>Connect to your Instance</a:t>
            </a:r>
          </a:p>
          <a:p>
            <a:pPr lvl="1">
              <a:lnSpc>
                <a:spcPct val="150000"/>
              </a:lnSpc>
              <a:buFont typeface="+mj-lt"/>
              <a:buAutoNum type="arabicPeriod"/>
              <a:defRPr/>
            </a:pPr>
            <a:r>
              <a:rPr lang="en-US" sz="2000" dirty="0">
                <a:solidFill>
                  <a:srgbClr val="292929"/>
                </a:solidFill>
              </a:rPr>
              <a:t>Terminate your Instance</a:t>
            </a:r>
          </a:p>
          <a:p>
            <a:pPr lvl="1">
              <a:lnSpc>
                <a:spcPct val="150000"/>
              </a:lnSpc>
              <a:buFont typeface="+mj-lt"/>
              <a:buAutoNum type="arabicPeriod"/>
              <a:defRPr/>
            </a:pPr>
            <a:endParaRPr lang="en-US" sz="2000" dirty="0">
              <a:solidFill>
                <a:srgbClr val="292929"/>
              </a:solidFill>
            </a:endParaRPr>
          </a:p>
          <a:p>
            <a:pPr>
              <a:defRPr/>
            </a:pPr>
            <a:r>
              <a:rPr lang="en-US" sz="2000" dirty="0">
                <a:solidFill>
                  <a:srgbClr val="292929"/>
                </a:solidFill>
              </a:rPr>
              <a:t>Connecting to the instance</a:t>
            </a:r>
          </a:p>
          <a:p>
            <a:pPr marL="914400" lvl="1" indent="-457200">
              <a:lnSpc>
                <a:spcPct val="150000"/>
              </a:lnSpc>
              <a:buFont typeface="+mj-lt"/>
              <a:buAutoNum type="arabicPeriod"/>
              <a:defRPr/>
            </a:pPr>
            <a:r>
              <a:rPr lang="en-US" sz="2000" dirty="0">
                <a:solidFill>
                  <a:srgbClr val="292929"/>
                </a:solidFill>
              </a:rPr>
              <a:t>Through the browser </a:t>
            </a:r>
          </a:p>
          <a:p>
            <a:pPr marL="914400" lvl="1" indent="-457200">
              <a:lnSpc>
                <a:spcPct val="150000"/>
              </a:lnSpc>
              <a:buFont typeface="+mj-lt"/>
              <a:buAutoNum type="arabicPeriod"/>
              <a:defRPr/>
            </a:pPr>
            <a:r>
              <a:rPr lang="en-US" sz="2000" dirty="0">
                <a:solidFill>
                  <a:srgbClr val="292929"/>
                </a:solidFill>
              </a:rPr>
              <a:t>Through a standalone SSH client</a:t>
            </a:r>
          </a:p>
          <a:p>
            <a:pPr>
              <a:lnSpc>
                <a:spcPct val="150000"/>
              </a:lnSpc>
              <a:defRPr/>
            </a:pPr>
            <a:endParaRPr lang="en-US" sz="2000" dirty="0">
              <a:solidFill>
                <a:srgbClr val="29292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29532C25-416C-FF97-E450-86FCF6B9120D}"/>
              </a:ext>
            </a:extLst>
          </p:cNvPr>
          <p:cNvSpPr>
            <a:spLocks noGrp="1" noChangeArrowheads="1"/>
          </p:cNvSpPr>
          <p:nvPr>
            <p:ph type="title"/>
          </p:nvPr>
        </p:nvSpPr>
        <p:spPr/>
        <p:txBody>
          <a:bodyPr/>
          <a:lstStyle/>
          <a:p>
            <a:br>
              <a:rPr lang="en-IN" altLang="en-US">
                <a:solidFill>
                  <a:srgbClr val="797979"/>
                </a:solidFill>
              </a:rPr>
            </a:br>
            <a:br>
              <a:rPr lang="en-IN" altLang="en-US">
                <a:solidFill>
                  <a:srgbClr val="797979"/>
                </a:solidFill>
              </a:rPr>
            </a:br>
            <a:r>
              <a:rPr lang="en-IN" altLang="en-US" sz="2000">
                <a:solidFill>
                  <a:schemeClr val="tx1"/>
                </a:solidFill>
              </a:rPr>
              <a:t>AWS - Management Console</a:t>
            </a:r>
            <a:br>
              <a:rPr lang="en-IN" altLang="en-US" sz="2000">
                <a:solidFill>
                  <a:schemeClr val="tx1"/>
                </a:solidFill>
              </a:rPr>
            </a:br>
            <a:br>
              <a:rPr lang="en-IN" altLang="en-US"/>
            </a:br>
            <a:endParaRPr lang="en-IN" altLang="en-US"/>
          </a:p>
        </p:txBody>
      </p:sp>
      <p:sp>
        <p:nvSpPr>
          <p:cNvPr id="48130" name="Content Placeholder 2">
            <a:extLst>
              <a:ext uri="{FF2B5EF4-FFF2-40B4-BE49-F238E27FC236}">
                <a16:creationId xmlns:a16="http://schemas.microsoft.com/office/drawing/2014/main" id="{63A173B1-3F3E-1ED7-8F20-09B89738D275}"/>
              </a:ext>
            </a:extLst>
          </p:cNvPr>
          <p:cNvSpPr>
            <a:spLocks noGrp="1" noChangeArrowheads="1"/>
          </p:cNvSpPr>
          <p:nvPr>
            <p:ph idx="1"/>
          </p:nvPr>
        </p:nvSpPr>
        <p:spPr/>
        <p:txBody>
          <a:bodyPr/>
          <a:lstStyle/>
          <a:p>
            <a:pPr algn="just">
              <a:lnSpc>
                <a:spcPct val="150000"/>
              </a:lnSpc>
            </a:pPr>
            <a:r>
              <a:rPr lang="en-US" altLang="en-US" sz="2000">
                <a:solidFill>
                  <a:srgbClr val="000000"/>
                </a:solidFill>
              </a:rPr>
              <a:t>A web application for managing Amazon Web Services. </a:t>
            </a:r>
          </a:p>
          <a:p>
            <a:pPr algn="just">
              <a:lnSpc>
                <a:spcPct val="150000"/>
              </a:lnSpc>
            </a:pPr>
            <a:r>
              <a:rPr lang="en-US" altLang="en-US" sz="2000">
                <a:solidFill>
                  <a:srgbClr val="000000"/>
                </a:solidFill>
              </a:rPr>
              <a:t>AWS Management Console consists of list of various services to choose from. </a:t>
            </a:r>
          </a:p>
          <a:p>
            <a:pPr algn="just">
              <a:lnSpc>
                <a:spcPct val="150000"/>
              </a:lnSpc>
            </a:pPr>
            <a:r>
              <a:rPr lang="en-US" altLang="en-US" sz="2000">
                <a:solidFill>
                  <a:srgbClr val="000000"/>
                </a:solidFill>
              </a:rPr>
              <a:t>It also provides all information related to our account like billing.</a:t>
            </a:r>
          </a:p>
          <a:p>
            <a:pPr algn="just">
              <a:lnSpc>
                <a:spcPct val="150000"/>
              </a:lnSpc>
            </a:pPr>
            <a:r>
              <a:rPr lang="en-US" altLang="en-US" sz="2000">
                <a:solidFill>
                  <a:srgbClr val="000000"/>
                </a:solidFill>
              </a:rPr>
              <a:t>This console provides an inbuilt user interface to perform AWS tasks like working with Amazon S3 buckets, launching and connecting to Amazon EC2 instances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3F2C12-A3DB-2282-F52E-9E92D0A953AB}"/>
              </a:ext>
            </a:extLst>
          </p:cNvPr>
          <p:cNvSpPr>
            <a:spLocks noGrp="1"/>
          </p:cNvSpPr>
          <p:nvPr>
            <p:ph type="title"/>
          </p:nvPr>
        </p:nvSpPr>
        <p:spPr/>
        <p:txBody>
          <a:bodyPr/>
          <a:lstStyle/>
          <a:p>
            <a:pPr>
              <a:defRPr/>
            </a:pPr>
            <a:r>
              <a:rPr lang="en-US" sz="3600" dirty="0"/>
              <a:t>Simple storage service</a:t>
            </a:r>
            <a:r>
              <a:rPr lang="en-US" dirty="0"/>
              <a:t>-s3</a:t>
            </a:r>
            <a:endParaRPr lang="en-IN" dirty="0"/>
          </a:p>
        </p:txBody>
      </p:sp>
      <p:sp>
        <p:nvSpPr>
          <p:cNvPr id="49154" name="Text Placeholder 4">
            <a:extLst>
              <a:ext uri="{FF2B5EF4-FFF2-40B4-BE49-F238E27FC236}">
                <a16:creationId xmlns:a16="http://schemas.microsoft.com/office/drawing/2014/main" id="{463F134A-D210-F477-9470-8BF16969DCFE}"/>
              </a:ext>
            </a:extLst>
          </p:cNvPr>
          <p:cNvSpPr>
            <a:spLocks noGrp="1" noChangeArrowheads="1"/>
          </p:cNvSpPr>
          <p:nvPr>
            <p:ph type="body" idx="1"/>
          </p:nvPr>
        </p:nvSpPr>
        <p:spPr/>
        <p:txBody>
          <a:bodyPr/>
          <a:lstStyle/>
          <a:p>
            <a:endParaRPr lang="en-I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A6BD7569-A9EC-7F29-B588-B62A4F61355A}"/>
              </a:ext>
            </a:extLst>
          </p:cNvPr>
          <p:cNvSpPr>
            <a:spLocks noGrp="1" noChangeArrowheads="1"/>
          </p:cNvSpPr>
          <p:nvPr>
            <p:ph type="title"/>
          </p:nvPr>
        </p:nvSpPr>
        <p:spPr/>
        <p:txBody>
          <a:bodyPr/>
          <a:lstStyle/>
          <a:p>
            <a:r>
              <a:rPr lang="en-US" altLang="en-US"/>
              <a:t>Simple Storage Service (S3)</a:t>
            </a:r>
            <a:endParaRPr lang="en-IN" altLang="en-US"/>
          </a:p>
        </p:txBody>
      </p:sp>
      <p:sp>
        <p:nvSpPr>
          <p:cNvPr id="50178" name="Content Placeholder 2">
            <a:extLst>
              <a:ext uri="{FF2B5EF4-FFF2-40B4-BE49-F238E27FC236}">
                <a16:creationId xmlns:a16="http://schemas.microsoft.com/office/drawing/2014/main" id="{67FFD693-78A9-E1CC-637D-4084FB49C315}"/>
              </a:ext>
            </a:extLst>
          </p:cNvPr>
          <p:cNvSpPr>
            <a:spLocks noGrp="1" noChangeArrowheads="1"/>
          </p:cNvSpPr>
          <p:nvPr>
            <p:ph idx="1"/>
          </p:nvPr>
        </p:nvSpPr>
        <p:spPr/>
        <p:txBody>
          <a:bodyPr/>
          <a:lstStyle/>
          <a:p>
            <a:r>
              <a:rPr lang="en-US" altLang="en-US" sz="2000">
                <a:solidFill>
                  <a:srgbClr val="4A4A4A"/>
                </a:solidFill>
              </a:rPr>
              <a:t>Storage service for large-capacity, low-cost across multiple geographical regions.</a:t>
            </a:r>
          </a:p>
          <a:p>
            <a:endParaRPr lang="en-US" altLang="en-US" sz="2000">
              <a:solidFill>
                <a:srgbClr val="4A4A4A"/>
              </a:solidFill>
            </a:endParaRPr>
          </a:p>
          <a:p>
            <a:r>
              <a:rPr lang="en-US" altLang="en-US" sz="2000" b="1">
                <a:solidFill>
                  <a:srgbClr val="4A4A4A"/>
                </a:solidFill>
              </a:rPr>
              <a:t>Provides Secure</a:t>
            </a:r>
            <a:r>
              <a:rPr lang="en-US" altLang="en-US" sz="2000">
                <a:solidFill>
                  <a:srgbClr val="4A4A4A"/>
                </a:solidFill>
              </a:rPr>
              <a:t>, </a:t>
            </a:r>
            <a:r>
              <a:rPr lang="en-US" altLang="en-US" sz="2000" b="1">
                <a:solidFill>
                  <a:srgbClr val="4A4A4A"/>
                </a:solidFill>
              </a:rPr>
              <a:t>Durable</a:t>
            </a:r>
            <a:r>
              <a:rPr lang="en-US" altLang="en-US" sz="2000">
                <a:solidFill>
                  <a:srgbClr val="4A4A4A"/>
                </a:solidFill>
              </a:rPr>
              <a:t> and </a:t>
            </a:r>
            <a:r>
              <a:rPr lang="en-US" altLang="en-US" sz="2000" b="1">
                <a:solidFill>
                  <a:srgbClr val="4A4A4A"/>
                </a:solidFill>
              </a:rPr>
              <a:t>Highly Scalable </a:t>
            </a:r>
            <a:r>
              <a:rPr lang="en-US" altLang="en-US" sz="2000">
                <a:solidFill>
                  <a:srgbClr val="4A4A4A"/>
                </a:solidFill>
              </a:rPr>
              <a:t>object storage.</a:t>
            </a:r>
          </a:p>
          <a:p>
            <a:endParaRPr lang="en-US" altLang="en-US" sz="2000">
              <a:solidFill>
                <a:srgbClr val="4A4A4A"/>
              </a:solidFill>
            </a:endParaRPr>
          </a:p>
          <a:p>
            <a:r>
              <a:rPr lang="en-US" altLang="en-US" sz="2000" i="1">
                <a:solidFill>
                  <a:srgbClr val="4A4A4A"/>
                </a:solidFill>
              </a:rPr>
              <a:t>Object</a:t>
            </a:r>
            <a:r>
              <a:rPr lang="en-US" altLang="en-US" sz="2000">
                <a:solidFill>
                  <a:srgbClr val="4A4A4A"/>
                </a:solidFill>
              </a:rPr>
              <a:t> </a:t>
            </a:r>
          </a:p>
          <a:p>
            <a:pPr lvl="1"/>
            <a:r>
              <a:rPr lang="en-US" altLang="en-US" sz="2000">
                <a:solidFill>
                  <a:srgbClr val="4A4A4A"/>
                </a:solidFill>
              </a:rPr>
              <a:t>Fundamental entity in S3</a:t>
            </a:r>
          </a:p>
          <a:p>
            <a:pPr lvl="1"/>
            <a:r>
              <a:rPr lang="en-US" altLang="en-US" sz="2000">
                <a:solidFill>
                  <a:srgbClr val="4A4A4A"/>
                </a:solidFill>
              </a:rPr>
              <a:t>Consists of data, key and metadata.</a:t>
            </a:r>
          </a:p>
          <a:p>
            <a:pPr lvl="1"/>
            <a:r>
              <a:rPr lang="en-US" altLang="en-US" sz="2000">
                <a:solidFill>
                  <a:srgbClr val="4A4A4A"/>
                </a:solidFill>
              </a:rPr>
              <a:t>Can store any kind of data, in any format</a:t>
            </a:r>
          </a:p>
          <a:p>
            <a:endParaRPr lang="en-US" altLang="en-US" sz="2000">
              <a:solidFill>
                <a:srgbClr val="4A4A4A"/>
              </a:solidFill>
            </a:endParaRPr>
          </a:p>
          <a:p>
            <a:r>
              <a:rPr lang="en-US" altLang="en-US" sz="2000">
                <a:solidFill>
                  <a:srgbClr val="4A4A4A"/>
                </a:solidFill>
              </a:rPr>
              <a:t>Uses the bucket to store and retrieve data  at any time from anywhere on any device.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6">
            <a:extLst>
              <a:ext uri="{FF2B5EF4-FFF2-40B4-BE49-F238E27FC236}">
                <a16:creationId xmlns:a16="http://schemas.microsoft.com/office/drawing/2014/main" id="{8F42EA12-A250-DBE7-9835-1BD53A2051D6}"/>
              </a:ext>
            </a:extLst>
          </p:cNvPr>
          <p:cNvSpPr>
            <a:spLocks noGrp="1" noChangeArrowheads="1"/>
          </p:cNvSpPr>
          <p:nvPr>
            <p:ph type="title"/>
          </p:nvPr>
        </p:nvSpPr>
        <p:spPr/>
        <p:txBody>
          <a:bodyPr/>
          <a:lstStyle/>
          <a:p>
            <a:r>
              <a:rPr lang="en-US" altLang="en-US"/>
              <a:t>Buckets</a:t>
            </a:r>
            <a:endParaRPr lang="en-IN" altLang="en-US"/>
          </a:p>
        </p:txBody>
      </p:sp>
      <p:sp>
        <p:nvSpPr>
          <p:cNvPr id="51202" name="Content Placeholder 7">
            <a:extLst>
              <a:ext uri="{FF2B5EF4-FFF2-40B4-BE49-F238E27FC236}">
                <a16:creationId xmlns:a16="http://schemas.microsoft.com/office/drawing/2014/main" id="{0CA23A4A-F243-B742-E451-4E0F075BD0EF}"/>
              </a:ext>
            </a:extLst>
          </p:cNvPr>
          <p:cNvSpPr>
            <a:spLocks noGrp="1" noChangeArrowheads="1"/>
          </p:cNvSpPr>
          <p:nvPr>
            <p:ph idx="1"/>
          </p:nvPr>
        </p:nvSpPr>
        <p:spPr/>
        <p:txBody>
          <a:bodyPr/>
          <a:lstStyle/>
          <a:p>
            <a:pPr>
              <a:lnSpc>
                <a:spcPct val="150000"/>
              </a:lnSpc>
            </a:pPr>
            <a:r>
              <a:rPr lang="en-US" altLang="en-US" sz="2000">
                <a:solidFill>
                  <a:srgbClr val="4A4A4A"/>
                </a:solidFill>
              </a:rPr>
              <a:t>Data in S3 is organized in the form of buckets.</a:t>
            </a:r>
          </a:p>
          <a:p>
            <a:pPr>
              <a:lnSpc>
                <a:spcPct val="150000"/>
              </a:lnSpc>
            </a:pPr>
            <a:r>
              <a:rPr lang="en-US" altLang="en-US" sz="2000">
                <a:solidFill>
                  <a:srgbClr val="4A4A4A"/>
                </a:solidFill>
              </a:rPr>
              <a:t>Bucket is a logical unit of storage in S3.</a:t>
            </a:r>
          </a:p>
          <a:p>
            <a:pPr>
              <a:lnSpc>
                <a:spcPct val="150000"/>
              </a:lnSpc>
            </a:pPr>
            <a:r>
              <a:rPr lang="en-US" altLang="en-US" sz="2000">
                <a:solidFill>
                  <a:srgbClr val="4A4A4A"/>
                </a:solidFill>
              </a:rPr>
              <a:t>A Bucket contains objects which contain the data and metadata.</a:t>
            </a:r>
          </a:p>
          <a:p>
            <a:pPr>
              <a:lnSpc>
                <a:spcPct val="150000"/>
              </a:lnSpc>
            </a:pPr>
            <a:r>
              <a:rPr lang="en-US" altLang="en-US" sz="2000">
                <a:solidFill>
                  <a:srgbClr val="4A4A4A"/>
                </a:solidFill>
              </a:rPr>
              <a:t>Before adding any data in S3 the user must create a bucket which will be used to store objects.</a:t>
            </a:r>
            <a:br>
              <a:rPr lang="en-US" altLang="en-US" sz="2000">
                <a:solidFill>
                  <a:srgbClr val="4A4A4A"/>
                </a:solidFill>
              </a:rPr>
            </a:br>
            <a:endParaRPr lang="en-US" altLang="en-US" sz="2000">
              <a:solidFill>
                <a:srgbClr val="4A4A4A"/>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DA7A758A-FCA2-3896-D0AE-B9127A252F02}"/>
              </a:ext>
            </a:extLst>
          </p:cNvPr>
          <p:cNvSpPr>
            <a:spLocks noGrp="1" noChangeArrowheads="1"/>
          </p:cNvSpPr>
          <p:nvPr>
            <p:ph type="title"/>
          </p:nvPr>
        </p:nvSpPr>
        <p:spPr/>
        <p:txBody>
          <a:bodyPr/>
          <a:lstStyle/>
          <a:p>
            <a:r>
              <a:rPr lang="en-US" altLang="en-US" b="1">
                <a:solidFill>
                  <a:srgbClr val="000000"/>
                </a:solidFill>
              </a:rPr>
              <a:t>Amazon RDS</a:t>
            </a:r>
            <a:endParaRPr lang="en-IN" altLang="en-US"/>
          </a:p>
        </p:txBody>
      </p:sp>
      <p:sp>
        <p:nvSpPr>
          <p:cNvPr id="27651" name="Content Placeholder 2">
            <a:extLst>
              <a:ext uri="{FF2B5EF4-FFF2-40B4-BE49-F238E27FC236}">
                <a16:creationId xmlns:a16="http://schemas.microsoft.com/office/drawing/2014/main" id="{FCCDA175-B9A3-4532-DFB5-AF15524D82C2}"/>
              </a:ext>
            </a:extLst>
          </p:cNvPr>
          <p:cNvSpPr>
            <a:spLocks noGrp="1" noChangeArrowheads="1"/>
          </p:cNvSpPr>
          <p:nvPr>
            <p:ph idx="1"/>
          </p:nvPr>
        </p:nvSpPr>
        <p:spPr>
          <a:xfrm>
            <a:off x="457200" y="914400"/>
            <a:ext cx="8229600" cy="5211763"/>
          </a:xfrm>
        </p:spPr>
        <p:txBody>
          <a:bodyPr/>
          <a:lstStyle/>
          <a:p>
            <a:pPr algn="just">
              <a:lnSpc>
                <a:spcPct val="150000"/>
              </a:lnSpc>
              <a:defRPr/>
            </a:pPr>
            <a:r>
              <a:rPr lang="en-US" altLang="en-US" sz="2000" b="1" dirty="0">
                <a:solidFill>
                  <a:srgbClr val="000000"/>
                </a:solidFill>
              </a:rPr>
              <a:t>Amazon Relational Database Service</a:t>
            </a:r>
          </a:p>
          <a:p>
            <a:pPr lvl="1" algn="just">
              <a:lnSpc>
                <a:spcPct val="150000"/>
              </a:lnSpc>
              <a:defRPr/>
            </a:pPr>
            <a:r>
              <a:rPr lang="en-US" altLang="en-US" sz="2000" dirty="0"/>
              <a:t>A</a:t>
            </a:r>
            <a:r>
              <a:rPr lang="en-US" altLang="en-US" sz="2000" b="1" dirty="0"/>
              <a:t> </a:t>
            </a:r>
            <a:r>
              <a:rPr lang="en-US" altLang="en-US" sz="2000" dirty="0"/>
              <a:t>fully-managed Relational Database cloud service, </a:t>
            </a:r>
          </a:p>
          <a:p>
            <a:pPr lvl="1" algn="just">
              <a:lnSpc>
                <a:spcPct val="150000"/>
              </a:lnSpc>
              <a:defRPr/>
            </a:pPr>
            <a:r>
              <a:rPr lang="en-US" altLang="en-US" sz="2000" dirty="0"/>
              <a:t>Facilitates the deployment and maintenance of relational databases in the cloud. </a:t>
            </a:r>
          </a:p>
          <a:p>
            <a:pPr>
              <a:lnSpc>
                <a:spcPct val="150000"/>
              </a:lnSpc>
              <a:defRPr/>
            </a:pPr>
            <a:r>
              <a:rPr lang="en-US" altLang="en-US" sz="2000" dirty="0"/>
              <a:t>Features of Amazon RDS</a:t>
            </a:r>
          </a:p>
          <a:p>
            <a:pPr lvl="1" algn="just">
              <a:lnSpc>
                <a:spcPct val="150000"/>
              </a:lnSpc>
              <a:defRPr/>
            </a:pPr>
            <a:r>
              <a:rPr lang="en-US" altLang="en-US" sz="2000" b="1" dirty="0">
                <a:solidFill>
                  <a:srgbClr val="000000"/>
                </a:solidFill>
              </a:rPr>
              <a:t>Scalable</a:t>
            </a:r>
            <a:r>
              <a:rPr lang="en-US" altLang="en-US" sz="2000" dirty="0">
                <a:solidFill>
                  <a:srgbClr val="000000"/>
                </a:solidFill>
              </a:rPr>
              <a:t> </a:t>
            </a:r>
          </a:p>
          <a:p>
            <a:pPr lvl="1" algn="just">
              <a:lnSpc>
                <a:spcPct val="150000"/>
              </a:lnSpc>
              <a:defRPr/>
            </a:pPr>
            <a:r>
              <a:rPr lang="en-US" altLang="en-US" sz="2000" b="1" dirty="0">
                <a:solidFill>
                  <a:srgbClr val="000000"/>
                </a:solidFill>
              </a:rPr>
              <a:t>Automatic backups</a:t>
            </a:r>
            <a:r>
              <a:rPr lang="en-US" altLang="en-US" sz="2000" dirty="0">
                <a:solidFill>
                  <a:srgbClr val="000000"/>
                </a:solidFill>
              </a:rPr>
              <a:t> </a:t>
            </a:r>
          </a:p>
          <a:p>
            <a:pPr lvl="1" algn="just">
              <a:lnSpc>
                <a:spcPct val="150000"/>
              </a:lnSpc>
              <a:defRPr/>
            </a:pPr>
            <a:r>
              <a:rPr lang="en-US" altLang="en-US" sz="2000" b="1" dirty="0">
                <a:solidFill>
                  <a:srgbClr val="000000"/>
                </a:solidFill>
              </a:rPr>
              <a:t>Software patching</a:t>
            </a:r>
            <a:r>
              <a:rPr lang="en-US" altLang="en-US" sz="2000" dirty="0">
                <a:solidFill>
                  <a:srgbClr val="000000"/>
                </a:solidFill>
              </a:rPr>
              <a:t> </a:t>
            </a:r>
          </a:p>
          <a:p>
            <a:pPr lvl="1" algn="just">
              <a:lnSpc>
                <a:spcPct val="150000"/>
              </a:lnSpc>
              <a:defRPr/>
            </a:pPr>
            <a:r>
              <a:rPr lang="en-US" altLang="en-US" sz="2000" b="1" dirty="0">
                <a:solidFill>
                  <a:srgbClr val="000000"/>
                </a:solidFill>
              </a:rPr>
              <a:t>Management Console, </a:t>
            </a:r>
          </a:p>
          <a:p>
            <a:pPr lvl="1" algn="just">
              <a:lnSpc>
                <a:spcPct val="150000"/>
              </a:lnSpc>
              <a:defRPr/>
            </a:pPr>
            <a:r>
              <a:rPr lang="en-US" altLang="en-US" sz="2000" b="1" dirty="0">
                <a:solidFill>
                  <a:srgbClr val="000000"/>
                </a:solidFill>
              </a:rPr>
              <a:t>Command Line Interface. </a:t>
            </a:r>
          </a:p>
          <a:p>
            <a:pPr>
              <a:defRPr/>
            </a:pPr>
            <a:endParaRPr lang="en-US" altLang="en-US" sz="2000" dirty="0"/>
          </a:p>
          <a:p>
            <a:pPr marL="0" indent="0">
              <a:buFontTx/>
              <a:buNone/>
              <a:defRPr/>
            </a:pPr>
            <a:br>
              <a:rPr lang="en-US" altLang="en-US" sz="2400" dirty="0"/>
            </a:br>
            <a:endParaRPr lang="en-IN" altLang="en-US" sz="2400" dirty="0"/>
          </a:p>
          <a:p>
            <a:pPr lvl="1" algn="just">
              <a:lnSpc>
                <a:spcPct val="150000"/>
              </a:lnSpc>
              <a:defRPr/>
            </a:pPr>
            <a:endParaRPr lang="en-US" altLang="en-US" sz="2000" dirty="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023E8B07-DF56-3ADE-D0C3-5134A8716C88}"/>
              </a:ext>
            </a:extLst>
          </p:cNvPr>
          <p:cNvSpPr>
            <a:spLocks noGrp="1" noChangeArrowheads="1"/>
          </p:cNvSpPr>
          <p:nvPr>
            <p:ph type="title"/>
          </p:nvPr>
        </p:nvSpPr>
        <p:spPr/>
        <p:txBody>
          <a:bodyPr/>
          <a:lstStyle/>
          <a:p>
            <a:r>
              <a:rPr lang="en-US" altLang="en-US"/>
              <a:t>Amazon RDS</a:t>
            </a:r>
            <a:endParaRPr lang="en-IN" altLang="en-US"/>
          </a:p>
        </p:txBody>
      </p:sp>
      <p:sp>
        <p:nvSpPr>
          <p:cNvPr id="28675" name="Content Placeholder 2">
            <a:extLst>
              <a:ext uri="{FF2B5EF4-FFF2-40B4-BE49-F238E27FC236}">
                <a16:creationId xmlns:a16="http://schemas.microsoft.com/office/drawing/2014/main" id="{A9F64EB5-77FE-73F1-5B16-541025D1A81D}"/>
              </a:ext>
            </a:extLst>
          </p:cNvPr>
          <p:cNvSpPr>
            <a:spLocks noGrp="1" noChangeArrowheads="1"/>
          </p:cNvSpPr>
          <p:nvPr>
            <p:ph idx="1"/>
          </p:nvPr>
        </p:nvSpPr>
        <p:spPr/>
        <p:txBody>
          <a:bodyPr/>
          <a:lstStyle/>
          <a:p>
            <a:pPr>
              <a:defRPr/>
            </a:pPr>
            <a:r>
              <a:rPr lang="en-US" altLang="en-US" sz="2000" dirty="0"/>
              <a:t>Supports an array of database engines to store and organize data. </a:t>
            </a:r>
          </a:p>
          <a:p>
            <a:pPr>
              <a:defRPr/>
            </a:pPr>
            <a:r>
              <a:rPr lang="en-US" altLang="en-US" sz="2000" dirty="0"/>
              <a:t>Amazon RDS is not itself a database; it is a service used to manage relational databases.</a:t>
            </a:r>
          </a:p>
          <a:p>
            <a:pPr>
              <a:defRPr/>
            </a:pPr>
            <a:r>
              <a:rPr lang="en-US" altLang="en-US" sz="2000" dirty="0">
                <a:solidFill>
                  <a:srgbClr val="6C6C6C"/>
                </a:solidFill>
              </a:rPr>
              <a:t>Supports six types of database engines </a:t>
            </a:r>
          </a:p>
          <a:p>
            <a:pPr>
              <a:buFontTx/>
              <a:buAutoNum type="arabicPeriod"/>
              <a:defRPr/>
            </a:pPr>
            <a:endParaRPr lang="en-US" altLang="en-US" sz="2000" b="1" dirty="0">
              <a:solidFill>
                <a:srgbClr val="666666"/>
              </a:solidFill>
            </a:endParaRPr>
          </a:p>
          <a:p>
            <a:pPr lvl="1">
              <a:lnSpc>
                <a:spcPct val="150000"/>
              </a:lnSpc>
              <a:defRPr/>
            </a:pPr>
            <a:r>
              <a:rPr lang="en-US" altLang="en-US" sz="1800" b="1" dirty="0"/>
              <a:t>Amazon Aurora </a:t>
            </a:r>
          </a:p>
          <a:p>
            <a:pPr lvl="1">
              <a:lnSpc>
                <a:spcPct val="150000"/>
              </a:lnSpc>
              <a:defRPr/>
            </a:pPr>
            <a:r>
              <a:rPr lang="en-US" altLang="en-US" sz="1800" b="1" dirty="0"/>
              <a:t>RDS for MariaDB</a:t>
            </a:r>
            <a:r>
              <a:rPr lang="en-US" altLang="en-US" sz="1800" dirty="0"/>
              <a:t> </a:t>
            </a:r>
          </a:p>
          <a:p>
            <a:pPr lvl="1">
              <a:lnSpc>
                <a:spcPct val="150000"/>
              </a:lnSpc>
              <a:defRPr/>
            </a:pPr>
            <a:r>
              <a:rPr lang="en-US" altLang="en-US" sz="1800" b="1" dirty="0"/>
              <a:t>RDS for MySQL </a:t>
            </a:r>
          </a:p>
          <a:p>
            <a:pPr lvl="1">
              <a:lnSpc>
                <a:spcPct val="150000"/>
              </a:lnSpc>
              <a:defRPr/>
            </a:pPr>
            <a:r>
              <a:rPr lang="en-US" altLang="en-US" sz="1800" b="1" dirty="0"/>
              <a:t>RDS for Oracle Database</a:t>
            </a:r>
            <a:r>
              <a:rPr lang="en-US" altLang="en-US" sz="1800" dirty="0"/>
              <a:t> </a:t>
            </a:r>
          </a:p>
          <a:p>
            <a:pPr lvl="1">
              <a:lnSpc>
                <a:spcPct val="150000"/>
              </a:lnSpc>
              <a:defRPr/>
            </a:pPr>
            <a:r>
              <a:rPr lang="en-US" altLang="en-US" sz="1800" b="1" dirty="0"/>
              <a:t>RDS for PostgreSQL</a:t>
            </a:r>
            <a:r>
              <a:rPr lang="en-US" altLang="en-US" sz="1800" dirty="0"/>
              <a:t> </a:t>
            </a:r>
          </a:p>
          <a:p>
            <a:pPr lvl="1">
              <a:lnSpc>
                <a:spcPct val="150000"/>
              </a:lnSpc>
              <a:defRPr/>
            </a:pPr>
            <a:r>
              <a:rPr lang="en-US" altLang="en-US" sz="1800" b="1" dirty="0"/>
              <a:t>RDS for SQL Server</a:t>
            </a:r>
          </a:p>
          <a:p>
            <a:pPr marL="0" indent="0">
              <a:buFontTx/>
              <a:buNone/>
              <a:defRPr/>
            </a:pPr>
            <a:br>
              <a:rPr lang="en-US" altLang="en-US" sz="2000" dirty="0"/>
            </a:br>
            <a:endParaRPr lang="en-IN" altLang="en-US" sz="2000" dirty="0"/>
          </a:p>
          <a:p>
            <a:pPr>
              <a:defRPr/>
            </a:pPr>
            <a:endParaRPr lang="en-US" altLang="en-US" sz="2000" dirty="0"/>
          </a:p>
          <a:p>
            <a:pPr marL="0" indent="0">
              <a:buFontTx/>
              <a:buNone/>
              <a:defRPr/>
            </a:pPr>
            <a:br>
              <a:rPr lang="en-US" altLang="en-US" sz="2000" dirty="0"/>
            </a:br>
            <a:endParaRPr lang="en-IN" alt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AB6721BA-FE69-591D-288A-D153D13D3023}"/>
              </a:ext>
            </a:extLst>
          </p:cNvPr>
          <p:cNvSpPr>
            <a:spLocks noGrp="1" noChangeArrowheads="1"/>
          </p:cNvSpPr>
          <p:nvPr>
            <p:ph type="title"/>
          </p:nvPr>
        </p:nvSpPr>
        <p:spPr/>
        <p:txBody>
          <a:bodyPr/>
          <a:lstStyle/>
          <a:p>
            <a:r>
              <a:rPr lang="en-US" altLang="en-US"/>
              <a:t>RDS Benefits</a:t>
            </a:r>
            <a:endParaRPr lang="en-IN" altLang="en-US"/>
          </a:p>
        </p:txBody>
      </p:sp>
      <p:sp>
        <p:nvSpPr>
          <p:cNvPr id="54274" name="Content Placeholder 2">
            <a:extLst>
              <a:ext uri="{FF2B5EF4-FFF2-40B4-BE49-F238E27FC236}">
                <a16:creationId xmlns:a16="http://schemas.microsoft.com/office/drawing/2014/main" id="{5D9BA78B-21CE-462C-2AB5-6C7188B01A3B}"/>
              </a:ext>
            </a:extLst>
          </p:cNvPr>
          <p:cNvSpPr>
            <a:spLocks noGrp="1" noChangeArrowheads="1"/>
          </p:cNvSpPr>
          <p:nvPr>
            <p:ph idx="1"/>
          </p:nvPr>
        </p:nvSpPr>
        <p:spPr/>
        <p:txBody>
          <a:bodyPr/>
          <a:lstStyle/>
          <a:p>
            <a:r>
              <a:rPr lang="en-US" altLang="en-US" sz="2000" b="1"/>
              <a:t>Ease of use. </a:t>
            </a:r>
          </a:p>
          <a:p>
            <a:pPr lvl="1"/>
            <a:r>
              <a:rPr lang="en-US" altLang="en-US" sz="2000"/>
              <a:t>Admins don't need to learn specific database management tools. </a:t>
            </a:r>
          </a:p>
          <a:p>
            <a:pPr lvl="1"/>
            <a:r>
              <a:rPr lang="en-US" altLang="en-US" sz="2000"/>
              <a:t>They also can manage multiple database instances using the management console.</a:t>
            </a:r>
          </a:p>
          <a:p>
            <a:pPr lvl="1"/>
            <a:r>
              <a:rPr lang="en-US" altLang="en-US" sz="2000"/>
              <a:t> RDS is compatible with database engines that users may already be familiar with, such as </a:t>
            </a:r>
            <a:r>
              <a:rPr lang="en-US" altLang="en-US" sz="2000" u="sng"/>
              <a:t>MySQL</a:t>
            </a:r>
            <a:r>
              <a:rPr lang="en-US" altLang="en-US" sz="2000"/>
              <a:t> and </a:t>
            </a:r>
            <a:r>
              <a:rPr lang="en-US" altLang="en-US" sz="2000" u="sng"/>
              <a:t>Oracle</a:t>
            </a:r>
            <a:r>
              <a:rPr lang="en-US" altLang="en-US" sz="2000"/>
              <a:t> </a:t>
            </a:r>
          </a:p>
          <a:p>
            <a:pPr lvl="1"/>
            <a:r>
              <a:rPr lang="en-US" altLang="en-US" sz="2000"/>
              <a:t>Automates manual backup and recovery processes.</a:t>
            </a:r>
          </a:p>
          <a:p>
            <a:r>
              <a:rPr lang="en-US" altLang="en-US" sz="2000" b="1"/>
              <a:t>Cost-effectiveness.</a:t>
            </a:r>
          </a:p>
          <a:p>
            <a:pPr lvl="1"/>
            <a:r>
              <a:rPr lang="en-US" altLang="en-US" sz="2000"/>
              <a:t>Customers only pay for what they use. </a:t>
            </a:r>
          </a:p>
          <a:p>
            <a:pPr lvl="1"/>
            <a:r>
              <a:rPr lang="en-US" altLang="en-US" sz="2000"/>
              <a:t>Time spent maintaining instances is reduced,</a:t>
            </a:r>
          </a:p>
          <a:p>
            <a:pPr lvl="2"/>
            <a:r>
              <a:rPr lang="en-US" altLang="en-US" sz="2000"/>
              <a:t> because maintenance tasks, such as backups and patching, are automated.</a:t>
            </a:r>
          </a:p>
          <a:p>
            <a:endParaRPr lang="en-US" altLang="en-US" sz="1800">
              <a:solidFill>
                <a:srgbClr val="66666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153111-5115-FA2C-EAD3-8F912B1C1344}"/>
              </a:ext>
            </a:extLst>
          </p:cNvPr>
          <p:cNvSpPr>
            <a:spLocks noGrp="1"/>
          </p:cNvSpPr>
          <p:nvPr>
            <p:ph type="title"/>
          </p:nvPr>
        </p:nvSpPr>
        <p:spPr/>
        <p:txBody>
          <a:bodyPr/>
          <a:lstStyle/>
          <a:p>
            <a:pPr>
              <a:defRPr/>
            </a:pPr>
            <a:r>
              <a:rPr lang="en-US" dirty="0"/>
              <a:t>Elastic bean stalk</a:t>
            </a:r>
            <a:endParaRPr lang="en-IN" dirty="0"/>
          </a:p>
        </p:txBody>
      </p:sp>
      <p:sp>
        <p:nvSpPr>
          <p:cNvPr id="55298" name="Text Placeholder 4">
            <a:extLst>
              <a:ext uri="{FF2B5EF4-FFF2-40B4-BE49-F238E27FC236}">
                <a16:creationId xmlns:a16="http://schemas.microsoft.com/office/drawing/2014/main" id="{4FDAD29E-5590-E07D-6011-2169DAD78166}"/>
              </a:ext>
            </a:extLst>
          </p:cNvPr>
          <p:cNvSpPr>
            <a:spLocks noGrp="1" noChangeArrowheads="1"/>
          </p:cNvSpPr>
          <p:nvPr>
            <p:ph type="body" idx="1"/>
          </p:nvPr>
        </p:nvSpPr>
        <p:spPr/>
        <p:txBody>
          <a:bodyPr/>
          <a:lstStyle/>
          <a:p>
            <a:endParaRPr lang="en-I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143FCC22-46E5-EAA7-0AB5-BD2EA234327F}"/>
              </a:ext>
            </a:extLst>
          </p:cNvPr>
          <p:cNvSpPr>
            <a:spLocks noGrp="1" noChangeArrowheads="1"/>
          </p:cNvSpPr>
          <p:nvPr>
            <p:ph type="title"/>
          </p:nvPr>
        </p:nvSpPr>
        <p:spPr/>
        <p:txBody>
          <a:bodyPr/>
          <a:lstStyle/>
          <a:p>
            <a:r>
              <a:rPr lang="en-IN" altLang="en-US"/>
              <a:t>Elastic Bean Stalk</a:t>
            </a:r>
          </a:p>
        </p:txBody>
      </p:sp>
      <p:sp>
        <p:nvSpPr>
          <p:cNvPr id="35843" name="Content Placeholder 2">
            <a:extLst>
              <a:ext uri="{FF2B5EF4-FFF2-40B4-BE49-F238E27FC236}">
                <a16:creationId xmlns:a16="http://schemas.microsoft.com/office/drawing/2014/main" id="{DD1153F3-CD7C-9D88-82DB-AE8651013CA6}"/>
              </a:ext>
            </a:extLst>
          </p:cNvPr>
          <p:cNvSpPr>
            <a:spLocks noGrp="1" noChangeArrowheads="1"/>
          </p:cNvSpPr>
          <p:nvPr>
            <p:ph idx="1"/>
          </p:nvPr>
        </p:nvSpPr>
        <p:spPr/>
        <p:txBody>
          <a:bodyPr/>
          <a:lstStyle/>
          <a:p>
            <a:pPr>
              <a:defRPr/>
            </a:pPr>
            <a:r>
              <a:rPr lang="en-US" altLang="en-US" sz="2000" dirty="0">
                <a:solidFill>
                  <a:srgbClr val="202124"/>
                </a:solidFill>
              </a:rPr>
              <a:t>A platform within AWS that is used for </a:t>
            </a:r>
            <a:r>
              <a:rPr lang="en-US" altLang="en-US" sz="2000" b="1" dirty="0">
                <a:solidFill>
                  <a:srgbClr val="202124"/>
                </a:solidFill>
              </a:rPr>
              <a:t>deploying and scaling web applications</a:t>
            </a:r>
            <a:r>
              <a:rPr lang="en-US" altLang="en-US" sz="2000" dirty="0">
                <a:solidFill>
                  <a:srgbClr val="202124"/>
                </a:solidFill>
              </a:rPr>
              <a:t>. </a:t>
            </a:r>
          </a:p>
          <a:p>
            <a:pPr lvl="1">
              <a:defRPr/>
            </a:pPr>
            <a:r>
              <a:rPr lang="en-US" altLang="en-US" sz="1800" i="1" dirty="0">
                <a:solidFill>
                  <a:srgbClr val="202124"/>
                </a:solidFill>
              </a:rPr>
              <a:t>Reference to the fairy tale Jack and the Beanstalk.</a:t>
            </a:r>
          </a:p>
          <a:p>
            <a:pPr>
              <a:defRPr/>
            </a:pPr>
            <a:endParaRPr lang="en-US" altLang="en-US" sz="2000" dirty="0">
              <a:solidFill>
                <a:srgbClr val="202124"/>
              </a:solidFill>
            </a:endParaRPr>
          </a:p>
          <a:p>
            <a:pPr>
              <a:defRPr/>
            </a:pPr>
            <a:endParaRPr lang="en-US" altLang="en-US" sz="2000" dirty="0">
              <a:solidFill>
                <a:srgbClr val="202124"/>
              </a:solidFill>
            </a:endParaRPr>
          </a:p>
          <a:p>
            <a:pPr>
              <a:defRPr/>
            </a:pPr>
            <a:r>
              <a:rPr lang="en-US" altLang="en-US" sz="2000" dirty="0">
                <a:solidFill>
                  <a:srgbClr val="202124"/>
                </a:solidFill>
              </a:rPr>
              <a:t>It’s like a Pre-configured EC2 server </a:t>
            </a:r>
          </a:p>
          <a:p>
            <a:pPr>
              <a:defRPr/>
            </a:pPr>
            <a:endParaRPr lang="en-US" altLang="en-US" sz="2000" dirty="0">
              <a:solidFill>
                <a:srgbClr val="202124"/>
              </a:solidFill>
            </a:endParaRPr>
          </a:p>
          <a:p>
            <a:pPr>
              <a:defRPr/>
            </a:pPr>
            <a:r>
              <a:rPr lang="en-US" altLang="en-US" sz="2000" dirty="0">
                <a:solidFill>
                  <a:srgbClr val="202124"/>
                </a:solidFill>
              </a:rPr>
              <a:t>Platform as a service (PaaS) </a:t>
            </a:r>
          </a:p>
          <a:p>
            <a:pPr>
              <a:defRPr/>
            </a:pPr>
            <a:endParaRPr lang="en-US" altLang="en-US" sz="2000" dirty="0">
              <a:solidFill>
                <a:srgbClr val="202124"/>
              </a:solidFill>
            </a:endParaRPr>
          </a:p>
          <a:p>
            <a:pPr>
              <a:defRPr/>
            </a:pPr>
            <a:r>
              <a:rPr lang="en-US" altLang="en-US" sz="2000" dirty="0">
                <a:solidFill>
                  <a:srgbClr val="202124"/>
                </a:solidFill>
              </a:rPr>
              <a:t>Takes application code and deploys it while provisioning the supporting architecture and compute resources required for the code to run</a:t>
            </a:r>
          </a:p>
          <a:p>
            <a:pPr>
              <a:defRPr/>
            </a:pPr>
            <a:endParaRPr lang="en-US" altLang="en-US" sz="2000" dirty="0">
              <a:solidFill>
                <a:srgbClr val="202124"/>
              </a:solidFill>
            </a:endParaRPr>
          </a:p>
          <a:p>
            <a:pPr marL="0" indent="0">
              <a:buFontTx/>
              <a:buNone/>
              <a:defRPr/>
            </a:pPr>
            <a:br>
              <a:rPr lang="en-US" altLang="en-US" sz="2000" dirty="0">
                <a:solidFill>
                  <a:srgbClr val="202124"/>
                </a:solidFill>
              </a:rPr>
            </a:br>
            <a:endParaRPr lang="en-IN" altLang="en-US" sz="2000" dirty="0"/>
          </a:p>
          <a:p>
            <a:pPr>
              <a:defRPr/>
            </a:pPr>
            <a:endParaRPr lang="en-US" altLang="en-US" sz="2000" dirty="0">
              <a:solidFill>
                <a:srgbClr val="202124"/>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6AE58862-8F33-D212-46C4-D1AA179AF7E2}"/>
              </a:ext>
            </a:extLst>
          </p:cNvPr>
          <p:cNvSpPr>
            <a:spLocks noGrp="1" noChangeArrowheads="1"/>
          </p:cNvSpPr>
          <p:nvPr>
            <p:ph type="title"/>
          </p:nvPr>
        </p:nvSpPr>
        <p:spPr/>
        <p:txBody>
          <a:bodyPr/>
          <a:lstStyle/>
          <a:p>
            <a:r>
              <a:rPr lang="en-IN" altLang="en-US"/>
              <a:t>Features of Elastic Bean </a:t>
            </a:r>
            <a:br>
              <a:rPr lang="en-IN" altLang="en-US"/>
            </a:br>
            <a:r>
              <a:rPr lang="en-IN" altLang="en-US"/>
              <a:t>Stalk</a:t>
            </a:r>
          </a:p>
        </p:txBody>
      </p:sp>
      <p:sp>
        <p:nvSpPr>
          <p:cNvPr id="57346" name="Content Placeholder 2">
            <a:extLst>
              <a:ext uri="{FF2B5EF4-FFF2-40B4-BE49-F238E27FC236}">
                <a16:creationId xmlns:a16="http://schemas.microsoft.com/office/drawing/2014/main" id="{0AFD3BB1-518F-0BDA-B519-1C76E03DC0A5}"/>
              </a:ext>
            </a:extLst>
          </p:cNvPr>
          <p:cNvSpPr>
            <a:spLocks noGrp="1" noChangeArrowheads="1"/>
          </p:cNvSpPr>
          <p:nvPr>
            <p:ph idx="1"/>
          </p:nvPr>
        </p:nvSpPr>
        <p:spPr/>
        <p:txBody>
          <a:bodyPr/>
          <a:lstStyle/>
          <a:p>
            <a:r>
              <a:rPr lang="en-US" altLang="en-US" sz="2000">
                <a:solidFill>
                  <a:srgbClr val="16191F"/>
                </a:solidFill>
              </a:rPr>
              <a:t>To quickly deploy and manage applications in the AWS Cloud </a:t>
            </a:r>
          </a:p>
          <a:p>
            <a:endParaRPr lang="en-US" altLang="en-US" sz="2000">
              <a:solidFill>
                <a:srgbClr val="16191F"/>
              </a:solidFill>
            </a:endParaRPr>
          </a:p>
          <a:p>
            <a:r>
              <a:rPr lang="en-US" altLang="en-US" sz="2000">
                <a:solidFill>
                  <a:srgbClr val="16191F"/>
                </a:solidFill>
              </a:rPr>
              <a:t>Reduces management complexity without restricting choice or control. </a:t>
            </a:r>
          </a:p>
          <a:p>
            <a:endParaRPr lang="en-US" altLang="en-US" sz="2000">
              <a:solidFill>
                <a:srgbClr val="16191F"/>
              </a:solidFill>
            </a:endParaRPr>
          </a:p>
          <a:p>
            <a:r>
              <a:rPr lang="en-US" altLang="en-US" sz="2000">
                <a:solidFill>
                  <a:srgbClr val="16191F"/>
                </a:solidFill>
              </a:rPr>
              <a:t>Once the application is uploaded automatically handles the following details </a:t>
            </a:r>
          </a:p>
          <a:p>
            <a:pPr lvl="2"/>
            <a:r>
              <a:rPr lang="en-US" altLang="en-US" sz="2000">
                <a:solidFill>
                  <a:srgbClr val="16191F"/>
                </a:solidFill>
              </a:rPr>
              <a:t>Capacity provisioning, </a:t>
            </a:r>
          </a:p>
          <a:p>
            <a:pPr lvl="2"/>
            <a:r>
              <a:rPr lang="en-US" altLang="en-US" sz="2000">
                <a:solidFill>
                  <a:srgbClr val="16191F"/>
                </a:solidFill>
              </a:rPr>
              <a:t>load balancing, </a:t>
            </a:r>
          </a:p>
          <a:p>
            <a:pPr lvl="2"/>
            <a:r>
              <a:rPr lang="en-US" altLang="en-US" sz="2000">
                <a:solidFill>
                  <a:srgbClr val="16191F"/>
                </a:solidFill>
              </a:rPr>
              <a:t>scaling, </a:t>
            </a:r>
          </a:p>
          <a:p>
            <a:pPr lvl="2"/>
            <a:r>
              <a:rPr lang="en-US" altLang="en-US" sz="2000">
                <a:solidFill>
                  <a:srgbClr val="16191F"/>
                </a:solidFill>
              </a:rPr>
              <a:t>application health monitoring.</a:t>
            </a:r>
          </a:p>
          <a:p>
            <a:endParaRPr lang="en-US" altLang="en-US" sz="2000">
              <a:solidFill>
                <a:srgbClr val="16191F"/>
              </a:solidFill>
            </a:endParaRPr>
          </a:p>
          <a:p>
            <a:r>
              <a:rPr lang="en-US" altLang="en-US" sz="2000">
                <a:solidFill>
                  <a:srgbClr val="16191F"/>
                </a:solidFill>
              </a:rPr>
              <a:t>Supports applications developed in Go, Java, .NET, Node.js, PHP, Python, and Ruby.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50526191-D0B6-6748-C7DF-9BED39B8E696}"/>
              </a:ext>
            </a:extLst>
          </p:cNvPr>
          <p:cNvSpPr>
            <a:spLocks noGrp="1" noChangeArrowheads="1"/>
          </p:cNvSpPr>
          <p:nvPr>
            <p:ph type="title"/>
          </p:nvPr>
        </p:nvSpPr>
        <p:spPr/>
        <p:txBody>
          <a:bodyPr/>
          <a:lstStyle/>
          <a:p>
            <a:r>
              <a:rPr lang="en-IN" altLang="en-US"/>
              <a:t>Working with Elastic Bean Stalk</a:t>
            </a:r>
          </a:p>
        </p:txBody>
      </p:sp>
      <p:sp>
        <p:nvSpPr>
          <p:cNvPr id="58370" name="Content Placeholder 2">
            <a:extLst>
              <a:ext uri="{FF2B5EF4-FFF2-40B4-BE49-F238E27FC236}">
                <a16:creationId xmlns:a16="http://schemas.microsoft.com/office/drawing/2014/main" id="{794A9F5E-7664-BB91-00B4-40E5EB0A13D5}"/>
              </a:ext>
            </a:extLst>
          </p:cNvPr>
          <p:cNvSpPr>
            <a:spLocks noGrp="1" noChangeArrowheads="1"/>
          </p:cNvSpPr>
          <p:nvPr>
            <p:ph idx="1"/>
          </p:nvPr>
        </p:nvSpPr>
        <p:spPr/>
        <p:txBody>
          <a:bodyPr/>
          <a:lstStyle/>
          <a:p>
            <a:r>
              <a:rPr lang="en-US" altLang="en-US" sz="2000">
                <a:solidFill>
                  <a:srgbClr val="16191F"/>
                </a:solidFill>
              </a:rPr>
              <a:t>Can use Elastic Beanstalk console</a:t>
            </a:r>
          </a:p>
          <a:p>
            <a:r>
              <a:rPr lang="en-US" altLang="en-US" sz="2000">
                <a:solidFill>
                  <a:srgbClr val="16191F"/>
                </a:solidFill>
              </a:rPr>
              <a:t>Eb Command Line Interface ,a high-level CLI designed specifically for Elastic Beanstalk. </a:t>
            </a:r>
          </a:p>
          <a:p>
            <a:endParaRPr lang="en-US" altLang="en-US" sz="2000"/>
          </a:p>
          <a:p>
            <a:br>
              <a:rPr lang="en-US" altLang="en-US" sz="2000"/>
            </a:br>
            <a:endParaRPr lang="en-IN" altLang="en-US" sz="2000"/>
          </a:p>
          <a:p>
            <a:endParaRPr lang="en-IN" altLang="en-US" sz="2000"/>
          </a:p>
        </p:txBody>
      </p:sp>
      <p:pic>
        <p:nvPicPr>
          <p:cNvPr id="58371" name="Picture 2" descr="&#10;        Elastic Beanstalk flow&#10;      ">
            <a:extLst>
              <a:ext uri="{FF2B5EF4-FFF2-40B4-BE49-F238E27FC236}">
                <a16:creationId xmlns:a16="http://schemas.microsoft.com/office/drawing/2014/main" id="{BFC7A5BE-69A5-14E5-E4CF-F02D6CB24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438400"/>
            <a:ext cx="71628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55CA8913-6286-E2A8-BB86-CA105625BBBF}"/>
              </a:ext>
            </a:extLst>
          </p:cNvPr>
          <p:cNvSpPr>
            <a:spLocks noGrp="1" noChangeArrowheads="1"/>
          </p:cNvSpPr>
          <p:nvPr>
            <p:ph type="title"/>
          </p:nvPr>
        </p:nvSpPr>
        <p:spPr/>
        <p:txBody>
          <a:bodyPr/>
          <a:lstStyle/>
          <a:p>
            <a:r>
              <a:rPr lang="en-IN" altLang="en-US"/>
              <a:t>Elastic Bean Stalk</a:t>
            </a:r>
          </a:p>
        </p:txBody>
      </p:sp>
      <p:sp>
        <p:nvSpPr>
          <p:cNvPr id="41987" name="Content Placeholder 2">
            <a:extLst>
              <a:ext uri="{FF2B5EF4-FFF2-40B4-BE49-F238E27FC236}">
                <a16:creationId xmlns:a16="http://schemas.microsoft.com/office/drawing/2014/main" id="{E33EBD1C-A99B-DDB0-555D-323967DCD961}"/>
              </a:ext>
            </a:extLst>
          </p:cNvPr>
          <p:cNvSpPr>
            <a:spLocks noGrp="1" noChangeArrowheads="1"/>
          </p:cNvSpPr>
          <p:nvPr>
            <p:ph idx="1"/>
          </p:nvPr>
        </p:nvSpPr>
        <p:spPr/>
        <p:txBody>
          <a:bodyPr/>
          <a:lstStyle/>
          <a:p>
            <a:pPr>
              <a:lnSpc>
                <a:spcPct val="150000"/>
              </a:lnSpc>
              <a:defRPr/>
            </a:pPr>
            <a:r>
              <a:rPr lang="en-US" altLang="en-US" sz="2000" b="1" dirty="0">
                <a:solidFill>
                  <a:srgbClr val="16191F"/>
                </a:solidFill>
              </a:rPr>
              <a:t>Application</a:t>
            </a:r>
          </a:p>
          <a:p>
            <a:pPr lvl="1">
              <a:lnSpc>
                <a:spcPct val="150000"/>
              </a:lnSpc>
              <a:defRPr/>
            </a:pPr>
            <a:r>
              <a:rPr lang="en-US" altLang="en-US" sz="2000" dirty="0">
                <a:solidFill>
                  <a:srgbClr val="16191F"/>
                </a:solidFill>
              </a:rPr>
              <a:t>A logical collection of Elastic Beanstalk components, </a:t>
            </a:r>
          </a:p>
          <a:p>
            <a:pPr lvl="1">
              <a:lnSpc>
                <a:spcPct val="150000"/>
              </a:lnSpc>
              <a:defRPr/>
            </a:pPr>
            <a:r>
              <a:rPr lang="en-US" altLang="en-US" sz="2000" i="1" dirty="0">
                <a:solidFill>
                  <a:srgbClr val="16191F"/>
                </a:solidFill>
              </a:rPr>
              <a:t>environments</a:t>
            </a:r>
            <a:r>
              <a:rPr lang="en-US" altLang="en-US" sz="2000" dirty="0">
                <a:solidFill>
                  <a:srgbClr val="16191F"/>
                </a:solidFill>
              </a:rPr>
              <a:t>, </a:t>
            </a:r>
            <a:r>
              <a:rPr lang="en-US" altLang="en-US" sz="2000" i="1" dirty="0">
                <a:solidFill>
                  <a:srgbClr val="16191F"/>
                </a:solidFill>
              </a:rPr>
              <a:t>versions</a:t>
            </a:r>
            <a:r>
              <a:rPr lang="en-US" altLang="en-US" sz="2000" dirty="0">
                <a:solidFill>
                  <a:srgbClr val="16191F"/>
                </a:solidFill>
              </a:rPr>
              <a:t>, and </a:t>
            </a:r>
            <a:r>
              <a:rPr lang="en-US" altLang="en-US" sz="2000" i="1" dirty="0">
                <a:solidFill>
                  <a:srgbClr val="16191F"/>
                </a:solidFill>
              </a:rPr>
              <a:t>environment configurations</a:t>
            </a:r>
            <a:r>
              <a:rPr lang="en-US" altLang="en-US" sz="2000" dirty="0">
                <a:solidFill>
                  <a:srgbClr val="16191F"/>
                </a:solidFill>
              </a:rPr>
              <a:t>. </a:t>
            </a:r>
          </a:p>
          <a:p>
            <a:pPr lvl="1">
              <a:lnSpc>
                <a:spcPct val="150000"/>
              </a:lnSpc>
              <a:defRPr/>
            </a:pPr>
            <a:r>
              <a:rPr lang="en-US" altLang="en-US" sz="2000" dirty="0">
                <a:solidFill>
                  <a:srgbClr val="16191F"/>
                </a:solidFill>
              </a:rPr>
              <a:t>Application is conceptually like a folder.</a:t>
            </a:r>
          </a:p>
          <a:p>
            <a:pPr>
              <a:lnSpc>
                <a:spcPct val="150000"/>
              </a:lnSpc>
              <a:defRPr/>
            </a:pPr>
            <a:r>
              <a:rPr lang="en-US" altLang="en-US" sz="2000" b="1" dirty="0">
                <a:solidFill>
                  <a:srgbClr val="16191F"/>
                </a:solidFill>
              </a:rPr>
              <a:t>Environment</a:t>
            </a:r>
          </a:p>
          <a:p>
            <a:pPr lvl="1">
              <a:lnSpc>
                <a:spcPct val="150000"/>
              </a:lnSpc>
              <a:defRPr/>
            </a:pPr>
            <a:r>
              <a:rPr lang="en-US" altLang="en-US" sz="2000" dirty="0">
                <a:solidFill>
                  <a:srgbClr val="16191F"/>
                </a:solidFill>
              </a:rPr>
              <a:t>Collection of AWS resources running an application version. </a:t>
            </a:r>
          </a:p>
          <a:p>
            <a:pPr lvl="1">
              <a:lnSpc>
                <a:spcPct val="150000"/>
              </a:lnSpc>
              <a:defRPr/>
            </a:pPr>
            <a:r>
              <a:rPr lang="en-US" altLang="en-US" sz="2000" dirty="0">
                <a:solidFill>
                  <a:srgbClr val="16191F"/>
                </a:solidFill>
              </a:rPr>
              <a:t>Each environment runs only one application version at a time, </a:t>
            </a:r>
          </a:p>
          <a:p>
            <a:pPr lvl="1">
              <a:lnSpc>
                <a:spcPct val="150000"/>
              </a:lnSpc>
              <a:defRPr/>
            </a:pPr>
            <a:r>
              <a:rPr lang="en-US" altLang="en-US" sz="2000" dirty="0">
                <a:solidFill>
                  <a:srgbClr val="16191F"/>
                </a:solidFill>
              </a:rPr>
              <a:t>Elastic Beanstalk provisions the resources needed to run the application version specified.</a:t>
            </a:r>
          </a:p>
          <a:p>
            <a:pPr lvl="1">
              <a:lnSpc>
                <a:spcPct val="150000"/>
              </a:lnSpc>
              <a:defRPr/>
            </a:pPr>
            <a:endParaRPr lang="en-US" altLang="en-US" sz="2000" dirty="0">
              <a:solidFill>
                <a:srgbClr val="16191F"/>
              </a:solidFill>
            </a:endParaRPr>
          </a:p>
          <a:p>
            <a:pPr lvl="1">
              <a:lnSpc>
                <a:spcPct val="150000"/>
              </a:lnSpc>
              <a:defRPr/>
            </a:pPr>
            <a:endParaRPr lang="en-US" altLang="en-US" sz="2000" dirty="0">
              <a:solidFill>
                <a:srgbClr val="16191F"/>
              </a:solidFill>
            </a:endParaRPr>
          </a:p>
          <a:p>
            <a:pPr marL="0" indent="0">
              <a:lnSpc>
                <a:spcPct val="150000"/>
              </a:lnSpc>
              <a:buFontTx/>
              <a:buNone/>
              <a:defRPr/>
            </a:pPr>
            <a:endParaRPr lang="en-US" altLang="en-US" sz="2000" dirty="0"/>
          </a:p>
          <a:p>
            <a:pPr marL="0" indent="0">
              <a:lnSpc>
                <a:spcPct val="150000"/>
              </a:lnSpc>
              <a:buFontTx/>
              <a:buNone/>
              <a:defRPr/>
            </a:pPr>
            <a:br>
              <a:rPr lang="en-US" altLang="en-US" sz="2000" dirty="0"/>
            </a:br>
            <a:endParaRPr lang="en-IN" alt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3B81080E-CF2F-9D97-5F37-A1FAFACCA895}"/>
              </a:ext>
            </a:extLst>
          </p:cNvPr>
          <p:cNvSpPr>
            <a:spLocks noGrp="1" noChangeArrowheads="1"/>
          </p:cNvSpPr>
          <p:nvPr>
            <p:ph type="title"/>
          </p:nvPr>
        </p:nvSpPr>
        <p:spPr/>
        <p:txBody>
          <a:bodyPr/>
          <a:lstStyle/>
          <a:p>
            <a:r>
              <a:rPr lang="en-IN" altLang="en-US"/>
              <a:t>Elastic Bean Stalk</a:t>
            </a:r>
          </a:p>
        </p:txBody>
      </p:sp>
      <p:sp>
        <p:nvSpPr>
          <p:cNvPr id="44035" name="Content Placeholder 2">
            <a:extLst>
              <a:ext uri="{FF2B5EF4-FFF2-40B4-BE49-F238E27FC236}">
                <a16:creationId xmlns:a16="http://schemas.microsoft.com/office/drawing/2014/main" id="{44A0F81D-9A70-F8C6-F597-27AAB702D35E}"/>
              </a:ext>
            </a:extLst>
          </p:cNvPr>
          <p:cNvSpPr>
            <a:spLocks noGrp="1" noChangeArrowheads="1"/>
          </p:cNvSpPr>
          <p:nvPr>
            <p:ph idx="1"/>
          </p:nvPr>
        </p:nvSpPr>
        <p:spPr/>
        <p:txBody>
          <a:bodyPr/>
          <a:lstStyle/>
          <a:p>
            <a:pPr>
              <a:defRPr/>
            </a:pPr>
            <a:r>
              <a:rPr lang="en-US" altLang="en-US" sz="2000" b="1" dirty="0">
                <a:solidFill>
                  <a:srgbClr val="16191F"/>
                </a:solidFill>
              </a:rPr>
              <a:t>Environment tier</a:t>
            </a:r>
          </a:p>
          <a:p>
            <a:pPr>
              <a:defRPr/>
            </a:pPr>
            <a:r>
              <a:rPr lang="en-US" altLang="en-US" sz="2000" dirty="0">
                <a:solidFill>
                  <a:srgbClr val="16191F"/>
                </a:solidFill>
              </a:rPr>
              <a:t>Designates the type of application that the environment runs</a:t>
            </a:r>
          </a:p>
          <a:p>
            <a:pPr lvl="1">
              <a:defRPr/>
            </a:pPr>
            <a:r>
              <a:rPr lang="en-US" altLang="en-US" sz="2000" dirty="0">
                <a:solidFill>
                  <a:srgbClr val="16191F"/>
                </a:solidFill>
              </a:rPr>
              <a:t>An application that serves HTTP requests runs in a web server environment tier. </a:t>
            </a:r>
          </a:p>
          <a:p>
            <a:pPr lvl="1">
              <a:defRPr/>
            </a:pPr>
            <a:r>
              <a:rPr lang="en-US" altLang="en-US" sz="2000" dirty="0">
                <a:solidFill>
                  <a:srgbClr val="16191F"/>
                </a:solidFill>
              </a:rPr>
              <a:t>Amazon Simple Queue Service (Amazon SQS) queue runs in a worker environment tier.</a:t>
            </a:r>
          </a:p>
          <a:p>
            <a:pPr lvl="1">
              <a:defRPr/>
            </a:pPr>
            <a:endParaRPr lang="en-US" altLang="en-US" sz="2000" dirty="0">
              <a:solidFill>
                <a:srgbClr val="16191F"/>
              </a:solidFill>
            </a:endParaRPr>
          </a:p>
          <a:p>
            <a:pPr>
              <a:defRPr/>
            </a:pPr>
            <a:r>
              <a:rPr lang="en-US" altLang="en-US" sz="2000" b="1" dirty="0">
                <a:solidFill>
                  <a:srgbClr val="16191F"/>
                </a:solidFill>
              </a:rPr>
              <a:t>Platform</a:t>
            </a:r>
          </a:p>
          <a:p>
            <a:pPr lvl="1">
              <a:defRPr/>
            </a:pPr>
            <a:r>
              <a:rPr lang="en-US" altLang="en-US" sz="2000" dirty="0">
                <a:solidFill>
                  <a:srgbClr val="16191F"/>
                </a:solidFill>
              </a:rPr>
              <a:t>Combination of an operating system, programming language runtime, web server, application server, and Elastic Beanstalk components. </a:t>
            </a:r>
          </a:p>
          <a:p>
            <a:pPr lvl="1">
              <a:defRPr/>
            </a:pPr>
            <a:r>
              <a:rPr lang="en-US" altLang="en-US" sz="2000" dirty="0">
                <a:solidFill>
                  <a:srgbClr val="16191F"/>
                </a:solidFill>
              </a:rPr>
              <a:t>Provides a variety of platforms on which applications can be built</a:t>
            </a:r>
          </a:p>
          <a:p>
            <a:pPr lvl="1">
              <a:defRPr/>
            </a:pPr>
            <a:r>
              <a:rPr lang="en-US" altLang="en-US" sz="2000" dirty="0">
                <a:solidFill>
                  <a:srgbClr val="16191F"/>
                </a:solidFill>
              </a:rPr>
              <a:t>Platforms for different programming languages, application servers, and Docker containers</a:t>
            </a:r>
          </a:p>
          <a:p>
            <a:pPr marL="0" indent="0">
              <a:buFontTx/>
              <a:buNone/>
              <a:defRPr/>
            </a:pPr>
            <a:br>
              <a:rPr lang="en-US" altLang="en-US" sz="2000" dirty="0"/>
            </a:br>
            <a:endParaRPr lang="en-IN"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A3FB453E-4E1F-F0E2-9E95-C08413B3BA46}"/>
              </a:ext>
            </a:extLst>
          </p:cNvPr>
          <p:cNvSpPr>
            <a:spLocks noGrp="1" noChangeArrowheads="1"/>
          </p:cNvSpPr>
          <p:nvPr>
            <p:ph type="title"/>
          </p:nvPr>
        </p:nvSpPr>
        <p:spPr/>
        <p:txBody>
          <a:bodyPr/>
          <a:lstStyle/>
          <a:p>
            <a:r>
              <a:rPr lang="en-US" altLang="en-US"/>
              <a:t>WS Key Management Services</a:t>
            </a:r>
          </a:p>
        </p:txBody>
      </p:sp>
      <p:sp>
        <p:nvSpPr>
          <p:cNvPr id="61442" name="Content Placeholder 2">
            <a:extLst>
              <a:ext uri="{FF2B5EF4-FFF2-40B4-BE49-F238E27FC236}">
                <a16:creationId xmlns:a16="http://schemas.microsoft.com/office/drawing/2014/main" id="{699740EA-BB22-FC7F-6260-3CF1B0F49B9F}"/>
              </a:ext>
            </a:extLst>
          </p:cNvPr>
          <p:cNvSpPr>
            <a:spLocks noGrp="1" noChangeArrowheads="1"/>
          </p:cNvSpPr>
          <p:nvPr>
            <p:ph idx="1"/>
          </p:nvPr>
        </p:nvSpPr>
        <p:spPr/>
        <p:txBody>
          <a:bodyPr/>
          <a:lstStyle/>
          <a:p>
            <a:r>
              <a:rPr lang="en-IN" altLang="en-US" sz="1800"/>
              <a:t>Used to create, control and manage the cryptographic keys that encrypt and protect their data. </a:t>
            </a:r>
          </a:p>
          <a:p>
            <a:endParaRPr lang="en-IN" altLang="en-US" sz="1800"/>
          </a:p>
          <a:p>
            <a:r>
              <a:rPr lang="en-IN" altLang="en-US" sz="1800"/>
              <a:t>Organizations can use the </a:t>
            </a:r>
            <a:r>
              <a:rPr lang="en-IN" altLang="en-US" sz="1800" u="sng"/>
              <a:t>encryption keys</a:t>
            </a:r>
            <a:r>
              <a:rPr lang="en-IN" altLang="en-US" sz="1800"/>
              <a:t> and functionality provided by AWS KMS to protect data in all their applications that use AWS. </a:t>
            </a:r>
          </a:p>
          <a:p>
            <a:endParaRPr lang="en-IN" altLang="en-US" sz="1800"/>
          </a:p>
          <a:p>
            <a:r>
              <a:rPr lang="en-IN" altLang="en-US" sz="1800"/>
              <a:t>It can generate  data keys that can be used outside of AWS KMS. </a:t>
            </a:r>
          </a:p>
          <a:p>
            <a:endParaRPr lang="en-IN" altLang="en-US" sz="1800"/>
          </a:p>
          <a:p>
            <a:endParaRPr lang="en-US" altLang="en-US"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E5CC422F-844F-AA11-A794-5E245060B930}"/>
              </a:ext>
            </a:extLst>
          </p:cNvPr>
          <p:cNvSpPr>
            <a:spLocks noGrp="1" noChangeArrowheads="1"/>
          </p:cNvSpPr>
          <p:nvPr>
            <p:ph type="title"/>
          </p:nvPr>
        </p:nvSpPr>
        <p:spPr/>
        <p:txBody>
          <a:bodyPr/>
          <a:lstStyle/>
          <a:p>
            <a:r>
              <a:rPr lang="en-US" altLang="en-US"/>
              <a:t>AWS Secrets Manager</a:t>
            </a:r>
          </a:p>
        </p:txBody>
      </p:sp>
      <p:sp>
        <p:nvSpPr>
          <p:cNvPr id="3" name="Content Placeholder 2">
            <a:extLst>
              <a:ext uri="{FF2B5EF4-FFF2-40B4-BE49-F238E27FC236}">
                <a16:creationId xmlns:a16="http://schemas.microsoft.com/office/drawing/2014/main" id="{EE3BBFAF-2831-D5E4-38D4-E70BAF287AB4}"/>
              </a:ext>
            </a:extLst>
          </p:cNvPr>
          <p:cNvSpPr>
            <a:spLocks noGrp="1"/>
          </p:cNvSpPr>
          <p:nvPr>
            <p:ph idx="1"/>
          </p:nvPr>
        </p:nvSpPr>
        <p:spPr/>
        <p:txBody>
          <a:bodyPr/>
          <a:lstStyle/>
          <a:p>
            <a:pPr>
              <a:lnSpc>
                <a:spcPct val="150000"/>
              </a:lnSpc>
              <a:defRPr/>
            </a:pPr>
            <a:r>
              <a:rPr lang="en-IN" sz="1800" dirty="0"/>
              <a:t>A Service that helps protect, manage, and retrieve secrets—such as database credentials, API keys, and OAuth tokens—throughout their lifecycle.</a:t>
            </a:r>
          </a:p>
          <a:p>
            <a:pPr>
              <a:lnSpc>
                <a:spcPct val="150000"/>
              </a:lnSpc>
              <a:defRPr/>
            </a:pPr>
            <a:r>
              <a:rPr lang="en-IN" sz="1800" dirty="0"/>
              <a:t>Securely store and manage credentials for applications, services, and IT resources, including multi-region replication for disaster recovery.</a:t>
            </a:r>
          </a:p>
          <a:p>
            <a:pPr>
              <a:lnSpc>
                <a:spcPct val="150000"/>
              </a:lnSpc>
              <a:defRPr/>
            </a:pPr>
            <a:r>
              <a:rPr lang="en-IN" sz="1800" dirty="0"/>
              <a:t>Encrypts secrets at rest using AWS KMS and provides granular access control through IAM policies.</a:t>
            </a:r>
          </a:p>
          <a:p>
            <a:pPr>
              <a:lnSpc>
                <a:spcPct val="150000"/>
              </a:lnSpc>
              <a:defRPr/>
            </a:pPr>
            <a:r>
              <a:rPr lang="en-IN" sz="1800" dirty="0"/>
              <a:t>Integrates with many AWS services (e.g., RDS, Redshift) and supports retrieval through SDKs and APIs.</a:t>
            </a:r>
          </a:p>
          <a:p>
            <a:pPr marL="0" indent="0">
              <a:lnSpc>
                <a:spcPct val="150000"/>
              </a:lnSpc>
              <a:buFontTx/>
              <a:buNone/>
              <a:defRPr/>
            </a:pPr>
            <a:endParaRPr lang="en-IN" sz="1800" b="1" dirty="0">
              <a:hlinkClick r:id="rId3"/>
            </a:endParaRPr>
          </a:p>
          <a:p>
            <a:pPr>
              <a:lnSpc>
                <a:spcPct val="150000"/>
              </a:lnSpc>
              <a:defRPr/>
            </a:pPr>
            <a:endParaRPr lang="en-US" sz="1800" dirty="0"/>
          </a:p>
          <a:p>
            <a:pPr>
              <a:lnSpc>
                <a:spcPct val="150000"/>
              </a:lnSpc>
              <a:defRPr/>
            </a:pP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102F9A7A-BFBA-8EC1-A1A5-BFE1E2EAF3A1}"/>
              </a:ext>
            </a:extLst>
          </p:cNvPr>
          <p:cNvSpPr>
            <a:spLocks noGrp="1" noChangeArrowheads="1"/>
          </p:cNvSpPr>
          <p:nvPr>
            <p:ph type="title"/>
          </p:nvPr>
        </p:nvSpPr>
        <p:spPr/>
        <p:txBody>
          <a:bodyPr/>
          <a:lstStyle/>
          <a:p>
            <a:r>
              <a:rPr lang="en-US" altLang="en-US"/>
              <a:t>WS WAF and AWS Shield</a:t>
            </a:r>
          </a:p>
        </p:txBody>
      </p:sp>
      <p:sp>
        <p:nvSpPr>
          <p:cNvPr id="65538" name="Content Placeholder 2">
            <a:extLst>
              <a:ext uri="{FF2B5EF4-FFF2-40B4-BE49-F238E27FC236}">
                <a16:creationId xmlns:a16="http://schemas.microsoft.com/office/drawing/2014/main" id="{E632391A-E285-80C4-06DB-27742749311E}"/>
              </a:ext>
            </a:extLst>
          </p:cNvPr>
          <p:cNvSpPr>
            <a:spLocks noGrp="1" noChangeArrowheads="1"/>
          </p:cNvSpPr>
          <p:nvPr>
            <p:ph idx="1"/>
          </p:nvPr>
        </p:nvSpPr>
        <p:spPr/>
        <p:txBody>
          <a:bodyPr/>
          <a:lstStyle/>
          <a:p>
            <a:r>
              <a:rPr lang="en-IN" altLang="en-US" sz="2000" b="1"/>
              <a:t>AWS WAF</a:t>
            </a:r>
            <a:r>
              <a:rPr lang="en-IN" altLang="en-US" sz="2000"/>
              <a:t> </a:t>
            </a:r>
          </a:p>
          <a:p>
            <a:pPr lvl="1"/>
            <a:r>
              <a:rPr lang="en-IN" altLang="en-US" sz="2000"/>
              <a:t>Used for application-level security, such as blocking malicious web traffic or preventing SQL injection.</a:t>
            </a:r>
          </a:p>
          <a:p>
            <a:endParaRPr lang="en-IN" altLang="en-US" sz="2000" b="1"/>
          </a:p>
          <a:p>
            <a:r>
              <a:rPr lang="en-IN" altLang="en-US" sz="2000" b="1"/>
              <a:t>AWS Shield Standard</a:t>
            </a:r>
            <a:r>
              <a:rPr lang="en-IN" altLang="en-US" sz="2000"/>
              <a:t> </a:t>
            </a:r>
          </a:p>
          <a:p>
            <a:pPr lvl="1"/>
            <a:r>
              <a:rPr lang="en-IN" altLang="en-US" sz="2000"/>
              <a:t>Used for basic protection against volumetric DDoS attacks on any public-facing AWS resource.</a:t>
            </a:r>
          </a:p>
          <a:p>
            <a:endParaRPr lang="en-IN" altLang="en-US" sz="2000"/>
          </a:p>
          <a:p>
            <a:r>
              <a:rPr lang="en-IN" altLang="en-US" sz="2000"/>
              <a:t>They are often used together for maximum protection.</a:t>
            </a:r>
          </a:p>
          <a:p>
            <a:endParaRPr lang="en-IN" altLang="en-US" sz="2000" b="1"/>
          </a:p>
          <a:p>
            <a:r>
              <a:rPr lang="en-IN" altLang="en-US" sz="2000"/>
              <a:t>Shield Advanced specifically helps protect against increased AWS bills during a DDoS attack.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BE52F847-A061-7A41-8A86-712A69036728}"/>
              </a:ext>
            </a:extLst>
          </p:cNvPr>
          <p:cNvSpPr>
            <a:spLocks noGrp="1" noChangeArrowheads="1"/>
          </p:cNvSpPr>
          <p:nvPr>
            <p:ph type="title"/>
          </p:nvPr>
        </p:nvSpPr>
        <p:spPr/>
        <p:txBody>
          <a:bodyPr/>
          <a:lstStyle/>
          <a:p>
            <a:r>
              <a:rPr lang="en-US" altLang="en-US"/>
              <a:t>Amazon CloudWatch</a:t>
            </a:r>
          </a:p>
        </p:txBody>
      </p:sp>
      <p:sp>
        <p:nvSpPr>
          <p:cNvPr id="3" name="Content Placeholder 2">
            <a:extLst>
              <a:ext uri="{FF2B5EF4-FFF2-40B4-BE49-F238E27FC236}">
                <a16:creationId xmlns:a16="http://schemas.microsoft.com/office/drawing/2014/main" id="{B9AAB694-016B-F4C7-42E6-60FBF416656A}"/>
              </a:ext>
            </a:extLst>
          </p:cNvPr>
          <p:cNvSpPr>
            <a:spLocks noGrp="1"/>
          </p:cNvSpPr>
          <p:nvPr>
            <p:ph idx="1"/>
          </p:nvPr>
        </p:nvSpPr>
        <p:spPr>
          <a:xfrm>
            <a:off x="457200" y="762000"/>
            <a:ext cx="8229600" cy="5364163"/>
          </a:xfrm>
        </p:spPr>
        <p:txBody>
          <a:bodyPr/>
          <a:lstStyle/>
          <a:p>
            <a:pPr>
              <a:lnSpc>
                <a:spcPct val="150000"/>
              </a:lnSpc>
              <a:defRPr/>
            </a:pPr>
            <a:r>
              <a:rPr lang="en-IN" sz="2000" dirty="0"/>
              <a:t>Monitoring and observability service for resources and applications, </a:t>
            </a:r>
          </a:p>
          <a:p>
            <a:pPr lvl="1">
              <a:lnSpc>
                <a:spcPct val="150000"/>
              </a:lnSpc>
              <a:defRPr/>
            </a:pPr>
            <a:r>
              <a:rPr lang="en-IN" sz="2000" dirty="0"/>
              <a:t>It provides real-time metrics, log collection, and automated alerts to optimize performance. </a:t>
            </a:r>
          </a:p>
          <a:p>
            <a:pPr lvl="1">
              <a:lnSpc>
                <a:spcPct val="150000"/>
              </a:lnSpc>
              <a:defRPr/>
            </a:pPr>
            <a:r>
              <a:rPr lang="en-IN" sz="2000" dirty="0"/>
              <a:t>It allows developers and IT teams to track CPU, network, and application health, creating dashboards and setting alarms to proactively respond to changes. </a:t>
            </a:r>
          </a:p>
          <a:p>
            <a:pPr>
              <a:lnSpc>
                <a:spcPct val="150000"/>
              </a:lnSpc>
              <a:defRPr/>
            </a:pPr>
            <a:r>
              <a:rPr lang="en-IN" sz="2000" dirty="0"/>
              <a:t>Provides a unified, customizable view to visualize performance, resource utilization, and operational health.</a:t>
            </a:r>
          </a:p>
          <a:p>
            <a:pPr>
              <a:lnSpc>
                <a:spcPct val="150000"/>
              </a:lnSpc>
              <a:defRPr/>
            </a:pPr>
            <a:endParaRPr lang="en-IN" sz="2000" dirty="0"/>
          </a:p>
          <a:p>
            <a:pPr marL="0" indent="0">
              <a:buFontTx/>
              <a:buNone/>
              <a:defRPr/>
            </a:pPr>
            <a:br>
              <a:rPr lang="en-IN" sz="1800" dirty="0"/>
            </a:br>
            <a:endParaRPr lang="en-IN" sz="1800" dirty="0"/>
          </a:p>
          <a:p>
            <a:pPr>
              <a:defRPr/>
            </a:pPr>
            <a:endParaRPr lang="en-US" sz="1800" dirty="0"/>
          </a:p>
          <a:p>
            <a:pPr>
              <a:defRPr/>
            </a:pP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A01A8A74-062B-E238-34A0-303AD66AF761}"/>
              </a:ext>
            </a:extLst>
          </p:cNvPr>
          <p:cNvSpPr>
            <a:spLocks noGrp="1" noChangeArrowheads="1"/>
          </p:cNvSpPr>
          <p:nvPr>
            <p:ph type="title"/>
          </p:nvPr>
        </p:nvSpPr>
        <p:spPr/>
        <p:txBody>
          <a:bodyPr/>
          <a:lstStyle/>
          <a:p>
            <a:r>
              <a:rPr lang="en-US" altLang="en-US"/>
              <a:t>AWS Cloud Trails</a:t>
            </a:r>
          </a:p>
        </p:txBody>
      </p:sp>
      <p:sp>
        <p:nvSpPr>
          <p:cNvPr id="69634" name="Content Placeholder 2">
            <a:extLst>
              <a:ext uri="{FF2B5EF4-FFF2-40B4-BE49-F238E27FC236}">
                <a16:creationId xmlns:a16="http://schemas.microsoft.com/office/drawing/2014/main" id="{5EBB8167-3944-FF50-5801-702D9D762AF4}"/>
              </a:ext>
            </a:extLst>
          </p:cNvPr>
          <p:cNvSpPr>
            <a:spLocks noGrp="1" noChangeArrowheads="1"/>
          </p:cNvSpPr>
          <p:nvPr>
            <p:ph idx="1"/>
          </p:nvPr>
        </p:nvSpPr>
        <p:spPr/>
        <p:txBody>
          <a:bodyPr/>
          <a:lstStyle/>
          <a:p>
            <a:pPr>
              <a:lnSpc>
                <a:spcPct val="150000"/>
              </a:lnSpc>
            </a:pPr>
            <a:r>
              <a:rPr lang="en-IN" altLang="en-US" sz="1800"/>
              <a:t>AWS CloudTrail is a core management and governance service that records API calls and user activity across AWS infrastructure, essential for security auditing, compliance, and troubleshooting. </a:t>
            </a:r>
          </a:p>
          <a:p>
            <a:pPr>
              <a:lnSpc>
                <a:spcPct val="150000"/>
              </a:lnSpc>
            </a:pPr>
            <a:r>
              <a:rPr lang="en-IN" altLang="en-US" sz="1800"/>
              <a:t>It logs who made a request, the action, source IP, and time, saving these as immutable, encrypted files in Amazon S3. </a:t>
            </a:r>
          </a:p>
          <a:p>
            <a:pPr>
              <a:lnSpc>
                <a:spcPct val="150000"/>
              </a:lnSpc>
            </a:pPr>
            <a:r>
              <a:rPr lang="en-IN" altLang="en-US" sz="1800"/>
              <a:t>Automatically tracks activity from the AWS Console, CLI, and SDKs, providing 90 days of history for management events.</a:t>
            </a:r>
          </a:p>
          <a:p>
            <a:pPr>
              <a:lnSpc>
                <a:spcPct val="150000"/>
              </a:lnSpc>
            </a:pPr>
            <a:r>
              <a:rPr lang="en-IN" altLang="en-US" sz="1800"/>
              <a:t>Its "always on" for AWS accounts, providing a 90-day history by default, with additional costs for advanced features, long-term storage</a:t>
            </a:r>
          </a:p>
          <a:p>
            <a:pPr>
              <a:lnSpc>
                <a:spcPct val="150000"/>
              </a:lnSpc>
            </a:pPr>
            <a:r>
              <a:rPr lang="en-IN" altLang="en-US" sz="1800">
                <a:hlinkClick r:id="rId3"/>
              </a:rPr>
              <a:t>https://console.aws.amazon.com/cloudtrail/</a:t>
            </a:r>
            <a:r>
              <a:rPr lang="en-IN" altLang="en-US" sz="1800"/>
              <a:t>.</a:t>
            </a:r>
          </a:p>
          <a:p>
            <a:pPr>
              <a:lnSpc>
                <a:spcPct val="150000"/>
              </a:lnSpc>
            </a:pPr>
            <a:endParaRPr lang="en-IN" altLang="en-US" sz="1800"/>
          </a:p>
          <a:p>
            <a:pPr>
              <a:lnSpc>
                <a:spcPct val="150000"/>
              </a:lnSpc>
            </a:pPr>
            <a:endParaRPr lang="en-US" altLang="en-US" sz="1800"/>
          </a:p>
        </p:txBody>
      </p:sp>
    </p:spTree>
  </p:cSld>
  <p:clrMapOvr>
    <a:masterClrMapping/>
  </p:clrMapOvr>
</p:sld>
</file>

<file path=ppt/theme/theme1.xml><?xml version="1.0" encoding="utf-8"?>
<a:theme xmlns:a="http://schemas.openxmlformats.org/drawingml/2006/main" name="vees">
  <a:themeElements>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fontScheme name="ve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ees 1">
        <a:dk1>
          <a:srgbClr val="C0C0C0"/>
        </a:dk1>
        <a:lt1>
          <a:srgbClr val="FFFFFF"/>
        </a:lt1>
        <a:dk2>
          <a:srgbClr val="000099"/>
        </a:dk2>
        <a:lt2>
          <a:srgbClr val="CCECFF"/>
        </a:lt2>
        <a:accent1>
          <a:srgbClr val="FF3399"/>
        </a:accent1>
        <a:accent2>
          <a:srgbClr val="99CCFF"/>
        </a:accent2>
        <a:accent3>
          <a:srgbClr val="AAAACA"/>
        </a:accent3>
        <a:accent4>
          <a:srgbClr val="DADADA"/>
        </a:accent4>
        <a:accent5>
          <a:srgbClr val="FFADCA"/>
        </a:accent5>
        <a:accent6>
          <a:srgbClr val="8AB9E7"/>
        </a:accent6>
        <a:hlink>
          <a:srgbClr val="FF5050"/>
        </a:hlink>
        <a:folHlink>
          <a:srgbClr val="FFFF99"/>
        </a:folHlink>
      </a:clrScheme>
      <a:clrMap bg1="dk2" tx1="lt1" bg2="dk1" tx2="lt2" accent1="accent1" accent2="accent2" accent3="accent3" accent4="accent4" accent5="accent5" accent6="accent6" hlink="hlink" folHlink="folHlink"/>
    </a:extraClrScheme>
    <a:extraClrScheme>
      <a:clrScheme name="vees 2">
        <a:dk1>
          <a:srgbClr val="000000"/>
        </a:dk1>
        <a:lt1>
          <a:srgbClr val="99CCFF"/>
        </a:lt1>
        <a:dk2>
          <a:srgbClr val="1C1C1C"/>
        </a:dk2>
        <a:lt2>
          <a:srgbClr val="4D4D4D"/>
        </a:lt2>
        <a:accent1>
          <a:srgbClr val="CC0066"/>
        </a:accent1>
        <a:accent2>
          <a:srgbClr val="3366FF"/>
        </a:accent2>
        <a:accent3>
          <a:srgbClr val="CAE2FF"/>
        </a:accent3>
        <a:accent4>
          <a:srgbClr val="000000"/>
        </a:accent4>
        <a:accent5>
          <a:srgbClr val="E2AAB8"/>
        </a:accent5>
        <a:accent6>
          <a:srgbClr val="2D5CE7"/>
        </a:accent6>
        <a:hlink>
          <a:srgbClr val="FF0000"/>
        </a:hlink>
        <a:folHlink>
          <a:srgbClr val="FFFF00"/>
        </a:folHlink>
      </a:clrScheme>
      <a:clrMap bg1="lt1" tx1="dk1" bg2="lt2" tx2="dk2" accent1="accent1" accent2="accent2" accent3="accent3" accent4="accent4" accent5="accent5" accent6="accent6" hlink="hlink" folHlink="folHlink"/>
    </a:extraClrScheme>
    <a:extraClrScheme>
      <a:clrScheme name="vees 3">
        <a:dk1>
          <a:srgbClr val="C0C0C0"/>
        </a:dk1>
        <a:lt1>
          <a:srgbClr val="FFFFFF"/>
        </a:lt1>
        <a:dk2>
          <a:srgbClr val="800000"/>
        </a:dk2>
        <a:lt2>
          <a:srgbClr val="FFCC99"/>
        </a:lt2>
        <a:accent1>
          <a:srgbClr val="FF9900"/>
        </a:accent1>
        <a:accent2>
          <a:srgbClr val="CC0000"/>
        </a:accent2>
        <a:accent3>
          <a:srgbClr val="C0AAAA"/>
        </a:accent3>
        <a:accent4>
          <a:srgbClr val="DADADA"/>
        </a:accent4>
        <a:accent5>
          <a:srgbClr val="FFCAAA"/>
        </a:accent5>
        <a:accent6>
          <a:srgbClr val="B90000"/>
        </a:accent6>
        <a:hlink>
          <a:srgbClr val="FF33CC"/>
        </a:hlink>
        <a:folHlink>
          <a:srgbClr val="FFCC00"/>
        </a:folHlink>
      </a:clrScheme>
      <a:clrMap bg1="dk2" tx1="lt1" bg2="dk1" tx2="lt2" accent1="accent1" accent2="accent2" accent3="accent3" accent4="accent4" accent5="accent5" accent6="accent6" hlink="hlink" folHlink="folHlink"/>
    </a:extraClrScheme>
    <a:extraClrScheme>
      <a:clrScheme name="vees 4">
        <a:dk1>
          <a:srgbClr val="000000"/>
        </a:dk1>
        <a:lt1>
          <a:srgbClr val="FF9966"/>
        </a:lt1>
        <a:dk2>
          <a:srgbClr val="1C1C1C"/>
        </a:dk2>
        <a:lt2>
          <a:srgbClr val="4D4D4D"/>
        </a:lt2>
        <a:accent1>
          <a:srgbClr val="FF0000"/>
        </a:accent1>
        <a:accent2>
          <a:srgbClr val="FF6699"/>
        </a:accent2>
        <a:accent3>
          <a:srgbClr val="FFCAB8"/>
        </a:accent3>
        <a:accent4>
          <a:srgbClr val="000000"/>
        </a:accent4>
        <a:accent5>
          <a:srgbClr val="FFAAAA"/>
        </a:accent5>
        <a:accent6>
          <a:srgbClr val="E75C8A"/>
        </a:accent6>
        <a:hlink>
          <a:srgbClr val="CC00CC"/>
        </a:hlink>
        <a:folHlink>
          <a:srgbClr val="FFCC00"/>
        </a:folHlink>
      </a:clrScheme>
      <a:clrMap bg1="lt1" tx1="dk1" bg2="lt2" tx2="dk2" accent1="accent1" accent2="accent2" accent3="accent3" accent4="accent4" accent5="accent5" accent6="accent6" hlink="hlink" folHlink="folHlink"/>
    </a:extraClrScheme>
    <a:extraClrScheme>
      <a:clrScheme name="vees 5">
        <a:dk1>
          <a:srgbClr val="C0C0C0"/>
        </a:dk1>
        <a:lt1>
          <a:srgbClr val="FFFFFF"/>
        </a:lt1>
        <a:dk2>
          <a:srgbClr val="008000"/>
        </a:dk2>
        <a:lt2>
          <a:srgbClr val="CCECFF"/>
        </a:lt2>
        <a:accent1>
          <a:srgbClr val="0066FF"/>
        </a:accent1>
        <a:accent2>
          <a:srgbClr val="00FF00"/>
        </a:accent2>
        <a:accent3>
          <a:srgbClr val="AAC0AA"/>
        </a:accent3>
        <a:accent4>
          <a:srgbClr val="DADADA"/>
        </a:accent4>
        <a:accent5>
          <a:srgbClr val="AAB8FF"/>
        </a:accent5>
        <a:accent6>
          <a:srgbClr val="00E700"/>
        </a:accent6>
        <a:hlink>
          <a:srgbClr val="A29E00"/>
        </a:hlink>
        <a:folHlink>
          <a:srgbClr val="EA8B00"/>
        </a:folHlink>
      </a:clrScheme>
      <a:clrMap bg1="dk2" tx1="lt1" bg2="dk1" tx2="lt2" accent1="accent1" accent2="accent2" accent3="accent3" accent4="accent4" accent5="accent5" accent6="accent6" hlink="hlink" folHlink="folHlink"/>
    </a:extraClrScheme>
    <a:extraClrScheme>
      <a:clrScheme name="vees 6">
        <a:dk1>
          <a:srgbClr val="000000"/>
        </a:dk1>
        <a:lt1>
          <a:srgbClr val="97E183"/>
        </a:lt1>
        <a:dk2>
          <a:srgbClr val="1C1C1C"/>
        </a:dk2>
        <a:lt2>
          <a:srgbClr val="4D4D4D"/>
        </a:lt2>
        <a:accent1>
          <a:srgbClr val="0066FF"/>
        </a:accent1>
        <a:accent2>
          <a:srgbClr val="99FF99"/>
        </a:accent2>
        <a:accent3>
          <a:srgbClr val="C9EEC1"/>
        </a:accent3>
        <a:accent4>
          <a:srgbClr val="000000"/>
        </a:accent4>
        <a:accent5>
          <a:srgbClr val="AAB8FF"/>
        </a:accent5>
        <a:accent6>
          <a:srgbClr val="8AE78A"/>
        </a:accent6>
        <a:hlink>
          <a:srgbClr val="CC9900"/>
        </a:hlink>
        <a:folHlink>
          <a:srgbClr val="FFCC66"/>
        </a:folHlink>
      </a:clrScheme>
      <a:clrMap bg1="lt1" tx1="dk1" bg2="lt2" tx2="dk2" accent1="accent1" accent2="accent2" accent3="accent3" accent4="accent4" accent5="accent5" accent6="accent6" hlink="hlink" folHlink="folHlink"/>
    </a:extraClrScheme>
    <a:extraClrScheme>
      <a:clrScheme name="vees 7">
        <a:dk1>
          <a:srgbClr val="C0C0C0"/>
        </a:dk1>
        <a:lt1>
          <a:srgbClr val="FFFFFF"/>
        </a:lt1>
        <a:dk2>
          <a:srgbClr val="008080"/>
        </a:dk2>
        <a:lt2>
          <a:srgbClr val="CCECFF"/>
        </a:lt2>
        <a:accent1>
          <a:srgbClr val="29A329"/>
        </a:accent1>
        <a:accent2>
          <a:srgbClr val="00FFFF"/>
        </a:accent2>
        <a:accent3>
          <a:srgbClr val="AAC0C0"/>
        </a:accent3>
        <a:accent4>
          <a:srgbClr val="DADADA"/>
        </a:accent4>
        <a:accent5>
          <a:srgbClr val="ACCEAC"/>
        </a:accent5>
        <a:accent6>
          <a:srgbClr val="00E7E7"/>
        </a:accent6>
        <a:hlink>
          <a:srgbClr val="3B6AFF"/>
        </a:hlink>
        <a:folHlink>
          <a:srgbClr val="FF9900"/>
        </a:folHlink>
      </a:clrScheme>
      <a:clrMap bg1="dk2" tx1="lt1" bg2="dk1" tx2="lt2" accent1="accent1" accent2="accent2" accent3="accent3" accent4="accent4" accent5="accent5" accent6="accent6" hlink="hlink" folHlink="folHlink"/>
    </a:extraClrScheme>
    <a:extraClrScheme>
      <a:clrScheme name="vees 8">
        <a:dk1>
          <a:srgbClr val="000000"/>
        </a:dk1>
        <a:lt1>
          <a:srgbClr val="64F0BE"/>
        </a:lt1>
        <a:dk2>
          <a:srgbClr val="1C1C1C"/>
        </a:dk2>
        <a:lt2>
          <a:srgbClr val="4D4D4D"/>
        </a:lt2>
        <a:accent1>
          <a:srgbClr val="008000"/>
        </a:accent1>
        <a:accent2>
          <a:srgbClr val="00FFFF"/>
        </a:accent2>
        <a:accent3>
          <a:srgbClr val="B8F6DB"/>
        </a:accent3>
        <a:accent4>
          <a:srgbClr val="000000"/>
        </a:accent4>
        <a:accent5>
          <a:srgbClr val="AAC0AA"/>
        </a:accent5>
        <a:accent6>
          <a:srgbClr val="00E7E7"/>
        </a:accent6>
        <a:hlink>
          <a:srgbClr val="3366FF"/>
        </a:hlink>
        <a:folHlink>
          <a:srgbClr val="FFCC66"/>
        </a:folHlink>
      </a:clrScheme>
      <a:clrMap bg1="lt1" tx1="dk1" bg2="lt2" tx2="dk2" accent1="accent1" accent2="accent2" accent3="accent3" accent4="accent4" accent5="accent5" accent6="accent6" hlink="hlink" folHlink="folHlink"/>
    </a:extraClrScheme>
    <a:extraClrScheme>
      <a:clrScheme name="vees 9">
        <a:dk1>
          <a:srgbClr val="C0C0C0"/>
        </a:dk1>
        <a:lt1>
          <a:srgbClr val="FFFFFF"/>
        </a:lt1>
        <a:dk2>
          <a:srgbClr val="CC9900"/>
        </a:dk2>
        <a:lt2>
          <a:srgbClr val="FFFFCC"/>
        </a:lt2>
        <a:accent1>
          <a:srgbClr val="FF3300"/>
        </a:accent1>
        <a:accent2>
          <a:srgbClr val="FFCC66"/>
        </a:accent2>
        <a:accent3>
          <a:srgbClr val="E2CAAA"/>
        </a:accent3>
        <a:accent4>
          <a:srgbClr val="DADADA"/>
        </a:accent4>
        <a:accent5>
          <a:srgbClr val="FFADAA"/>
        </a:accent5>
        <a:accent6>
          <a:srgbClr val="E7B95C"/>
        </a:accent6>
        <a:hlink>
          <a:srgbClr val="008080"/>
        </a:hlink>
        <a:folHlink>
          <a:srgbClr val="3399FF"/>
        </a:folHlink>
      </a:clrScheme>
      <a:clrMap bg1="dk2" tx1="lt1" bg2="dk1" tx2="lt2" accent1="accent1" accent2="accent2" accent3="accent3" accent4="accent4" accent5="accent5" accent6="accent6" hlink="hlink" folHlink="folHlink"/>
    </a:extraClrScheme>
    <a:extraClrScheme>
      <a:clrScheme name="vees 10">
        <a:dk1>
          <a:srgbClr val="000000"/>
        </a:dk1>
        <a:lt1>
          <a:srgbClr val="EFF274"/>
        </a:lt1>
        <a:dk2>
          <a:srgbClr val="1C1C1C"/>
        </a:dk2>
        <a:lt2>
          <a:srgbClr val="4D4D4D"/>
        </a:lt2>
        <a:accent1>
          <a:srgbClr val="9966FF"/>
        </a:accent1>
        <a:accent2>
          <a:srgbClr val="FFFFCC"/>
        </a:accent2>
        <a:accent3>
          <a:srgbClr val="F6F7BC"/>
        </a:accent3>
        <a:accent4>
          <a:srgbClr val="000000"/>
        </a:accent4>
        <a:accent5>
          <a:srgbClr val="CAB8FF"/>
        </a:accent5>
        <a:accent6>
          <a:srgbClr val="E7E7B9"/>
        </a:accent6>
        <a:hlink>
          <a:srgbClr val="6666FF"/>
        </a:hlink>
        <a:folHlink>
          <a:srgbClr val="99CCFF"/>
        </a:folHlink>
      </a:clrScheme>
      <a:clrMap bg1="lt1" tx1="dk1" bg2="lt2" tx2="dk2" accent1="accent1" accent2="accent2" accent3="accent3" accent4="accent4" accent5="accent5" accent6="accent6" hlink="hlink" folHlink="folHlink"/>
    </a:extraClrScheme>
    <a:extraClrScheme>
      <a:clrScheme name="vees 11">
        <a:dk1>
          <a:srgbClr val="C0C0C0"/>
        </a:dk1>
        <a:lt1>
          <a:srgbClr val="FFFFFF"/>
        </a:lt1>
        <a:dk2>
          <a:srgbClr val="6600CC"/>
        </a:dk2>
        <a:lt2>
          <a:srgbClr val="CCCCFF"/>
        </a:lt2>
        <a:accent1>
          <a:srgbClr val="D60093"/>
        </a:accent1>
        <a:accent2>
          <a:srgbClr val="9999FF"/>
        </a:accent2>
        <a:accent3>
          <a:srgbClr val="B8AAE2"/>
        </a:accent3>
        <a:accent4>
          <a:srgbClr val="DADADA"/>
        </a:accent4>
        <a:accent5>
          <a:srgbClr val="E8AAC8"/>
        </a:accent5>
        <a:accent6>
          <a:srgbClr val="8A8AE7"/>
        </a:accent6>
        <a:hlink>
          <a:srgbClr val="008000"/>
        </a:hlink>
        <a:folHlink>
          <a:srgbClr val="FF9966"/>
        </a:folHlink>
      </a:clrScheme>
      <a:clrMap bg1="dk2" tx1="lt1" bg2="dk1" tx2="lt2" accent1="accent1" accent2="accent2" accent3="accent3" accent4="accent4" accent5="accent5" accent6="accent6" hlink="hlink" folHlink="folHlink"/>
    </a:extraClrScheme>
    <a:extraClrScheme>
      <a:clrScheme name="vees 12">
        <a:dk1>
          <a:srgbClr val="000000"/>
        </a:dk1>
        <a:lt1>
          <a:srgbClr val="CC99FF"/>
        </a:lt1>
        <a:dk2>
          <a:srgbClr val="1C1C1C"/>
        </a:dk2>
        <a:lt2>
          <a:srgbClr val="4D4D4D"/>
        </a:lt2>
        <a:accent1>
          <a:srgbClr val="0066FF"/>
        </a:accent1>
        <a:accent2>
          <a:srgbClr val="CCCCFF"/>
        </a:accent2>
        <a:accent3>
          <a:srgbClr val="E2CAFF"/>
        </a:accent3>
        <a:accent4>
          <a:srgbClr val="000000"/>
        </a:accent4>
        <a:accent5>
          <a:srgbClr val="AAB8FF"/>
        </a:accent5>
        <a:accent6>
          <a:srgbClr val="B9B9E7"/>
        </a:accent6>
        <a:hlink>
          <a:srgbClr val="FF0066"/>
        </a:hlink>
        <a:folHlink>
          <a:srgbClr val="66CCFF"/>
        </a:folHlink>
      </a:clrScheme>
      <a:clrMap bg1="lt1" tx1="dk1" bg2="lt2" tx2="dk2" accent1="accent1" accent2="accent2" accent3="accent3" accent4="accent4" accent5="accent5" accent6="accent6" hlink="hlink" folHlink="folHlink"/>
    </a:extraClrScheme>
    <a:extraClrScheme>
      <a:clrScheme name="vees 13">
        <a:dk1>
          <a:srgbClr val="C0C0C0"/>
        </a:dk1>
        <a:lt1>
          <a:srgbClr val="FFFFFF"/>
        </a:lt1>
        <a:dk2>
          <a:srgbClr val="CC0066"/>
        </a:dk2>
        <a:lt2>
          <a:srgbClr val="FFCCCC"/>
        </a:lt2>
        <a:accent1>
          <a:srgbClr val="993366"/>
        </a:accent1>
        <a:accent2>
          <a:srgbClr val="FF9999"/>
        </a:accent2>
        <a:accent3>
          <a:srgbClr val="E2AAB8"/>
        </a:accent3>
        <a:accent4>
          <a:srgbClr val="DADADA"/>
        </a:accent4>
        <a:accent5>
          <a:srgbClr val="CAADB8"/>
        </a:accent5>
        <a:accent6>
          <a:srgbClr val="E78A8A"/>
        </a:accent6>
        <a:hlink>
          <a:srgbClr val="009999"/>
        </a:hlink>
        <a:folHlink>
          <a:srgbClr val="FF9933"/>
        </a:folHlink>
      </a:clrScheme>
      <a:clrMap bg1="dk2" tx1="lt1" bg2="dk1" tx2="lt2" accent1="accent1" accent2="accent2" accent3="accent3" accent4="accent4" accent5="accent5" accent6="accent6" hlink="hlink" folHlink="folHlink"/>
    </a:extraClrScheme>
    <a:extraClrScheme>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clrMap bg1="lt1" tx1="dk1" bg2="lt2" tx2="dk2" accent1="accent1" accent2="accent2" accent3="accent3" accent4="accent4" accent5="accent5" accent6="accent6" hlink="hlink" folHlink="folHlink"/>
    </a:extraClrScheme>
    <a:extraClrScheme>
      <a:clrScheme name="vees 15">
        <a:dk1>
          <a:srgbClr val="C0C0C0"/>
        </a:dk1>
        <a:lt1>
          <a:srgbClr val="FFFFFF"/>
        </a:lt1>
        <a:dk2>
          <a:srgbClr val="000000"/>
        </a:dk2>
        <a:lt2>
          <a:srgbClr val="DDDDDD"/>
        </a:lt2>
        <a:accent1>
          <a:srgbClr val="4D4D4D"/>
        </a:accent1>
        <a:accent2>
          <a:srgbClr val="C0C0C0"/>
        </a:accent2>
        <a:accent3>
          <a:srgbClr val="AAAAAA"/>
        </a:accent3>
        <a:accent4>
          <a:srgbClr val="DADADA"/>
        </a:accent4>
        <a:accent5>
          <a:srgbClr val="B2B2B2"/>
        </a:accent5>
        <a:accent6>
          <a:srgbClr val="AEAEAE"/>
        </a:accent6>
        <a:hlink>
          <a:srgbClr val="777777"/>
        </a:hlink>
        <a:folHlink>
          <a:srgbClr val="FFFFFF"/>
        </a:folHlink>
      </a:clrScheme>
      <a:clrMap bg1="dk2" tx1="lt1" bg2="dk1" tx2="lt2" accent1="accent1" accent2="accent2" accent3="accent3" accent4="accent4" accent5="accent5" accent6="accent6" hlink="hlink" folHlink="folHlink"/>
    </a:extraClrScheme>
    <a:extraClrScheme>
      <a:clrScheme name="vees 16">
        <a:dk1>
          <a:srgbClr val="000000"/>
        </a:dk1>
        <a:lt1>
          <a:srgbClr val="FFFFFF"/>
        </a:lt1>
        <a:dk2>
          <a:srgbClr val="1C1C1C"/>
        </a:dk2>
        <a:lt2>
          <a:srgbClr val="4D4D4D"/>
        </a:lt2>
        <a:accent1>
          <a:srgbClr val="4D4D4D"/>
        </a:accent1>
        <a:accent2>
          <a:srgbClr val="DDDDDD"/>
        </a:accent2>
        <a:accent3>
          <a:srgbClr val="FFFFFF"/>
        </a:accent3>
        <a:accent4>
          <a:srgbClr val="000000"/>
        </a:accent4>
        <a:accent5>
          <a:srgbClr val="B2B2B2"/>
        </a:accent5>
        <a:accent6>
          <a:srgbClr val="C8C8C8"/>
        </a:accent6>
        <a:hlink>
          <a:srgbClr val="808080"/>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040</Template>
  <TotalTime>28652</TotalTime>
  <Words>3221</Words>
  <Application>Microsoft Macintosh PowerPoint</Application>
  <PresentationFormat>On-screen Show (4:3)</PresentationFormat>
  <Paragraphs>403</Paragraphs>
  <Slides>46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Times New Roman</vt:lpstr>
      <vt:lpstr>medium-content-sans-serif-font</vt:lpstr>
      <vt:lpstr>vees</vt:lpstr>
      <vt:lpstr>PowerPoint Presentation</vt:lpstr>
      <vt:lpstr>Topics</vt:lpstr>
      <vt:lpstr>Amazon Web Service</vt:lpstr>
      <vt:lpstr>Cloud Computing</vt:lpstr>
      <vt:lpstr>Cloud Computing</vt:lpstr>
      <vt:lpstr> Advantages of Cloud Computing </vt:lpstr>
      <vt:lpstr>Cloud Computing</vt:lpstr>
      <vt:lpstr>Cloud Computing</vt:lpstr>
      <vt:lpstr>Key benefits of AWS</vt:lpstr>
      <vt:lpstr>AWS Global Infrastructure</vt:lpstr>
      <vt:lpstr>Availability Zones</vt:lpstr>
      <vt:lpstr>IAM</vt:lpstr>
      <vt:lpstr> Key Benefits of IAM </vt:lpstr>
      <vt:lpstr>AWS Lambda</vt:lpstr>
      <vt:lpstr> AWS Lambda </vt:lpstr>
      <vt:lpstr>Supported Languages and Runtimes</vt:lpstr>
      <vt:lpstr>Amazon Virtual Private Cloud</vt:lpstr>
      <vt:lpstr>Amazon Virtual Private Cloud</vt:lpstr>
      <vt:lpstr> Route Tables </vt:lpstr>
      <vt:lpstr> NAT Gateways </vt:lpstr>
      <vt:lpstr>AWS Services</vt:lpstr>
      <vt:lpstr>AWS Service</vt:lpstr>
      <vt:lpstr>AWS Architecture</vt:lpstr>
      <vt:lpstr>Elastic Compute Cloud-EC2</vt:lpstr>
      <vt:lpstr>Elastic Compute Cloud</vt:lpstr>
      <vt:lpstr>EC2 Instance</vt:lpstr>
      <vt:lpstr>EC2 Instance</vt:lpstr>
      <vt:lpstr>EC2 Instance </vt:lpstr>
      <vt:lpstr>  AWS - Management Console  </vt:lpstr>
      <vt:lpstr>Simple storage service-s3</vt:lpstr>
      <vt:lpstr>Simple Storage Service (S3)</vt:lpstr>
      <vt:lpstr>Buckets</vt:lpstr>
      <vt:lpstr>Amazon RDS</vt:lpstr>
      <vt:lpstr>Amazon RDS</vt:lpstr>
      <vt:lpstr>RDS Benefits</vt:lpstr>
      <vt:lpstr>Elastic bean stalk</vt:lpstr>
      <vt:lpstr>Elastic Bean Stalk</vt:lpstr>
      <vt:lpstr>Features of Elastic Bean  Stalk</vt:lpstr>
      <vt:lpstr>Working with Elastic Bean Stalk</vt:lpstr>
      <vt:lpstr>Elastic Bean Stalk</vt:lpstr>
      <vt:lpstr>Elastic Bean Stalk</vt:lpstr>
      <vt:lpstr>WS Key Management Services</vt:lpstr>
      <vt:lpstr>AWS Secrets Manager</vt:lpstr>
      <vt:lpstr>WS WAF and AWS Shield</vt:lpstr>
      <vt:lpstr>Amazon CloudWatch</vt:lpstr>
      <vt:lpstr>AWS Cloud Trails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Srivatsan Krishnamachari</cp:lastModifiedBy>
  <cp:revision>690</cp:revision>
  <dcterms:created xsi:type="dcterms:W3CDTF">2005-01-17T05:49:17Z</dcterms:created>
  <dcterms:modified xsi:type="dcterms:W3CDTF">2026-02-09T04:27:19Z</dcterms:modified>
</cp:coreProperties>
</file>