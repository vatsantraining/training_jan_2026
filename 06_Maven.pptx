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9"/>
  </p:notesMasterIdLst>
  <p:sldIdLst>
    <p:sldId id="701" r:id="rId2"/>
    <p:sldId id="743" r:id="rId3"/>
    <p:sldId id="702" r:id="rId4"/>
    <p:sldId id="703" r:id="rId5"/>
    <p:sldId id="706" r:id="rId6"/>
    <p:sldId id="708" r:id="rId7"/>
    <p:sldId id="709" r:id="rId8"/>
    <p:sldId id="710" r:id="rId9"/>
    <p:sldId id="752" r:id="rId10"/>
    <p:sldId id="754" r:id="rId11"/>
    <p:sldId id="712" r:id="rId12"/>
    <p:sldId id="714" r:id="rId13"/>
    <p:sldId id="799" r:id="rId14"/>
    <p:sldId id="748" r:id="rId15"/>
    <p:sldId id="800" r:id="rId16"/>
    <p:sldId id="807" r:id="rId17"/>
    <p:sldId id="802" r:id="rId18"/>
    <p:sldId id="803" r:id="rId19"/>
    <p:sldId id="804" r:id="rId20"/>
    <p:sldId id="813" r:id="rId21"/>
    <p:sldId id="812" r:id="rId22"/>
    <p:sldId id="791" r:id="rId23"/>
    <p:sldId id="793" r:id="rId24"/>
    <p:sldId id="810" r:id="rId25"/>
    <p:sldId id="717" r:id="rId26"/>
    <p:sldId id="811" r:id="rId27"/>
    <p:sldId id="720" r:id="rId28"/>
    <p:sldId id="726" r:id="rId29"/>
    <p:sldId id="814" r:id="rId30"/>
    <p:sldId id="829" r:id="rId31"/>
    <p:sldId id="830" r:id="rId32"/>
    <p:sldId id="832" r:id="rId33"/>
    <p:sldId id="833" r:id="rId34"/>
    <p:sldId id="824" r:id="rId35"/>
    <p:sldId id="825" r:id="rId36"/>
    <p:sldId id="826" r:id="rId37"/>
    <p:sldId id="827" r:id="rId38"/>
  </p:sldIdLst>
  <p:sldSz cx="9144000" cy="6858000" type="screen4x3"/>
  <p:notesSz cx="6858000" cy="9144000"/>
  <p:defaultTextStyle>
    <a:defPPr>
      <a:defRPr lang="en-GB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1pPr>
    <a:lvl2pPr marL="742950" indent="-285750" algn="l" defTabSz="457200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2pPr>
    <a:lvl3pPr marL="1143000" indent="-228600" algn="l" defTabSz="457200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3pPr>
    <a:lvl4pPr marL="1600200" indent="-228600" algn="l" defTabSz="457200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4pPr>
    <a:lvl5pPr marL="2057400" indent="-228600" algn="l" defTabSz="457200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vertBarState="minimized" horzBarState="maximized"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2616" y="488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3125"/>
    </p:cViewPr>
  </p:sorterViewPr>
  <p:notesViewPr>
    <p:cSldViewPr>
      <p:cViewPr varScale="1">
        <p:scale>
          <a:sx n="41" d="100"/>
          <a:sy n="41" d="100"/>
        </p:scale>
        <p:origin x="-2333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AutoShape 1">
            <a:extLst>
              <a:ext uri="{FF2B5EF4-FFF2-40B4-BE49-F238E27FC236}">
                <a16:creationId xmlns:a16="http://schemas.microsoft.com/office/drawing/2014/main" id="{84C07C11-C8E2-3469-8C05-49F8040BE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60419" name="Text Box 2">
            <a:extLst>
              <a:ext uri="{FF2B5EF4-FFF2-40B4-BE49-F238E27FC236}">
                <a16:creationId xmlns:a16="http://schemas.microsoft.com/office/drawing/2014/main" id="{4AD8D3E8-27FF-209B-598C-5294217C01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60420" name="Text Box 3">
            <a:extLst>
              <a:ext uri="{FF2B5EF4-FFF2-40B4-BE49-F238E27FC236}">
                <a16:creationId xmlns:a16="http://schemas.microsoft.com/office/drawing/2014/main" id="{85C2F1C6-48A9-11D5-20CB-D4D6B00535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56325" name="Rectangle 4">
            <a:extLst>
              <a:ext uri="{FF2B5EF4-FFF2-40B4-BE49-F238E27FC236}">
                <a16:creationId xmlns:a16="http://schemas.microsoft.com/office/drawing/2014/main" id="{D3E83A27-2435-9CAB-434C-22CB89106073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CDFC3E0D-87AA-D4ED-2748-2FFFE4FDCEEF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914400" y="4343400"/>
            <a:ext cx="5027613" cy="4113213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60423" name="Text Box 6">
            <a:extLst>
              <a:ext uri="{FF2B5EF4-FFF2-40B4-BE49-F238E27FC236}">
                <a16:creationId xmlns:a16="http://schemas.microsoft.com/office/drawing/2014/main" id="{945C6C2F-0634-87B9-1F21-08D19DE4B4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60149B96-D915-4C38-661A-FB0FBAC81D3B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3886200" y="8686800"/>
            <a:ext cx="2970213" cy="455613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fld id="{E0CE22BF-2235-A04A-80A0-1B32EDB81E0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>
            <a:extLst>
              <a:ext uri="{FF2B5EF4-FFF2-40B4-BE49-F238E27FC236}">
                <a16:creationId xmlns:a16="http://schemas.microsoft.com/office/drawing/2014/main" id="{6CA1F675-ADE0-AEB9-F4E9-A8393F0FFBA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>
            <a:extLst>
              <a:ext uri="{FF2B5EF4-FFF2-40B4-BE49-F238E27FC236}">
                <a16:creationId xmlns:a16="http://schemas.microsoft.com/office/drawing/2014/main" id="{EF10392A-1B75-6720-E057-5865B73A4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7348" name="Slide Number Placeholder 3">
            <a:extLst>
              <a:ext uri="{FF2B5EF4-FFF2-40B4-BE49-F238E27FC236}">
                <a16:creationId xmlns:a16="http://schemas.microsoft.com/office/drawing/2014/main" id="{0CB320DB-B52E-A55C-7C36-F2962487167A}"/>
              </a:ext>
            </a:extLst>
          </p:cNvPr>
          <p:cNvSpPr>
            <a:spLocks noGrp="1"/>
          </p:cNvSpPr>
          <p:nvPr>
            <p:ph type="sldNum" sz="quarter"/>
          </p:nvPr>
        </p:nvSpPr>
        <p:spPr/>
        <p:txBody>
          <a:bodyPr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fld id="{9223FC1E-3D9A-984F-8298-4934135A048D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6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>
            <a:extLst>
              <a:ext uri="{FF2B5EF4-FFF2-40B4-BE49-F238E27FC236}">
                <a16:creationId xmlns:a16="http://schemas.microsoft.com/office/drawing/2014/main" id="{CEA051A6-9B71-9728-35D3-B73929030A5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>
            <a:extLst>
              <a:ext uri="{FF2B5EF4-FFF2-40B4-BE49-F238E27FC236}">
                <a16:creationId xmlns:a16="http://schemas.microsoft.com/office/drawing/2014/main" id="{836640FB-7A1F-3E70-F4FC-B0B113880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8372" name="Slide Number Placeholder 3">
            <a:extLst>
              <a:ext uri="{FF2B5EF4-FFF2-40B4-BE49-F238E27FC236}">
                <a16:creationId xmlns:a16="http://schemas.microsoft.com/office/drawing/2014/main" id="{98AAB890-316A-4E5B-D51E-39BD06E975D1}"/>
              </a:ext>
            </a:extLst>
          </p:cNvPr>
          <p:cNvSpPr>
            <a:spLocks noGrp="1"/>
          </p:cNvSpPr>
          <p:nvPr>
            <p:ph type="sldNum" sz="quarter"/>
          </p:nvPr>
        </p:nvSpPr>
        <p:spPr/>
        <p:txBody>
          <a:bodyPr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fld id="{97F9B399-BD2D-2547-9E36-79E5F45906C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21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>
            <a:extLst>
              <a:ext uri="{FF2B5EF4-FFF2-40B4-BE49-F238E27FC236}">
                <a16:creationId xmlns:a16="http://schemas.microsoft.com/office/drawing/2014/main" id="{829A1685-AFAC-9A68-D25C-8A6AA0BB63F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>
            <a:extLst>
              <a:ext uri="{FF2B5EF4-FFF2-40B4-BE49-F238E27FC236}">
                <a16:creationId xmlns:a16="http://schemas.microsoft.com/office/drawing/2014/main" id="{3C493517-5484-1E89-AAE4-3ADF94D14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9396" name="Slide Number Placeholder 3">
            <a:extLst>
              <a:ext uri="{FF2B5EF4-FFF2-40B4-BE49-F238E27FC236}">
                <a16:creationId xmlns:a16="http://schemas.microsoft.com/office/drawing/2014/main" id="{7CB17FB7-D558-5EE7-5718-E1A7BAF1FC5C}"/>
              </a:ext>
            </a:extLst>
          </p:cNvPr>
          <p:cNvSpPr>
            <a:spLocks noGrp="1"/>
          </p:cNvSpPr>
          <p:nvPr>
            <p:ph type="sldNum" sz="quarter"/>
          </p:nvPr>
        </p:nvSpPr>
        <p:spPr/>
        <p:txBody>
          <a:bodyPr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fld id="{417D01B6-08B8-C44F-B5E3-4B14F957DEF9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22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>
            <a:extLst>
              <a:ext uri="{FF2B5EF4-FFF2-40B4-BE49-F238E27FC236}">
                <a16:creationId xmlns:a16="http://schemas.microsoft.com/office/drawing/2014/main" id="{484BC370-A0F0-2A6A-5DA5-D45EBCB2F5C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>
            <a:extLst>
              <a:ext uri="{FF2B5EF4-FFF2-40B4-BE49-F238E27FC236}">
                <a16:creationId xmlns:a16="http://schemas.microsoft.com/office/drawing/2014/main" id="{9E5841BD-5C79-4C49-65A7-98E53CCE7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0420" name="Slide Number Placeholder 3">
            <a:extLst>
              <a:ext uri="{FF2B5EF4-FFF2-40B4-BE49-F238E27FC236}">
                <a16:creationId xmlns:a16="http://schemas.microsoft.com/office/drawing/2014/main" id="{DB30EE95-07A7-B1E9-816B-F7E5E667CB15}"/>
              </a:ext>
            </a:extLst>
          </p:cNvPr>
          <p:cNvSpPr>
            <a:spLocks noGrp="1"/>
          </p:cNvSpPr>
          <p:nvPr>
            <p:ph type="sldNum" sz="quarter"/>
          </p:nvPr>
        </p:nvSpPr>
        <p:spPr/>
        <p:txBody>
          <a:bodyPr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fld id="{E2374711-ED3D-6244-9A99-4CA068C403F9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25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>
            <a:extLst>
              <a:ext uri="{FF2B5EF4-FFF2-40B4-BE49-F238E27FC236}">
                <a16:creationId xmlns:a16="http://schemas.microsoft.com/office/drawing/2014/main" id="{42DA0439-73EB-5031-C2E4-AF2D5173CBD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>
            <a:extLst>
              <a:ext uri="{FF2B5EF4-FFF2-40B4-BE49-F238E27FC236}">
                <a16:creationId xmlns:a16="http://schemas.microsoft.com/office/drawing/2014/main" id="{779CBB10-CCB2-9A86-C37B-443A2D2AB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44" name="Slide Number Placeholder 3">
            <a:extLst>
              <a:ext uri="{FF2B5EF4-FFF2-40B4-BE49-F238E27FC236}">
                <a16:creationId xmlns:a16="http://schemas.microsoft.com/office/drawing/2014/main" id="{D51B26A7-064A-7DCE-A62F-6EA232F376BF}"/>
              </a:ext>
            </a:extLst>
          </p:cNvPr>
          <p:cNvSpPr>
            <a:spLocks noGrp="1"/>
          </p:cNvSpPr>
          <p:nvPr>
            <p:ph type="sldNum" sz="quarter"/>
          </p:nvPr>
        </p:nvSpPr>
        <p:spPr/>
        <p:txBody>
          <a:bodyPr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fld id="{2499ADB6-FFA0-2E4A-8417-215BCBF305F5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27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BEDBF0A-F072-442E-EDE7-12BAD09B3C45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4BDABC-3D88-1943-9C22-AFFDECAA0A0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660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CD0D26D-F544-09FF-F433-5FF7998EC521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E335BF-9A57-BD4A-B479-DA6B5EC3EDA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9959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9820389-9D72-B829-FBEC-04F794CCC9DD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2BA0CD-0B4C-C24F-A28D-61E24BAC747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914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7013" cy="5133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990600"/>
            <a:ext cx="4038600" cy="5133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151C192-AF3B-F8D1-3913-60DCE9A9BE39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A83564-7986-B645-A504-E1B0B565D2F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1059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8070150-4ABB-874F-89AB-AAD7BFEADA0E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4C4940-F847-7B47-A957-980C67917CB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3890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DDD9ADB-737F-4111-4EB6-2448B6A9692A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3DD5D6-BF55-FE4C-B966-D2786DE8D08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6043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FC8D542F-66D2-4D8B-D934-E3BB6B55BC7D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1C3D44-BF9A-5F41-AB2B-6852B5C4459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2690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539D6F8-76E8-3127-6732-6593BC332A59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835DBB-BD59-EC4E-8B06-101BCF237E4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3220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A7234AE-1D30-71A2-139A-D71C349F01AD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B7D910-1FDC-D949-913E-31A9584275D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6276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BBCAE35-E1F5-F12F-CE90-843C7C3D50C6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B7522E-AFA9-D249-A7FB-8616B3FCA5F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6901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65113"/>
            <a:ext cx="2055813" cy="58594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65113"/>
            <a:ext cx="6019800" cy="58594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5A91795-EE87-ADDC-C1E0-1F4A3167F569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D20BC9-73E5-2746-B018-67D2F33DAB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82175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055864" cy="54102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CE03DC8A-010E-03A7-5BFC-02D46C62D26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52400" y="6596063"/>
            <a:ext cx="381000" cy="261937"/>
          </a:xfrm>
        </p:spPr>
        <p:txBody>
          <a:bodyPr/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fld id="{6506A18A-F1D9-5642-B776-9C6B2A9C5B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70038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055864" cy="54864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53879A1E-A32E-A9C5-B363-EE1785E8324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52400" y="6596063"/>
            <a:ext cx="381000" cy="261937"/>
          </a:xfrm>
        </p:spPr>
        <p:txBody>
          <a:bodyPr/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fld id="{55FE24B9-9306-3E43-9777-1F9272D3BC7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23540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055864" cy="54102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750765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055864" cy="50292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0"/>
            <a:ext cx="2667000" cy="457199"/>
          </a:xfrm>
        </p:spPr>
        <p:txBody>
          <a:bodyPr anchor="ctr" anchorCtr="1"/>
          <a:lstStyle>
            <a:lvl1pPr algn="ctr">
              <a:buNone/>
              <a:defRPr sz="1800">
                <a:solidFill>
                  <a:schemeClr val="bg1"/>
                </a:solidFill>
                <a:latin typeface="Hand Of Sean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F2E51701-D331-1C7A-D947-585ECDCB77F5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>
          <a:xfrm>
            <a:off x="152400" y="6596063"/>
            <a:ext cx="381000" cy="261937"/>
          </a:xfrm>
        </p:spPr>
        <p:txBody>
          <a:bodyPr/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fld id="{EF05C90A-E565-4345-9F2A-92649C49410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73753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055864" cy="50292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0"/>
            <a:ext cx="2667000" cy="457199"/>
          </a:xfrm>
        </p:spPr>
        <p:txBody>
          <a:bodyPr anchor="ctr" anchorCtr="1"/>
          <a:lstStyle>
            <a:lvl1pPr algn="ctr">
              <a:buNone/>
              <a:defRPr sz="1800">
                <a:solidFill>
                  <a:schemeClr val="bg1"/>
                </a:solidFill>
                <a:latin typeface="Hand Of Sean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647BC8EE-B24A-E8D5-9D04-84E356E22367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>
          <a:xfrm>
            <a:off x="152400" y="6596063"/>
            <a:ext cx="381000" cy="261937"/>
          </a:xfrm>
        </p:spPr>
        <p:txBody>
          <a:bodyPr/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fld id="{889D42FC-795A-5040-B5BC-064FE0B2BD4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64035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055864" cy="50292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0"/>
            <a:ext cx="2667000" cy="457199"/>
          </a:xfrm>
        </p:spPr>
        <p:txBody>
          <a:bodyPr anchor="ctr" anchorCtr="1"/>
          <a:lstStyle>
            <a:lvl1pPr algn="ctr">
              <a:buNone/>
              <a:defRPr sz="1800">
                <a:solidFill>
                  <a:schemeClr val="bg1"/>
                </a:solidFill>
                <a:latin typeface="Hand Of Sean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FB0A9D77-E84F-AD16-9D13-11FE38E709C6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>
          <a:xfrm>
            <a:off x="152400" y="6596063"/>
            <a:ext cx="381000" cy="261937"/>
          </a:xfrm>
        </p:spPr>
        <p:txBody>
          <a:bodyPr/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fld id="{653DD36B-7A55-BE42-BFE8-AE26843A1F8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24431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055864" cy="50292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0"/>
            <a:ext cx="2667000" cy="457199"/>
          </a:xfrm>
        </p:spPr>
        <p:txBody>
          <a:bodyPr anchor="ctr" anchorCtr="1"/>
          <a:lstStyle>
            <a:lvl1pPr algn="ctr">
              <a:buNone/>
              <a:defRPr sz="1800">
                <a:solidFill>
                  <a:schemeClr val="bg1"/>
                </a:solidFill>
                <a:latin typeface="Hand Of Sean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651CE29F-AD07-8CEF-3FF2-4F6BE0DE7085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>
          <a:xfrm>
            <a:off x="152400" y="6596063"/>
            <a:ext cx="381000" cy="261937"/>
          </a:xfrm>
        </p:spPr>
        <p:txBody>
          <a:bodyPr/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fld id="{96FEE76C-3F8D-F242-9A61-F831CF0FDEB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1418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055864" cy="50292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0"/>
            <a:ext cx="2667000" cy="457199"/>
          </a:xfrm>
        </p:spPr>
        <p:txBody>
          <a:bodyPr anchor="ctr" anchorCtr="1"/>
          <a:lstStyle>
            <a:lvl1pPr algn="ctr">
              <a:buNone/>
              <a:defRPr sz="1800">
                <a:solidFill>
                  <a:schemeClr val="bg1"/>
                </a:solidFill>
                <a:latin typeface="Hand Of Sean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EAFDA062-2613-DE5A-D5BB-ED19A983E027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>
          <a:xfrm>
            <a:off x="152400" y="6596063"/>
            <a:ext cx="381000" cy="261937"/>
          </a:xfrm>
        </p:spPr>
        <p:txBody>
          <a:bodyPr/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fld id="{5452CCBF-5DCB-BB4C-82AF-7627F476A4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31497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055864" cy="50292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0"/>
            <a:ext cx="2667000" cy="457199"/>
          </a:xfrm>
        </p:spPr>
        <p:txBody>
          <a:bodyPr anchor="ctr" anchorCtr="1"/>
          <a:lstStyle>
            <a:lvl1pPr algn="ctr">
              <a:buNone/>
              <a:defRPr sz="1800">
                <a:solidFill>
                  <a:schemeClr val="bg1"/>
                </a:solidFill>
                <a:latin typeface="Hand Of Sean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072627F7-F41B-44D9-6029-3A02F43F6BB0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>
          <a:xfrm>
            <a:off x="152400" y="6596063"/>
            <a:ext cx="381000" cy="261937"/>
          </a:xfrm>
        </p:spPr>
        <p:txBody>
          <a:bodyPr/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fld id="{914BF832-81DD-C849-AB60-818092956A0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07091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055864" cy="50292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0"/>
            <a:ext cx="2667000" cy="457199"/>
          </a:xfrm>
        </p:spPr>
        <p:txBody>
          <a:bodyPr anchor="ctr" anchorCtr="1"/>
          <a:lstStyle>
            <a:lvl1pPr algn="ctr">
              <a:buNone/>
              <a:defRPr sz="1800">
                <a:solidFill>
                  <a:schemeClr val="bg1"/>
                </a:solidFill>
                <a:latin typeface="Hand Of Sean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73475180-A255-FF92-26FD-B4B6DF3C4302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>
          <a:xfrm>
            <a:off x="152400" y="6596063"/>
            <a:ext cx="381000" cy="261937"/>
          </a:xfrm>
        </p:spPr>
        <p:txBody>
          <a:bodyPr/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fld id="{75363902-026E-C34C-88DB-C6914ED76AE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19560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055864" cy="50292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0"/>
            <a:ext cx="2667000" cy="457199"/>
          </a:xfrm>
        </p:spPr>
        <p:txBody>
          <a:bodyPr anchor="ctr" anchorCtr="1"/>
          <a:lstStyle>
            <a:lvl1pPr algn="ctr">
              <a:buNone/>
              <a:defRPr sz="1800">
                <a:solidFill>
                  <a:schemeClr val="bg1"/>
                </a:solidFill>
                <a:latin typeface="Hand Of Sean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366AC086-51B0-229B-B234-4F305D496B61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>
          <a:xfrm>
            <a:off x="152400" y="6596063"/>
            <a:ext cx="381000" cy="261937"/>
          </a:xfrm>
        </p:spPr>
        <p:txBody>
          <a:bodyPr/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fld id="{6826C79A-8D2A-D849-96EA-889562EAF80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01976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055864" cy="50292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0"/>
            <a:ext cx="2667000" cy="457199"/>
          </a:xfrm>
        </p:spPr>
        <p:txBody>
          <a:bodyPr anchor="ctr" anchorCtr="1"/>
          <a:lstStyle>
            <a:lvl1pPr algn="ctr">
              <a:buNone/>
              <a:defRPr sz="1800">
                <a:solidFill>
                  <a:schemeClr val="bg1"/>
                </a:solidFill>
                <a:latin typeface="Hand Of Sean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6D34F236-C893-8CDD-3E9F-60FAB11C2220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>
          <a:xfrm>
            <a:off x="152400" y="6596063"/>
            <a:ext cx="381000" cy="261937"/>
          </a:xfrm>
        </p:spPr>
        <p:txBody>
          <a:bodyPr/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fld id="{B9CA89EA-4F4B-5648-9D3A-D636C316AF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4624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055864" cy="50292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0"/>
            <a:ext cx="2667000" cy="457199"/>
          </a:xfrm>
        </p:spPr>
        <p:txBody>
          <a:bodyPr anchor="ctr" anchorCtr="1"/>
          <a:lstStyle>
            <a:lvl1pPr algn="ctr">
              <a:buNone/>
              <a:defRPr sz="1800">
                <a:solidFill>
                  <a:schemeClr val="bg1"/>
                </a:solidFill>
                <a:latin typeface="Hand Of Sean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C58DC09A-8A86-B073-F79C-C49AAADD9FEA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>
          <a:xfrm>
            <a:off x="152400" y="6596063"/>
            <a:ext cx="381000" cy="261937"/>
          </a:xfrm>
        </p:spPr>
        <p:txBody>
          <a:bodyPr/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fld id="{BDC4B2B8-B756-3848-8A59-F154946C730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31042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055864" cy="50292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0"/>
            <a:ext cx="2667000" cy="457199"/>
          </a:xfrm>
        </p:spPr>
        <p:txBody>
          <a:bodyPr anchor="ctr" anchorCtr="1"/>
          <a:lstStyle>
            <a:lvl1pPr algn="ctr">
              <a:buNone/>
              <a:defRPr sz="1800">
                <a:solidFill>
                  <a:schemeClr val="bg1"/>
                </a:solidFill>
                <a:latin typeface="Hand Of Sean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926139F3-F50D-2251-D0AC-A1EC1AFA6406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>
          <a:xfrm>
            <a:off x="152400" y="6596063"/>
            <a:ext cx="381000" cy="261937"/>
          </a:xfrm>
        </p:spPr>
        <p:txBody>
          <a:bodyPr/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fld id="{1EBF0C03-42C3-7242-8C69-5EB7C16AFFE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71783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055864" cy="50292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0"/>
            <a:ext cx="2667000" cy="457199"/>
          </a:xfrm>
        </p:spPr>
        <p:txBody>
          <a:bodyPr anchor="ctr" anchorCtr="1"/>
          <a:lstStyle>
            <a:lvl1pPr algn="ctr">
              <a:buNone/>
              <a:defRPr sz="1800">
                <a:solidFill>
                  <a:schemeClr val="bg1"/>
                </a:solidFill>
                <a:latin typeface="Hand Of Sean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5186493C-5E4B-2D85-FC91-260EB13C612B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>
          <a:xfrm>
            <a:off x="152400" y="6596063"/>
            <a:ext cx="381000" cy="261937"/>
          </a:xfrm>
        </p:spPr>
        <p:txBody>
          <a:bodyPr/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fld id="{8DA16091-4D39-7E49-A3AB-C23B68FDBE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74081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055864" cy="50292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0"/>
            <a:ext cx="2667000" cy="457199"/>
          </a:xfrm>
        </p:spPr>
        <p:txBody>
          <a:bodyPr anchor="ctr" anchorCtr="1"/>
          <a:lstStyle>
            <a:lvl1pPr algn="ctr">
              <a:buNone/>
              <a:defRPr sz="1800">
                <a:solidFill>
                  <a:schemeClr val="bg1"/>
                </a:solidFill>
                <a:latin typeface="Hand Of Sean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7EAF1B39-E4EF-3ED4-09BA-329AAADE73D5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>
          <a:xfrm>
            <a:off x="152400" y="6596063"/>
            <a:ext cx="381000" cy="261937"/>
          </a:xfrm>
        </p:spPr>
        <p:txBody>
          <a:bodyPr/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fld id="{0A821A1B-9C59-4F45-982A-90E1FA5C797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52109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055864" cy="50292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D4F4B7AE-0673-5B46-1E8F-41F13455294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52400" y="6596063"/>
            <a:ext cx="381000" cy="261937"/>
          </a:xfrm>
        </p:spPr>
        <p:txBody>
          <a:bodyPr/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fld id="{7790018F-04AA-1F4F-AE6C-3A72729052E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7885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>
            <a:extLst>
              <a:ext uri="{FF2B5EF4-FFF2-40B4-BE49-F238E27FC236}">
                <a16:creationId xmlns:a16="http://schemas.microsoft.com/office/drawing/2014/main" id="{41EB085B-7899-E963-5003-75026110FF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65113"/>
            <a:ext cx="82280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719F9D4A-8E24-618E-F250-42C368A440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8013" cy="513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  <p:sp>
        <p:nvSpPr>
          <p:cNvPr id="1028" name="Text Box 3">
            <a:extLst>
              <a:ext uri="{FF2B5EF4-FFF2-40B4-BE49-F238E27FC236}">
                <a16:creationId xmlns:a16="http://schemas.microsoft.com/office/drawing/2014/main" id="{D76352F4-82E8-A8A1-04F6-AE656DB9B9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1029" name="Text Box 4">
            <a:extLst>
              <a:ext uri="{FF2B5EF4-FFF2-40B4-BE49-F238E27FC236}">
                <a16:creationId xmlns:a16="http://schemas.microsoft.com/office/drawing/2014/main" id="{F1890BD9-EF13-5825-2A9C-DE0DAB111B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4AFE0064-F439-56D0-EA63-0EB3F578B07E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5225"/>
            <a:ext cx="2132013" cy="474663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SzPct val="100000"/>
              <a:defRPr>
                <a:solidFill>
                  <a:srgbClr val="000000"/>
                </a:solidFill>
              </a:defRPr>
            </a:lvl1pPr>
          </a:lstStyle>
          <a:p>
            <a:fld id="{B1F71BE5-BA29-B84B-8D32-05BB18A2E16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48" r:id="rId1"/>
    <p:sldLayoutId id="2147484549" r:id="rId2"/>
    <p:sldLayoutId id="2147484550" r:id="rId3"/>
    <p:sldLayoutId id="2147484551" r:id="rId4"/>
    <p:sldLayoutId id="2147484552" r:id="rId5"/>
    <p:sldLayoutId id="2147484553" r:id="rId6"/>
    <p:sldLayoutId id="2147484554" r:id="rId7"/>
    <p:sldLayoutId id="2147484555" r:id="rId8"/>
    <p:sldLayoutId id="2147484556" r:id="rId9"/>
    <p:sldLayoutId id="2147484557" r:id="rId10"/>
    <p:sldLayoutId id="2147484558" r:id="rId11"/>
    <p:sldLayoutId id="2147484559" r:id="rId12"/>
    <p:sldLayoutId id="2147484560" r:id="rId13"/>
    <p:sldLayoutId id="2147484561" r:id="rId14"/>
    <p:sldLayoutId id="2147484562" r:id="rId15"/>
    <p:sldLayoutId id="2147484563" r:id="rId16"/>
    <p:sldLayoutId id="2147484564" r:id="rId17"/>
    <p:sldLayoutId id="2147484565" r:id="rId18"/>
    <p:sldLayoutId id="2147484566" r:id="rId19"/>
    <p:sldLayoutId id="2147484567" r:id="rId20"/>
    <p:sldLayoutId id="2147484568" r:id="rId21"/>
    <p:sldLayoutId id="2147484569" r:id="rId22"/>
    <p:sldLayoutId id="2147484570" r:id="rId23"/>
    <p:sldLayoutId id="2147484571" r:id="rId24"/>
    <p:sldLayoutId id="2147484572" r:id="rId25"/>
    <p:sldLayoutId id="2147484573" r:id="rId26"/>
    <p:sldLayoutId id="2147484574" r:id="rId27"/>
    <p:sldLayoutId id="2147484575" r:id="rId28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>
          <a:solidFill>
            <a:srgbClr val="1C1C1C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>
          <a:solidFill>
            <a:srgbClr val="1C1C1C"/>
          </a:solidFill>
          <a:latin typeface="Arial" charset="0"/>
          <a:ea typeface="Microsoft YaHei" charset="-122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>
          <a:solidFill>
            <a:srgbClr val="1C1C1C"/>
          </a:solidFill>
          <a:latin typeface="Arial" charset="0"/>
          <a:ea typeface="Microsoft YaHei" charset="-122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>
          <a:solidFill>
            <a:srgbClr val="1C1C1C"/>
          </a:solidFill>
          <a:latin typeface="Arial" charset="0"/>
          <a:ea typeface="Microsoft YaHei" charset="-122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>
          <a:solidFill>
            <a:srgbClr val="1C1C1C"/>
          </a:solidFill>
          <a:latin typeface="Arial" charset="0"/>
          <a:ea typeface="Microsoft YaHei" charset="-122"/>
        </a:defRPr>
      </a:lvl5pPr>
      <a:lvl6pPr marL="25146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1C1C1C"/>
          </a:solidFill>
          <a:latin typeface="Arial" charset="0"/>
          <a:ea typeface="Microsoft YaHei" charset="-122"/>
        </a:defRPr>
      </a:lvl6pPr>
      <a:lvl7pPr marL="29718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1C1C1C"/>
          </a:solidFill>
          <a:latin typeface="Arial" charset="0"/>
          <a:ea typeface="Microsoft YaHei" charset="-122"/>
        </a:defRPr>
      </a:lvl7pPr>
      <a:lvl8pPr marL="34290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1C1C1C"/>
          </a:solidFill>
          <a:latin typeface="Arial" charset="0"/>
          <a:ea typeface="Microsoft YaHei" charset="-122"/>
        </a:defRPr>
      </a:lvl8pPr>
      <a:lvl9pPr marL="38862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1C1C1C"/>
          </a:solidFill>
          <a:latin typeface="Arial" charset="0"/>
          <a:ea typeface="Microsoft YaHei" charset="-122"/>
        </a:defRPr>
      </a:lvl9pPr>
    </p:titleStyle>
    <p:bodyStyle>
      <a:lvl1pPr marL="342900" indent="-3429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20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1600">
          <a:solidFill>
            <a:srgbClr val="000000"/>
          </a:solidFill>
          <a:latin typeface="+mn-lt"/>
          <a:ea typeface="+mn-ea"/>
        </a:defRPr>
      </a:lvl3pPr>
      <a:lvl4pPr marL="16002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»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maven.apache.org/download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7AE87-3818-AB8C-FB10-D4C60005A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Building with Maven</a:t>
            </a:r>
          </a:p>
        </p:txBody>
      </p:sp>
      <p:sp>
        <p:nvSpPr>
          <p:cNvPr id="19459" name="Text Placeholder 3">
            <a:extLst>
              <a:ext uri="{FF2B5EF4-FFF2-40B4-BE49-F238E27FC236}">
                <a16:creationId xmlns:a16="http://schemas.microsoft.com/office/drawing/2014/main" id="{DAB16D74-DF82-13F9-B646-0EC2F175EB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3">
            <a:extLst>
              <a:ext uri="{FF2B5EF4-FFF2-40B4-BE49-F238E27FC236}">
                <a16:creationId xmlns:a16="http://schemas.microsoft.com/office/drawing/2014/main" id="{B6F85F27-44E8-943C-32D9-1BC438DDC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/>
            </a:br>
            <a:r>
              <a:rPr lang="en-US" altLang="en-US"/>
              <a:t>Building with Maven 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20483" name="Content Placeholder 4">
            <a:extLst>
              <a:ext uri="{FF2B5EF4-FFF2-40B4-BE49-F238E27FC236}">
                <a16:creationId xmlns:a16="http://schemas.microsoft.com/office/drawing/2014/main" id="{27F54613-2AEC-2F45-0205-6261E68EF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150000"/>
              </a:lnSpc>
            </a:pPr>
            <a:endParaRPr lang="en-US" altLang="en-US" sz="240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en-US" sz="2400">
                <a:solidFill>
                  <a:srgbClr val="C00000"/>
                </a:solidFill>
              </a:rPr>
              <a:t>Introduction to Maven &amp; its objectives </a:t>
            </a:r>
          </a:p>
          <a:p>
            <a:pPr lvl="1">
              <a:lnSpc>
                <a:spcPct val="150000"/>
              </a:lnSpc>
            </a:pPr>
            <a:r>
              <a:rPr lang="en-US" altLang="en-US" sz="2400">
                <a:solidFill>
                  <a:srgbClr val="C00000"/>
                </a:solidFill>
              </a:rPr>
              <a:t>Install and setting up Maven</a:t>
            </a:r>
          </a:p>
          <a:p>
            <a:pPr lvl="1">
              <a:lnSpc>
                <a:spcPct val="150000"/>
              </a:lnSpc>
            </a:pPr>
            <a:r>
              <a:rPr lang="en-US" altLang="en-US" sz="2400">
                <a:solidFill>
                  <a:srgbClr val="C00000"/>
                </a:solidFill>
              </a:rPr>
              <a:t>Maven project structure </a:t>
            </a:r>
          </a:p>
          <a:p>
            <a:pPr lvl="1">
              <a:lnSpc>
                <a:spcPct val="150000"/>
              </a:lnSpc>
            </a:pPr>
            <a:r>
              <a:rPr lang="en-US" altLang="en-US" sz="2400">
                <a:solidFill>
                  <a:srgbClr val="C00000"/>
                </a:solidFill>
              </a:rPr>
              <a:t>POM.xml description </a:t>
            </a:r>
          </a:p>
          <a:p>
            <a:pPr>
              <a:lnSpc>
                <a:spcPct val="150000"/>
              </a:lnSpc>
            </a:pPr>
            <a:endParaRPr lang="en-US" alt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B0DB163B-90D8-F705-C1F8-D752E08CF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Maven</a:t>
            </a:r>
          </a:p>
        </p:txBody>
      </p:sp>
      <p:sp>
        <p:nvSpPr>
          <p:cNvPr id="21507" name="Content Placeholder 3">
            <a:extLst>
              <a:ext uri="{FF2B5EF4-FFF2-40B4-BE49-F238E27FC236}">
                <a16:creationId xmlns:a16="http://schemas.microsoft.com/office/drawing/2014/main" id="{2DB9237B-F45F-73D9-D1F0-4619A5FE9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056563" cy="5029200"/>
          </a:xfrm>
        </p:spPr>
        <p:txBody>
          <a:bodyPr/>
          <a:lstStyle/>
          <a:p>
            <a:r>
              <a:rPr lang="en-US" altLang="en-US"/>
              <a:t>A Java build tool</a:t>
            </a:r>
          </a:p>
          <a:p>
            <a:pPr lvl="1"/>
            <a:r>
              <a:rPr lang="en-US" altLang="en-US" sz="2000"/>
              <a:t>“project management and comprehension tool”</a:t>
            </a:r>
          </a:p>
          <a:p>
            <a:pPr lvl="2"/>
            <a:r>
              <a:rPr lang="en-US" altLang="en-US" sz="2000" b="1">
                <a:solidFill>
                  <a:srgbClr val="C00000"/>
                </a:solidFill>
              </a:rPr>
              <a:t>It means - </a:t>
            </a:r>
            <a:r>
              <a:rPr lang="en-US" altLang="en-US" sz="2000" b="1" i="1">
                <a:solidFill>
                  <a:srgbClr val="C00000"/>
                </a:solidFill>
              </a:rPr>
              <a:t>accumulator of knowledge, </a:t>
            </a:r>
          </a:p>
          <a:p>
            <a:endParaRPr lang="en-US" altLang="en-US"/>
          </a:p>
          <a:p>
            <a:r>
              <a:rPr lang="en-US" altLang="en-US"/>
              <a:t>An Apache Project</a:t>
            </a:r>
          </a:p>
          <a:p>
            <a:pPr lvl="1"/>
            <a:r>
              <a:rPr lang="en-US" altLang="en-US" sz="2000"/>
              <a:t>Mostly sponsored by Sonatype</a:t>
            </a:r>
          </a:p>
          <a:p>
            <a:pPr lvl="1"/>
            <a:endParaRPr lang="en-US" altLang="en-US" sz="2000"/>
          </a:p>
          <a:p>
            <a:r>
              <a:rPr lang="en-US" altLang="en-US"/>
              <a:t>Latest Version of  Maven 3.3.3 released in  April 2015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C81D9775-C996-D972-9725-8AD992D7E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Project Management Tool</a:t>
            </a:r>
            <a:r>
              <a:rPr lang="en-US" altLang="en-US" b="1" u="sng"/>
              <a:t> </a:t>
            </a:r>
            <a:br>
              <a:rPr lang="en-US" altLang="en-US" b="1" u="sng"/>
            </a:br>
            <a:endParaRPr lang="en-US" altLang="en-US"/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F2BDC575-5AFD-BB3C-37E4-5C4F2254D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altLang="en-US" b="1" u="sng"/>
          </a:p>
          <a:p>
            <a:pPr lvl="1">
              <a:lnSpc>
                <a:spcPct val="150000"/>
              </a:lnSpc>
            </a:pPr>
            <a:r>
              <a:rPr lang="en-US" altLang="en-US" sz="2000"/>
              <a:t>Standard way to build the projects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Easy way to publish project information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To share JARs across several projects.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Run reports, generate a web site,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Communication among members of a working team.</a:t>
            </a:r>
          </a:p>
          <a:p>
            <a:pPr lvl="1"/>
            <a:endParaRPr lang="en-US" altLang="en-US" sz="2000"/>
          </a:p>
          <a:p>
            <a:pPr lvl="1"/>
            <a:endParaRPr lang="en-US" altLang="en-US" sz="2000"/>
          </a:p>
          <a:p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FCBAC573-B052-BAA4-0BE5-F320E4EDD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Installing Maven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19FD1C3B-7ED9-3A82-7732-F4BEF98B1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Download Maven  :</a:t>
            </a:r>
            <a:r>
              <a:rPr lang="en-US" altLang="en-US" dirty="0">
                <a:hlinkClick r:id="rId2"/>
              </a:rPr>
              <a:t>http://maven.apache.org/download.html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Unzip the installation archive</a:t>
            </a:r>
          </a:p>
          <a:p>
            <a:endParaRPr lang="en-US" altLang="en-US" dirty="0"/>
          </a:p>
          <a:p>
            <a:r>
              <a:rPr lang="en-US" altLang="en-US" dirty="0"/>
              <a:t>Set the M2_HOME and Path environment variables in the following way:</a:t>
            </a:r>
          </a:p>
          <a:p>
            <a:pPr lvl="3"/>
            <a:r>
              <a:rPr lang="en-US" altLang="en-US" sz="1800" b="1" dirty="0"/>
              <a:t>M2_HOME=C:\apache-maven-2.2.1</a:t>
            </a:r>
          </a:p>
          <a:p>
            <a:pPr lvl="3"/>
            <a:r>
              <a:rPr lang="en-US" altLang="en-US" sz="1800" b="1" dirty="0"/>
              <a:t>Path=%M2_HOME%\bin</a:t>
            </a:r>
          </a:p>
          <a:p>
            <a:endParaRPr lang="en-US" altLang="en-US" b="1" dirty="0"/>
          </a:p>
          <a:p>
            <a:r>
              <a:rPr lang="en-US" altLang="en-US" b="1" dirty="0" err="1"/>
              <a:t>mvn</a:t>
            </a:r>
            <a:r>
              <a:rPr lang="en-US" altLang="en-US" b="1" dirty="0"/>
              <a:t> –version</a:t>
            </a:r>
          </a:p>
          <a:p>
            <a:pPr lvl="1"/>
            <a:endParaRPr lang="en-US" altLang="en-US" sz="2000" dirty="0"/>
          </a:p>
          <a:p>
            <a:pPr lvl="1"/>
            <a:r>
              <a:rPr lang="en-US" altLang="en-US" sz="2000" dirty="0"/>
              <a:t>Will print out installed version of Maven, indicating successful installation </a:t>
            </a:r>
            <a:r>
              <a:rPr lang="en-US" altLang="en-US" dirty="0"/>
              <a:t>.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CEA3DE46-A233-A8C1-2D54-A71A598C4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Dependency Management</a:t>
            </a: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6E9EA0EE-B1AC-7A7B-CDFD-F676AE808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en-US"/>
              <a:t>Maven revolutionized Java dependency management</a:t>
            </a:r>
          </a:p>
          <a:p>
            <a:pPr lvl="2">
              <a:lnSpc>
                <a:spcPct val="150000"/>
              </a:lnSpc>
              <a:spcBef>
                <a:spcPct val="0"/>
              </a:spcBef>
            </a:pPr>
            <a:r>
              <a:rPr lang="en-US" altLang="en-US" sz="2000"/>
              <a:t>No more checking libraries into version control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en-US"/>
              <a:t>Introduced the Repository concept</a:t>
            </a:r>
          </a:p>
          <a:p>
            <a:pPr lvl="2">
              <a:lnSpc>
                <a:spcPct val="150000"/>
              </a:lnSpc>
              <a:spcBef>
                <a:spcPct val="0"/>
              </a:spcBef>
            </a:pPr>
            <a:r>
              <a:rPr lang="en-US" altLang="en-US" sz="2000"/>
              <a:t>Established Maven Central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endParaRPr lang="en-US" altLang="en-US"/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en-US"/>
              <a:t>Created a module metadata file (POM)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endParaRPr lang="en-US" altLang="en-US"/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en-US"/>
              <a:t>Introduced concept of transitive dependency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4DA96C0B-F888-9B34-408D-537AB6B48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Dependencies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FFB2DC33-64EE-D129-2AEB-175A23E8C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/>
              <a:t>Used to store Dependencies  and  then  downloaded </a:t>
            </a: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en-US" sz="2000"/>
              <a:t>Via http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US"/>
          </a:p>
          <a:p>
            <a:pPr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/>
              <a:t>Downloaded dependencies are cached in a local repository</a:t>
            </a:r>
          </a:p>
          <a:p>
            <a:pPr lvl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–"/>
            </a:pPr>
            <a:r>
              <a:rPr lang="en-US" altLang="en-US" sz="2000"/>
              <a:t>Usually found in ${user.home}/.m2/repository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US"/>
          </a:p>
          <a:p>
            <a:pPr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/>
              <a:t>Maven Central is primary community repo</a:t>
            </a:r>
          </a:p>
          <a:p>
            <a:pPr lvl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–"/>
            </a:pPr>
            <a:r>
              <a:rPr lang="en-US" altLang="en-US" sz="2000" u="sng">
                <a:solidFill>
                  <a:srgbClr val="C00000"/>
                </a:solidFill>
              </a:rPr>
              <a:t>http://repo1.maven.org/maven2</a:t>
            </a:r>
          </a:p>
          <a:p>
            <a:pPr lvl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–"/>
            </a:pPr>
            <a:r>
              <a:rPr lang="en-US" altLang="en-US" sz="2000"/>
              <a:t>After downloading repository,  Maven will always look for the artifact in the local repository before looking elsewhere.</a:t>
            </a:r>
          </a:p>
          <a:p>
            <a:pPr lvl="1">
              <a:buFont typeface="Arial" panose="020B0604020202020204" pitchFamily="34" charset="0"/>
              <a:buChar char="–"/>
            </a:pPr>
            <a:endParaRPr lang="en-US" altLang="en-US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E4506294-A6DE-47CD-A726-788814AA7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Pom.xml</a:t>
            </a:r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F294F631-390D-5770-90EB-7E1E88FF0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Stands for Project Object Model</a:t>
            </a:r>
          </a:p>
          <a:p>
            <a:endParaRPr lang="en-US" altLang="en-US"/>
          </a:p>
          <a:p>
            <a:r>
              <a:rPr lang="en-US" altLang="en-US"/>
              <a:t>POM is the fundamental unit of work in Maven. </a:t>
            </a:r>
          </a:p>
          <a:p>
            <a:endParaRPr lang="en-US" altLang="en-US"/>
          </a:p>
          <a:p>
            <a:r>
              <a:rPr lang="en-US" altLang="en-US"/>
              <a:t>An XML file that contains information about the project and configuration details used by Maven to build the project. </a:t>
            </a:r>
          </a:p>
          <a:p>
            <a:endParaRPr lang="en-US" altLang="en-US"/>
          </a:p>
          <a:p>
            <a:r>
              <a:rPr lang="en-US" altLang="en-US"/>
              <a:t>While executing Maven looks for the POM in the current directory. </a:t>
            </a:r>
          </a:p>
          <a:p>
            <a:endParaRPr lang="en-US" altLang="en-US"/>
          </a:p>
          <a:p>
            <a:r>
              <a:rPr lang="en-US" altLang="en-US"/>
              <a:t>It reads the POM, gets the needed configuration information, then executes the goal. </a:t>
            </a:r>
          </a:p>
          <a:p>
            <a:endParaRPr lang="en-US" altLang="en-US"/>
          </a:p>
          <a:p>
            <a:pPr lvl="1"/>
            <a:endParaRPr lang="en-US" altLang="en-US"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663FAEDE-0DFB-4E35-3B87-8470F58F7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POM</a:t>
            </a: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CC04A306-BEFD-471D-23D2-8CE144627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The following Details about the project can be configured in POM </a:t>
            </a:r>
          </a:p>
          <a:p>
            <a:pPr lvl="1"/>
            <a:r>
              <a:rPr lang="en-US" altLang="en-US" sz="2000"/>
              <a:t>Name and Version</a:t>
            </a:r>
          </a:p>
          <a:p>
            <a:pPr lvl="1"/>
            <a:r>
              <a:rPr lang="en-US" altLang="en-US" sz="2000"/>
              <a:t>Artifact Type</a:t>
            </a:r>
          </a:p>
          <a:p>
            <a:pPr lvl="1"/>
            <a:r>
              <a:rPr lang="en-US" altLang="en-US" sz="2000"/>
              <a:t>Dependencies</a:t>
            </a:r>
          </a:p>
          <a:p>
            <a:pPr lvl="1"/>
            <a:r>
              <a:rPr lang="en-US" altLang="en-US" sz="2000"/>
              <a:t>goals</a:t>
            </a:r>
          </a:p>
          <a:p>
            <a:pPr lvl="1"/>
            <a:r>
              <a:rPr lang="en-US" altLang="en-US" sz="2000"/>
              <a:t>Plugins</a:t>
            </a:r>
          </a:p>
          <a:p>
            <a:pPr lvl="1"/>
            <a:r>
              <a:rPr lang="en-US" altLang="en-US" sz="2000"/>
              <a:t>Profiles (Alternate build configurations)</a:t>
            </a:r>
          </a:p>
          <a:p>
            <a:pPr lvl="1"/>
            <a:endParaRPr lang="en-US" altLang="en-US" sz="2000"/>
          </a:p>
          <a:p>
            <a:r>
              <a:rPr lang="en-US" altLang="en-US" b="1" u="sng">
                <a:solidFill>
                  <a:srgbClr val="C00000"/>
                </a:solidFill>
              </a:rPr>
              <a:t>Super POM</a:t>
            </a:r>
          </a:p>
          <a:p>
            <a:pPr lvl="1"/>
            <a:r>
              <a:rPr lang="en-US" altLang="en-US" sz="2000"/>
              <a:t>Maven's default POM.</a:t>
            </a:r>
          </a:p>
          <a:p>
            <a:pPr lvl="1"/>
            <a:r>
              <a:rPr lang="en-US" altLang="en-US" sz="2000"/>
              <a:t>All POMs extend the Super POM </a:t>
            </a:r>
          </a:p>
          <a:p>
            <a:pPr lvl="1"/>
            <a:r>
              <a:rPr lang="en-US" altLang="en-US" sz="2000"/>
              <a:t>Configuration is inherited by the POMs 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1EB2E40F-02F5-C78F-9D13-17519ED17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Minimal POM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1C1A9B88-1C46-550E-E0F9-36913922A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  <a:p>
            <a:pPr lvl="1">
              <a:buFont typeface="Times New Roman" panose="02020603050405020304" pitchFamily="18" charset="0"/>
              <a:buNone/>
            </a:pPr>
            <a:r>
              <a:rPr lang="en-US" altLang="en-US" sz="2400"/>
              <a:t>&lt;project&gt;</a:t>
            </a:r>
          </a:p>
          <a:p>
            <a:pPr lvl="2">
              <a:buFont typeface="Times New Roman" panose="02020603050405020304" pitchFamily="18" charset="0"/>
              <a:buNone/>
            </a:pPr>
            <a:r>
              <a:rPr lang="en-US" altLang="en-US" sz="2400"/>
              <a:t>&lt;modelVersion&gt;4.0.0&lt;/modelVersion&gt;</a:t>
            </a:r>
          </a:p>
          <a:p>
            <a:pPr lvl="2">
              <a:buFont typeface="Times New Roman" panose="02020603050405020304" pitchFamily="18" charset="0"/>
              <a:buNone/>
            </a:pPr>
            <a:r>
              <a:rPr lang="en-US" altLang="en-US" sz="2400"/>
              <a:t>&lt;groupId&gt;com.mycompany.app&lt;/groupId&gt;</a:t>
            </a:r>
          </a:p>
          <a:p>
            <a:pPr lvl="2">
              <a:buFont typeface="Times New Roman" panose="02020603050405020304" pitchFamily="18" charset="0"/>
              <a:buNone/>
            </a:pPr>
            <a:r>
              <a:rPr lang="en-US" altLang="en-US" sz="2400"/>
              <a:t>&lt;artifactId&gt;my-app&lt;/artifactId&gt;</a:t>
            </a:r>
          </a:p>
          <a:p>
            <a:pPr lvl="2">
              <a:buFont typeface="Times New Roman" panose="02020603050405020304" pitchFamily="18" charset="0"/>
              <a:buNone/>
            </a:pPr>
            <a:r>
              <a:rPr lang="en-US" altLang="en-US" sz="2400"/>
              <a:t>&lt;version&gt;1&lt;/version&gt;</a:t>
            </a:r>
          </a:p>
          <a:p>
            <a:pPr lvl="1">
              <a:buFont typeface="Times New Roman" panose="02020603050405020304" pitchFamily="18" charset="0"/>
              <a:buNone/>
            </a:pPr>
            <a:r>
              <a:rPr lang="en-US" altLang="en-US" sz="2400"/>
              <a:t>&lt;/project&gt;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F972AC7A-E359-DA71-644C-9F545D6E4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Content of Pom.xml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4E226-00FD-5CC2-5BE6-352C43A51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8200"/>
            <a:ext cx="8056563" cy="5562600"/>
          </a:xfrm>
        </p:spPr>
        <p:txBody>
          <a:bodyPr rtlCol="0">
            <a:normAutofit fontScale="92500" lnSpcReduction="10000"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dirty="0"/>
              <a:t>Projects are  the top-level element in all  </a:t>
            </a:r>
            <a:r>
              <a:rPr lang="en-US" b="1" dirty="0"/>
              <a:t>pom.xml </a:t>
            </a:r>
            <a:r>
              <a:rPr lang="en-US" dirty="0"/>
              <a:t>files.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They are identified using: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err="1"/>
              <a:t>modelVersion</a:t>
            </a:r>
            <a:r>
              <a:rPr lang="en-US" dirty="0"/>
              <a:t> - should be set to 4.0.0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/>
          </a:p>
          <a:p>
            <a:pPr marL="225425" lvl="1" indent="-225425" fontAlgn="auto">
              <a:spcAft>
                <a:spcPts val="0"/>
              </a:spcAft>
              <a:defRPr/>
            </a:pPr>
            <a:r>
              <a:rPr lang="en-US" sz="2200" b="1" dirty="0" err="1">
                <a:solidFill>
                  <a:srgbClr val="C00000"/>
                </a:solidFill>
              </a:rPr>
              <a:t>groupID</a:t>
            </a:r>
            <a:r>
              <a:rPr lang="en-US" sz="2200" b="1" dirty="0">
                <a:solidFill>
                  <a:srgbClr val="C00000"/>
                </a:solidFill>
              </a:rPr>
              <a:t>: </a:t>
            </a:r>
          </a:p>
          <a:p>
            <a:pPr lvl="1">
              <a:buFont typeface="Arial" pitchFamily="34" charset="0"/>
              <a:buChar char="–"/>
              <a:defRPr/>
            </a:pPr>
            <a:r>
              <a:rPr lang="en-US" sz="2200" dirty="0"/>
              <a:t>Arbitrary project grouping identifier (no spaces or colons </a:t>
            </a:r>
          </a:p>
          <a:p>
            <a:pPr lvl="1">
              <a:buFont typeface="Arial" pitchFamily="34" charset="0"/>
              <a:buChar char="–"/>
              <a:defRPr/>
            </a:pPr>
            <a:r>
              <a:rPr lang="en-US" sz="2200" dirty="0"/>
              <a:t>Loosely based on Java package name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sz="1700" b="1" dirty="0" err="1">
                <a:solidFill>
                  <a:srgbClr val="C00000"/>
                </a:solidFill>
              </a:rPr>
              <a:t>artf</a:t>
            </a:r>
            <a:r>
              <a:rPr lang="en-US" sz="2200" b="1" dirty="0" err="1">
                <a:solidFill>
                  <a:srgbClr val="C00000"/>
                </a:solidFill>
              </a:rPr>
              <a:t>iactId</a:t>
            </a:r>
            <a:r>
              <a:rPr lang="en-US" sz="2200" b="1" dirty="0">
                <a:solidFill>
                  <a:srgbClr val="C00000"/>
                </a:solidFill>
              </a:rPr>
              <a:t>: 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sz="2000" dirty="0"/>
              <a:t>Arbitrary name of project (no spaces or colons)</a:t>
            </a:r>
          </a:p>
          <a:p>
            <a:pPr lvl="1">
              <a:buFont typeface="Arial" pitchFamily="34" charset="0"/>
              <a:buChar char="–"/>
              <a:defRPr/>
            </a:pPr>
            <a:r>
              <a:rPr lang="en-US" sz="2000" dirty="0"/>
              <a:t>Usually base name of the primary artifact </a:t>
            </a:r>
          </a:p>
          <a:p>
            <a:pPr lvl="1">
              <a:buFont typeface="Arial" pitchFamily="34" charset="0"/>
              <a:buChar char="–"/>
              <a:defRPr/>
            </a:pPr>
            <a:r>
              <a:rPr lang="en-US" sz="2000" dirty="0"/>
              <a:t>Typically  files like a JAR or war </a:t>
            </a:r>
          </a:p>
          <a:p>
            <a:pPr marL="225425" lvl="1" indent="-225425" fontAlgn="auto">
              <a:spcAft>
                <a:spcPts val="0"/>
              </a:spcAft>
              <a:defRPr/>
            </a:pPr>
            <a:r>
              <a:rPr lang="en-US" sz="2200" b="1" dirty="0">
                <a:solidFill>
                  <a:srgbClr val="C00000"/>
                </a:solidFill>
              </a:rPr>
              <a:t>version: 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sz="2000" dirty="0"/>
              <a:t>Version of project</a:t>
            </a:r>
          </a:p>
          <a:p>
            <a:pPr lvl="1">
              <a:defRPr/>
            </a:pPr>
            <a:r>
              <a:rPr lang="en-US" sz="2200" dirty="0"/>
              <a:t>Format {Major}.{Minor}.{</a:t>
            </a:r>
            <a:r>
              <a:rPr lang="en-US" sz="2200" dirty="0" err="1"/>
              <a:t>Maintanence</a:t>
            </a:r>
            <a:r>
              <a:rPr lang="en-US" sz="2200" dirty="0"/>
              <a:t>}</a:t>
            </a:r>
          </a:p>
          <a:p>
            <a:pPr lvl="1">
              <a:defRPr/>
            </a:pPr>
            <a:r>
              <a:rPr lang="en-US" sz="2200" dirty="0"/>
              <a:t>Add ‘-SNAPSHOT ‘ to identify in development</a:t>
            </a:r>
          </a:p>
          <a:p>
            <a:pPr lvl="2" fontAlgn="auto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5">
            <a:extLst>
              <a:ext uri="{FF2B5EF4-FFF2-40B4-BE49-F238E27FC236}">
                <a16:creationId xmlns:a16="http://schemas.microsoft.com/office/drawing/2014/main" id="{332293B2-2231-48FD-C4FB-79AF658A2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Dependencies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7597D14A-3CC8-1745-1F18-124A4BC1E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8200"/>
            <a:ext cx="8056563" cy="5562600"/>
          </a:xfrm>
        </p:spPr>
        <p:txBody>
          <a:bodyPr/>
          <a:lstStyle/>
          <a:p>
            <a:pPr lvl="1"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2400">
                <a:cs typeface="Courier New" panose="02070309020205020404" pitchFamily="49" charset="0"/>
              </a:rPr>
              <a:t>&lt;project&gt;</a:t>
            </a:r>
          </a:p>
          <a:p>
            <a:pPr lvl="1"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2400">
                <a:cs typeface="Courier New" panose="02070309020205020404" pitchFamily="49" charset="0"/>
              </a:rPr>
              <a:t>    ...</a:t>
            </a:r>
          </a:p>
          <a:p>
            <a:pPr lvl="1"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2400">
                <a:cs typeface="Courier New" panose="02070309020205020404" pitchFamily="49" charset="0"/>
              </a:rPr>
              <a:t>    &lt;dependencies&gt;</a:t>
            </a:r>
          </a:p>
          <a:p>
            <a:pPr lvl="1"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2400" b="1">
                <a:solidFill>
                  <a:srgbClr val="C00000"/>
                </a:solidFill>
                <a:cs typeface="Courier New" panose="02070309020205020404" pitchFamily="49" charset="0"/>
              </a:rPr>
              <a:t>        &lt;dependency&gt;</a:t>
            </a:r>
          </a:p>
          <a:p>
            <a:pPr lvl="1"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2400" b="1">
                <a:solidFill>
                  <a:srgbClr val="C00000"/>
                </a:solidFill>
                <a:cs typeface="Courier New" panose="02070309020205020404" pitchFamily="49" charset="0"/>
              </a:rPr>
              <a:t>          </a:t>
            </a:r>
            <a:r>
              <a:rPr lang="en-US" altLang="en-US" sz="2400" b="1">
                <a:solidFill>
                  <a:schemeClr val="tx1"/>
                </a:solidFill>
                <a:cs typeface="Courier New" panose="02070309020205020404" pitchFamily="49" charset="0"/>
              </a:rPr>
              <a:t>  &lt;groupId&gt;javax.servlet&lt;/groupId&gt;</a:t>
            </a:r>
          </a:p>
          <a:p>
            <a:pPr lvl="1"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2400" b="1">
                <a:solidFill>
                  <a:schemeClr val="tx1"/>
                </a:solidFill>
                <a:cs typeface="Courier New" panose="02070309020205020404" pitchFamily="49" charset="0"/>
              </a:rPr>
              <a:t>            &lt;artifactId&gt;servlet-api&lt;/artifactId&gt;</a:t>
            </a:r>
          </a:p>
          <a:p>
            <a:pPr lvl="1"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2400" b="1">
                <a:solidFill>
                  <a:schemeClr val="tx1"/>
                </a:solidFill>
                <a:cs typeface="Courier New" panose="02070309020205020404" pitchFamily="49" charset="0"/>
              </a:rPr>
              <a:t>            &lt;version&gt;2.5&lt;/version&gt;</a:t>
            </a:r>
          </a:p>
          <a:p>
            <a:pPr lvl="1"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2400" b="1">
                <a:solidFill>
                  <a:schemeClr val="tx1"/>
                </a:solidFill>
              </a:rPr>
              <a:t>	      </a:t>
            </a:r>
            <a:r>
              <a:rPr lang="en-US" altLang="en-US" sz="2400" b="1">
                <a:solidFill>
                  <a:srgbClr val="C00000"/>
                </a:solidFill>
              </a:rPr>
              <a:t>         &lt;scope&gt;provided&lt;/scope&gt;</a:t>
            </a:r>
            <a:endParaRPr lang="en-US" altLang="en-US" sz="2400" b="1">
              <a:solidFill>
                <a:srgbClr val="C00000"/>
              </a:solidFill>
              <a:cs typeface="Courier New" panose="02070309020205020404" pitchFamily="49" charset="0"/>
            </a:endParaRPr>
          </a:p>
          <a:p>
            <a:pPr lvl="1"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2400" b="1">
                <a:solidFill>
                  <a:srgbClr val="C00000"/>
                </a:solidFill>
                <a:cs typeface="Courier New" panose="02070309020205020404" pitchFamily="49" charset="0"/>
              </a:rPr>
              <a:t>	&lt;/dependency&gt;</a:t>
            </a:r>
          </a:p>
          <a:p>
            <a:pPr lvl="1"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2400">
                <a:cs typeface="Courier New" panose="02070309020205020404" pitchFamily="49" charset="0"/>
              </a:rPr>
              <a:t>    &lt;/dependencies&gt;</a:t>
            </a:r>
          </a:p>
          <a:p>
            <a:pPr lvl="1"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2400">
                <a:cs typeface="Courier New" panose="02070309020205020404" pitchFamily="49" charset="0"/>
              </a:rPr>
              <a:t>&lt;/project&gt;</a:t>
            </a:r>
          </a:p>
          <a:p>
            <a:pPr lvl="2"/>
            <a:endParaRPr lang="en-US" altLang="en-US"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A404362A-93BC-DDA4-D050-357F626C5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Resolving Dependency</a:t>
            </a:r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92145947-6893-9A80-4465-4BCDF6A47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3838" indent="-223838">
              <a:lnSpc>
                <a:spcPct val="150000"/>
              </a:lnSpc>
              <a:spcBef>
                <a:spcPct val="0"/>
              </a:spcBef>
            </a:pPr>
            <a:r>
              <a:rPr lang="en-US" altLang="en-US"/>
              <a:t>During the build process dependencies are resolved with dependency management engine. </a:t>
            </a:r>
          </a:p>
          <a:p>
            <a:pPr marL="223838" indent="-223838">
              <a:lnSpc>
                <a:spcPct val="150000"/>
              </a:lnSpc>
              <a:spcBef>
                <a:spcPct val="0"/>
              </a:spcBef>
            </a:pPr>
            <a:endParaRPr lang="en-US" altLang="en-US"/>
          </a:p>
          <a:p>
            <a:pPr marL="223838" indent="-223838">
              <a:lnSpc>
                <a:spcPct val="150000"/>
              </a:lnSpc>
              <a:spcBef>
                <a:spcPct val="0"/>
              </a:spcBef>
            </a:pPr>
            <a:r>
              <a:rPr lang="en-US" altLang="en-US"/>
              <a:t>Specified in &lt;dependencies&gt; elements within a pom.xml file.</a:t>
            </a:r>
          </a:p>
          <a:p>
            <a:pPr marL="223838" indent="-223838">
              <a:lnSpc>
                <a:spcPct val="150000"/>
              </a:lnSpc>
              <a:spcBef>
                <a:spcPct val="0"/>
              </a:spcBef>
            </a:pPr>
            <a:endParaRPr lang="en-US" altLang="en-US"/>
          </a:p>
          <a:p>
            <a:pPr marL="223838" indent="-223838">
              <a:lnSpc>
                <a:spcPct val="150000"/>
              </a:lnSpc>
              <a:spcBef>
                <a:spcPct val="0"/>
              </a:spcBef>
            </a:pPr>
            <a:r>
              <a:rPr lang="en-US" altLang="en-US"/>
              <a:t>They are resolved in the following order:</a:t>
            </a:r>
          </a:p>
          <a:p>
            <a:pPr marL="857250" lvl="1" indent="-457200">
              <a:lnSpc>
                <a:spcPct val="150000"/>
              </a:lnSpc>
            </a:pPr>
            <a:r>
              <a:rPr lang="en-US" altLang="en-US" sz="2000"/>
              <a:t>Local repository is checked for the dependency.</a:t>
            </a:r>
          </a:p>
          <a:p>
            <a:pPr marL="857250" lvl="1" indent="-457200">
              <a:lnSpc>
                <a:spcPct val="150000"/>
              </a:lnSpc>
            </a:pPr>
            <a:r>
              <a:rPr lang="en-US" altLang="en-US" sz="2000"/>
              <a:t>A list of remote repositories is checked for the dependency.</a:t>
            </a:r>
          </a:p>
          <a:p>
            <a:pPr marL="857250" lvl="1" indent="-457200">
              <a:lnSpc>
                <a:spcPct val="150000"/>
              </a:lnSpc>
            </a:pPr>
            <a:r>
              <a:rPr lang="en-US" altLang="en-US" sz="2000"/>
              <a:t>In Case 1 and 2 fail and error is reported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321C2AD9-4EE3-8261-9214-A6025174E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Scopes</a:t>
            </a:r>
          </a:p>
        </p:txBody>
      </p:sp>
      <p:sp>
        <p:nvSpPr>
          <p:cNvPr id="33795" name="Content Placeholder 2">
            <a:extLst>
              <a:ext uri="{FF2B5EF4-FFF2-40B4-BE49-F238E27FC236}">
                <a16:creationId xmlns:a16="http://schemas.microsoft.com/office/drawing/2014/main" id="{E5A346C5-4B63-E95A-A507-F24C8D48C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056563" cy="5410200"/>
          </a:xfrm>
        </p:spPr>
        <p:txBody>
          <a:bodyPr/>
          <a:lstStyle/>
          <a:p>
            <a:r>
              <a:rPr lang="en-US" altLang="en-US" b="1"/>
              <a:t>Compile</a:t>
            </a:r>
          </a:p>
          <a:p>
            <a:pPr lvl="1"/>
            <a:r>
              <a:rPr lang="en-US" altLang="en-US" sz="2000"/>
              <a:t>default scope</a:t>
            </a:r>
          </a:p>
          <a:p>
            <a:pPr lvl="1"/>
            <a:r>
              <a:rPr lang="en-US" altLang="en-US" sz="2000"/>
              <a:t>dependencies that are available in all classpaths of a project. </a:t>
            </a:r>
          </a:p>
          <a:p>
            <a:endParaRPr lang="en-US" altLang="en-US" b="1"/>
          </a:p>
          <a:p>
            <a:r>
              <a:rPr lang="en-US" altLang="en-US" b="1"/>
              <a:t>Provided</a:t>
            </a:r>
          </a:p>
          <a:p>
            <a:pPr lvl="1"/>
            <a:r>
              <a:rPr lang="en-US" altLang="en-US" sz="2000"/>
              <a:t>Indicates the JDK or a container to provide the dependency at runtime. </a:t>
            </a:r>
          </a:p>
          <a:p>
            <a:pPr lvl="1"/>
            <a:r>
              <a:rPr lang="en-US" altLang="en-US" sz="2000"/>
              <a:t>dependency on the Servlet API</a:t>
            </a:r>
          </a:p>
          <a:p>
            <a:endParaRPr lang="en-US" altLang="en-US" b="1"/>
          </a:p>
          <a:p>
            <a:r>
              <a:rPr lang="en-US" altLang="en-US" b="1"/>
              <a:t>Test</a:t>
            </a:r>
          </a:p>
          <a:p>
            <a:pPr lvl="1"/>
            <a:r>
              <a:rPr lang="en-US" altLang="en-US" sz="2000"/>
              <a:t>The dependency is not required for normal use</a:t>
            </a:r>
          </a:p>
          <a:p>
            <a:pPr lvl="1"/>
            <a:r>
              <a:rPr lang="en-US" altLang="en-US" sz="2000"/>
              <a:t>Available for the test compilation and execution phases. 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04AF54C7-FAB8-3458-EFC6-A24C314C6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Maven Plugin</a:t>
            </a:r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F90670A6-7D41-3A8B-E757-DDC75FBD4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Maven is a plugin execution framework </a:t>
            </a:r>
          </a:p>
          <a:p>
            <a:r>
              <a:rPr lang="en-US" altLang="en-US"/>
              <a:t>Tasks are done by plugins. </a:t>
            </a:r>
          </a:p>
          <a:p>
            <a:r>
              <a:rPr lang="en-US" altLang="en-US"/>
              <a:t>Generally used to :</a:t>
            </a:r>
          </a:p>
          <a:p>
            <a:pPr lvl="1"/>
            <a:r>
              <a:rPr lang="en-US" altLang="en-US" sz="2000"/>
              <a:t>create jar file</a:t>
            </a:r>
          </a:p>
          <a:p>
            <a:pPr lvl="1"/>
            <a:r>
              <a:rPr lang="en-US" altLang="en-US" sz="2000"/>
              <a:t>create war file</a:t>
            </a:r>
          </a:p>
          <a:p>
            <a:pPr lvl="1"/>
            <a:r>
              <a:rPr lang="en-US" altLang="en-US" sz="2000"/>
              <a:t>compile code files</a:t>
            </a:r>
          </a:p>
          <a:p>
            <a:pPr lvl="1"/>
            <a:r>
              <a:rPr lang="en-US" altLang="en-US" sz="2000"/>
              <a:t>unit testing of code</a:t>
            </a:r>
          </a:p>
          <a:p>
            <a:endParaRPr lang="en-US" altLang="en-US"/>
          </a:p>
          <a:p>
            <a:r>
              <a:rPr lang="en-US" altLang="en-US"/>
              <a:t>Plugin provides a set of goals</a:t>
            </a:r>
          </a:p>
          <a:p>
            <a:endParaRPr lang="en-US" altLang="en-US"/>
          </a:p>
          <a:p>
            <a:r>
              <a:rPr lang="en-US" altLang="en-US"/>
              <a:t>mvn [plugin-name]:[goal-name] </a:t>
            </a:r>
          </a:p>
          <a:p>
            <a:endParaRPr lang="en-US" altLang="en-US"/>
          </a:p>
          <a:p>
            <a:r>
              <a:rPr lang="en-US" altLang="en-US"/>
              <a:t>mvn compiler:compile</a:t>
            </a:r>
          </a:p>
          <a:p>
            <a:endParaRPr lang="en-US" altLang="en-US" sz="2400"/>
          </a:p>
        </p:txBody>
      </p:sp>
      <p:pic>
        <p:nvPicPr>
          <p:cNvPr id="34820" name="Picture 2" descr="E:\Downloads\simple-project_plugin.png">
            <a:extLst>
              <a:ext uri="{FF2B5EF4-FFF2-40B4-BE49-F238E27FC236}">
                <a16:creationId xmlns:a16="http://schemas.microsoft.com/office/drawing/2014/main" id="{3B0019AC-04FE-83F4-0603-9E8E06B18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981200"/>
            <a:ext cx="30734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E5C53E5E-0EE4-78A0-39E2-ED7FBF87F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Archetype</a:t>
            </a: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6689A2BC-296A-5DEC-0DB0-E90A9DBFD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Maven project templating toolkit.</a:t>
            </a:r>
          </a:p>
          <a:p>
            <a:pPr lvl="1"/>
            <a:endParaRPr lang="en-US" altLang="en-US" sz="2000" i="1">
              <a:solidFill>
                <a:srgbClr val="C00000"/>
              </a:solidFill>
            </a:endParaRPr>
          </a:p>
          <a:p>
            <a:pPr lvl="1"/>
            <a:r>
              <a:rPr lang="en-US" altLang="en-US" sz="2000" i="1">
                <a:solidFill>
                  <a:srgbClr val="C00000"/>
                </a:solidFill>
              </a:rPr>
              <a:t>original pattern or model from which all other things of the same kind are made</a:t>
            </a:r>
            <a:r>
              <a:rPr lang="en-US" altLang="en-US" sz="2000">
                <a:solidFill>
                  <a:srgbClr val="C00000"/>
                </a:solidFill>
              </a:rPr>
              <a:t>. </a:t>
            </a:r>
          </a:p>
          <a:p>
            <a:endParaRPr lang="en-US" altLang="en-US"/>
          </a:p>
          <a:p>
            <a:r>
              <a:rPr lang="en-US" altLang="en-US"/>
              <a:t>Provides a  quick consistent way  with best practices to create a Project</a:t>
            </a:r>
          </a:p>
          <a:p>
            <a:r>
              <a:rPr lang="en-US" altLang="en-US"/>
              <a:t>Developers can have a working Maven project to use as a jumping board</a:t>
            </a:r>
          </a:p>
          <a:p>
            <a:r>
              <a:rPr lang="en-US" altLang="en-US" b="1"/>
              <a:t>archetype</a:t>
            </a:r>
            <a:r>
              <a:rPr lang="en-US" altLang="en-US"/>
              <a:t> plugins with Generate Goal will  create projects.</a:t>
            </a:r>
          </a:p>
          <a:p>
            <a:endParaRPr lang="en-US" altLang="en-US"/>
          </a:p>
          <a:p>
            <a:r>
              <a:rPr lang="en-US" altLang="en-US"/>
              <a:t>mvn  [plugin-name]:[goal-name] </a:t>
            </a:r>
          </a:p>
          <a:p>
            <a:r>
              <a:rPr lang="en-US" altLang="en-US"/>
              <a:t> mvn  archetype: generate 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4">
            <a:extLst>
              <a:ext uri="{FF2B5EF4-FFF2-40B4-BE49-F238E27FC236}">
                <a16:creationId xmlns:a16="http://schemas.microsoft.com/office/drawing/2014/main" id="{AA736942-F566-5C9E-8A4B-2C2FF2383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archetype:generate </a:t>
            </a:r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79BD17E6-3955-4521-A42F-60A576D80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  <a:p>
            <a:r>
              <a:rPr lang="en-US" altLang="en-US"/>
              <a:t>The plugin will first ask to choose the archetype from the internal catalog. </a:t>
            </a:r>
          </a:p>
          <a:p>
            <a:endParaRPr lang="en-US" altLang="en-US"/>
          </a:p>
          <a:p>
            <a:r>
              <a:rPr lang="en-US" altLang="en-US"/>
              <a:t>It then asks to enter the values for the groupId, the artifactId and the version of the project to create</a:t>
            </a:r>
          </a:p>
          <a:p>
            <a:endParaRPr lang="en-US" altLang="en-US"/>
          </a:p>
          <a:p>
            <a:r>
              <a:rPr lang="en-US" altLang="en-US"/>
              <a:t>It then asks for confirmation of the configuration and performs the creation of the project.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CDFD9359-C31F-2296-20F1-6676A9663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Creating a Simple Archetype</a:t>
            </a:r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296192DA-E2B6-4607-F2E7-3D4EE0202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From the command line Projects are created using this plugin</a:t>
            </a:r>
          </a:p>
          <a:p>
            <a:endParaRPr lang="en-US" altLang="en-US"/>
          </a:p>
          <a:p>
            <a:pPr>
              <a:buFont typeface="Times New Roman" panose="02020603050405020304" pitchFamily="18" charset="0"/>
              <a:buNone/>
            </a:pPr>
            <a:r>
              <a:rPr lang="en-US" altLang="en-US"/>
              <a:t>mvn archetype:generate </a:t>
            </a:r>
          </a:p>
          <a:p>
            <a:pPr>
              <a:buFont typeface="Times New Roman" panose="02020603050405020304" pitchFamily="18" charset="0"/>
              <a:buNone/>
            </a:pPr>
            <a:r>
              <a:rPr lang="en-US" altLang="en-US"/>
              <a:t>        -DgroupId=com.mycompany.app </a:t>
            </a:r>
          </a:p>
          <a:p>
            <a:pPr>
              <a:buFont typeface="Times New Roman" panose="02020603050405020304" pitchFamily="18" charset="0"/>
              <a:buNone/>
            </a:pPr>
            <a:r>
              <a:rPr lang="en-US" altLang="en-US"/>
              <a:t>              -DartifactId=my-app </a:t>
            </a:r>
          </a:p>
          <a:p>
            <a:pPr>
              <a:buFont typeface="Times New Roman" panose="02020603050405020304" pitchFamily="18" charset="0"/>
              <a:buNone/>
            </a:pPr>
            <a:r>
              <a:rPr lang="en-US" altLang="en-US"/>
              <a:t>                  -DarchetypeArtifactId=maven-archetype-quickstart</a:t>
            </a:r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mvn archetype:generate -DgroupId=com.training -DartifactId=my-app -DarchetypeArtifactId=maven-archetype-quickstart -D</a:t>
            </a:r>
            <a:r>
              <a:rPr lang="en-US" altLang="en-US" b="1">
                <a:solidFill>
                  <a:srgbClr val="C00000"/>
                </a:solidFill>
              </a:rPr>
              <a:t>interactiveMode=false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8FEB5074-3777-B593-5307-429F4A419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Archetype</a:t>
            </a:r>
          </a:p>
        </p:txBody>
      </p:sp>
      <p:sp>
        <p:nvSpPr>
          <p:cNvPr id="38915" name="Content Placeholder 2">
            <a:extLst>
              <a:ext uri="{FF2B5EF4-FFF2-40B4-BE49-F238E27FC236}">
                <a16:creationId xmlns:a16="http://schemas.microsoft.com/office/drawing/2014/main" id="{8CAD9200-6429-0F89-654B-BBBC3AD46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 Directory with the artifact Id is Created along with Some Sample Code</a:t>
            </a:r>
          </a:p>
          <a:p>
            <a:endParaRPr lang="en-US" altLang="en-US"/>
          </a:p>
          <a:p>
            <a:r>
              <a:rPr lang="en-US" altLang="en-US"/>
              <a:t>Can Compile it using </a:t>
            </a:r>
          </a:p>
          <a:p>
            <a:endParaRPr lang="en-US" altLang="en-US"/>
          </a:p>
          <a:p>
            <a:r>
              <a:rPr lang="en-US" altLang="en-US" b="1">
                <a:solidFill>
                  <a:srgbClr val="C00000"/>
                </a:solidFill>
              </a:rPr>
              <a:t>mvn clean compile  </a:t>
            </a:r>
          </a:p>
          <a:p>
            <a:endParaRPr lang="en-US" altLang="en-US"/>
          </a:p>
          <a:p>
            <a:pPr lvl="1"/>
            <a:r>
              <a:rPr lang="en-US" altLang="en-US" sz="2000"/>
              <a:t>A  </a:t>
            </a:r>
            <a:r>
              <a:rPr lang="en-US" altLang="en-US" sz="2000" b="1"/>
              <a:t>target directory</a:t>
            </a:r>
            <a:r>
              <a:rPr lang="en-US" altLang="en-US" sz="2000"/>
              <a:t> is created with the class files.</a:t>
            </a:r>
          </a:p>
          <a:p>
            <a:endParaRPr lang="en-US" altLang="en-US"/>
          </a:p>
          <a:p>
            <a:r>
              <a:rPr lang="en-US" altLang="en-US" b="1">
                <a:solidFill>
                  <a:srgbClr val="C00000"/>
                </a:solidFill>
              </a:rPr>
              <a:t>mvn package  </a:t>
            </a:r>
          </a:p>
          <a:p>
            <a:pPr lvl="1"/>
            <a:r>
              <a:rPr lang="en-US" altLang="en-US" sz="2000" b="1"/>
              <a:t>A jar file is created</a:t>
            </a:r>
            <a:r>
              <a:rPr lang="en-US" altLang="en-US" sz="2000"/>
              <a:t> inside the project/target directory.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63D653C0-CF4F-6797-5A22-686404D24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Packaging</a:t>
            </a:r>
          </a:p>
        </p:txBody>
      </p:sp>
      <p:sp>
        <p:nvSpPr>
          <p:cNvPr id="39939" name="Content Placeholder 4">
            <a:extLst>
              <a:ext uri="{FF2B5EF4-FFF2-40B4-BE49-F238E27FC236}">
                <a16:creationId xmlns:a16="http://schemas.microsoft.com/office/drawing/2014/main" id="{C730D6D3-DBF8-00F6-BA62-B742D9B0F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056563" cy="54102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&lt;?xml version="1.0" encoding="UTF-8"?&gt;</a:t>
            </a:r>
          </a:p>
          <a:p>
            <a:pPr>
              <a:spcBef>
                <a:spcPct val="0"/>
              </a:spcBef>
            </a:pP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&lt;project&gt;</a:t>
            </a:r>
          </a:p>
          <a:p>
            <a:pPr marL="0" lvl="2">
              <a:buFontTx/>
              <a:buNone/>
            </a:pP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    &lt;groupId&gt;com.mycompany.app&lt;/groupId&gt;</a:t>
            </a:r>
          </a:p>
          <a:p>
            <a:pPr marL="0" lvl="2">
              <a:buFontTx/>
              <a:buNone/>
            </a:pP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       &lt;artifactId&gt;my-app&lt;/artifactId&gt;</a:t>
            </a:r>
          </a:p>
          <a:p>
            <a:pPr marL="0" lvl="2">
              <a:buFontTx/>
              <a:buNone/>
            </a:pP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       &lt;version&gt;1.0-SNAPSHOT&lt;/version&gt;</a:t>
            </a:r>
          </a:p>
          <a:p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&lt;packaging&gt;jar&lt;/packaging&gt;</a:t>
            </a:r>
          </a:p>
          <a:p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&lt;/project&gt;</a:t>
            </a:r>
          </a:p>
          <a:p>
            <a:endParaRPr lang="en-US" altLang="en-US" sz="2400"/>
          </a:p>
          <a:p>
            <a:r>
              <a:rPr lang="en-US" altLang="en-US" sz="2400"/>
              <a:t>Build type identified using the “packaging” element</a:t>
            </a:r>
          </a:p>
          <a:p>
            <a:r>
              <a:rPr lang="en-US" altLang="en-US" sz="2400"/>
              <a:t>Tells Maven how to build the project</a:t>
            </a:r>
          </a:p>
          <a:p>
            <a:r>
              <a:rPr lang="en-US" altLang="en-US" sz="2400"/>
              <a:t>Example packaging types:</a:t>
            </a:r>
          </a:p>
          <a:p>
            <a:pPr lvl="1"/>
            <a:r>
              <a:rPr lang="en-US" altLang="en-US" sz="2400"/>
              <a:t>pom, jar, war, ear, custom</a:t>
            </a:r>
          </a:p>
          <a:p>
            <a:pPr lvl="1"/>
            <a:r>
              <a:rPr lang="en-US" altLang="en-US" sz="2400"/>
              <a:t>Default is jar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9275AB5C-FA38-B0C1-AC98-D51A473D0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Package</a:t>
            </a:r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DEA5792B-8CEE-5B78-12E0-7E87ACF34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8200"/>
            <a:ext cx="8056563" cy="5562600"/>
          </a:xfrm>
        </p:spPr>
        <p:txBody>
          <a:bodyPr/>
          <a:lstStyle/>
          <a:p>
            <a:r>
              <a:rPr lang="en-US" altLang="en-US" b="1"/>
              <a:t>mvn package </a:t>
            </a:r>
            <a:r>
              <a:rPr lang="en-US" altLang="en-US"/>
              <a:t> will execute a series of phases and package to a distributable format, such as a JAR.</a:t>
            </a:r>
            <a:endParaRPr lang="en-US" altLang="en-US" b="1"/>
          </a:p>
          <a:p>
            <a:pPr lvl="1"/>
            <a:endParaRPr lang="en-US" altLang="en-US" sz="1800"/>
          </a:p>
          <a:p>
            <a:pPr lvl="1"/>
            <a:r>
              <a:rPr lang="en-US" altLang="en-US" sz="1800"/>
              <a:t>Validate</a:t>
            </a:r>
          </a:p>
          <a:p>
            <a:pPr lvl="1"/>
            <a:r>
              <a:rPr lang="en-US" altLang="en-US" sz="1800"/>
              <a:t>generate-sources</a:t>
            </a:r>
          </a:p>
          <a:p>
            <a:pPr lvl="1"/>
            <a:r>
              <a:rPr lang="en-US" altLang="en-US" sz="1800"/>
              <a:t>process-sources</a:t>
            </a:r>
          </a:p>
          <a:p>
            <a:pPr lvl="1"/>
            <a:r>
              <a:rPr lang="en-US" altLang="en-US" sz="1800"/>
              <a:t>generate-resources</a:t>
            </a:r>
          </a:p>
          <a:p>
            <a:pPr lvl="1"/>
            <a:r>
              <a:rPr lang="en-US" altLang="en-US" sz="1800"/>
              <a:t>process-resources</a:t>
            </a:r>
          </a:p>
          <a:p>
            <a:pPr lvl="1"/>
            <a:r>
              <a:rPr lang="en-US" altLang="en-US" sz="1800"/>
              <a:t>Compile</a:t>
            </a:r>
          </a:p>
          <a:p>
            <a:endParaRPr lang="en-US" altLang="en-US" b="1"/>
          </a:p>
          <a:p>
            <a:r>
              <a:rPr lang="en-US" altLang="en-US" b="1"/>
              <a:t>java -cp target/my-app-1.0-SNAPSHOT.jar  com.mycompany.app.App</a:t>
            </a:r>
          </a:p>
          <a:p>
            <a:endParaRPr lang="en-US" altLang="en-US"/>
          </a:p>
          <a:p>
            <a:pPr lvl="1"/>
            <a:endParaRPr lang="en-US" altLang="en-US" sz="2000" b="1">
              <a:solidFill>
                <a:srgbClr val="C00000"/>
              </a:solidFill>
            </a:endParaRPr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4">
            <a:extLst>
              <a:ext uri="{FF2B5EF4-FFF2-40B4-BE49-F238E27FC236}">
                <a16:creationId xmlns:a16="http://schemas.microsoft.com/office/drawing/2014/main" id="{41361B9A-B22E-F589-8236-30DC3B295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Maven Plugin</a:t>
            </a:r>
          </a:p>
        </p:txBody>
      </p:sp>
      <p:sp>
        <p:nvSpPr>
          <p:cNvPr id="41987" name="Content Placeholder 2">
            <a:extLst>
              <a:ext uri="{FF2B5EF4-FFF2-40B4-BE49-F238E27FC236}">
                <a16:creationId xmlns:a16="http://schemas.microsoft.com/office/drawing/2014/main" id="{153608A7-FCA4-709C-1E1F-B04252604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8200"/>
            <a:ext cx="8228013" cy="5286375"/>
          </a:xfrm>
        </p:spPr>
        <p:txBody>
          <a:bodyPr/>
          <a:lstStyle/>
          <a:p>
            <a:pPr marL="571500" lvl="2" indent="0">
              <a:buNone/>
            </a:pPr>
            <a:r>
              <a:rPr lang="en-IN" sz="2000" dirty="0">
                <a:solidFill>
                  <a:srgbClr val="000000"/>
                </a:solidFill>
                <a:effectLst/>
              </a:rPr>
              <a:t>&lt;</a:t>
            </a:r>
            <a:r>
              <a:rPr lang="en-IN" sz="2000" dirty="0">
                <a:solidFill>
                  <a:srgbClr val="268BD2"/>
                </a:solidFill>
                <a:effectLst/>
              </a:rPr>
              <a:t>plugin</a:t>
            </a:r>
            <a:r>
              <a:rPr lang="en-IN" sz="2000" dirty="0">
                <a:solidFill>
                  <a:srgbClr val="000000"/>
                </a:solidFill>
                <a:effectLst/>
              </a:rPr>
              <a:t>&gt;</a:t>
            </a:r>
          </a:p>
          <a:p>
            <a:pPr marL="571500" lvl="2" indent="0">
              <a:buNone/>
            </a:pPr>
            <a:r>
              <a:rPr lang="en-IN" sz="2000" dirty="0">
                <a:solidFill>
                  <a:srgbClr val="000000"/>
                </a:solidFill>
                <a:effectLst/>
              </a:rPr>
              <a:t>&lt;</a:t>
            </a:r>
            <a:r>
              <a:rPr lang="en-IN" sz="2000" dirty="0" err="1">
                <a:solidFill>
                  <a:srgbClr val="268BD2"/>
                </a:solidFill>
                <a:effectLst/>
              </a:rPr>
              <a:t>artifactId</a:t>
            </a:r>
            <a:r>
              <a:rPr lang="en-IN" sz="2000" dirty="0">
                <a:solidFill>
                  <a:srgbClr val="000000"/>
                </a:solidFill>
                <a:effectLst/>
              </a:rPr>
              <a:t>&gt;maven-jar-plugin&lt;/</a:t>
            </a:r>
            <a:r>
              <a:rPr lang="en-IN" sz="2000" dirty="0" err="1">
                <a:solidFill>
                  <a:srgbClr val="268BD2"/>
                </a:solidFill>
                <a:effectLst/>
              </a:rPr>
              <a:t>artifactId</a:t>
            </a:r>
            <a:r>
              <a:rPr lang="en-IN" sz="2000" dirty="0">
                <a:solidFill>
                  <a:srgbClr val="000000"/>
                </a:solidFill>
                <a:effectLst/>
              </a:rPr>
              <a:t>&gt;</a:t>
            </a:r>
          </a:p>
          <a:p>
            <a:pPr marL="571500" lvl="2" indent="0">
              <a:buNone/>
            </a:pPr>
            <a:r>
              <a:rPr lang="en-IN" sz="2000" dirty="0">
                <a:solidFill>
                  <a:srgbClr val="000000"/>
                </a:solidFill>
                <a:effectLst/>
              </a:rPr>
              <a:t>&lt;</a:t>
            </a:r>
            <a:r>
              <a:rPr lang="en-IN" sz="2000" dirty="0">
                <a:solidFill>
                  <a:srgbClr val="268BD2"/>
                </a:solidFill>
                <a:effectLst/>
              </a:rPr>
              <a:t>version</a:t>
            </a:r>
            <a:r>
              <a:rPr lang="en-IN" sz="2000" dirty="0">
                <a:solidFill>
                  <a:srgbClr val="000000"/>
                </a:solidFill>
                <a:effectLst/>
              </a:rPr>
              <a:t>&gt;3.4.2&lt;/</a:t>
            </a:r>
            <a:r>
              <a:rPr lang="en-IN" sz="2000" dirty="0">
                <a:solidFill>
                  <a:srgbClr val="268BD2"/>
                </a:solidFill>
                <a:effectLst/>
              </a:rPr>
              <a:t>version</a:t>
            </a:r>
            <a:r>
              <a:rPr lang="en-IN" sz="2000" dirty="0">
                <a:solidFill>
                  <a:srgbClr val="000000"/>
                </a:solidFill>
                <a:effectLst/>
              </a:rPr>
              <a:t>&gt;</a:t>
            </a:r>
          </a:p>
          <a:p>
            <a:pPr marL="571500" lvl="2" indent="0">
              <a:buNone/>
            </a:pPr>
            <a:r>
              <a:rPr lang="en-IN" sz="2000" dirty="0">
                <a:solidFill>
                  <a:srgbClr val="000000"/>
                </a:solidFill>
                <a:effectLst/>
              </a:rPr>
              <a:t>&lt;</a:t>
            </a:r>
            <a:r>
              <a:rPr lang="en-IN" sz="2000" dirty="0">
                <a:solidFill>
                  <a:srgbClr val="268BD2"/>
                </a:solidFill>
                <a:effectLst/>
              </a:rPr>
              <a:t>configuration</a:t>
            </a:r>
            <a:r>
              <a:rPr lang="en-IN" sz="2000" dirty="0">
                <a:solidFill>
                  <a:srgbClr val="000000"/>
                </a:solidFill>
                <a:effectLst/>
              </a:rPr>
              <a:t>&gt;</a:t>
            </a:r>
          </a:p>
          <a:p>
            <a:pPr marL="571500" lvl="2" indent="0">
              <a:buNone/>
            </a:pPr>
            <a:r>
              <a:rPr lang="en-IN" sz="2000" dirty="0">
                <a:solidFill>
                  <a:srgbClr val="000000"/>
                </a:solidFill>
                <a:effectLst/>
              </a:rPr>
              <a:t>&lt;</a:t>
            </a:r>
            <a:r>
              <a:rPr lang="en-IN" sz="2000" dirty="0">
                <a:solidFill>
                  <a:srgbClr val="268BD2"/>
                </a:solidFill>
                <a:effectLst/>
              </a:rPr>
              <a:t>archive</a:t>
            </a:r>
            <a:r>
              <a:rPr lang="en-IN" sz="2000" dirty="0">
                <a:solidFill>
                  <a:srgbClr val="000000"/>
                </a:solidFill>
                <a:effectLst/>
              </a:rPr>
              <a:t>&gt;</a:t>
            </a:r>
          </a:p>
          <a:p>
            <a:pPr marL="571500" lvl="2" indent="0">
              <a:buNone/>
            </a:pPr>
            <a:r>
              <a:rPr lang="en-IN" sz="2000" dirty="0">
                <a:solidFill>
                  <a:srgbClr val="000000"/>
                </a:solidFill>
                <a:effectLst/>
              </a:rPr>
              <a:t>&lt;</a:t>
            </a:r>
            <a:r>
              <a:rPr lang="en-IN" sz="2000" dirty="0">
                <a:solidFill>
                  <a:srgbClr val="268BD2"/>
                </a:solidFill>
                <a:effectLst/>
              </a:rPr>
              <a:t>manifest</a:t>
            </a:r>
            <a:r>
              <a:rPr lang="en-IN" sz="2000" dirty="0">
                <a:solidFill>
                  <a:srgbClr val="000000"/>
                </a:solidFill>
                <a:effectLst/>
              </a:rPr>
              <a:t>&gt;</a:t>
            </a:r>
          </a:p>
          <a:p>
            <a:pPr marL="571500" lvl="2" indent="0">
              <a:buNone/>
            </a:pPr>
            <a:r>
              <a:rPr lang="en-IN" sz="2000" dirty="0">
                <a:solidFill>
                  <a:srgbClr val="000000"/>
                </a:solidFill>
                <a:effectLst/>
              </a:rPr>
              <a:t>&lt;</a:t>
            </a:r>
            <a:r>
              <a:rPr lang="en-IN" sz="2000" dirty="0" err="1">
                <a:solidFill>
                  <a:srgbClr val="268BD2"/>
                </a:solidFill>
                <a:effectLst/>
              </a:rPr>
              <a:t>mainClass</a:t>
            </a:r>
            <a:r>
              <a:rPr lang="en-IN" sz="2000" dirty="0">
                <a:solidFill>
                  <a:srgbClr val="000000"/>
                </a:solidFill>
                <a:effectLst/>
              </a:rPr>
              <a:t>&gt;</a:t>
            </a:r>
            <a:r>
              <a:rPr lang="en-IN" sz="2000" dirty="0" err="1">
                <a:solidFill>
                  <a:srgbClr val="000000"/>
                </a:solidFill>
                <a:effectLst/>
              </a:rPr>
              <a:t>com.example.demo.App</a:t>
            </a:r>
            <a:r>
              <a:rPr lang="en-IN" sz="2000" dirty="0">
                <a:solidFill>
                  <a:srgbClr val="000000"/>
                </a:solidFill>
                <a:effectLst/>
              </a:rPr>
              <a:t>&lt;/</a:t>
            </a:r>
            <a:r>
              <a:rPr lang="en-IN" sz="2000" dirty="0" err="1">
                <a:solidFill>
                  <a:srgbClr val="268BD2"/>
                </a:solidFill>
                <a:effectLst/>
              </a:rPr>
              <a:t>mainClass</a:t>
            </a:r>
            <a:r>
              <a:rPr lang="en-IN" sz="2000" dirty="0">
                <a:solidFill>
                  <a:srgbClr val="000000"/>
                </a:solidFill>
                <a:effectLst/>
              </a:rPr>
              <a:t>&gt;</a:t>
            </a:r>
          </a:p>
          <a:p>
            <a:pPr marL="571500" lvl="2" indent="0">
              <a:buNone/>
            </a:pPr>
            <a:r>
              <a:rPr lang="en-IN" sz="2000" dirty="0">
                <a:solidFill>
                  <a:srgbClr val="000000"/>
                </a:solidFill>
                <a:effectLst/>
              </a:rPr>
              <a:t>&lt;/</a:t>
            </a:r>
            <a:r>
              <a:rPr lang="en-IN" sz="2000" dirty="0">
                <a:solidFill>
                  <a:srgbClr val="268BD2"/>
                </a:solidFill>
                <a:effectLst/>
              </a:rPr>
              <a:t>manifest</a:t>
            </a:r>
            <a:r>
              <a:rPr lang="en-IN" sz="2000" dirty="0">
                <a:solidFill>
                  <a:srgbClr val="000000"/>
                </a:solidFill>
                <a:effectLst/>
              </a:rPr>
              <a:t>&gt;</a:t>
            </a:r>
          </a:p>
          <a:p>
            <a:pPr marL="571500" lvl="2" indent="0">
              <a:buNone/>
            </a:pPr>
            <a:r>
              <a:rPr lang="en-IN" sz="2000" dirty="0">
                <a:solidFill>
                  <a:srgbClr val="000000"/>
                </a:solidFill>
                <a:effectLst/>
              </a:rPr>
              <a:t>&lt;/</a:t>
            </a:r>
            <a:r>
              <a:rPr lang="en-IN" sz="2000" dirty="0">
                <a:solidFill>
                  <a:srgbClr val="268BD2"/>
                </a:solidFill>
                <a:effectLst/>
              </a:rPr>
              <a:t>archive</a:t>
            </a:r>
            <a:r>
              <a:rPr lang="en-IN" sz="2000" dirty="0">
                <a:solidFill>
                  <a:srgbClr val="000000"/>
                </a:solidFill>
                <a:effectLst/>
              </a:rPr>
              <a:t>&gt;</a:t>
            </a:r>
          </a:p>
          <a:p>
            <a:pPr marL="571500" lvl="2" indent="0">
              <a:buNone/>
            </a:pPr>
            <a:r>
              <a:rPr lang="en-IN" sz="2000" dirty="0">
                <a:solidFill>
                  <a:srgbClr val="000000"/>
                </a:solidFill>
                <a:effectLst/>
              </a:rPr>
              <a:t>&lt;/</a:t>
            </a:r>
            <a:r>
              <a:rPr lang="en-IN" sz="2000" dirty="0">
                <a:solidFill>
                  <a:srgbClr val="268BD2"/>
                </a:solidFill>
                <a:effectLst/>
              </a:rPr>
              <a:t>configuration</a:t>
            </a:r>
            <a:r>
              <a:rPr lang="en-IN" sz="2000" dirty="0">
                <a:solidFill>
                  <a:srgbClr val="000000"/>
                </a:solidFill>
                <a:effectLst/>
              </a:rPr>
              <a:t>&gt;</a:t>
            </a:r>
          </a:p>
          <a:p>
            <a:pPr marL="571500" lvl="2" indent="0">
              <a:buNone/>
            </a:pPr>
            <a:r>
              <a:rPr lang="en-IN" sz="2000" dirty="0">
                <a:solidFill>
                  <a:srgbClr val="000000"/>
                </a:solidFill>
                <a:effectLst/>
              </a:rPr>
              <a:t>&lt;/</a:t>
            </a:r>
            <a:r>
              <a:rPr lang="en-IN" sz="2000" dirty="0">
                <a:solidFill>
                  <a:srgbClr val="268BD2"/>
                </a:solidFill>
                <a:effectLst/>
              </a:rPr>
              <a:t>plugin</a:t>
            </a:r>
            <a:r>
              <a:rPr lang="en-IN" sz="2000" dirty="0">
                <a:solidFill>
                  <a:srgbClr val="000000"/>
                </a:solidFill>
                <a:effectLst/>
              </a:rPr>
              <a:t>&gt;</a:t>
            </a:r>
          </a:p>
          <a:p>
            <a:pPr marL="1371600" lvl="3" indent="0"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5">
            <a:extLst>
              <a:ext uri="{FF2B5EF4-FFF2-40B4-BE49-F238E27FC236}">
                <a16:creationId xmlns:a16="http://schemas.microsoft.com/office/drawing/2014/main" id="{D302BE2A-BE3A-B9A7-DEF5-5E8B7CF94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228013" cy="685800"/>
          </a:xfrm>
        </p:spPr>
        <p:txBody>
          <a:bodyPr/>
          <a:lstStyle/>
          <a:p>
            <a:r>
              <a:rPr lang="en-US" altLang="en-US"/>
              <a:t>Types of Plugins</a:t>
            </a:r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1ED0676C-7911-EC85-0392-B8F01483D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u="sng"/>
              <a:t>Build plugins</a:t>
            </a:r>
          </a:p>
          <a:p>
            <a:pPr lvl="1"/>
            <a:r>
              <a:rPr lang="en-US" altLang="en-US" sz="2000"/>
              <a:t>Executed during the build and  configured in the &lt;build/&gt; element </a:t>
            </a:r>
          </a:p>
          <a:p>
            <a:r>
              <a:rPr lang="en-US" altLang="en-US" b="1" u="sng"/>
              <a:t>Reporting plugins</a:t>
            </a:r>
          </a:p>
          <a:p>
            <a:pPr lvl="1"/>
            <a:r>
              <a:rPr lang="en-US" altLang="en-US" sz="2000"/>
              <a:t>Executed during the site generation and configured in the &lt;reporting/&gt; element</a:t>
            </a:r>
          </a:p>
          <a:p>
            <a:endParaRPr lang="en-US" altLang="en-US"/>
          </a:p>
          <a:p>
            <a:r>
              <a:rPr lang="en-US" altLang="en-US"/>
              <a:t>List of  Common plugins:</a:t>
            </a:r>
          </a:p>
          <a:p>
            <a:endParaRPr lang="en-US" altLang="en-US" b="1">
              <a:solidFill>
                <a:srgbClr val="C00000"/>
              </a:solidFill>
            </a:endParaRPr>
          </a:p>
          <a:p>
            <a:r>
              <a:rPr lang="en-US" altLang="en-US" b="1">
                <a:solidFill>
                  <a:srgbClr val="C00000"/>
                </a:solidFill>
              </a:rPr>
              <a:t>Clean</a:t>
            </a:r>
            <a:r>
              <a:rPr lang="en-US" altLang="en-US"/>
              <a:t>  : clean up target after the build. Deletes the target directory.</a:t>
            </a:r>
          </a:p>
          <a:p>
            <a:r>
              <a:rPr lang="en-US" altLang="en-US" b="1">
                <a:solidFill>
                  <a:srgbClr val="C00000"/>
                </a:solidFill>
              </a:rPr>
              <a:t>Compiler </a:t>
            </a:r>
            <a:r>
              <a:rPr lang="en-US" altLang="en-US"/>
              <a:t>: Compiles Java source files.</a:t>
            </a:r>
          </a:p>
          <a:p>
            <a:r>
              <a:rPr lang="en-US" altLang="en-US" b="1">
                <a:solidFill>
                  <a:srgbClr val="C00000"/>
                </a:solidFill>
              </a:rPr>
              <a:t>Jar  </a:t>
            </a:r>
            <a:r>
              <a:rPr lang="en-US" altLang="en-US"/>
              <a:t>:Builds a JAR file from the current project.</a:t>
            </a:r>
          </a:p>
          <a:p>
            <a:r>
              <a:rPr lang="en-US" altLang="en-US" b="1">
                <a:solidFill>
                  <a:srgbClr val="C00000"/>
                </a:solidFill>
              </a:rPr>
              <a:t>War </a:t>
            </a:r>
            <a:r>
              <a:rPr lang="en-US" altLang="en-US"/>
              <a:t>: Builds a WAR file from the current project</a:t>
            </a:r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1FD79735-D22A-AB6B-2DB6-07C0EDC973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fld id="{82E44912-CFA2-DE4A-B119-2C9102B13847}" type="slidenum">
              <a:rPr lang="en-US" altLang="en-US"/>
              <a:pPr eaLnBrk="1" hangingPunct="1"/>
              <a:t>23</a:t>
            </a:fld>
            <a:endParaRPr lang="en-US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0D8C4851-A490-CA6C-A0AE-154F52B21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Build Life Cycle</a:t>
            </a:r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1CBC56D6-3002-83EE-10AF-BC4691762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056563" cy="5334000"/>
          </a:xfrm>
        </p:spPr>
        <p:txBody>
          <a:bodyPr/>
          <a:lstStyle/>
          <a:p>
            <a:r>
              <a:rPr lang="en-US" altLang="en-US" sz="1900"/>
              <a:t>Maven has 3 built-in build life cycles. </a:t>
            </a:r>
          </a:p>
          <a:p>
            <a:pPr lvl="1"/>
            <a:r>
              <a:rPr lang="en-US" altLang="en-US" sz="1900"/>
              <a:t>Executed independently of each other. </a:t>
            </a:r>
          </a:p>
          <a:p>
            <a:pPr lvl="1"/>
            <a:r>
              <a:rPr lang="en-US" altLang="en-US" sz="1900"/>
              <a:t>Can be executed sequentially  </a:t>
            </a:r>
          </a:p>
          <a:p>
            <a:endParaRPr lang="en-US" altLang="en-US" sz="1900"/>
          </a:p>
          <a:p>
            <a:r>
              <a:rPr lang="en-US" altLang="en-US" sz="1900" b="1"/>
              <a:t> default </a:t>
            </a:r>
          </a:p>
          <a:p>
            <a:pPr lvl="1"/>
            <a:r>
              <a:rPr lang="en-US" altLang="en-US" sz="1900"/>
              <a:t>compiling and packaging project. </a:t>
            </a:r>
          </a:p>
          <a:p>
            <a:r>
              <a:rPr lang="en-US" altLang="en-US" sz="1900" b="1"/>
              <a:t>clean </a:t>
            </a:r>
          </a:p>
          <a:p>
            <a:pPr lvl="1"/>
            <a:r>
              <a:rPr lang="en-US" altLang="en-US" sz="1900"/>
              <a:t>removing temporary files from the output directory, including generated source files, compiled classes, previous JAR files etc. </a:t>
            </a:r>
          </a:p>
          <a:p>
            <a:r>
              <a:rPr lang="en-US" altLang="en-US" sz="1900" b="1"/>
              <a:t>Site</a:t>
            </a:r>
          </a:p>
          <a:p>
            <a:pPr lvl="1"/>
            <a:r>
              <a:rPr lang="en-US" altLang="en-US" sz="1900"/>
              <a:t>generating documentation for your project. In fact,</a:t>
            </a:r>
          </a:p>
          <a:p>
            <a:pPr lvl="1"/>
            <a:r>
              <a:rPr lang="en-US" altLang="en-US" sz="1900"/>
              <a:t>site can generate a complete website with documentation for the project.</a:t>
            </a:r>
          </a:p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05E9C-F081-427A-6C3F-D3FA09C703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fld id="{89D20A87-E58E-C142-95F2-071312F1009F}" type="slidenum">
              <a:rPr lang="en-US" altLang="en-US"/>
              <a:pPr eaLnBrk="1" hangingPunct="1"/>
              <a:t>24</a:t>
            </a:fld>
            <a:endParaRPr lang="en-US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4">
            <a:extLst>
              <a:ext uri="{FF2B5EF4-FFF2-40B4-BE49-F238E27FC236}">
                <a16:creationId xmlns:a16="http://schemas.microsoft.com/office/drawing/2014/main" id="{2AAB0CC8-0E1D-BB8C-4C71-CBFED9F8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Build Phase</a:t>
            </a:r>
          </a:p>
        </p:txBody>
      </p:sp>
      <p:sp>
        <p:nvSpPr>
          <p:cNvPr id="45059" name="Content Placeholder 2">
            <a:extLst>
              <a:ext uri="{FF2B5EF4-FFF2-40B4-BE49-F238E27FC236}">
                <a16:creationId xmlns:a16="http://schemas.microsoft.com/office/drawing/2014/main" id="{66BBBA0C-B17F-4167-CAB3-9535B7A80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4400"/>
            <a:ext cx="8056563" cy="54864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A build life cycle consists of a sequence of build phases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Each build phase consists of a sequence of goals.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Default lifecycle comprises of following phases</a:t>
            </a:r>
          </a:p>
          <a:p>
            <a:pPr lvl="1">
              <a:buFont typeface="Arial" panose="020B0604020202020204" pitchFamily="34" charset="0"/>
              <a:buChar char="–"/>
            </a:pPr>
            <a:r>
              <a:rPr lang="en-US" altLang="en-US" sz="2000"/>
              <a:t>generate-sources/generate-resources</a:t>
            </a:r>
          </a:p>
          <a:p>
            <a:pPr lvl="1">
              <a:buFont typeface="Arial" panose="020B0604020202020204" pitchFamily="34" charset="0"/>
              <a:buChar char="–"/>
            </a:pPr>
            <a:r>
              <a:rPr lang="en-US" altLang="en-US" sz="2000"/>
              <a:t>compile</a:t>
            </a:r>
          </a:p>
          <a:p>
            <a:pPr lvl="1">
              <a:buFont typeface="Arial" panose="020B0604020202020204" pitchFamily="34" charset="0"/>
              <a:buChar char="–"/>
            </a:pPr>
            <a:r>
              <a:rPr lang="en-US" altLang="en-US" sz="2000"/>
              <a:t>test</a:t>
            </a:r>
          </a:p>
          <a:p>
            <a:pPr lvl="1">
              <a:buFont typeface="Arial" panose="020B0604020202020204" pitchFamily="34" charset="0"/>
              <a:buChar char="–"/>
            </a:pPr>
            <a:r>
              <a:rPr lang="en-US" altLang="en-US" sz="2000"/>
              <a:t>Package</a:t>
            </a:r>
          </a:p>
          <a:p>
            <a:pPr lvl="1"/>
            <a:r>
              <a:rPr lang="en-US" altLang="en-US" sz="1800" b="1"/>
              <a:t>Install</a:t>
            </a:r>
          </a:p>
          <a:p>
            <a:pPr lvl="1"/>
            <a:r>
              <a:rPr lang="en-US" altLang="en-US" sz="2000"/>
              <a:t>Install the package into the local repository, for use as a dependency in other projects </a:t>
            </a:r>
          </a:p>
          <a:p>
            <a:pPr lvl="1"/>
            <a:r>
              <a:rPr lang="en-US" altLang="en-US" sz="2000"/>
              <a:t>for sharing with other developers and projects.</a:t>
            </a:r>
          </a:p>
          <a:p>
            <a:pPr lvl="1">
              <a:buFont typeface="Arial" panose="020B0604020202020204" pitchFamily="34" charset="0"/>
              <a:buChar char="–"/>
            </a:pPr>
            <a:endParaRPr lang="en-US" altLang="en-US" sz="2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C1160CC8-65F3-D11C-2FFB-9015724C0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Plugin Goals</a:t>
            </a:r>
          </a:p>
        </p:txBody>
      </p:sp>
      <p:sp>
        <p:nvSpPr>
          <p:cNvPr id="46083" name="Content Placeholder 2">
            <a:extLst>
              <a:ext uri="{FF2B5EF4-FFF2-40B4-BE49-F238E27FC236}">
                <a16:creationId xmlns:a16="http://schemas.microsoft.com/office/drawing/2014/main" id="{DB6FEA66-00E5-B99C-0BE4-E4B0E8C7E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 plugin goal represents a specific task (finer than a build phase) which contributes to the building and managing of a project.</a:t>
            </a:r>
          </a:p>
          <a:p>
            <a:endParaRPr lang="en-US" altLang="en-US"/>
          </a:p>
          <a:p>
            <a:r>
              <a:rPr lang="en-US" altLang="en-US"/>
              <a:t>The order of execution depends on the order in which the goal(s) and the build phase(s) are invoked. </a:t>
            </a:r>
          </a:p>
          <a:p>
            <a:endParaRPr lang="en-US" altLang="en-US"/>
          </a:p>
          <a:p>
            <a:r>
              <a:rPr lang="en-US" altLang="en-US"/>
              <a:t>Build phase can also have zero or more goals bound to it. </a:t>
            </a:r>
          </a:p>
          <a:p>
            <a:endParaRPr lang="en-US" altLang="en-US"/>
          </a:p>
          <a:p>
            <a:r>
              <a:rPr lang="en-US" altLang="en-US"/>
              <a:t>If a build phase has one or more goals bound to it, it will execute all those goals one by one</a:t>
            </a:r>
          </a:p>
          <a:p>
            <a:endParaRPr lang="en-US" altLang="en-US"/>
          </a:p>
          <a:p>
            <a:r>
              <a:rPr lang="en-US" altLang="en-US"/>
              <a:t>[plugin][goal]</a:t>
            </a:r>
          </a:p>
          <a:p>
            <a:r>
              <a:rPr lang="en-US" altLang="en-US"/>
              <a:t>exec:java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2D6AD5AA-55F9-1216-9898-0C0F86A9C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Goals</a:t>
            </a:r>
          </a:p>
        </p:txBody>
      </p:sp>
      <p:sp>
        <p:nvSpPr>
          <p:cNvPr id="47107" name="Content Placeholder 2">
            <a:extLst>
              <a:ext uri="{FF2B5EF4-FFF2-40B4-BE49-F238E27FC236}">
                <a16:creationId xmlns:a16="http://schemas.microsoft.com/office/drawing/2014/main" id="{98246CE0-30B2-5ECA-EB2E-E6EFA090E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 goal not bound to any build phase could be executed outside of the build lifecycle by direct invocation. </a:t>
            </a:r>
          </a:p>
          <a:p>
            <a:endParaRPr lang="en-US" altLang="en-US" b="1"/>
          </a:p>
          <a:p>
            <a:r>
              <a:rPr lang="en-US" altLang="en-US" b="1"/>
              <a:t>mvn clean </a:t>
            </a:r>
          </a:p>
          <a:p>
            <a:pPr lvl="1"/>
            <a:r>
              <a:rPr lang="en-US" altLang="en-US" sz="2200"/>
              <a:t>Invokes just clean</a:t>
            </a:r>
          </a:p>
          <a:p>
            <a:endParaRPr lang="en-US" altLang="en-US" b="1"/>
          </a:p>
          <a:p>
            <a:r>
              <a:rPr lang="en-US" altLang="en-US" b="1"/>
              <a:t>mvn clean compile</a:t>
            </a:r>
          </a:p>
          <a:p>
            <a:pPr lvl="1"/>
            <a:r>
              <a:rPr lang="en-US" altLang="en-US" sz="2000"/>
              <a:t>Clean old builds and compile</a:t>
            </a:r>
          </a:p>
          <a:p>
            <a:endParaRPr lang="en-US" altLang="en-US" b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6">
            <a:extLst>
              <a:ext uri="{FF2B5EF4-FFF2-40B4-BE49-F238E27FC236}">
                <a16:creationId xmlns:a16="http://schemas.microsoft.com/office/drawing/2014/main" id="{AAADBF4D-992D-89BB-7F25-EF04E6582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Installing Package</a:t>
            </a:r>
          </a:p>
        </p:txBody>
      </p:sp>
      <p:sp>
        <p:nvSpPr>
          <p:cNvPr id="48131" name="Content Placeholder 2">
            <a:extLst>
              <a:ext uri="{FF2B5EF4-FFF2-40B4-BE49-F238E27FC236}">
                <a16:creationId xmlns:a16="http://schemas.microsoft.com/office/drawing/2014/main" id="{A946220F-0837-CF44-BF01-DC4288223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8200"/>
            <a:ext cx="8228013" cy="5286375"/>
          </a:xfrm>
        </p:spPr>
        <p:txBody>
          <a:bodyPr/>
          <a:lstStyle/>
          <a:p>
            <a:r>
              <a:rPr lang="en-US" altLang="en-US" sz="1800" b="1"/>
              <a:t>mvn  install</a:t>
            </a:r>
          </a:p>
          <a:p>
            <a:pPr marL="450850" lvl="2">
              <a:buFont typeface="Wingdings" pitchFamily="2" charset="2"/>
              <a:buChar char="§"/>
            </a:pPr>
            <a:endParaRPr lang="en-US" altLang="en-US" sz="1800"/>
          </a:p>
          <a:p>
            <a:pPr marL="450850" lvl="2">
              <a:buFont typeface="Arial" panose="020B0604020202020204" pitchFamily="34" charset="0"/>
              <a:buChar char="•"/>
            </a:pPr>
            <a:r>
              <a:rPr lang="en-US" altLang="en-US" sz="1800"/>
              <a:t>install the package into the local repository, for use as a dependency in other projects locally</a:t>
            </a:r>
            <a:endParaRPr lang="en-US" altLang="en-US" sz="1800" b="1"/>
          </a:p>
          <a:p>
            <a:endParaRPr lang="en-US" altLang="en-US" sz="1800" b="1"/>
          </a:p>
          <a:p>
            <a:r>
              <a:rPr lang="en-US" altLang="en-US" sz="1800" b="1"/>
              <a:t> It </a:t>
            </a:r>
            <a:r>
              <a:rPr lang="en-US" altLang="en-US" sz="1800"/>
              <a:t> executes a series of phases like</a:t>
            </a:r>
            <a:endParaRPr lang="en-US" altLang="en-US" sz="1800" b="1"/>
          </a:p>
          <a:p>
            <a:pPr lvl="1"/>
            <a:r>
              <a:rPr lang="en-US" altLang="en-US" sz="1800"/>
              <a:t>Validate</a:t>
            </a:r>
          </a:p>
          <a:p>
            <a:pPr lvl="1"/>
            <a:r>
              <a:rPr lang="en-US" altLang="en-US" sz="1800"/>
              <a:t>generate-sources</a:t>
            </a:r>
          </a:p>
          <a:p>
            <a:pPr lvl="1"/>
            <a:r>
              <a:rPr lang="en-US" altLang="en-US" sz="1800"/>
              <a:t>compiled</a:t>
            </a:r>
          </a:p>
          <a:p>
            <a:pPr lvl="1"/>
            <a:r>
              <a:rPr lang="en-US" altLang="en-US" sz="1800"/>
              <a:t>tested,</a:t>
            </a:r>
          </a:p>
          <a:p>
            <a:pPr lvl="1"/>
            <a:r>
              <a:rPr lang="en-US" altLang="en-US" sz="1800"/>
              <a:t> packaged,</a:t>
            </a:r>
          </a:p>
          <a:p>
            <a:r>
              <a:rPr lang="en-US" altLang="en-US" sz="1800"/>
              <a:t>Can execute multiple build life cycles or phases by passing more than one argument </a:t>
            </a:r>
          </a:p>
          <a:p>
            <a:endParaRPr lang="en-US" altLang="en-US" sz="1800" b="1"/>
          </a:p>
          <a:p>
            <a:r>
              <a:rPr lang="en-US" altLang="en-US" sz="1800" b="1"/>
              <a:t>mvn clean instal</a:t>
            </a:r>
            <a:r>
              <a:rPr lang="en-US" altLang="en-US" sz="1800"/>
              <a:t>l;</a:t>
            </a:r>
          </a:p>
          <a:p>
            <a:pPr lvl="1"/>
            <a:r>
              <a:rPr lang="en-US" altLang="en-US" sz="1800"/>
              <a:t> this deletes the target directory and recreates all jars in that location.</a:t>
            </a:r>
          </a:p>
        </p:txBody>
      </p:sp>
      <p:sp>
        <p:nvSpPr>
          <p:cNvPr id="48132" name="Slide Number Placeholder 3">
            <a:extLst>
              <a:ext uri="{FF2B5EF4-FFF2-40B4-BE49-F238E27FC236}">
                <a16:creationId xmlns:a16="http://schemas.microsoft.com/office/drawing/2014/main" id="{A7630F05-5AC6-B2BB-7AA7-7CA2D451F1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fld id="{11920C34-0FBD-264C-805A-955AE1FB1739}" type="slidenum">
              <a:rPr lang="en-US" altLang="en-US"/>
              <a:pPr eaLnBrk="1" hangingPunct="1"/>
              <a:t>28</a:t>
            </a:fld>
            <a:endParaRPr lang="en-US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F6BF55D6-73C3-72EE-30CB-50B29E526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Variables</a:t>
            </a:r>
          </a:p>
        </p:txBody>
      </p:sp>
      <p:sp>
        <p:nvSpPr>
          <p:cNvPr id="49155" name="Content Placeholder 2">
            <a:extLst>
              <a:ext uri="{FF2B5EF4-FFF2-40B4-BE49-F238E27FC236}">
                <a16:creationId xmlns:a16="http://schemas.microsoft.com/office/drawing/2014/main" id="{11CE5045-9CAF-0CD0-CF54-366F16533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i="1"/>
              <a:t>Don't repeat yourself</a:t>
            </a:r>
            <a:r>
              <a:rPr lang="en-US" altLang="en-US"/>
              <a:t>. </a:t>
            </a:r>
          </a:p>
          <a:p>
            <a:r>
              <a:rPr lang="en-US" altLang="en-US"/>
              <a:t>To assist in ensuring the value is only specified once, </a:t>
            </a:r>
          </a:p>
          <a:p>
            <a:r>
              <a:rPr lang="en-US" altLang="en-US"/>
              <a:t>Maven allows variables in the POM.</a:t>
            </a:r>
          </a:p>
          <a:p>
            <a:endParaRPr lang="en-US" altLang="en-US"/>
          </a:p>
          <a:p>
            <a:pPr lvl="2">
              <a:buFont typeface="Times New Roman" panose="02020603050405020304" pitchFamily="18" charset="0"/>
              <a:buNone/>
            </a:pPr>
            <a:r>
              <a:rPr lang="en-US" altLang="en-US" sz="1800"/>
              <a:t>&lt;properties&gt;</a:t>
            </a:r>
          </a:p>
          <a:p>
            <a:pPr lvl="2">
              <a:buFont typeface="Times New Roman" panose="02020603050405020304" pitchFamily="18" charset="0"/>
              <a:buNone/>
            </a:pPr>
            <a:r>
              <a:rPr lang="en-US" altLang="en-US" sz="1800" b="1">
                <a:solidFill>
                  <a:srgbClr val="C00000"/>
                </a:solidFill>
              </a:rPr>
              <a:t>&lt;mavenVersion&gt;2.1&lt;/mavenVersion&gt;</a:t>
            </a:r>
          </a:p>
          <a:p>
            <a:pPr lvl="2">
              <a:buFont typeface="Times New Roman" panose="02020603050405020304" pitchFamily="18" charset="0"/>
              <a:buNone/>
            </a:pPr>
            <a:r>
              <a:rPr lang="en-US" altLang="en-US" sz="1800"/>
              <a:t>&lt;/properties&gt;</a:t>
            </a:r>
          </a:p>
          <a:p>
            <a:pPr lvl="1">
              <a:buFont typeface="Times New Roman" panose="02020603050405020304" pitchFamily="18" charset="0"/>
              <a:buNone/>
            </a:pPr>
            <a:endParaRPr lang="en-US" altLang="en-US" sz="1600"/>
          </a:p>
          <a:p>
            <a:pPr lvl="1">
              <a:buFont typeface="Times New Roman" panose="02020603050405020304" pitchFamily="18" charset="0"/>
              <a:buNone/>
            </a:pPr>
            <a:r>
              <a:rPr lang="en-US" altLang="en-US" sz="1600"/>
              <a:t>&lt;dependency&gt;</a:t>
            </a:r>
          </a:p>
          <a:p>
            <a:pPr lvl="2">
              <a:buFont typeface="Times New Roman" panose="02020603050405020304" pitchFamily="18" charset="0"/>
              <a:buNone/>
            </a:pPr>
            <a:r>
              <a:rPr lang="en-US" altLang="en-US" sz="1800"/>
              <a:t>&lt;groupId&gt;org.apache.maven&lt;/groupId&gt;</a:t>
            </a:r>
          </a:p>
          <a:p>
            <a:pPr lvl="2">
              <a:buFont typeface="Times New Roman" panose="02020603050405020304" pitchFamily="18" charset="0"/>
              <a:buNone/>
            </a:pPr>
            <a:r>
              <a:rPr lang="en-US" altLang="en-US" sz="1800"/>
              <a:t>&lt;artifactId&gt;maven-artifact&lt;/artifactId&gt;</a:t>
            </a:r>
          </a:p>
          <a:p>
            <a:pPr lvl="2">
              <a:buFont typeface="Times New Roman" panose="02020603050405020304" pitchFamily="18" charset="0"/>
              <a:buNone/>
            </a:pPr>
            <a:r>
              <a:rPr lang="en-US" altLang="en-US" sz="1800" b="1">
                <a:solidFill>
                  <a:srgbClr val="C00000"/>
                </a:solidFill>
              </a:rPr>
              <a:t>&lt;version&gt;${mavenVersion}&lt;/version&gt;</a:t>
            </a:r>
          </a:p>
          <a:p>
            <a:pPr lvl="1">
              <a:buFont typeface="Times New Roman" panose="02020603050405020304" pitchFamily="18" charset="0"/>
              <a:buNone/>
            </a:pPr>
            <a:r>
              <a:rPr lang="en-US" altLang="en-US" sz="1600"/>
              <a:t>&lt;/dependency&gt;</a:t>
            </a:r>
          </a:p>
          <a:p>
            <a:br>
              <a:rPr lang="en-US" altLang="en-US"/>
            </a:b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89116-6604-128E-218E-A9D3C63DF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&lt;dependencies&gt;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196A7-5757-D74E-5A77-E89445B3D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Defines direct project requirements</a:t>
            </a:r>
          </a:p>
          <a:p>
            <a:endParaRPr lang="en-IN" dirty="0"/>
          </a:p>
          <a:p>
            <a:r>
              <a:rPr lang="en-IN" dirty="0"/>
              <a:t>Defines actual dependencies that project directly uses.</a:t>
            </a:r>
          </a:p>
          <a:p>
            <a:endParaRPr lang="en-IN" dirty="0"/>
          </a:p>
          <a:p>
            <a:r>
              <a:rPr lang="en-IN" dirty="0"/>
              <a:t>Maven ensures that the specified artifact is included in project's </a:t>
            </a:r>
            <a:r>
              <a:rPr lang="en-IN" dirty="0" err="1"/>
              <a:t>classpath</a:t>
            </a:r>
            <a:r>
              <a:rPr lang="en-IN" dirty="0"/>
              <a:t> and made available during compilation, testing, and runtime, depending on the defined scope.</a:t>
            </a:r>
          </a:p>
          <a:p>
            <a:endParaRPr lang="en-IN" dirty="0"/>
          </a:p>
          <a:p>
            <a:r>
              <a:rPr lang="en-IN" dirty="0"/>
              <a:t>Dependencies defined in the parent's &lt;dependencies&gt; section will be automatically inherited by the child module.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2195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492C9-6A89-010C-28F8-87C2742C9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&lt;</a:t>
            </a:r>
            <a:r>
              <a:rPr lang="en-IN" dirty="0" err="1"/>
              <a:t>dependencyManagement</a:t>
            </a:r>
            <a:r>
              <a:rPr lang="en-IN" dirty="0"/>
              <a:t>&gt;</a:t>
            </a:r>
            <a:br>
              <a:rPr lang="en-IN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5D096-EA8F-8528-7F94-06D824ADF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dirty="0"/>
              <a:t>Centralizes version control and promotes consistency across modules.</a:t>
            </a:r>
          </a:p>
          <a:p>
            <a:pPr>
              <a:lnSpc>
                <a:spcPct val="150000"/>
              </a:lnSpc>
            </a:pPr>
            <a:r>
              <a:rPr lang="en-IN" dirty="0"/>
              <a:t>It does not automatically add them as actual dependencies.</a:t>
            </a:r>
          </a:p>
          <a:p>
            <a:pPr>
              <a:lnSpc>
                <a:spcPct val="150000"/>
              </a:lnSpc>
            </a:pPr>
            <a:r>
              <a:rPr lang="en-IN" dirty="0"/>
              <a:t>Ensure consistent dependency versions across multiple modules in a multi-module project. </a:t>
            </a:r>
          </a:p>
          <a:p>
            <a:pPr>
              <a:lnSpc>
                <a:spcPct val="150000"/>
              </a:lnSpc>
            </a:pPr>
            <a:r>
              <a:rPr lang="en-IN" dirty="0"/>
              <a:t>Child modules can declare the same dependency in their own &lt;dependencies&gt; section without specifying the version. </a:t>
            </a:r>
          </a:p>
          <a:p>
            <a:pPr lvl="1">
              <a:lnSpc>
                <a:spcPct val="150000"/>
              </a:lnSpc>
            </a:pPr>
            <a:r>
              <a:rPr lang="en-IN" sz="2000" dirty="0"/>
              <a:t>Maven will automatically inherit the version from the parent's &lt;</a:t>
            </a:r>
            <a:r>
              <a:rPr lang="en-IN" sz="2000" dirty="0" err="1"/>
              <a:t>dependencyManagement</a:t>
            </a:r>
            <a:r>
              <a:rPr lang="en-IN" sz="2000" dirty="0"/>
              <a:t>&gt;.</a:t>
            </a:r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0188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63386-3196-7FCF-6C39-0536C46C8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&lt;</a:t>
            </a:r>
            <a:r>
              <a:rPr lang="en-IN" dirty="0" err="1"/>
              <a:t>pluginManagement</a:t>
            </a:r>
            <a:r>
              <a:rPr lang="en-IN" dirty="0"/>
              <a:t>&gt;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A8413-2A9B-229B-77C1-45FC2E11F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 declare the versions and configurations for plugins that might be used by the current project or its child modules. </a:t>
            </a:r>
          </a:p>
          <a:p>
            <a:r>
              <a:rPr lang="en-IN" dirty="0"/>
              <a:t>It acts as a central repository for plugin definitions.</a:t>
            </a:r>
            <a:endParaRPr lang="en-IN" b="1" dirty="0"/>
          </a:p>
          <a:p>
            <a:r>
              <a:rPr lang="en-IN" dirty="0"/>
              <a:t>Child module inherits the version and configuration from the parent's &lt;</a:t>
            </a:r>
            <a:r>
              <a:rPr lang="en-IN" dirty="0" err="1"/>
              <a:t>pluginManagement</a:t>
            </a:r>
            <a:r>
              <a:rPr lang="en-IN" dirty="0"/>
              <a:t>&gt; unless explicitly overridden in the child.</a:t>
            </a:r>
          </a:p>
          <a:p>
            <a:r>
              <a:rPr lang="en-IN" dirty="0"/>
              <a:t>Plugins defined solely within &lt;</a:t>
            </a:r>
            <a:r>
              <a:rPr lang="en-IN" dirty="0" err="1"/>
              <a:t>pluginManagement</a:t>
            </a:r>
            <a:r>
              <a:rPr lang="en-IN" dirty="0"/>
              <a:t>&gt; are not automatically executed. </a:t>
            </a:r>
          </a:p>
          <a:p>
            <a:pPr lvl="1"/>
            <a:r>
              <a:rPr lang="en-IN" sz="2000" dirty="0"/>
              <a:t>Provides a blueprint for plugin should be configured if it is later declared in a &lt;plugins&gt; section.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9456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3D362-A524-D1BF-802E-E97692C1D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&lt;plugins&gt;</a:t>
            </a:r>
            <a:br>
              <a:rPr lang="en-IN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AC526-4224-FB0F-172A-9BDF34256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This section is used to declare and configure plugins that are actually used and executed by the current project.</a:t>
            </a:r>
          </a:p>
          <a:p>
            <a:r>
              <a:rPr lang="en-IN" dirty="0"/>
              <a:t>Plugins declared in &lt;plugins&gt; are active and participate in the build lifecycle, executing their goals as configured.</a:t>
            </a:r>
          </a:p>
          <a:p>
            <a:r>
              <a:rPr lang="en-IN" dirty="0"/>
              <a:t>If a plugin is defined in both &lt;</a:t>
            </a:r>
            <a:r>
              <a:rPr lang="en-IN" dirty="0" err="1"/>
              <a:t>pluginManagement</a:t>
            </a:r>
            <a:r>
              <a:rPr lang="en-IN" dirty="0"/>
              <a:t>&gt; and &lt;plugins&gt; within the same or a child POM, the configuration in &lt;plugins&gt; takes precedence and overrides the settings from &lt;</a:t>
            </a:r>
            <a:r>
              <a:rPr lang="en-IN" dirty="0" err="1"/>
              <a:t>pluginManagement</a:t>
            </a:r>
            <a:r>
              <a:rPr lang="en-IN" dirty="0"/>
              <a:t>&gt;.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6158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492B7-81C9-FD15-E476-08F94E33D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Maven Shade Plugin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07436-BAD7-374A-96FE-473C201F7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dirty="0"/>
              <a:t>Used for creating "uber-jars" or "fat jars." </a:t>
            </a:r>
          </a:p>
          <a:p>
            <a:pPr>
              <a:lnSpc>
                <a:spcPct val="150000"/>
              </a:lnSpc>
            </a:pPr>
            <a:r>
              <a:rPr lang="en-IN" dirty="0"/>
              <a:t>A Single, self-contained JAR file that bundles project's compiled classes and its dependencies</a:t>
            </a:r>
            <a:endParaRPr lang="en-IN" b="1" dirty="0"/>
          </a:p>
          <a:p>
            <a:pPr>
              <a:lnSpc>
                <a:spcPct val="150000"/>
              </a:lnSpc>
            </a:pPr>
            <a:r>
              <a:rPr lang="en-IN" dirty="0"/>
              <a:t>Plugin has ability to "shade" or "relocate" packages. </a:t>
            </a:r>
          </a:p>
          <a:p>
            <a:pPr>
              <a:lnSpc>
                <a:spcPct val="150000"/>
              </a:lnSpc>
            </a:pPr>
            <a:r>
              <a:rPr lang="en-IN" dirty="0"/>
              <a:t>Plugin is used to create an executable JAR by specifying the main class in the plugin configuration</a:t>
            </a:r>
          </a:p>
          <a:p>
            <a:pPr lvl="1">
              <a:lnSpc>
                <a:spcPct val="150000"/>
              </a:lnSpc>
            </a:pPr>
            <a:r>
              <a:rPr lang="en-IN" sz="2000" dirty="0"/>
              <a:t>It gets to added to Manifest file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076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A0CC0-FA06-D6A6-22FF-3CE9A4763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Transformers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10C83-1967-F3AF-FF03-B523A0301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b="1" dirty="0"/>
          </a:p>
          <a:p>
            <a:r>
              <a:rPr lang="en-IN" dirty="0"/>
              <a:t>Used for transforming resources during the shading process</a:t>
            </a:r>
          </a:p>
          <a:p>
            <a:pPr lvl="1"/>
            <a:r>
              <a:rPr lang="en-IN" sz="2000" dirty="0"/>
              <a:t>Merging manifest files and  handling other resource conflicts.</a:t>
            </a:r>
          </a:p>
          <a:p>
            <a:endParaRPr lang="en-IN" dirty="0"/>
          </a:p>
          <a:p>
            <a:r>
              <a:rPr lang="en-IN" dirty="0"/>
              <a:t>It binds to the package phase of the Maven lifecycle.</a:t>
            </a:r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4897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4E4B5-CB1B-1229-5771-8056B3DB3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Configuring Shade Plugin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3B99E-79AF-D8D7-3E56-E60E396BC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IN" sz="1800" dirty="0"/>
              <a:t>&lt;build&gt;</a:t>
            </a:r>
          </a:p>
          <a:p>
            <a:pPr marL="457200" lvl="1" indent="0">
              <a:buNone/>
            </a:pPr>
            <a:r>
              <a:rPr lang="en-IN" sz="1800" dirty="0"/>
              <a:t>&lt;plugins&gt;</a:t>
            </a:r>
          </a:p>
          <a:p>
            <a:pPr marL="457200" lvl="1" indent="0">
              <a:buNone/>
            </a:pPr>
            <a:r>
              <a:rPr lang="en-IN" sz="1800" dirty="0"/>
              <a:t>	&lt;plugin&gt;</a:t>
            </a:r>
          </a:p>
          <a:p>
            <a:pPr marL="457200" lvl="1" indent="0">
              <a:buNone/>
            </a:pPr>
            <a:r>
              <a:rPr lang="en-IN" sz="1800" dirty="0"/>
              <a:t>		&lt;</a:t>
            </a:r>
            <a:r>
              <a:rPr lang="en-IN" sz="1800" dirty="0" err="1"/>
              <a:t>groupId</a:t>
            </a:r>
            <a:r>
              <a:rPr lang="en-IN" sz="1800" dirty="0"/>
              <a:t>&gt;</a:t>
            </a:r>
            <a:r>
              <a:rPr lang="en-IN" sz="1800" dirty="0" err="1"/>
              <a:t>org.apache.maven.plugins</a:t>
            </a:r>
            <a:r>
              <a:rPr lang="en-IN" sz="1800" dirty="0"/>
              <a:t>&lt;/</a:t>
            </a:r>
            <a:r>
              <a:rPr lang="en-IN" sz="1800" dirty="0" err="1"/>
              <a:t>groupId</a:t>
            </a:r>
            <a:r>
              <a:rPr lang="en-IN" sz="1800" dirty="0"/>
              <a:t>&gt;</a:t>
            </a:r>
          </a:p>
          <a:p>
            <a:pPr marL="457200" lvl="1" indent="0">
              <a:buNone/>
            </a:pPr>
            <a:r>
              <a:rPr lang="en-IN" sz="1800" dirty="0"/>
              <a:t>		&lt;</a:t>
            </a:r>
            <a:r>
              <a:rPr lang="en-IN" sz="1800" dirty="0" err="1"/>
              <a:t>artifactId</a:t>
            </a:r>
            <a:r>
              <a:rPr lang="en-IN" sz="1800" dirty="0"/>
              <a:t>&gt;maven-shade-plugin&lt;/</a:t>
            </a:r>
            <a:r>
              <a:rPr lang="en-IN" sz="1800" dirty="0" err="1"/>
              <a:t>artifactId</a:t>
            </a:r>
            <a:r>
              <a:rPr lang="en-IN" sz="1800" dirty="0"/>
              <a:t>&gt;</a:t>
            </a:r>
          </a:p>
          <a:p>
            <a:pPr marL="457200" lvl="1" indent="0">
              <a:buNone/>
            </a:pPr>
            <a:r>
              <a:rPr lang="en-IN" sz="1800" dirty="0"/>
              <a:t>		&lt;version&gt;3.5.2&lt;/version&gt;</a:t>
            </a:r>
          </a:p>
          <a:p>
            <a:pPr marL="457200" lvl="1" indent="0">
              <a:buNone/>
            </a:pPr>
            <a:r>
              <a:rPr lang="en-IN" sz="1800" dirty="0"/>
              <a:t>&lt;executions&gt;</a:t>
            </a:r>
          </a:p>
          <a:p>
            <a:pPr marL="457200" lvl="1" indent="0">
              <a:buNone/>
            </a:pPr>
            <a:r>
              <a:rPr lang="en-IN" sz="1800" dirty="0"/>
              <a:t>		&lt;execution&gt;</a:t>
            </a:r>
          </a:p>
          <a:p>
            <a:pPr marL="457200" lvl="1" indent="0">
              <a:buNone/>
            </a:pPr>
            <a:r>
              <a:rPr lang="en-IN" sz="1800" dirty="0"/>
              <a:t>			&lt;phase&gt;package&lt;/phase&gt;</a:t>
            </a:r>
          </a:p>
          <a:p>
            <a:pPr marL="457200" lvl="1" indent="0">
              <a:buNone/>
            </a:pPr>
            <a:r>
              <a:rPr lang="en-IN" sz="1800" dirty="0"/>
              <a:t>		&lt;goals&gt;</a:t>
            </a:r>
          </a:p>
          <a:p>
            <a:pPr marL="457200" lvl="1" indent="0">
              <a:buNone/>
            </a:pPr>
            <a:r>
              <a:rPr lang="en-IN" sz="1800" dirty="0"/>
              <a:t>			&lt;goal&gt;shade&lt;/goal&gt;</a:t>
            </a:r>
          </a:p>
          <a:p>
            <a:pPr marL="457200" lvl="1" indent="0">
              <a:buNone/>
            </a:pPr>
            <a:r>
              <a:rPr lang="en-IN" sz="1800" dirty="0"/>
              <a:t>		&lt;/goals&gt;</a:t>
            </a:r>
          </a:p>
          <a:p>
            <a:pPr marL="457200" lvl="1" indent="0">
              <a:buNone/>
            </a:pPr>
            <a:r>
              <a:rPr lang="en-IN" sz="1800" dirty="0"/>
              <a:t>	&lt;/execution&gt;</a:t>
            </a:r>
          </a:p>
          <a:p>
            <a:pPr marL="457200" lvl="1" indent="0">
              <a:buNone/>
            </a:pPr>
            <a:r>
              <a:rPr lang="en-IN" sz="1800" dirty="0"/>
              <a:t>&lt;/executions&gt;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1260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C2CBA-9688-916E-4CD7-24A6F1057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Configuring Shade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B3C99-9B14-7472-DDF6-82631DFEB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44550"/>
            <a:ext cx="8055864" cy="5306868"/>
          </a:xfrm>
        </p:spPr>
        <p:txBody>
          <a:bodyPr/>
          <a:lstStyle/>
          <a:p>
            <a:pPr marL="457200" lvl="1" indent="0">
              <a:buNone/>
            </a:pPr>
            <a:r>
              <a:rPr lang="en-IN" sz="2000" dirty="0"/>
              <a:t>&lt;configuration&gt;</a:t>
            </a:r>
          </a:p>
          <a:p>
            <a:pPr marL="457200" lvl="1" indent="0">
              <a:buNone/>
            </a:pPr>
            <a:r>
              <a:rPr lang="en-IN" sz="2000" dirty="0"/>
              <a:t>	&lt;transformers&gt;</a:t>
            </a:r>
          </a:p>
          <a:p>
            <a:pPr marL="457200" lvl="1" indent="0">
              <a:buNone/>
            </a:pPr>
            <a:r>
              <a:rPr lang="en-IN" sz="2000" dirty="0"/>
              <a:t>		&lt;transformer 							implementation="org.apache.maven.plugins.shade.resource.ManifestResourceTransformer"&gt;</a:t>
            </a:r>
          </a:p>
          <a:p>
            <a:pPr marL="457200" lvl="1" indent="0">
              <a:buNone/>
            </a:pPr>
            <a:r>
              <a:rPr lang="en-IN" sz="2000" dirty="0"/>
              <a:t>&lt;</a:t>
            </a:r>
            <a:r>
              <a:rPr lang="en-IN" sz="2000" dirty="0" err="1"/>
              <a:t>mainClass</a:t>
            </a:r>
            <a:r>
              <a:rPr lang="en-IN" sz="2000" dirty="0"/>
              <a:t>&gt;</a:t>
            </a:r>
            <a:r>
              <a:rPr lang="en-IN" sz="2000" dirty="0" err="1"/>
              <a:t>com.example.demo.App</a:t>
            </a:r>
            <a:r>
              <a:rPr lang="en-IN" sz="2000" dirty="0"/>
              <a:t>&lt;/</a:t>
            </a:r>
            <a:r>
              <a:rPr lang="en-IN" sz="2000" dirty="0" err="1"/>
              <a:t>mainClass</a:t>
            </a:r>
            <a:r>
              <a:rPr lang="en-IN" sz="2000" dirty="0"/>
              <a:t>&gt;</a:t>
            </a:r>
          </a:p>
          <a:p>
            <a:pPr marL="457200" lvl="1" indent="0">
              <a:buNone/>
            </a:pPr>
            <a:r>
              <a:rPr lang="en-IN" sz="2000" dirty="0"/>
              <a:t>	&lt;/transformer&gt;</a:t>
            </a:r>
          </a:p>
          <a:p>
            <a:pPr marL="457200" lvl="1" indent="0">
              <a:buNone/>
            </a:pPr>
            <a:r>
              <a:rPr lang="en-IN" sz="2000" dirty="0"/>
              <a:t>&lt;/transformers&gt;</a:t>
            </a:r>
          </a:p>
          <a:p>
            <a:pPr marL="457200" lvl="1" indent="0">
              <a:buNone/>
            </a:pPr>
            <a:r>
              <a:rPr lang="en-IN" sz="2000" dirty="0"/>
              <a:t>&lt;</a:t>
            </a:r>
            <a:r>
              <a:rPr lang="en-IN" sz="2000" dirty="0" err="1"/>
              <a:t>createDependencyReducedPom</a:t>
            </a:r>
            <a:r>
              <a:rPr lang="en-IN" sz="2000" dirty="0"/>
              <a:t>&gt;false&lt;/</a:t>
            </a:r>
            <a:r>
              <a:rPr lang="en-IN" sz="2000" dirty="0" err="1"/>
              <a:t>createDependencyReducedPom</a:t>
            </a:r>
            <a:r>
              <a:rPr lang="en-IN" sz="2000" dirty="0"/>
              <a:t>&gt; </a:t>
            </a:r>
          </a:p>
          <a:p>
            <a:pPr marL="457200" lvl="1" indent="0">
              <a:buNone/>
            </a:pPr>
            <a:r>
              <a:rPr lang="en-IN" sz="2000" dirty="0"/>
              <a:t>&lt;/configuration&gt;</a:t>
            </a:r>
          </a:p>
          <a:p>
            <a:pPr marL="457200" lvl="1" indent="0">
              <a:buNone/>
            </a:pPr>
            <a:r>
              <a:rPr lang="en-IN" sz="2000" dirty="0"/>
              <a:t>&lt;/plugin&gt; </a:t>
            </a:r>
          </a:p>
        </p:txBody>
      </p:sp>
    </p:spTree>
    <p:extLst>
      <p:ext uri="{BB962C8B-B14F-4D97-AF65-F5344CB8AC3E}">
        <p14:creationId xmlns:p14="http://schemas.microsoft.com/office/powerpoint/2010/main" val="1164381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Microsoft YaHei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Microsoft YaHei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8807</TotalTime>
  <Words>2169</Words>
  <Application>Microsoft Macintosh PowerPoint</Application>
  <PresentationFormat>On-screen Show (4:3)</PresentationFormat>
  <Paragraphs>384</Paragraphs>
  <Slides>37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Arial</vt:lpstr>
      <vt:lpstr>Calibri</vt:lpstr>
      <vt:lpstr>Courier New</vt:lpstr>
      <vt:lpstr>Hand Of Sean</vt:lpstr>
      <vt:lpstr>Times New Roman</vt:lpstr>
      <vt:lpstr>Wingdings</vt:lpstr>
      <vt:lpstr>Office Theme</vt:lpstr>
      <vt:lpstr>Building with Maven</vt:lpstr>
      <vt:lpstr> Building with Maven  </vt:lpstr>
      <vt:lpstr>Maven</vt:lpstr>
      <vt:lpstr>Project Management Tool  </vt:lpstr>
      <vt:lpstr>Installing Maven</vt:lpstr>
      <vt:lpstr>Dependency Management</vt:lpstr>
      <vt:lpstr>Dependencies</vt:lpstr>
      <vt:lpstr>Pom.xml</vt:lpstr>
      <vt:lpstr>POM</vt:lpstr>
      <vt:lpstr>Minimal POM</vt:lpstr>
      <vt:lpstr>Content of Pom.xml</vt:lpstr>
      <vt:lpstr>Dependencies</vt:lpstr>
      <vt:lpstr>Resolving Dependency</vt:lpstr>
      <vt:lpstr>Scopes</vt:lpstr>
      <vt:lpstr>Maven Plugin</vt:lpstr>
      <vt:lpstr>Archetype</vt:lpstr>
      <vt:lpstr>archetype:generate </vt:lpstr>
      <vt:lpstr>Creating a Simple Archetype</vt:lpstr>
      <vt:lpstr>Archetype</vt:lpstr>
      <vt:lpstr>Packaging</vt:lpstr>
      <vt:lpstr>Package</vt:lpstr>
      <vt:lpstr>Maven Plugin</vt:lpstr>
      <vt:lpstr>Types of Plugins</vt:lpstr>
      <vt:lpstr>Build Life Cycle</vt:lpstr>
      <vt:lpstr>Build Phase</vt:lpstr>
      <vt:lpstr>Plugin Goals</vt:lpstr>
      <vt:lpstr>Goals</vt:lpstr>
      <vt:lpstr>Installing Package</vt:lpstr>
      <vt:lpstr>Variables</vt:lpstr>
      <vt:lpstr>&lt;dependencies&gt;</vt:lpstr>
      <vt:lpstr> &lt;dependencyManagement&gt; </vt:lpstr>
      <vt:lpstr>&lt;pluginManagement&gt;</vt:lpstr>
      <vt:lpstr>&lt;plugins&gt; </vt:lpstr>
      <vt:lpstr>Maven Shade Plugin</vt:lpstr>
      <vt:lpstr>Resource Transformers</vt:lpstr>
      <vt:lpstr>Configuring Shade Plugin</vt:lpstr>
      <vt:lpstr>Configuring Shade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.</dc:creator>
  <cp:lastModifiedBy>Srivatsan Krishnamachari</cp:lastModifiedBy>
  <cp:revision>948</cp:revision>
  <cp:lastPrinted>1601-01-01T00:00:00Z</cp:lastPrinted>
  <dcterms:created xsi:type="dcterms:W3CDTF">2005-01-17T05:49:17Z</dcterms:created>
  <dcterms:modified xsi:type="dcterms:W3CDTF">2026-01-07T17:17:27Z</dcterms:modified>
</cp:coreProperties>
</file>