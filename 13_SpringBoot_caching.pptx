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8"/>
  </p:notesMasterIdLst>
  <p:sldIdLst>
    <p:sldId id="1717" r:id="rId2"/>
    <p:sldId id="1720" r:id="rId3"/>
    <p:sldId id="1721" r:id="rId4"/>
    <p:sldId id="2765" r:id="rId5"/>
    <p:sldId id="1722" r:id="rId6"/>
    <p:sldId id="1723" r:id="rId7"/>
    <p:sldId id="1724" r:id="rId8"/>
    <p:sldId id="1725" r:id="rId9"/>
    <p:sldId id="1726" r:id="rId10"/>
    <p:sldId id="1727" r:id="rId11"/>
    <p:sldId id="1728" r:id="rId12"/>
    <p:sldId id="1729" r:id="rId13"/>
    <p:sldId id="1730" r:id="rId14"/>
    <p:sldId id="1731" r:id="rId15"/>
    <p:sldId id="1732" r:id="rId16"/>
    <p:sldId id="2759" r:id="rId17"/>
    <p:sldId id="2766" r:id="rId18"/>
    <p:sldId id="2767" r:id="rId19"/>
    <p:sldId id="2768" r:id="rId20"/>
    <p:sldId id="2758" r:id="rId21"/>
    <p:sldId id="1745" r:id="rId22"/>
    <p:sldId id="2760" r:id="rId23"/>
    <p:sldId id="2761" r:id="rId24"/>
    <p:sldId id="2762" r:id="rId25"/>
    <p:sldId id="2763" r:id="rId26"/>
    <p:sldId id="2764" r:id="rId27"/>
  </p:sldIdLst>
  <p:sldSz cx="9144000" cy="6858000" type="screen4x3"/>
  <p:notesSz cx="6858000" cy="9144000"/>
  <p:custShowLst>
    <p:custShow name="Sapient" id="0">
      <p:sldLst/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3" autoAdjust="0"/>
    <p:restoredTop sz="96301" autoAdjust="0"/>
  </p:normalViewPr>
  <p:slideViewPr>
    <p:cSldViewPr>
      <p:cViewPr varScale="1">
        <p:scale>
          <a:sx n="108" d="100"/>
          <a:sy n="108" d="100"/>
        </p:scale>
        <p:origin x="1768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626"/>
    </p:cViewPr>
  </p:sorterViewPr>
  <p:notesViewPr>
    <p:cSldViewPr>
      <p:cViewPr varScale="1">
        <p:scale>
          <a:sx n="96" d="100"/>
          <a:sy n="96" d="100"/>
        </p:scale>
        <p:origin x="3808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E3A527C-2134-C3BE-9F11-0E2D4A3FCB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DE374FB-D190-69C7-BB52-271ECAE8404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5D00A771-0A78-3F30-331A-3EE0E60CD03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D7456D20-F6C4-3536-0944-968360D187F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B74A8782-2E37-0008-9F4B-75B875BAE0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9CABD64D-1EC0-AA8F-4617-F8784C51F9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0AEB1A12-93F5-C141-901B-3835762209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B1A12-93F5-C141-901B-3835762209E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4407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P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B1A12-93F5-C141-901B-3835762209E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952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8379F6-7D64-0F0D-0295-AECC325F9A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53681D-A344-7986-8F11-CE518ABB9D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819D02-00DB-58CD-5041-6EC21DCAF9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2E4B41-69AD-6A48-A655-12C68E967A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34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87CEAD-BEB4-48C4-08EA-799F144DDD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99A53B-A363-5577-1EB5-A46EDAECAC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77AD65-E0F7-16AE-4FEF-4387BDA928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299A62-76B7-6342-9265-F0770069F8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785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37E9A3-040B-8940-AC4E-93BD2E9C3F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3CFE6A-0CA6-50BD-02E9-C91CC99FF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A0A271-5153-0ED5-B230-88D1D95398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00E265-FD38-5849-9EFE-8C307D2860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26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573B5-8B1A-5233-1E2B-E81274DC90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EBEFF-58A0-9797-E704-8AF9DA204D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2B9EA5-697F-8D56-D2A0-FD7BBDEABE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2D6284-A01F-2042-9FE4-34D7FB78F5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0660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1EB1129-3503-BF62-471A-EC48771135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A290A12-F90E-3F1F-B637-BA41A98C31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7F924DF-4489-9C5E-66F5-6088745AB5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9A7A84-7303-BD40-8839-E42888E994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048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CDE2EA-4863-C840-C7D0-DDF117560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B07814-3D7B-8B54-99E8-8DF329495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FE86B48-BF64-460A-A009-460D79FB8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4CCB85-BD3F-104C-BF5A-7C9267F506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81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300370A-1E61-782A-3B96-6E96576095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C03E519-5A11-796E-F7DF-FBB5D1B10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10EE58-D78B-3135-9278-36DC02578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099446-4031-DD4B-872E-E04780C6EE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3347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FEF84-79BC-2F87-7766-8F17140677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4FAF3-708C-ED42-85FD-EA3765A790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5C49CC-E60C-827D-079A-841E4D180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4B0F3C-74EB-FF4C-A3EC-DF8C63C3D4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451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626710-DE20-F162-F7C2-031CB32FC1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A6E63F-C767-3AC3-57CD-F39E40C011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957FB-E6CB-E45B-C77F-7F450FD290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2E0810-0022-9141-940C-177DFD6443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08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167778-C3CC-BB4D-5AF6-8C6D1317A4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ABD945-3ABF-8B15-E244-FE6C926E85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230185-34FB-47F3-0FF8-0A35DBFFD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5DF4E0-9EE5-D847-BA14-F863E5EB61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328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68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68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9DAAD1-D7DB-3BDF-3F8B-8525FAEF3F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360B13-E50A-F006-6648-E5C28E32DA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31596E-14C9-D2CD-A0EE-46FDED0747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0BF346-7800-AD46-B51E-C9F3A25807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6033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11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F63F3E-4720-AD35-5CB6-8CC7E369FB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55A0E9-C918-60C9-1267-69B814FF33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9B035-D82E-3752-28C0-E8759D1A60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37C2E-0A28-0B4E-80C1-79B7E32AD0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49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55770E-6DCF-E21A-3FFD-F422756E8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3999F7C-7031-3318-5098-D6166E63B6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E3793536-FA8D-2F39-3C87-51D2F70220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53B547AB-63D5-4883-2E88-8101A864E1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D7BA5D73-A529-4E8D-B9D8-7CEB8D7D3C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087579-4660-A946-9F5E-1A2EE8F0DA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D1627C-9131-DDDA-D8AF-41B6F9A7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Spring Caching</a:t>
            </a:r>
            <a:br>
              <a:rPr lang="en-US" dirty="0"/>
            </a:br>
            <a:endParaRPr lang="en-US" dirty="0"/>
          </a:p>
        </p:txBody>
      </p:sp>
      <p:sp>
        <p:nvSpPr>
          <p:cNvPr id="45059" name="Text Placeholder 4">
            <a:extLst>
              <a:ext uri="{FF2B5EF4-FFF2-40B4-BE49-F238E27FC236}">
                <a16:creationId xmlns:a16="http://schemas.microsoft.com/office/drawing/2014/main" id="{B81C378A-32C5-2B98-8D72-10991E00C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9E84143E-2D93-F406-6452-C7ADD32F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F0E3-E356-6D8C-FEE8-45A747364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342900" lvl="1" indent="-342900">
              <a:lnSpc>
                <a:spcPct val="200000"/>
              </a:lnSpc>
              <a:buFontTx/>
              <a:buChar char="•"/>
            </a:pPr>
            <a:r>
              <a:rPr lang="en-US" altLang="en-US" sz="1800" b="1" i="1" dirty="0">
                <a:solidFill>
                  <a:srgbClr val="C00000"/>
                </a:solidFill>
              </a:rPr>
              <a:t>Caching is crucial for today’s high performance applications.</a:t>
            </a:r>
          </a:p>
          <a:p>
            <a:pPr marL="742950" lvl="2" indent="-342900">
              <a:lnSpc>
                <a:spcPct val="200000"/>
              </a:lnSpc>
            </a:pPr>
            <a:r>
              <a:rPr lang="en-IN" sz="1600" dirty="0"/>
              <a:t>Reduces the repeated database calls or complex computations. </a:t>
            </a:r>
          </a:p>
          <a:p>
            <a:pPr>
              <a:lnSpc>
                <a:spcPct val="150000"/>
              </a:lnSpc>
              <a:defRPr/>
            </a:pPr>
            <a:r>
              <a:rPr lang="en-US" sz="2000" dirty="0"/>
              <a:t>Each time a </a:t>
            </a:r>
            <a:r>
              <a:rPr lang="en-US" sz="2000" i="1" dirty="0"/>
              <a:t>targeted</a:t>
            </a:r>
            <a:r>
              <a:rPr lang="en-US" sz="2000" dirty="0"/>
              <a:t> method is invoked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>
                <a:ea typeface="+mn-ea"/>
                <a:cs typeface="+mn-cs"/>
              </a:rPr>
              <a:t>A caching behavior is applied by  checking whether the method has been already executed for the given arguments.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00B050"/>
                </a:solidFill>
              </a:rPr>
              <a:t>If it has, been executed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/>
              <a:t> Then the cached result is returned without executing the actual method;</a:t>
            </a:r>
          </a:p>
          <a:p>
            <a:pPr>
              <a:lnSpc>
                <a:spcPct val="150000"/>
              </a:lnSpc>
              <a:defRPr/>
            </a:pPr>
            <a:r>
              <a:rPr lang="en-US" sz="2000" b="1" dirty="0">
                <a:solidFill>
                  <a:srgbClr val="C00000"/>
                </a:solidFill>
              </a:rPr>
              <a:t> If it has not, then method is executed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i="1" dirty="0"/>
              <a:t>Expensive methods can be executed only once for a given set of parameters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3">
            <a:extLst>
              <a:ext uri="{FF2B5EF4-FFF2-40B4-BE49-F238E27FC236}">
                <a16:creationId xmlns:a16="http://schemas.microsoft.com/office/drawing/2014/main" id="{71954F88-B7F4-1F2B-180B-13DE7DCF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Caching</a:t>
            </a:r>
          </a:p>
        </p:txBody>
      </p:sp>
      <p:sp>
        <p:nvSpPr>
          <p:cNvPr id="49155" name="Content Placeholder 4">
            <a:extLst>
              <a:ext uri="{FF2B5EF4-FFF2-40B4-BE49-F238E27FC236}">
                <a16:creationId xmlns:a16="http://schemas.microsoft.com/office/drawing/2014/main" id="{0B7C0D0F-26E0-6B41-CD4E-43BB012B0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Spring provides a cache mechanism to be added transparently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Done by setting an annotation on a method to cache and configure the caching mechanism itself.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The cache mechanism in Spring is abstract and not bound to a particular implementation.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Can Choose several backends,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in-memory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Redis,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 Eh-Cache 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  <a:p>
            <a:pPr lvl="1"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E1A7-FAFD-8D09-90A6-EB38A27F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E1596-6B4C-64C7-0A24-9ADFB13EA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If  a particular implementation is not  installed a default in-memory caching is enabled </a:t>
            </a:r>
          </a:p>
          <a:p>
            <a:pPr lvl="1"/>
            <a:endParaRPr lang="en-IN" b="1" dirty="0"/>
          </a:p>
          <a:p>
            <a:r>
              <a:rPr lang="en-IN" sz="2000" b="1" dirty="0"/>
              <a:t>In-Memory </a:t>
            </a:r>
          </a:p>
          <a:p>
            <a:pPr lvl="1"/>
            <a:r>
              <a:rPr lang="en-IN" dirty="0"/>
              <a:t>Used when No other caching library is found on the </a:t>
            </a:r>
            <a:r>
              <a:rPr lang="en-IN" dirty="0" err="1"/>
              <a:t>classpath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It uses a </a:t>
            </a:r>
            <a:r>
              <a:rPr lang="en-IN" dirty="0" err="1"/>
              <a:t>ConcurrentHashMap</a:t>
            </a:r>
            <a:r>
              <a:rPr lang="en-IN" dirty="0"/>
              <a:t> to store data within application's memory.</a:t>
            </a:r>
          </a:p>
          <a:p>
            <a:pPr lvl="2">
              <a:lnSpc>
                <a:spcPct val="150000"/>
              </a:lnSpc>
            </a:pPr>
            <a:r>
              <a:rPr lang="en-IN" sz="2000" b="1" dirty="0"/>
              <a:t>Pros:</a:t>
            </a:r>
            <a:r>
              <a:rPr lang="en-IN" sz="2000" dirty="0"/>
              <a:t> Extremely fast access times as data is in the same process; great for development and simple use cases.</a:t>
            </a:r>
          </a:p>
          <a:p>
            <a:pPr lvl="2">
              <a:lnSpc>
                <a:spcPct val="150000"/>
              </a:lnSpc>
            </a:pPr>
            <a:r>
              <a:rPr lang="en-IN" sz="2000" b="1" dirty="0"/>
              <a:t>Cons:</a:t>
            </a:r>
            <a:r>
              <a:rPr lang="en-IN" sz="2000" dirty="0"/>
              <a:t> Data is lost when the application restarts; cannot be shared across multiple instances of your application in a distributed environment.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8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7634A983-D5B5-0EA4-A9F9-0C6F35DD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Spring Caching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ADA0AFA9-9B7E-6C2E-0907-AB646B8CE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Spring Provides Two Interfaces </a:t>
            </a:r>
          </a:p>
          <a:p>
            <a:pPr lvl="1">
              <a:lnSpc>
                <a:spcPct val="150000"/>
              </a:lnSpc>
            </a:pPr>
            <a:r>
              <a:rPr lang="en-US" altLang="en-US" sz="2000" i="1"/>
              <a:t>CacheManager</a:t>
            </a:r>
            <a:r>
              <a:rPr lang="en-US" altLang="en-US" sz="2000"/>
              <a:t> and </a:t>
            </a:r>
            <a:r>
              <a:rPr lang="en-US" altLang="en-US" sz="2000" i="1"/>
              <a:t>Cache .</a:t>
            </a:r>
            <a:r>
              <a:rPr lang="en-US" altLang="en-US" sz="2000"/>
              <a:t> </a:t>
            </a:r>
          </a:p>
          <a:p>
            <a:pPr>
              <a:lnSpc>
                <a:spcPct val="150000"/>
              </a:lnSpc>
            </a:pPr>
            <a:r>
              <a:rPr lang="en-US" altLang="en-US" sz="2000" b="1" i="1"/>
              <a:t>Cache</a:t>
            </a:r>
            <a:r>
              <a:rPr lang="en-US" altLang="en-US" sz="2000" b="1"/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Interface for working with a concrete cache instance.</a:t>
            </a:r>
          </a:p>
          <a:p>
            <a:pPr>
              <a:lnSpc>
                <a:spcPct val="150000"/>
              </a:lnSpc>
            </a:pPr>
            <a:r>
              <a:rPr lang="en-US" altLang="en-US" sz="2000" b="1" i="1"/>
              <a:t>CacheManager</a:t>
            </a:r>
          </a:p>
          <a:p>
            <a:pPr lvl="1">
              <a:lnSpc>
                <a:spcPct val="150000"/>
              </a:lnSpc>
            </a:pPr>
            <a:r>
              <a:rPr lang="en-US" altLang="en-US" i="1"/>
              <a:t>Used </a:t>
            </a:r>
            <a:r>
              <a:rPr lang="en-US" altLang="en-US"/>
              <a:t> used for obtaining and working with the Caches. </a:t>
            </a:r>
          </a:p>
          <a:p>
            <a:pPr>
              <a:lnSpc>
                <a:spcPct val="150000"/>
              </a:lnSpc>
            </a:pP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Both are transparent for the application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Must declare and set up once, which cache provider to use.</a:t>
            </a:r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B6FE230F-C0E0-4AB9-5440-9F5C0962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Maven Dependency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E4061D6D-30D6-D4B0-0478-11624FF2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&lt;</a:t>
            </a:r>
            <a:r>
              <a:rPr lang="en-US" altLang="en-US" sz="2000"/>
              <a:t>dependency</a:t>
            </a:r>
            <a:r>
              <a:rPr lang="en-US" altLang="en-US" sz="2000" b="1"/>
              <a:t>&gt;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&lt;</a:t>
            </a:r>
            <a:r>
              <a:rPr lang="en-US" altLang="en-US" sz="2000"/>
              <a:t>groupId</a:t>
            </a:r>
            <a:r>
              <a:rPr lang="en-US" altLang="en-US" sz="2000" b="1"/>
              <a:t>&gt;</a:t>
            </a:r>
            <a:r>
              <a:rPr lang="en-US" altLang="en-US" sz="2000"/>
              <a:t>org</a:t>
            </a:r>
            <a:r>
              <a:rPr lang="en-US" altLang="en-US" sz="2000" b="1"/>
              <a:t>.</a:t>
            </a:r>
            <a:r>
              <a:rPr lang="en-US" altLang="en-US" sz="2000"/>
              <a:t>springframework</a:t>
            </a:r>
            <a:r>
              <a:rPr lang="en-US" altLang="en-US" sz="2000" b="1"/>
              <a:t>.</a:t>
            </a:r>
            <a:r>
              <a:rPr lang="en-US" altLang="en-US" sz="2000"/>
              <a:t>boot</a:t>
            </a:r>
            <a:r>
              <a:rPr lang="en-US" altLang="en-US" sz="2000" b="1"/>
              <a:t>&lt;/</a:t>
            </a:r>
            <a:r>
              <a:rPr lang="en-US" altLang="en-US" sz="2000"/>
              <a:t>groupId</a:t>
            </a:r>
            <a:r>
              <a:rPr lang="en-US" altLang="en-US" sz="2000" b="1"/>
              <a:t>&gt;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&lt;</a:t>
            </a:r>
            <a:r>
              <a:rPr lang="en-US" altLang="en-US" sz="2000"/>
              <a:t>artifactId</a:t>
            </a:r>
            <a:r>
              <a:rPr lang="en-US" altLang="en-US" sz="2000" b="1"/>
              <a:t>&gt;</a:t>
            </a:r>
            <a:r>
              <a:rPr lang="en-US" altLang="en-US" sz="2000"/>
              <a:t>spring</a:t>
            </a:r>
            <a:r>
              <a:rPr lang="en-US" altLang="en-US" sz="2000" b="1"/>
              <a:t>-</a:t>
            </a:r>
            <a:r>
              <a:rPr lang="en-US" altLang="en-US" sz="2000"/>
              <a:t>boot</a:t>
            </a:r>
            <a:r>
              <a:rPr lang="en-US" altLang="en-US" sz="2000" b="1"/>
              <a:t>-</a:t>
            </a:r>
            <a:r>
              <a:rPr lang="en-US" altLang="en-US" sz="2000"/>
              <a:t>starter</a:t>
            </a:r>
            <a:r>
              <a:rPr lang="en-US" altLang="en-US" sz="2000" b="1"/>
              <a:t>-</a:t>
            </a:r>
            <a:r>
              <a:rPr lang="en-US" altLang="en-US" sz="2000"/>
              <a:t>cache</a:t>
            </a:r>
            <a:r>
              <a:rPr lang="en-US" altLang="en-US" sz="2000" b="1"/>
              <a:t>&lt;/</a:t>
            </a:r>
            <a:r>
              <a:rPr lang="en-US" altLang="en-US" sz="2000"/>
              <a:t>artifactId</a:t>
            </a:r>
            <a:r>
              <a:rPr lang="en-US" altLang="en-US" sz="2000" b="1"/>
              <a:t>&gt;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&lt;/</a:t>
            </a:r>
            <a:r>
              <a:rPr lang="en-US" altLang="en-US" sz="2000"/>
              <a:t>dependency</a:t>
            </a:r>
            <a:r>
              <a:rPr lang="en-US" altLang="en-US" sz="2000" b="1"/>
              <a:t>&gt;</a:t>
            </a:r>
            <a:r>
              <a:rPr lang="en-US" altLang="en-US" sz="2000"/>
              <a:t> </a:t>
            </a:r>
          </a:p>
          <a:p>
            <a:endParaRPr lang="en-US" altLang="en-US"/>
          </a:p>
          <a:p>
            <a:r>
              <a:rPr lang="en-US" altLang="en-US" sz="2000" b="1" i="1"/>
              <a:t>@EnableCaching</a:t>
            </a:r>
            <a:r>
              <a:rPr lang="en-US" altLang="en-US" sz="2000" b="1"/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Must be added to enable Caching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Added to the  </a:t>
            </a:r>
            <a:r>
              <a:rPr lang="en-US" altLang="en-US" sz="2000" i="1"/>
              <a:t>@Configuration</a:t>
            </a:r>
            <a:r>
              <a:rPr lang="en-US" altLang="en-US" sz="2000"/>
              <a:t> 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C9BDA59B-7130-0907-9C3D-D816F166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@EnableCaching</a:t>
            </a:r>
            <a:r>
              <a:rPr lang="en-US" altLang="en-US" b="1"/>
              <a:t> 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39D8784E-7B0C-4EC4-5AF0-F7CBF5E5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/>
              <a:t>Auto-configuration to enable caching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Sets up a </a:t>
            </a:r>
            <a:r>
              <a:rPr lang="en-US" altLang="en-US" sz="2000" i="1"/>
              <a:t>CacheManager</a:t>
            </a:r>
            <a:r>
              <a:rPr lang="en-US" altLang="en-US" sz="2000"/>
              <a:t> </a:t>
            </a:r>
          </a:p>
          <a:p>
            <a:pPr lvl="1">
              <a:lnSpc>
                <a:spcPct val="200000"/>
              </a:lnSpc>
            </a:pPr>
            <a:r>
              <a:rPr lang="en-US" altLang="en-US" sz="2000"/>
              <a:t>If it does not find one, it creates a simple in-memory cache using concurrent maps.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Scans in a particular order for specific providers</a:t>
            </a:r>
          </a:p>
          <a:p>
            <a:pPr>
              <a:lnSpc>
                <a:spcPct val="20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0017F7C3-B1F0-68D1-2E95-5E0D9623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 Memory Cache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E1CB3BA0-5DA5-44BC-7F1B-E2374276C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Spring Caches offers a few annotations. </a:t>
            </a:r>
          </a:p>
          <a:p>
            <a:pPr>
              <a:lnSpc>
                <a:spcPct val="150000"/>
              </a:lnSpc>
            </a:pPr>
            <a:endParaRPr lang="en-US" altLang="en-US" sz="2000" b="1" i="1"/>
          </a:p>
          <a:p>
            <a:pPr>
              <a:lnSpc>
                <a:spcPct val="150000"/>
              </a:lnSpc>
            </a:pPr>
            <a:r>
              <a:rPr lang="en-US" altLang="en-US" sz="2000" b="1" i="1"/>
              <a:t>@Cacheable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Defines a cache for a methods’ return value</a:t>
            </a:r>
          </a:p>
          <a:p>
            <a:pPr>
              <a:lnSpc>
                <a:spcPct val="150000"/>
              </a:lnSpc>
            </a:pPr>
            <a:endParaRPr lang="en-US" altLang="en-US" sz="2000" i="1"/>
          </a:p>
          <a:p>
            <a:pPr>
              <a:lnSpc>
                <a:spcPct val="150000"/>
              </a:lnSpc>
            </a:pPr>
            <a:r>
              <a:rPr lang="en-US" altLang="en-US" sz="2000" i="1"/>
              <a:t>@</a:t>
            </a:r>
            <a:r>
              <a:rPr lang="en-US" altLang="en-US" sz="2000" b="1" i="1"/>
              <a:t>CacheEvict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When the method executes, it empties the whole cache or a single entry</a:t>
            </a:r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D0B736D0-0704-8046-15D1-CDB6053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Defining a Cache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D06D5F29-0437-E049-9792-20707BE45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/>
              <a:t>@Cacheable(value =</a:t>
            </a:r>
            <a:r>
              <a:rPr lang="en-US" altLang="en-US" sz="2000" dirty="0"/>
              <a:t>“cache-name"</a:t>
            </a:r>
            <a:r>
              <a:rPr lang="en-US" altLang="en-US" sz="2000" b="1" dirty="0"/>
              <a:t>)</a:t>
            </a:r>
            <a:r>
              <a:rPr lang="en-US" altLang="en-US" sz="2000" dirty="0"/>
              <a:t> </a:t>
            </a:r>
          </a:p>
          <a:p>
            <a:endParaRPr lang="en-US" altLang="en-US" sz="2000" dirty="0"/>
          </a:p>
          <a:p>
            <a:r>
              <a:rPr lang="en-US" altLang="en-US" sz="2000" dirty="0"/>
              <a:t> Name of the caches in which method invocation results are stored.</a:t>
            </a:r>
          </a:p>
          <a:p>
            <a:pPr lvl="1"/>
            <a:endParaRPr lang="en-US" altLang="en-US" sz="2000" dirty="0"/>
          </a:p>
          <a:p>
            <a:r>
              <a:rPr lang="en-US" altLang="en-US" sz="2000" dirty="0"/>
              <a:t>Can give the cache a name either by using the </a:t>
            </a:r>
            <a:r>
              <a:rPr lang="en-US" altLang="en-US" sz="2000" i="1" dirty="0"/>
              <a:t>value</a:t>
            </a:r>
            <a:r>
              <a:rPr lang="en-US" altLang="en-US" sz="2000" dirty="0"/>
              <a:t> parameter shortcut or </a:t>
            </a:r>
            <a:r>
              <a:rPr lang="en-US" altLang="en-US" sz="2000" i="1" dirty="0" err="1"/>
              <a:t>cacheNames</a:t>
            </a:r>
            <a:r>
              <a:rPr lang="en-US" altLang="en-US" sz="2000" dirty="0"/>
              <a:t>. </a:t>
            </a:r>
          </a:p>
          <a:p>
            <a:pPr lvl="1"/>
            <a:endParaRPr lang="en-US" altLang="en-US" sz="2000" dirty="0"/>
          </a:p>
          <a:p>
            <a:r>
              <a:rPr lang="en-US" altLang="en-US" sz="2000" dirty="0"/>
              <a:t>Uses a default mechanism to create unique key for the instances </a:t>
            </a:r>
          </a:p>
          <a:p>
            <a:endParaRPr lang="en-US" altLang="en-US" sz="2000" dirty="0"/>
          </a:p>
          <a:p>
            <a:pPr>
              <a:buFontTx/>
              <a:buNone/>
            </a:pP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A67C8CF8-BCA4-E55E-10CA-64C35CE0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Unique Key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D328A5BF-50DE-B65C-BE37-F736C40A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/>
              <a:t>A unique key identifies each entry in the cache.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The parameter types should implement valid hashCode() and equals() methods.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Can also specify the key explicitly by using the </a:t>
            </a:r>
            <a:r>
              <a:rPr lang="en-US" altLang="en-US" sz="2000" i="1"/>
              <a:t>key</a:t>
            </a:r>
            <a:r>
              <a:rPr lang="en-US" altLang="en-US" sz="2000"/>
              <a:t> parameter of the annotation. </a:t>
            </a:r>
          </a:p>
          <a:p>
            <a:pPr>
              <a:lnSpc>
                <a:spcPct val="20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21F0A429-73E2-A325-DF96-49DE7423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/>
            </a:br>
            <a:r>
              <a:rPr lang="en-US" altLang="en-US" b="1"/>
              <a:t>Deleting Cache Entries</a:t>
            </a:r>
            <a:br>
              <a:rPr lang="en-US" altLang="en-US" b="1"/>
            </a:br>
            <a:endParaRPr lang="en-US" altLang="en-US"/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A48556F2-A4C1-7B16-0871-8412D18EF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i="1"/>
              <a:t>@CacheEvict</a:t>
            </a:r>
          </a:p>
          <a:p>
            <a:pPr lvl="1"/>
            <a:r>
              <a:rPr lang="en-US" altLang="en-US" sz="2000"/>
              <a:t>Can delete entries from the cache </a:t>
            </a:r>
          </a:p>
          <a:p>
            <a:endParaRPr lang="en-US" altLang="en-US" sz="2000" b="1"/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@CacheEvict(</a:t>
            </a:r>
            <a:r>
              <a:rPr lang="en-US" altLang="en-US" sz="2000"/>
              <a:t>cacheNames</a:t>
            </a:r>
            <a:r>
              <a:rPr lang="en-US" altLang="en-US" sz="2000" b="1"/>
              <a:t>=</a:t>
            </a:r>
            <a:r>
              <a:rPr lang="en-US" altLang="en-US" sz="2000"/>
              <a:t>"product"</a:t>
            </a:r>
            <a:r>
              <a:rPr lang="en-US" altLang="en-US" sz="2000" b="1"/>
              <a:t>)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public</a:t>
            </a:r>
            <a:r>
              <a:rPr lang="en-US" altLang="en-US" sz="2000"/>
              <a:t> </a:t>
            </a:r>
            <a:r>
              <a:rPr lang="en-US" altLang="en-US" sz="2000" b="1"/>
              <a:t>void</a:t>
            </a:r>
            <a:r>
              <a:rPr lang="en-US" altLang="en-US" sz="2000"/>
              <a:t> </a:t>
            </a:r>
            <a:r>
              <a:rPr lang="en-US" altLang="en-US" sz="2000" b="1"/>
              <a:t>updateProduct(</a:t>
            </a:r>
            <a:r>
              <a:rPr lang="en-US" altLang="en-US" sz="2000"/>
              <a:t>Product product</a:t>
            </a:r>
            <a:r>
              <a:rPr lang="en-US" altLang="en-US" sz="2000" b="1"/>
              <a:t>)</a:t>
            </a:r>
            <a:r>
              <a:rPr lang="en-US" altLang="en-US" sz="2000"/>
              <a:t> </a:t>
            </a:r>
            <a:r>
              <a:rPr lang="en-US" altLang="en-US" sz="2000" b="1"/>
              <a:t>{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/>
              <a:t>loginfo</a:t>
            </a:r>
            <a:r>
              <a:rPr lang="en-US" altLang="en-US" sz="2000" b="1"/>
              <a:t>(</a:t>
            </a:r>
            <a:r>
              <a:rPr lang="en-US" altLang="en-US" sz="2000"/>
              <a:t>"updateProduct called for id {}"</a:t>
            </a:r>
            <a:r>
              <a:rPr lang="en-US" altLang="en-US" sz="2000" b="1"/>
              <a:t>,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/>
              <a:t>product</a:t>
            </a:r>
            <a:r>
              <a:rPr lang="en-US" altLang="en-US" sz="2000" b="1"/>
              <a:t>.</a:t>
            </a:r>
            <a:r>
              <a:rPr lang="en-US" altLang="en-US" sz="2000"/>
              <a:t>getId</a:t>
            </a:r>
            <a:r>
              <a:rPr lang="en-US" altLang="en-US" sz="2000" b="1"/>
              <a:t>());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}</a:t>
            </a:r>
            <a:r>
              <a:rPr lang="en-US" altLang="en-US" sz="2000"/>
              <a:t> </a:t>
            </a:r>
          </a:p>
          <a:p>
            <a:endParaRPr lang="en-US" altLang="en-US" sz="2000"/>
          </a:p>
          <a:p>
            <a:r>
              <a:rPr lang="en-US" altLang="en-US" sz="2000"/>
              <a:t>The Named cache clears the whole cache every time method is invoked.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D6A57FE-EC35-0EBA-3CDA-FF2D06BA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/>
            </a:br>
            <a:r>
              <a:rPr lang="en-US" altLang="en-US" b="1"/>
              <a:t>Deleting Cache Entries</a:t>
            </a:r>
            <a:br>
              <a:rPr lang="en-US" altLang="en-US" b="1"/>
            </a:br>
            <a:endParaRPr lang="en-US" altLang="en-US"/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A31B87DA-97AF-3857-24C5-3DA33A596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@CacheEvict(</a:t>
            </a:r>
            <a:r>
              <a:rPr lang="en-US" altLang="en-US" sz="2000"/>
              <a:t>cacheNames</a:t>
            </a:r>
            <a:r>
              <a:rPr lang="en-US" altLang="en-US" sz="2000" b="1"/>
              <a:t>=</a:t>
            </a:r>
            <a:r>
              <a:rPr lang="en-US" altLang="en-US" sz="2000"/>
              <a:t>"product"</a:t>
            </a:r>
            <a:r>
              <a:rPr lang="en-US" altLang="en-US" sz="2000" b="1"/>
              <a:t>,</a:t>
            </a:r>
            <a:r>
              <a:rPr lang="en-US" altLang="en-US" sz="2000"/>
              <a:t> key </a:t>
            </a:r>
            <a:r>
              <a:rPr lang="en-US" altLang="en-US" sz="2000" b="1"/>
              <a:t>=</a:t>
            </a:r>
            <a:r>
              <a:rPr lang="en-US" altLang="en-US" sz="2000"/>
              <a:t>"#root.args[0].id"</a:t>
            </a:r>
            <a:r>
              <a:rPr lang="en-US" altLang="en-US" sz="2000" b="1"/>
              <a:t>)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/>
              <a:t> </a:t>
            </a:r>
            <a:r>
              <a:rPr lang="en-US" altLang="en-US" sz="2000" b="1"/>
              <a:t>public</a:t>
            </a:r>
            <a:r>
              <a:rPr lang="en-US" altLang="en-US" sz="2000"/>
              <a:t> </a:t>
            </a:r>
            <a:r>
              <a:rPr lang="en-US" altLang="en-US" sz="2000" b="1"/>
              <a:t>void</a:t>
            </a:r>
            <a:r>
              <a:rPr lang="en-US" altLang="en-US" sz="2000"/>
              <a:t> </a:t>
            </a:r>
            <a:r>
              <a:rPr lang="en-US" altLang="en-US" sz="2000" b="1"/>
              <a:t>updateProduct(</a:t>
            </a:r>
            <a:r>
              <a:rPr lang="en-US" altLang="en-US" sz="2000"/>
              <a:t>Product product</a:t>
            </a:r>
            <a:r>
              <a:rPr lang="en-US" altLang="en-US" sz="2000" b="1"/>
              <a:t>)</a:t>
            </a:r>
            <a:r>
              <a:rPr lang="en-US" altLang="en-US" sz="2000"/>
              <a:t> </a:t>
            </a:r>
            <a:r>
              <a:rPr lang="en-US" altLang="en-US" sz="2000" b="1"/>
              <a:t>{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log.</a:t>
            </a:r>
            <a:r>
              <a:rPr lang="en-US" altLang="en-US" sz="2000"/>
              <a:t>info</a:t>
            </a:r>
            <a:r>
              <a:rPr lang="en-US" altLang="en-US" sz="2000" b="1"/>
              <a:t>(</a:t>
            </a:r>
            <a:r>
              <a:rPr lang="en-US" altLang="en-US" sz="2000"/>
              <a:t>"updateProduct called for id {}"</a:t>
            </a:r>
            <a:r>
              <a:rPr lang="en-US" altLang="en-US" sz="2000" b="1"/>
              <a:t>,</a:t>
            </a:r>
            <a:r>
              <a:rPr lang="en-US" altLang="en-US" sz="2000"/>
              <a:t> product</a:t>
            </a:r>
            <a:r>
              <a:rPr lang="en-US" altLang="en-US" sz="2000" b="1"/>
              <a:t>.</a:t>
            </a:r>
            <a:r>
              <a:rPr lang="en-US" altLang="en-US" sz="2000"/>
              <a:t>getId</a:t>
            </a:r>
            <a:r>
              <a:rPr lang="en-US" altLang="en-US" sz="2000" b="1"/>
              <a:t>());</a:t>
            </a:r>
            <a:r>
              <a:rPr lang="en-US" altLang="en-US" sz="2000"/>
              <a:t>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b="1"/>
              <a:t>}</a:t>
            </a:r>
            <a:r>
              <a:rPr lang="en-US" altLang="en-US" sz="2000"/>
              <a:t> </a:t>
            </a:r>
          </a:p>
          <a:p>
            <a:r>
              <a:rPr lang="en-US" altLang="en-US" sz="2000" b="1" i="1"/>
              <a:t>key</a:t>
            </a:r>
            <a:r>
              <a:rPr lang="en-US" altLang="en-US" sz="2000" b="1"/>
              <a:t> </a:t>
            </a:r>
          </a:p>
          <a:p>
            <a:pPr lvl="1">
              <a:lnSpc>
                <a:spcPct val="150000"/>
              </a:lnSpc>
            </a:pPr>
            <a:r>
              <a:rPr lang="en-US" altLang="en-US"/>
              <a:t>Defines the key to use for the cache based on the method parameters.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Keys are created with SpEL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method name, return type, parameters are made available in the SpEL under the </a:t>
            </a:r>
            <a:r>
              <a:rPr lang="en-US" altLang="en-US" sz="2000" i="1"/>
              <a:t>root</a:t>
            </a:r>
            <a:r>
              <a:rPr lang="en-US" altLang="en-US" sz="2000"/>
              <a:t> variable. </a:t>
            </a:r>
          </a:p>
          <a:p>
            <a:pPr>
              <a:lnSpc>
                <a:spcPct val="15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4B958FFD-F955-B9D9-8607-27E10506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 b="1"/>
            </a:br>
            <a:r>
              <a:rPr lang="en-US" altLang="en-US" b="1"/>
              <a:t>Deleting Cache Entries</a:t>
            </a:r>
            <a:br>
              <a:rPr lang="en-US" altLang="en-US" b="1"/>
            </a:br>
            <a:endParaRPr lang="en-US" altLang="en-US"/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B73A373B-7FE0-0668-6C95-D93148651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i="1"/>
              <a:t>#</a:t>
            </a:r>
            <a:r>
              <a:rPr lang="en-US" altLang="en-US" sz="2000" b="1" i="1"/>
              <a:t>root.args</a:t>
            </a:r>
            <a:r>
              <a:rPr lang="en-US" altLang="en-US" sz="2000"/>
              <a:t> 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To get the methods’ parameters.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Takes the first argument of the method and get the field of it </a:t>
            </a:r>
          </a:p>
          <a:p>
            <a:pPr lvl="2">
              <a:lnSpc>
                <a:spcPct val="150000"/>
              </a:lnSpc>
            </a:pPr>
            <a:r>
              <a:rPr lang="en-US" altLang="en-US" sz="2000"/>
              <a:t>Which is used  as the key.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  <a:p>
            <a:pPr lvl="1">
              <a:lnSpc>
                <a:spcPct val="150000"/>
              </a:lnSpc>
            </a:pPr>
            <a:r>
              <a:rPr lang="en-US" altLang="en-US" sz="2000"/>
              <a:t>When product updates deletes only this product entry from the cache.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On the next </a:t>
            </a:r>
            <a:r>
              <a:rPr lang="en-US" altLang="en-US" sz="2000" i="1"/>
              <a:t>getProduct</a:t>
            </a:r>
            <a:r>
              <a:rPr lang="en-US" altLang="en-US" sz="2000"/>
              <a:t> request, it loads the new value and put it into the cache again.</a:t>
            </a:r>
          </a:p>
          <a:p>
            <a:pPr>
              <a:buFontTx/>
              <a:buNone/>
            </a:pPr>
            <a:br>
              <a:rPr lang="en-US" altLang="en-US"/>
            </a:b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13F6AA23-281A-F3E0-152E-3200C06D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en-US">
                <a:solidFill>
                  <a:schemeClr val="tx1"/>
                </a:solidFill>
              </a:rPr>
            </a:br>
            <a:r>
              <a:rPr lang="en-US" altLang="en-US">
                <a:solidFill>
                  <a:schemeClr val="tx1"/>
                </a:solidFill>
              </a:rPr>
              <a:t>Conditional Caching</a:t>
            </a:r>
            <a:br>
              <a:rPr lang="en-US" altLang="en-US">
                <a:solidFill>
                  <a:schemeClr val="tx1"/>
                </a:solidFill>
              </a:rPr>
            </a:br>
            <a:endParaRPr lang="en-US" altLang="en-US"/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4744157-3D37-BA4D-EB74-5F829BF14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2000"/>
              <a:t>Can optionally use a condition when a method is not suitable for caching all the time.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Uses a SpEL expression that is evaluated to a boolean condition. </a:t>
            </a:r>
          </a:p>
          <a:p>
            <a:pPr>
              <a:lnSpc>
                <a:spcPct val="200000"/>
              </a:lnSpc>
            </a:pPr>
            <a:r>
              <a:rPr lang="en-US" altLang="en-US" sz="2000"/>
              <a:t>@Cacheable(condition = </a:t>
            </a:r>
            <a:r>
              <a:rPr lang="en-US" altLang="en-US" sz="2000" b="1"/>
              <a:t>"#instrument.equals('trombone')"</a:t>
            </a:r>
            <a:r>
              <a:rPr lang="en-US" altLang="en-US" sz="2000"/>
              <a:t>) </a:t>
            </a:r>
            <a:r>
              <a:rPr lang="en-US" altLang="en-US" sz="2000" b="1"/>
              <a:t>public</a:t>
            </a:r>
            <a:r>
              <a:rPr lang="en-US" altLang="en-US" sz="2000"/>
              <a:t> String play(String instrument) { ..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6EE04954-9C59-7DE5-EE5B-B43B5662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Unless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2307-FEE7-A2D2-F51E-9AAAE649B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Can use the unless to veto the adding of a value to the cache.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ea typeface="+mn-ea"/>
                <a:cs typeface="+mn-cs"/>
              </a:rPr>
              <a:t>Unlike condition, unless expressions are evaluated </a:t>
            </a:r>
            <a:r>
              <a:rPr lang="en-US" sz="2000" i="1" dirty="0">
                <a:ea typeface="+mn-ea"/>
                <a:cs typeface="+mn-cs"/>
              </a:rPr>
              <a:t>after</a:t>
            </a:r>
            <a:r>
              <a:rPr lang="en-US" sz="2000" dirty="0">
                <a:ea typeface="+mn-ea"/>
                <a:cs typeface="+mn-cs"/>
              </a:rPr>
              <a:t> the method has been called.</a:t>
            </a:r>
          </a:p>
          <a:p>
            <a:pPr lvl="1">
              <a:defRPr/>
            </a:pPr>
            <a:endParaRPr lang="en-US" sz="2000" dirty="0">
              <a:ea typeface="+mn-ea"/>
              <a:cs typeface="+mn-cs"/>
            </a:endParaRPr>
          </a:p>
          <a:p>
            <a:pPr lvl="1">
              <a:lnSpc>
                <a:spcPct val="150000"/>
              </a:lnSpc>
              <a:buFontTx/>
              <a:buNone/>
              <a:defRPr/>
            </a:pPr>
            <a:r>
              <a:rPr lang="en-US" sz="2000" dirty="0">
                <a:ea typeface="+mn-ea"/>
                <a:cs typeface="+mn-cs"/>
              </a:rPr>
              <a:t>@Cacheable(unless = </a:t>
            </a:r>
            <a:r>
              <a:rPr lang="en-US" sz="2000" b="1" dirty="0">
                <a:ea typeface="+mn-ea"/>
                <a:cs typeface="+mn-cs"/>
              </a:rPr>
              <a:t>"#</a:t>
            </a:r>
            <a:r>
              <a:rPr lang="en-US" sz="2000" b="1" dirty="0" err="1">
                <a:ea typeface="+mn-ea"/>
                <a:cs typeface="+mn-cs"/>
              </a:rPr>
              <a:t>result.size</a:t>
            </a:r>
            <a:r>
              <a:rPr lang="en-US" sz="2000" b="1" dirty="0">
                <a:ea typeface="+mn-ea"/>
                <a:cs typeface="+mn-cs"/>
              </a:rPr>
              <a:t>() &gt; 25"</a:t>
            </a:r>
            <a:r>
              <a:rPr lang="en-US" sz="2000" dirty="0">
                <a:ea typeface="+mn-ea"/>
                <a:cs typeface="+mn-cs"/>
              </a:rPr>
              <a:t>) </a:t>
            </a:r>
          </a:p>
          <a:p>
            <a:pPr lvl="1">
              <a:lnSpc>
                <a:spcPct val="150000"/>
              </a:lnSpc>
              <a:buFontTx/>
              <a:buNone/>
              <a:defRPr/>
            </a:pPr>
            <a:r>
              <a:rPr lang="en-US" sz="2000" b="1" dirty="0">
                <a:ea typeface="+mn-ea"/>
                <a:cs typeface="+mn-cs"/>
              </a:rPr>
              <a:t>public</a:t>
            </a:r>
            <a:r>
              <a:rPr lang="en-US" sz="2000" dirty="0">
                <a:ea typeface="+mn-ea"/>
                <a:cs typeface="+mn-cs"/>
              </a:rPr>
              <a:t> List</a:t>
            </a:r>
            <a:r>
              <a:rPr lang="en-US" sz="2000" dirty="0"/>
              <a:t> </a:t>
            </a:r>
            <a:r>
              <a:rPr lang="en-US" sz="2000" dirty="0" err="1">
                <a:ea typeface="+mn-ea"/>
                <a:cs typeface="+mn-cs"/>
              </a:rPr>
              <a:t>findAll</a:t>
            </a:r>
            <a:r>
              <a:rPr lang="en-US" sz="2000" dirty="0"/>
              <a:t>() {</a:t>
            </a:r>
          </a:p>
          <a:p>
            <a:pPr lvl="1">
              <a:lnSpc>
                <a:spcPct val="150000"/>
              </a:lnSpc>
              <a:buFontTx/>
              <a:buNone/>
              <a:defRPr/>
            </a:pPr>
            <a:endParaRPr lang="en-US" sz="2000" dirty="0"/>
          </a:p>
          <a:p>
            <a:pPr lvl="1">
              <a:lnSpc>
                <a:spcPct val="150000"/>
              </a:lnSpc>
              <a:buFontTx/>
              <a:buNone/>
              <a:defRPr/>
            </a:pPr>
            <a:r>
              <a:rPr lang="en-US" sz="2000" dirty="0"/>
              <a:t> .. }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A5E8-CD8C-8FA3-DBA6-2B953C7C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479D-547D-2F43-5C6B-706634D06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&lt;dependency&gt;</a:t>
            </a:r>
          </a:p>
          <a:p>
            <a:pPr marL="857250" lvl="2" indent="0">
              <a:buNone/>
            </a:pPr>
            <a:r>
              <a:rPr lang="en-IN" sz="1800" dirty="0"/>
              <a:t>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org.springframework.boot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857250" lvl="2" indent="0">
              <a:buNone/>
            </a:pPr>
            <a:r>
              <a:rPr lang="en-IN" sz="1800" dirty="0"/>
              <a:t>&lt;</a:t>
            </a:r>
            <a:r>
              <a:rPr lang="en-IN" sz="1800" dirty="0" err="1"/>
              <a:t>artifactId</a:t>
            </a:r>
            <a:r>
              <a:rPr lang="en-IN" sz="1800" dirty="0"/>
              <a:t>&gt;spring-boot-starter-cache&lt;/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buNone/>
            </a:pPr>
            <a:r>
              <a:rPr lang="en-IN" sz="1800" dirty="0"/>
              <a:t>&lt;/dependency&gt;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&lt;dependency&gt;</a:t>
            </a:r>
          </a:p>
          <a:p>
            <a:pPr marL="857250" lvl="2" indent="0">
              <a:buNone/>
            </a:pPr>
            <a:r>
              <a:rPr lang="en-IN" sz="1800" dirty="0"/>
              <a:t>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org.springframework.boot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857250" lvl="2" indent="0">
              <a:buNone/>
            </a:pPr>
            <a:r>
              <a:rPr lang="en-IN" sz="1800" dirty="0"/>
              <a:t>&lt;</a:t>
            </a:r>
            <a:r>
              <a:rPr lang="en-IN" sz="1800" dirty="0" err="1"/>
              <a:t>artifactId</a:t>
            </a:r>
            <a:r>
              <a:rPr lang="en-IN" sz="1800" dirty="0"/>
              <a:t>&gt;spring-boot-starter-data-</a:t>
            </a:r>
            <a:r>
              <a:rPr lang="en-IN" sz="1800" dirty="0" err="1"/>
              <a:t>redis</a:t>
            </a:r>
            <a:r>
              <a:rPr lang="en-IN" sz="1800" dirty="0"/>
              <a:t>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buNone/>
            </a:pPr>
            <a:r>
              <a:rPr lang="en-IN" sz="1800" dirty="0"/>
              <a:t>&lt;/dependency&gt;</a:t>
            </a:r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27360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AD74-8FA3-F7AA-37CB-BE08E722F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as </a:t>
            </a:r>
            <a:r>
              <a:rPr lang="en-US"/>
              <a:t>Cache Manager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4CD69-6B0C-38DD-AB87-EBA618146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 err="1"/>
              <a:t>RedisCacheManager</a:t>
            </a:r>
            <a:r>
              <a:rPr lang="en-IN" sz="2000" dirty="0"/>
              <a:t> </a:t>
            </a:r>
          </a:p>
          <a:p>
            <a:pPr lvl="1"/>
            <a:r>
              <a:rPr lang="en-IN" sz="2000" dirty="0"/>
              <a:t>Standard high-performance, distributed caching. </a:t>
            </a:r>
          </a:p>
          <a:p>
            <a:pPr lvl="1"/>
            <a:r>
              <a:rPr lang="en-IN" sz="2000" dirty="0"/>
              <a:t>Implementation of Spring’s </a:t>
            </a:r>
            <a:r>
              <a:rPr lang="en-IN" sz="2000" dirty="0" err="1"/>
              <a:t>CacheManager</a:t>
            </a:r>
            <a:r>
              <a:rPr lang="en-IN" sz="2000" dirty="0"/>
              <a:t> interface</a:t>
            </a:r>
          </a:p>
          <a:p>
            <a:pPr lvl="1"/>
            <a:r>
              <a:rPr lang="en-IN" sz="2000" dirty="0"/>
              <a:t>Declarative caching and the Redis data store. </a:t>
            </a:r>
          </a:p>
          <a:p>
            <a:endParaRPr lang="en-IN" sz="2000" b="1" dirty="0"/>
          </a:p>
          <a:p>
            <a:r>
              <a:rPr lang="en-IN" sz="2000" b="1" dirty="0"/>
              <a:t>Need for Redis Cache Manager</a:t>
            </a:r>
          </a:p>
          <a:p>
            <a:endParaRPr lang="en-IN" sz="2000" dirty="0"/>
          </a:p>
          <a:p>
            <a:pPr lvl="1"/>
            <a:r>
              <a:rPr lang="en-IN" sz="2000" dirty="0"/>
              <a:t>Using Redis Cache Manager offloads expensive database queries or computational tasks to a lightning-fast, in-memory store. </a:t>
            </a:r>
          </a:p>
          <a:p>
            <a:pPr lvl="1"/>
            <a:r>
              <a:rPr lang="en-IN" sz="2000" dirty="0"/>
              <a:t>It is particularly effective for </a:t>
            </a:r>
            <a:r>
              <a:rPr lang="en-IN" sz="2000" b="1" dirty="0"/>
              <a:t>distributed systems</a:t>
            </a:r>
            <a:r>
              <a:rPr lang="en-IN" sz="2000" dirty="0"/>
              <a:t> where multiple application instances need to share the same cache state.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1890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4048-C3B2-96D3-B95F-05A50BD0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of Redis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B184E-8A6D-B124-FEB8-6CB79F7F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r>
              <a:rPr lang="en-IN" sz="1800" b="1" dirty="0"/>
              <a:t>Performance: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Redis operates in-memory, delivering sub-millisecond access times and significantly reducing API response latency.</a:t>
            </a:r>
          </a:p>
          <a:p>
            <a:r>
              <a:rPr lang="en-IN" sz="1800" b="1" dirty="0"/>
              <a:t>Distributed Caching: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Unlike local caches (e.g., Caffeine), Redis allows multiple microservice instances to access the same cached data, ensuring consistency across a cluster.</a:t>
            </a:r>
          </a:p>
          <a:p>
            <a:r>
              <a:rPr lang="en-IN" sz="1800" b="1" dirty="0"/>
              <a:t>Scalability: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Supports horizontal scaling through </a:t>
            </a:r>
            <a:r>
              <a:rPr lang="en-IN" sz="1800" b="1" dirty="0"/>
              <a:t>Redis Cluster</a:t>
            </a:r>
            <a:r>
              <a:rPr lang="en-IN" sz="1800" dirty="0"/>
              <a:t>, to handle massive traffic and large datasets across multiple nodes.</a:t>
            </a:r>
          </a:p>
          <a:p>
            <a:r>
              <a:rPr lang="en-IN" sz="1800" b="1" dirty="0"/>
              <a:t>Durability &amp; Persistence:</a:t>
            </a:r>
            <a:r>
              <a:rPr lang="en-IN" sz="1800" dirty="0"/>
              <a:t> </a:t>
            </a:r>
          </a:p>
          <a:p>
            <a:pPr lvl="1"/>
            <a:r>
              <a:rPr lang="en-IN" sz="1800" dirty="0"/>
              <a:t>Offers optional disk persistence (AOF/RDB), meaning cached data can survive a server restart</a:t>
            </a:r>
          </a:p>
        </p:txBody>
      </p:sp>
    </p:spTree>
    <p:extLst>
      <p:ext uri="{BB962C8B-B14F-4D97-AF65-F5344CB8AC3E}">
        <p14:creationId xmlns:p14="http://schemas.microsoft.com/office/powerpoint/2010/main" val="3409350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516E-BDDB-FD0F-9A90-C255C16C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Cons of Using Redis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D341-4CA2-11FF-7D0E-B19AF325D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800" b="1" dirty="0"/>
              <a:t>Infrastructure Overhead:</a:t>
            </a:r>
            <a:r>
              <a:rPr lang="en-IN" sz="1800" dirty="0"/>
              <a:t> 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Requires setting up and maintaining a separate Redis server or cluster, unlike local in-memory caches that live within the JVM.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Operational Risk:</a:t>
            </a:r>
            <a:r>
              <a:rPr lang="en-IN" sz="1800" dirty="0"/>
              <a:t> 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If implemented poorly, you may face issues like </a:t>
            </a:r>
            <a:r>
              <a:rPr lang="en-IN" sz="1800" b="1" dirty="0"/>
              <a:t>cache stampedes</a:t>
            </a:r>
            <a:r>
              <a:rPr lang="en-IN" sz="1800" dirty="0"/>
              <a:t> (multiple threads hitting the DB at once when a cache expires) or </a:t>
            </a:r>
            <a:r>
              <a:rPr lang="en-IN" sz="1800" b="1" dirty="0"/>
              <a:t>stale data</a:t>
            </a:r>
            <a:r>
              <a:rPr lang="en-IN" sz="1800" dirty="0"/>
              <a:t> if invalidation logic is missing. </a:t>
            </a:r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625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Title 1">
            <a:extLst>
              <a:ext uri="{FF2B5EF4-FFF2-40B4-BE49-F238E27FC236}">
                <a16:creationId xmlns:a16="http://schemas.microsoft.com/office/drawing/2014/main" id="{09D2CB46-A2FB-A8A0-D8B7-3D8BA3E88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Caching With redis</a:t>
            </a:r>
          </a:p>
        </p:txBody>
      </p:sp>
      <p:sp>
        <p:nvSpPr>
          <p:cNvPr id="168962" name="Content Placeholder 2">
            <a:extLst>
              <a:ext uri="{FF2B5EF4-FFF2-40B4-BE49-F238E27FC236}">
                <a16:creationId xmlns:a16="http://schemas.microsoft.com/office/drawing/2014/main" id="{E6C9CBA5-7ED0-ADB7-4C75-1C46DD3BBE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IN" altLang="en-US" sz="2000" dirty="0"/>
              <a:t>brew install </a:t>
            </a:r>
            <a:r>
              <a:rPr lang="en-IN" altLang="en-US" sz="2000" dirty="0" err="1"/>
              <a:t>redis</a:t>
            </a:r>
            <a:endParaRPr lang="en-IN" altLang="en-US" sz="2000" dirty="0"/>
          </a:p>
          <a:p>
            <a:pPr>
              <a:defRPr/>
            </a:pPr>
            <a:r>
              <a:rPr lang="en-IN" altLang="en-US" sz="2000" b="1" dirty="0"/>
              <a:t>Manage the Redis Service:</a:t>
            </a:r>
            <a:endParaRPr lang="en-IN" altLang="en-US" sz="2000" dirty="0"/>
          </a:p>
          <a:p>
            <a:pPr lvl="1">
              <a:defRPr/>
            </a:pPr>
            <a:r>
              <a:rPr lang="en-IN" altLang="en-US" sz="2000" b="1" dirty="0"/>
              <a:t>Start Redis now and at login:</a:t>
            </a:r>
            <a:r>
              <a:rPr lang="en-IN" altLang="en-US" sz="2000" dirty="0"/>
              <a:t> brew services start </a:t>
            </a:r>
            <a:r>
              <a:rPr lang="en-IN" altLang="en-US" sz="2000" dirty="0" err="1"/>
              <a:t>redis</a:t>
            </a:r>
            <a:r>
              <a:rPr lang="en-IN" altLang="en-US" sz="2000" dirty="0"/>
              <a:t>.</a:t>
            </a:r>
          </a:p>
          <a:p>
            <a:pPr lvl="1">
              <a:defRPr/>
            </a:pPr>
            <a:r>
              <a:rPr lang="en-IN" altLang="en-US" sz="2000" b="1" dirty="0"/>
              <a:t>Stop Redis:</a:t>
            </a:r>
            <a:r>
              <a:rPr lang="en-IN" altLang="en-US" sz="2000" dirty="0"/>
              <a:t> brew services stop </a:t>
            </a:r>
            <a:r>
              <a:rPr lang="en-IN" altLang="en-US" sz="2000" dirty="0" err="1"/>
              <a:t>redis</a:t>
            </a:r>
            <a:r>
              <a:rPr lang="en-IN" altLang="en-US" sz="2000" dirty="0"/>
              <a:t>.</a:t>
            </a:r>
          </a:p>
          <a:p>
            <a:pPr lvl="1">
              <a:defRPr/>
            </a:pPr>
            <a:r>
              <a:rPr lang="en-IN" altLang="en-US" sz="2000" b="1" dirty="0"/>
              <a:t>Run manually (foreground):</a:t>
            </a:r>
            <a:r>
              <a:rPr lang="en-IN" altLang="en-US" sz="2000" dirty="0"/>
              <a:t> </a:t>
            </a:r>
            <a:r>
              <a:rPr lang="en-IN" altLang="en-US" sz="2000" dirty="0" err="1"/>
              <a:t>redis</a:t>
            </a:r>
            <a:r>
              <a:rPr lang="en-IN" altLang="en-US" sz="2000" dirty="0"/>
              <a:t>-server.</a:t>
            </a:r>
          </a:p>
          <a:p>
            <a:pPr>
              <a:defRPr/>
            </a:pPr>
            <a:endParaRPr lang="en-IN" altLang="en-US" sz="2000" b="1" dirty="0"/>
          </a:p>
          <a:p>
            <a:pPr>
              <a:defRPr/>
            </a:pPr>
            <a:endParaRPr lang="en-IN" altLang="en-US" sz="2000" dirty="0"/>
          </a:p>
          <a:p>
            <a:pPr marL="457200" lvl="1" indent="0">
              <a:buNone/>
              <a:defRPr/>
            </a:pPr>
            <a:r>
              <a:rPr lang="en-IN" sz="1800" dirty="0" err="1">
                <a:solidFill>
                  <a:srgbClr val="C00000"/>
                </a:solidFill>
              </a:rPr>
              <a:t>redis</a:t>
            </a:r>
            <a:r>
              <a:rPr lang="en-IN" sz="1800" dirty="0">
                <a:solidFill>
                  <a:srgbClr val="C00000"/>
                </a:solidFill>
              </a:rPr>
              <a:t>-cli</a:t>
            </a:r>
          </a:p>
          <a:p>
            <a:pPr marL="457200" lvl="1" indent="0">
              <a:buNone/>
              <a:defRPr/>
            </a:pPr>
            <a:r>
              <a:rPr lang="en-IN" sz="1800" dirty="0">
                <a:solidFill>
                  <a:srgbClr val="C00000"/>
                </a:solidFill>
              </a:rPr>
              <a:t>KEYS *</a:t>
            </a:r>
          </a:p>
          <a:p>
            <a:pPr marL="457200" lvl="1" indent="0">
              <a:buNone/>
              <a:defRPr/>
            </a:pPr>
            <a:r>
              <a:rPr lang="en-IN" sz="1800" dirty="0">
                <a:solidFill>
                  <a:srgbClr val="C00000"/>
                </a:solidFill>
              </a:rPr>
              <a:t>EXISTS </a:t>
            </a:r>
            <a:r>
              <a:rPr lang="en-IN" sz="1800" dirty="0" err="1">
                <a:solidFill>
                  <a:srgbClr val="C00000"/>
                </a:solidFill>
              </a:rPr>
              <a:t>loanApplications</a:t>
            </a:r>
            <a:r>
              <a:rPr lang="en-IN" sz="1800" dirty="0">
                <a:solidFill>
                  <a:srgbClr val="C00000"/>
                </a:solidFill>
              </a:rPr>
              <a:t>::123</a:t>
            </a:r>
          </a:p>
          <a:p>
            <a:pPr marL="0" indent="0">
              <a:buFontTx/>
              <a:buNone/>
              <a:defRPr/>
            </a:pPr>
            <a:br>
              <a:rPr lang="en-IN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00254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F7B1-BBDB-22A1-7D92-9D0C665D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A9FB-FD54-6C63-00BB-F779C406B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sz="1800" dirty="0"/>
              <a:t>@Service</a:t>
            </a:r>
          </a:p>
          <a:p>
            <a:pPr marL="457200" lvl="1" indent="0">
              <a:buNone/>
            </a:pPr>
            <a:r>
              <a:rPr lang="en-IN" sz="1800" dirty="0"/>
              <a:t>@Transactional(</a:t>
            </a:r>
            <a:r>
              <a:rPr lang="en-IN" sz="1800" dirty="0" err="1"/>
              <a:t>readOnly</a:t>
            </a:r>
            <a:r>
              <a:rPr lang="en-IN" sz="1800" dirty="0"/>
              <a:t> = </a:t>
            </a:r>
            <a:r>
              <a:rPr lang="en-IN" sz="1800" b="1" dirty="0"/>
              <a:t>true</a:t>
            </a:r>
            <a:r>
              <a:rPr lang="en-IN" sz="1800" dirty="0"/>
              <a:t>)</a:t>
            </a:r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b="1" dirty="0"/>
              <a:t>class</a:t>
            </a:r>
            <a:r>
              <a:rPr lang="en-IN" sz="1800" dirty="0"/>
              <a:t> </a:t>
            </a:r>
            <a:r>
              <a:rPr lang="en-IN" sz="1800" dirty="0" err="1"/>
              <a:t>LoanApplicationService</a:t>
            </a:r>
            <a:r>
              <a:rPr lang="en-IN" sz="1800" dirty="0"/>
              <a:t> {</a:t>
            </a:r>
          </a:p>
          <a:p>
            <a:pPr marL="457200" lvl="1" indent="0">
              <a:buNone/>
            </a:pP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LoanApplicationRepo</a:t>
            </a:r>
            <a:r>
              <a:rPr lang="en-IN" sz="1800" dirty="0"/>
              <a:t> repo;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LoanApplicationMapper</a:t>
            </a:r>
            <a:r>
              <a:rPr lang="en-IN" sz="1800" dirty="0"/>
              <a:t> mapper;</a:t>
            </a:r>
          </a:p>
          <a:p>
            <a:pPr marL="457200" lvl="1" indent="0">
              <a:buNone/>
            </a:pP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dirty="0" err="1"/>
              <a:t>LoanApplicationService</a:t>
            </a:r>
            <a:r>
              <a:rPr lang="en-IN" sz="1800" dirty="0"/>
              <a:t>(</a:t>
            </a:r>
            <a:r>
              <a:rPr lang="en-IN" sz="1800" dirty="0" err="1"/>
              <a:t>LoanApplicationRepo</a:t>
            </a:r>
            <a:r>
              <a:rPr lang="en-IN" sz="1800" dirty="0"/>
              <a:t> repo, </a:t>
            </a:r>
            <a:r>
              <a:rPr lang="en-IN" sz="1800" dirty="0" err="1"/>
              <a:t>LoanApplicationMapper</a:t>
            </a:r>
            <a:r>
              <a:rPr lang="en-IN" sz="1800" dirty="0"/>
              <a:t> mapper) {</a:t>
            </a:r>
          </a:p>
          <a:p>
            <a:pPr marL="457200" lvl="1" indent="0">
              <a:buNone/>
            </a:pPr>
            <a:r>
              <a:rPr lang="en-IN" sz="1800" b="1" dirty="0" err="1"/>
              <a:t>this</a:t>
            </a:r>
            <a:r>
              <a:rPr lang="en-IN" sz="1800" dirty="0" err="1"/>
              <a:t>.repo</a:t>
            </a:r>
            <a:r>
              <a:rPr lang="en-IN" sz="1800" dirty="0"/>
              <a:t> = repo;</a:t>
            </a:r>
          </a:p>
          <a:p>
            <a:pPr marL="457200" lvl="1" indent="0">
              <a:buNone/>
            </a:pPr>
            <a:r>
              <a:rPr lang="en-IN" sz="1800" b="1" dirty="0" err="1"/>
              <a:t>this</a:t>
            </a:r>
            <a:r>
              <a:rPr lang="en-IN" sz="1800" dirty="0" err="1"/>
              <a:t>.mapper</a:t>
            </a:r>
            <a:r>
              <a:rPr lang="en-IN" sz="1800" dirty="0"/>
              <a:t> = mapper;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pPr marL="457200" lvl="1" indent="0">
              <a:buNone/>
            </a:pPr>
            <a:br>
              <a:rPr lang="en-IN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4044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C0A2-3CE6-6D30-71D7-175954A4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@Cacheable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16D3-11B4-76D8-B82D-388E6F433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@Cacheable(value = "</a:t>
            </a:r>
            <a:r>
              <a:rPr lang="en-IN" sz="1800" dirty="0" err="1"/>
              <a:t>loanApplications</a:t>
            </a:r>
            <a:r>
              <a:rPr lang="en-IN" sz="1800" dirty="0"/>
              <a:t>", key = "#p0", condition = "#p0 != null")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dirty="0" err="1"/>
              <a:t>LoanApplicationDto</a:t>
            </a:r>
            <a:r>
              <a:rPr lang="en-IN" sz="1800" dirty="0"/>
              <a:t> </a:t>
            </a:r>
            <a:r>
              <a:rPr lang="en-IN" sz="1800" dirty="0" err="1"/>
              <a:t>findById</a:t>
            </a:r>
            <a:r>
              <a:rPr lang="en-IN" sz="1800" dirty="0"/>
              <a:t>(Integer id) </a:t>
            </a:r>
            <a:r>
              <a:rPr lang="en-IN" sz="1800" b="1" dirty="0"/>
              <a:t>throws</a:t>
            </a:r>
            <a:r>
              <a:rPr lang="en-IN" sz="1800" dirty="0"/>
              <a:t> </a:t>
            </a:r>
            <a:r>
              <a:rPr lang="en-IN" sz="1800" dirty="0" err="1"/>
              <a:t>ResourceNotFoundException</a:t>
            </a:r>
            <a:r>
              <a:rPr lang="en-IN" sz="1800" dirty="0"/>
              <a:t> {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dirty="0" err="1"/>
              <a:t>repo.findById</a:t>
            </a:r>
            <a:r>
              <a:rPr lang="en-IN" sz="1800" dirty="0"/>
              <a:t>(id)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.map(mapper::</a:t>
            </a:r>
            <a:r>
              <a:rPr lang="en-IN" sz="1800" dirty="0" err="1"/>
              <a:t>toDto</a:t>
            </a:r>
            <a:r>
              <a:rPr lang="en-IN" sz="18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.</a:t>
            </a:r>
            <a:r>
              <a:rPr lang="en-IN" sz="1800" dirty="0" err="1"/>
              <a:t>orElseThrow</a:t>
            </a:r>
            <a:r>
              <a:rPr lang="en-IN" sz="1800" dirty="0"/>
              <a:t>(() -&gt; </a:t>
            </a:r>
            <a:r>
              <a:rPr lang="en-IN" sz="1800" b="1" dirty="0"/>
              <a:t>new</a:t>
            </a:r>
            <a:r>
              <a:rPr lang="en-IN" sz="1800" dirty="0"/>
              <a:t> </a:t>
            </a:r>
            <a:r>
              <a:rPr lang="en-IN" sz="1800" dirty="0" err="1"/>
              <a:t>ResourceNotFoundException</a:t>
            </a:r>
            <a:r>
              <a:rPr lang="en-IN" sz="1800" dirty="0"/>
              <a:t>("Loan application not found with ID: " + id));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}</a:t>
            </a:r>
          </a:p>
          <a:p>
            <a:pPr marL="457200" lvl="1" indent="0">
              <a:lnSpc>
                <a:spcPct val="150000"/>
              </a:lnSpc>
              <a:buNone/>
            </a:pPr>
            <a:br>
              <a:rPr lang="en-IN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04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09D6-7667-C617-29BE-DFE18CBC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CachePut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9B1E-EAB3-87A8-BB39-8D75CE771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@Transactional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@</a:t>
            </a:r>
            <a:r>
              <a:rPr lang="en-IN" sz="1800" dirty="0" err="1"/>
              <a:t>CachePut</a:t>
            </a:r>
            <a:r>
              <a:rPr lang="en-IN" sz="1800" dirty="0"/>
              <a:t>(value = "</a:t>
            </a:r>
            <a:r>
              <a:rPr lang="en-IN" sz="1800" dirty="0" err="1"/>
              <a:t>loanApplications</a:t>
            </a:r>
            <a:r>
              <a:rPr lang="en-IN" sz="1800" dirty="0"/>
              <a:t>", key = "#</a:t>
            </a:r>
            <a:r>
              <a:rPr lang="en-IN" sz="1800" dirty="0" err="1"/>
              <a:t>result.id</a:t>
            </a:r>
            <a:r>
              <a:rPr lang="en-IN" sz="1800" dirty="0"/>
              <a:t>", unless = "#result == null")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dirty="0" err="1"/>
              <a:t>LoanApplicationDto</a:t>
            </a:r>
            <a:r>
              <a:rPr lang="en-IN" sz="1800" dirty="0"/>
              <a:t> save(</a:t>
            </a:r>
            <a:r>
              <a:rPr lang="en-IN" sz="1800" dirty="0" err="1"/>
              <a:t>LoanApplicationDto</a:t>
            </a:r>
            <a:r>
              <a:rPr lang="en-IN" sz="1800" dirty="0"/>
              <a:t> </a:t>
            </a:r>
            <a:r>
              <a:rPr lang="en-IN" sz="1800" dirty="0" err="1"/>
              <a:t>dto</a:t>
            </a:r>
            <a:r>
              <a:rPr lang="en-IN" sz="1800" dirty="0"/>
              <a:t>) {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LoanApplication</a:t>
            </a:r>
            <a:r>
              <a:rPr lang="en-IN" sz="1800" dirty="0"/>
              <a:t> entity = </a:t>
            </a:r>
            <a:r>
              <a:rPr lang="en-IN" sz="1800" dirty="0" err="1"/>
              <a:t>mapper.toEntity</a:t>
            </a:r>
            <a:r>
              <a:rPr lang="en-IN" sz="1800" dirty="0"/>
              <a:t>(</a:t>
            </a:r>
            <a:r>
              <a:rPr lang="en-IN" sz="1800" dirty="0" err="1"/>
              <a:t>dto</a:t>
            </a:r>
            <a:r>
              <a:rPr lang="en-IN" sz="1800" dirty="0"/>
              <a:t>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entity.setId</a:t>
            </a:r>
            <a:r>
              <a:rPr lang="en-IN" sz="1800" dirty="0"/>
              <a:t>(</a:t>
            </a:r>
            <a:r>
              <a:rPr lang="en-IN" sz="1800" b="1" dirty="0"/>
              <a:t>null</a:t>
            </a:r>
            <a:r>
              <a:rPr lang="en-IN" sz="1800" dirty="0"/>
              <a:t>);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LoanApplication</a:t>
            </a:r>
            <a:r>
              <a:rPr lang="en-IN" sz="1800" dirty="0"/>
              <a:t> </a:t>
            </a:r>
            <a:r>
              <a:rPr lang="en-IN" sz="1800" dirty="0" err="1"/>
              <a:t>savedEntity</a:t>
            </a:r>
            <a:r>
              <a:rPr lang="en-IN" sz="1800" dirty="0"/>
              <a:t> = </a:t>
            </a:r>
            <a:r>
              <a:rPr lang="en-IN" sz="1800" dirty="0" err="1"/>
              <a:t>repo.save</a:t>
            </a:r>
            <a:r>
              <a:rPr lang="en-IN" sz="1800" dirty="0"/>
              <a:t>(entity);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dirty="0" err="1"/>
              <a:t>mapper.toDto</a:t>
            </a:r>
            <a:r>
              <a:rPr lang="en-IN" sz="1800" dirty="0"/>
              <a:t>(</a:t>
            </a:r>
            <a:r>
              <a:rPr lang="en-IN" sz="1800" dirty="0" err="1"/>
              <a:t>savedEntity</a:t>
            </a:r>
            <a:r>
              <a:rPr lang="en-IN" sz="1800" dirty="0"/>
              <a:t>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}</a:t>
            </a:r>
          </a:p>
          <a:p>
            <a:pPr marL="457200" lvl="1" indent="0">
              <a:lnSpc>
                <a:spcPct val="150000"/>
              </a:lnSpc>
              <a:buNone/>
            </a:pPr>
            <a:br>
              <a:rPr lang="en-IN" sz="1800" dirty="0"/>
            </a:br>
            <a:endParaRPr lang="en-IN" sz="1800" dirty="0"/>
          </a:p>
          <a:p>
            <a:pPr lvl="1"/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467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00CE-BAA0-4788-C77F-7C060024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CacheEvict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114B2-5223-E2AF-2226-35D927F74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@Transactional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@</a:t>
            </a:r>
            <a:r>
              <a:rPr lang="en-IN" sz="1800" dirty="0" err="1"/>
              <a:t>CacheEvict</a:t>
            </a:r>
            <a:r>
              <a:rPr lang="en-IN" sz="1800" dirty="0"/>
              <a:t>(value = "</a:t>
            </a:r>
            <a:r>
              <a:rPr lang="en-IN" sz="1800" dirty="0" err="1"/>
              <a:t>loanApplications</a:t>
            </a:r>
            <a:r>
              <a:rPr lang="en-IN" sz="1800" dirty="0"/>
              <a:t>", key = "#id")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b="1" dirty="0"/>
              <a:t>void</a:t>
            </a:r>
            <a:r>
              <a:rPr lang="en-IN" sz="1800" dirty="0"/>
              <a:t> </a:t>
            </a:r>
            <a:r>
              <a:rPr lang="en-IN" sz="1800" dirty="0" err="1"/>
              <a:t>removeById</a:t>
            </a:r>
            <a:r>
              <a:rPr lang="en-IN" sz="1800" dirty="0"/>
              <a:t>(</a:t>
            </a:r>
            <a:r>
              <a:rPr lang="en-IN" sz="1800" b="1" dirty="0"/>
              <a:t>int</a:t>
            </a:r>
            <a:r>
              <a:rPr lang="en-IN" sz="1800" dirty="0"/>
              <a:t> id) </a:t>
            </a:r>
            <a:r>
              <a:rPr lang="en-IN" sz="1800" b="1" dirty="0"/>
              <a:t>throws</a:t>
            </a:r>
            <a:r>
              <a:rPr lang="en-IN" sz="1800" dirty="0"/>
              <a:t> </a:t>
            </a:r>
            <a:r>
              <a:rPr lang="en-IN" sz="1800" dirty="0" err="1"/>
              <a:t>ResourceNotFoundException</a:t>
            </a:r>
            <a:r>
              <a:rPr lang="en-IN" sz="1800" dirty="0"/>
              <a:t> {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if</a:t>
            </a:r>
            <a:r>
              <a:rPr lang="en-IN" sz="1800" dirty="0"/>
              <a:t> (!</a:t>
            </a:r>
            <a:r>
              <a:rPr lang="en-IN" sz="1800" dirty="0" err="1"/>
              <a:t>repo.existsById</a:t>
            </a:r>
            <a:r>
              <a:rPr lang="en-IN" sz="1800" dirty="0"/>
              <a:t>(id)) {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throw</a:t>
            </a:r>
            <a:r>
              <a:rPr lang="en-IN" sz="1800" dirty="0"/>
              <a:t> </a:t>
            </a:r>
            <a:r>
              <a:rPr lang="en-IN" sz="1800" b="1" dirty="0"/>
              <a:t>new</a:t>
            </a:r>
            <a:r>
              <a:rPr lang="en-IN" sz="1800" dirty="0"/>
              <a:t> </a:t>
            </a:r>
            <a:r>
              <a:rPr lang="en-IN" sz="1800" dirty="0" err="1"/>
              <a:t>ResourceNotFoundException</a:t>
            </a:r>
            <a:r>
              <a:rPr lang="en-IN" sz="1800" dirty="0"/>
              <a:t>("Cannot delete: Loan application not found with ID: " + id);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}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repo.deleteById</a:t>
            </a:r>
            <a:r>
              <a:rPr lang="en-IN" sz="1800" dirty="0"/>
              <a:t>(id);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}</a:t>
            </a:r>
          </a:p>
          <a:p>
            <a:pPr marL="457200" lvl="1" indent="0">
              <a:lnSpc>
                <a:spcPct val="150000"/>
              </a:lnSpc>
              <a:buNone/>
            </a:pPr>
            <a:br>
              <a:rPr lang="en-IN" sz="1800" dirty="0"/>
            </a:br>
            <a:endParaRPr lang="en-IN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909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309E3-746A-2075-440E-E882E2F03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CachePut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50833-6E00-186A-0C7C-A4D8D7412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@Transactional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@</a:t>
            </a:r>
            <a:r>
              <a:rPr lang="en-IN" sz="1800" dirty="0" err="1"/>
              <a:t>CachePut</a:t>
            </a:r>
            <a:r>
              <a:rPr lang="en-IN" sz="1800" dirty="0"/>
              <a:t>(value = "</a:t>
            </a:r>
            <a:r>
              <a:rPr lang="en-IN" sz="1800" dirty="0" err="1"/>
              <a:t>loanApplications</a:t>
            </a:r>
            <a:r>
              <a:rPr lang="en-IN" sz="1800" dirty="0"/>
              <a:t>", key = "#id")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dirty="0" err="1"/>
              <a:t>LoanApplicationDto</a:t>
            </a:r>
            <a:r>
              <a:rPr lang="en-IN" sz="1800" dirty="0"/>
              <a:t> update(</a:t>
            </a:r>
            <a:r>
              <a:rPr lang="en-IN" sz="1800" b="1" dirty="0"/>
              <a:t>int</a:t>
            </a:r>
            <a:r>
              <a:rPr lang="en-IN" sz="1800" dirty="0"/>
              <a:t> id, </a:t>
            </a:r>
            <a:r>
              <a:rPr lang="en-IN" sz="1800" dirty="0" err="1"/>
              <a:t>LoanApplicationDto</a:t>
            </a:r>
            <a:r>
              <a:rPr lang="en-IN" sz="1800" dirty="0"/>
              <a:t> </a:t>
            </a:r>
            <a:r>
              <a:rPr lang="en-IN" sz="1800" dirty="0" err="1"/>
              <a:t>dto</a:t>
            </a:r>
            <a:r>
              <a:rPr lang="en-IN" sz="1800" dirty="0"/>
              <a:t>) </a:t>
            </a:r>
            <a:r>
              <a:rPr lang="en-IN" sz="1800" b="1" dirty="0"/>
              <a:t>throws</a:t>
            </a:r>
            <a:r>
              <a:rPr lang="en-IN" sz="1800" dirty="0"/>
              <a:t> </a:t>
            </a:r>
            <a:r>
              <a:rPr lang="en-IN" sz="1800" dirty="0" err="1"/>
              <a:t>ResourceNotFoundException</a:t>
            </a:r>
            <a:r>
              <a:rPr lang="en-IN" sz="1800" dirty="0"/>
              <a:t> {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LoanApplication</a:t>
            </a:r>
            <a:r>
              <a:rPr lang="en-IN" sz="1800" dirty="0"/>
              <a:t> existing = </a:t>
            </a:r>
            <a:r>
              <a:rPr lang="en-IN" sz="1800" dirty="0" err="1"/>
              <a:t>repo.findById</a:t>
            </a:r>
            <a:r>
              <a:rPr lang="en-IN" sz="1800" dirty="0"/>
              <a:t>(id)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.</a:t>
            </a:r>
            <a:r>
              <a:rPr lang="en-IN" sz="1800" dirty="0" err="1"/>
              <a:t>orElseThrow</a:t>
            </a:r>
            <a:r>
              <a:rPr lang="en-IN" sz="1800" dirty="0"/>
              <a:t>(() -&gt; </a:t>
            </a:r>
            <a:r>
              <a:rPr lang="en-IN" sz="1800" b="1" dirty="0"/>
              <a:t>new</a:t>
            </a:r>
            <a:r>
              <a:rPr lang="en-IN" sz="1800" dirty="0"/>
              <a:t> </a:t>
            </a:r>
            <a:r>
              <a:rPr lang="en-IN" sz="1800" dirty="0" err="1"/>
              <a:t>ResourceNotFoundException</a:t>
            </a:r>
            <a:r>
              <a:rPr lang="en-IN" sz="1800" dirty="0"/>
              <a:t>("Update failed: Loan application not found with ID: " + id));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mapper.updateEntityFromDto</a:t>
            </a:r>
            <a:r>
              <a:rPr lang="en-IN" sz="1800" dirty="0"/>
              <a:t>(</a:t>
            </a:r>
            <a:r>
              <a:rPr lang="en-IN" sz="1800" dirty="0" err="1"/>
              <a:t>dto</a:t>
            </a:r>
            <a:r>
              <a:rPr lang="en-IN" sz="1800" dirty="0"/>
              <a:t>, existing);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dirty="0" err="1"/>
              <a:t>mapper.toDto</a:t>
            </a:r>
            <a:r>
              <a:rPr lang="en-IN" sz="1800" dirty="0"/>
              <a:t>(</a:t>
            </a:r>
            <a:r>
              <a:rPr lang="en-IN" sz="1800" dirty="0" err="1"/>
              <a:t>repo.save</a:t>
            </a:r>
            <a:r>
              <a:rPr lang="en-IN" sz="1800" dirty="0"/>
              <a:t>(existing));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212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0DDB-6B57-EB57-1AB8-0E08195E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7326-F948-4A07-77B4-8013F132B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spring.data.redis.host</a:t>
            </a:r>
            <a:r>
              <a:rPr lang="en-IN" sz="1800" dirty="0"/>
              <a:t>=localhost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spring.data.redis.repositories.enabled</a:t>
            </a:r>
            <a:r>
              <a:rPr lang="en-IN" sz="1800" dirty="0"/>
              <a:t>=false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spring.data.redis.port</a:t>
            </a:r>
            <a:r>
              <a:rPr lang="en-IN" sz="1800" dirty="0"/>
              <a:t>=6379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spring.cache.type</a:t>
            </a:r>
            <a:r>
              <a:rPr lang="en-IN" sz="1800" dirty="0"/>
              <a:t>=</a:t>
            </a:r>
            <a:r>
              <a:rPr lang="en-IN" sz="1800" dirty="0" err="1"/>
              <a:t>redis</a:t>
            </a:r>
            <a:endParaRPr lang="en-I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spring.cache.redis.time</a:t>
            </a:r>
            <a:r>
              <a:rPr lang="en-IN" sz="1800" dirty="0"/>
              <a:t>-to-live=10m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 err="1"/>
              <a:t>spring.cache.redis.cache</a:t>
            </a:r>
            <a:r>
              <a:rPr lang="en-IN" sz="1800" dirty="0"/>
              <a:t>-null-values=false</a:t>
            </a:r>
          </a:p>
        </p:txBody>
      </p:sp>
    </p:spTree>
    <p:extLst>
      <p:ext uri="{BB962C8B-B14F-4D97-AF65-F5344CB8AC3E}">
        <p14:creationId xmlns:p14="http://schemas.microsoft.com/office/powerpoint/2010/main" val="900902304"/>
      </p:ext>
    </p:extLst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21852</TotalTime>
  <Words>1500</Words>
  <Application>Microsoft Macintosh PowerPoint</Application>
  <PresentationFormat>On-screen Show (4:3)</PresentationFormat>
  <Paragraphs>227</Paragraphs>
  <Slides>26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  <vt:variant>
        <vt:lpstr>Custom Shows</vt:lpstr>
      </vt:variant>
      <vt:variant>
        <vt:i4>1</vt:i4>
      </vt:variant>
    </vt:vector>
  </HeadingPairs>
  <TitlesOfParts>
    <vt:vector size="30" baseType="lpstr">
      <vt:lpstr>Arial</vt:lpstr>
      <vt:lpstr>Times New Roman</vt:lpstr>
      <vt:lpstr>vees</vt:lpstr>
      <vt:lpstr>Spring Caching </vt:lpstr>
      <vt:lpstr>Caching</vt:lpstr>
      <vt:lpstr>Caching</vt:lpstr>
      <vt:lpstr>Caching</vt:lpstr>
      <vt:lpstr>Spring Caching</vt:lpstr>
      <vt:lpstr>Maven Dependency</vt:lpstr>
      <vt:lpstr>@EnableCaching </vt:lpstr>
      <vt:lpstr>In Memory Cache</vt:lpstr>
      <vt:lpstr>Defining a Cache</vt:lpstr>
      <vt:lpstr>Unique Key</vt:lpstr>
      <vt:lpstr> Deleting Cache Entries </vt:lpstr>
      <vt:lpstr> Deleting Cache Entries </vt:lpstr>
      <vt:lpstr> Deleting Cache Entries </vt:lpstr>
      <vt:lpstr> Conditional Caching </vt:lpstr>
      <vt:lpstr>Unless Caching</vt:lpstr>
      <vt:lpstr>Dependency</vt:lpstr>
      <vt:lpstr>Redis as Cache Manager</vt:lpstr>
      <vt:lpstr>Pros of Redis</vt:lpstr>
      <vt:lpstr> Cons of Using Redis </vt:lpstr>
      <vt:lpstr>Caching With redis</vt:lpstr>
      <vt:lpstr>Redis caching</vt:lpstr>
      <vt:lpstr>@Cacheable</vt:lpstr>
      <vt:lpstr>@CachePut</vt:lpstr>
      <vt:lpstr>@CacheEvict</vt:lpstr>
      <vt:lpstr>@CachePut</vt:lpstr>
      <vt:lpstr>Configuration</vt:lpstr>
      <vt:lpstr>Sapient</vt:lpstr>
    </vt:vector>
  </TitlesOfParts>
  <Company>Meta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</dc:title>
  <dc:subject>Spring Core Package</dc:subject>
  <dc:creator>K.Srivatsan</dc:creator>
  <cp:lastModifiedBy>Srivatsan Krishnamachari</cp:lastModifiedBy>
  <cp:revision>1409</cp:revision>
  <dcterms:created xsi:type="dcterms:W3CDTF">1998-10-26T19:35:11Z</dcterms:created>
  <dcterms:modified xsi:type="dcterms:W3CDTF">2026-01-23T06:10:55Z</dcterms:modified>
</cp:coreProperties>
</file>