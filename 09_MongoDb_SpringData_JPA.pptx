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5"/>
  </p:notesMasterIdLst>
  <p:sldIdLst>
    <p:sldId id="1365" r:id="rId2"/>
    <p:sldId id="697" r:id="rId3"/>
    <p:sldId id="699" r:id="rId4"/>
    <p:sldId id="1377" r:id="rId5"/>
    <p:sldId id="700" r:id="rId6"/>
    <p:sldId id="702" r:id="rId7"/>
    <p:sldId id="704" r:id="rId8"/>
    <p:sldId id="712" r:id="rId9"/>
    <p:sldId id="705" r:id="rId10"/>
    <p:sldId id="1230" r:id="rId11"/>
    <p:sldId id="1280" r:id="rId12"/>
    <p:sldId id="1289" r:id="rId13"/>
    <p:sldId id="1300" r:id="rId14"/>
    <p:sldId id="1372" r:id="rId15"/>
    <p:sldId id="1375" r:id="rId16"/>
    <p:sldId id="1374" r:id="rId17"/>
    <p:sldId id="1290" r:id="rId18"/>
    <p:sldId id="1293" r:id="rId19"/>
    <p:sldId id="1294" r:id="rId20"/>
    <p:sldId id="1295" r:id="rId21"/>
    <p:sldId id="1296" r:id="rId22"/>
    <p:sldId id="1297" r:id="rId23"/>
    <p:sldId id="1298" r:id="rId24"/>
    <p:sldId id="1363" r:id="rId25"/>
    <p:sldId id="1379" r:id="rId26"/>
    <p:sldId id="1380" r:id="rId27"/>
    <p:sldId id="1382" r:id="rId28"/>
    <p:sldId id="1383" r:id="rId29"/>
    <p:sldId id="1384" r:id="rId30"/>
    <p:sldId id="1386" r:id="rId31"/>
    <p:sldId id="1385" r:id="rId32"/>
    <p:sldId id="1387" r:id="rId33"/>
    <p:sldId id="1391" r:id="rId34"/>
    <p:sldId id="1388" r:id="rId35"/>
    <p:sldId id="1299" r:id="rId36"/>
    <p:sldId id="1233" r:id="rId37"/>
    <p:sldId id="1364" r:id="rId38"/>
    <p:sldId id="1389" r:id="rId39"/>
    <p:sldId id="1390" r:id="rId40"/>
    <p:sldId id="1371" r:id="rId41"/>
    <p:sldId id="1302" r:id="rId42"/>
    <p:sldId id="1234" r:id="rId43"/>
    <p:sldId id="1309" r:id="rId44"/>
  </p:sldIdLst>
  <p:sldSz cx="9144000" cy="6858000" type="screen4x3"/>
  <p:notesSz cx="6858000" cy="91440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13"/>
    <p:restoredTop sz="94658"/>
  </p:normalViewPr>
  <p:slideViewPr>
    <p:cSldViewPr>
      <p:cViewPr varScale="1">
        <p:scale>
          <a:sx n="106" d="100"/>
          <a:sy n="106" d="100"/>
        </p:scale>
        <p:origin x="1728" y="48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082"/>
    </p:cViewPr>
  </p:sorterViewPr>
  <p:notesViewPr>
    <p:cSldViewPr>
      <p:cViewPr varScale="1">
        <p:scale>
          <a:sx n="96" d="100"/>
          <a:sy n="96" d="100"/>
        </p:scale>
        <p:origin x="3808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>
            <a:extLst>
              <a:ext uri="{FF2B5EF4-FFF2-40B4-BE49-F238E27FC236}">
                <a16:creationId xmlns:a16="http://schemas.microsoft.com/office/drawing/2014/main" id="{3F86696F-B801-BBEF-1FC3-A75E8D80E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Microsoft YaHei" charset="-122"/>
            </a:endParaRPr>
          </a:p>
        </p:txBody>
      </p:sp>
      <p:sp>
        <p:nvSpPr>
          <p:cNvPr id="2050" name="Text Box 2">
            <a:extLst>
              <a:ext uri="{FF2B5EF4-FFF2-40B4-BE49-F238E27FC236}">
                <a16:creationId xmlns:a16="http://schemas.microsoft.com/office/drawing/2014/main" id="{F943C3F0-A62B-D52B-9AAD-70EC9012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Microsoft YaHei" charset="-122"/>
            </a:endParaRPr>
          </a:p>
        </p:txBody>
      </p:sp>
      <p:sp>
        <p:nvSpPr>
          <p:cNvPr id="2051" name="Text Box 3">
            <a:extLst>
              <a:ext uri="{FF2B5EF4-FFF2-40B4-BE49-F238E27FC236}">
                <a16:creationId xmlns:a16="http://schemas.microsoft.com/office/drawing/2014/main" id="{1CA47778-1031-5E86-BB95-357064901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Microsoft YaHei" charset="-122"/>
            </a:endParaRPr>
          </a:p>
        </p:txBody>
      </p:sp>
      <p:sp>
        <p:nvSpPr>
          <p:cNvPr id="83973" name="Rectangle 4">
            <a:extLst>
              <a:ext uri="{FF2B5EF4-FFF2-40B4-BE49-F238E27FC236}">
                <a16:creationId xmlns:a16="http://schemas.microsoft.com/office/drawing/2014/main" id="{3D3EC674-FFC1-28E7-8B37-FDCFCE568E6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2162D3F5-FD0D-7DBB-0ABA-047C0BF15FD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27613" cy="41132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054" name="Text Box 6">
            <a:extLst>
              <a:ext uri="{FF2B5EF4-FFF2-40B4-BE49-F238E27FC236}">
                <a16:creationId xmlns:a16="http://schemas.microsoft.com/office/drawing/2014/main" id="{A7F375E5-F645-FAA4-1295-780A19BA7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Microsoft YaHei" charset="-122"/>
            </a:endParaRP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91FCFCBF-2ED4-3687-8981-AECE29F33AC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70213" cy="45561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4836C3B5-CCF9-534B-87E7-7F1C813E72A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027B911A-15E4-D3AE-65B4-66ED1EE94F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2C9C2382-DB92-F992-5910-B47B61181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B8061D48-2062-408F-194F-A6F305E40277}"/>
              </a:ext>
            </a:extLst>
          </p:cNvPr>
          <p:cNvSpPr>
            <a:spLocks noGrp="1"/>
          </p:cNvSpPr>
          <p:nvPr>
            <p:ph type="sldNum" sz="quarter"/>
          </p:nvPr>
        </p:nvSpPr>
        <p:spPr/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59633CC3-D74B-ED47-A986-269C71401BA0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B672C0F-F4C9-83E3-F3EC-3EFAB37AC1B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B1200F-6C64-6744-A2BE-835409493A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05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F033241-124E-0BB2-9198-F112DBC03BC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65F934-1B05-5847-A416-E0A6DE11A9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499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2A31239-B7CA-37B4-8978-396D38556D4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07882A-D846-514A-ACC0-1047C83F9F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70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7013" cy="5133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990600"/>
            <a:ext cx="4038600" cy="5133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3FEE8F-0E7A-7807-7E42-7951CA7B6BE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27195A-4EC8-C046-885B-DE16EF4908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33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AD8D7E9-15D6-24C8-64C0-94035A83AD1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0A8222-5F03-5043-B5AB-65AF9BB4A3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30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DCC7886-AFE4-7F2B-A72D-6170DD502ED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8B5075-9A34-ED4D-B6E3-9239EDE90D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9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EB50DA8-2A26-A716-A468-99400AADD51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F9BFF2-3DFE-B54B-B8ED-EE8F15E9BC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4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AB87C1-6CD3-9D00-9F76-5F797E3DF58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A6E23-6436-B647-BB4B-C1E705C36C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871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76D0B0-8F73-2D0D-C94C-80D0721B08A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A675C-3FE2-5342-B85C-98ED464220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991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38BB0B7-8A3E-ED40-7FA5-0FB9901653D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074BB6-E449-944A-8EE2-746AE0812D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170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65113"/>
            <a:ext cx="2055813" cy="5859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65113"/>
            <a:ext cx="6019800" cy="5859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E3FE4BF-BBB7-50D9-26C7-4B37224AA0E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D95018-13AD-9940-8AE3-F79C142F65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166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D85835EC-D8CD-C1A9-2D51-F8108C3CD09F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3F21B26C-1A14-4D4E-A0BE-C3C580A0DA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6189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A48A18E3-EB26-3850-A79D-D8FB9FF52988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05632F4B-AD95-4346-BF2C-ECAE137C37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7138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DE2192B5-3256-8F93-EA98-03E77719F914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D03E1D3B-C6F0-C24B-9D60-1E7A98D433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488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6D392A02-9E1F-D098-26B3-50B6FA7AF17E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576E804A-CFC6-C94C-8015-C0B449DD9E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223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63C7F0EB-D54F-5528-F16A-D97018EF746C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74CE372D-17BC-9645-8EC5-7217DE6955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612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0B7A9D71-0521-72DB-326E-D959ECD90E3F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10104671-A22A-3347-B4BF-AED083D9EC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496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53AC57FD-4AEB-AC38-27DF-D9AE24A238F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A713F10B-A533-B04A-819B-F99097FA31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2364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0684296A-619D-0A14-DC0C-AA5EAE82391F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0C855795-0713-8346-A320-11F3EB886E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415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C85F577C-5732-80D6-ACB8-78813D432A7B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6426E700-BC7E-B743-A5B0-62219D3107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4092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1A8A96CD-76A6-8146-38AD-8F930A5CAF40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05A24E1B-0CB3-FA48-BB7A-7D7421FFDB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818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319526BA-4CF8-9260-43BA-029878E4C546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5BDD4470-33CF-9346-922C-E25E227C75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47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DB9C4E6B-E16C-370C-7087-35C3BFF8F44E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DF13E10C-B720-6349-BC1C-2D4E00B777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4326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E5F0DADC-7AE7-1FE9-479E-8EA5A9F2FC3E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27766AB5-C742-2240-9543-DCE7C3EF2E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1174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18A01EE2-75C9-4A74-04DE-826DC0BE58DA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1EBEEBB7-56F8-C540-89F1-19B1815D88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2189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5A9483B1-BB6E-CE1D-B609-FD00EF7FFCE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CEA0B8B5-30EC-6E41-9436-D881540578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8337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0FEEA326-B1FF-9F3B-29B8-CE940DB96598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11AEB7A7-26C5-7149-971F-5F0EA05A3E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7758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131FCC80-58C5-C861-852B-9B88C148A24C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5205F2ED-F985-0546-88DD-DBCF00F2E7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974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CDF443E2-FF44-C433-96A4-E336A1F1880F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DE604629-62D5-1049-BDD9-7A7E0DAE1E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82322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7AADBB09-4631-854C-9B40-0F8631F49ADB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9FA65B3C-78CC-CE49-B5DE-7DC0B09CA9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688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07709509-C3EF-C4D0-386E-779AD072A476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B56B4CAD-93A2-1F43-A833-49B0A971D7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5750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DFA776B4-3298-8317-9CE5-B70729348193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8FAFF714-E460-504A-B967-C0E056FBF5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873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055864" cy="5029200"/>
          </a:xfrm>
        </p:spPr>
        <p:txBody>
          <a:bodyPr/>
          <a:lstStyle>
            <a:lvl3pPr>
              <a:defRPr/>
            </a:lvl3pPr>
            <a:lvl4pPr>
              <a:buFont typeface="Calibri" pitchFamily="34" charset="0"/>
              <a:buChar char="»"/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4800" y="0"/>
            <a:ext cx="2667000" cy="457199"/>
          </a:xfrm>
        </p:spPr>
        <p:txBody>
          <a:bodyPr anchor="ctr" anchorCtr="1"/>
          <a:lstStyle>
            <a:lvl1pPr algn="ctr">
              <a:buNone/>
              <a:defRPr sz="1800">
                <a:solidFill>
                  <a:schemeClr val="bg1"/>
                </a:solidFill>
                <a:latin typeface="Hand Of Sean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6">
            <a:extLst>
              <a:ext uri="{FF2B5EF4-FFF2-40B4-BE49-F238E27FC236}">
                <a16:creationId xmlns:a16="http://schemas.microsoft.com/office/drawing/2014/main" id="{194BCE9D-2150-FC00-BA59-8F39BD25130C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>
          <a:xfrm>
            <a:off x="152400" y="6596063"/>
            <a:ext cx="381000" cy="261937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fld id="{352FBDD6-A87A-7D4A-B10B-E34CDED3FD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287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4DBF1450-7D95-97F6-D645-7466CBDF8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5113"/>
            <a:ext cx="82280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7627D890-8177-DD86-6A13-20F0555FA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8013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C9D8726F-372E-F0FA-FA9D-659868194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Microsoft YaHei" charset="-122"/>
            </a:endParaRPr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45AC55CD-BBA6-64F0-0C60-6D8398061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>
              <a:latin typeface="Arial" charset="0"/>
              <a:ea typeface="Microsoft YaHei" charset="-122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C6CB076-585F-C0E1-8536-788DC2C77C9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5225"/>
            <a:ext cx="2132013" cy="47466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SzPct val="100000"/>
              <a:defRPr>
                <a:solidFill>
                  <a:srgbClr val="000000"/>
                </a:solidFill>
              </a:defRPr>
            </a:lvl1pPr>
          </a:lstStyle>
          <a:p>
            <a:fld id="{28668EA7-5286-FD46-BE83-672A4BEC72C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062" r:id="rId1"/>
    <p:sldLayoutId id="2147487063" r:id="rId2"/>
    <p:sldLayoutId id="2147487064" r:id="rId3"/>
    <p:sldLayoutId id="2147487065" r:id="rId4"/>
    <p:sldLayoutId id="2147487066" r:id="rId5"/>
    <p:sldLayoutId id="2147487067" r:id="rId6"/>
    <p:sldLayoutId id="2147487068" r:id="rId7"/>
    <p:sldLayoutId id="2147487069" r:id="rId8"/>
    <p:sldLayoutId id="2147487070" r:id="rId9"/>
    <p:sldLayoutId id="2147487071" r:id="rId10"/>
    <p:sldLayoutId id="2147487072" r:id="rId11"/>
    <p:sldLayoutId id="2147487073" r:id="rId12"/>
    <p:sldLayoutId id="2147487074" r:id="rId13"/>
    <p:sldLayoutId id="2147487075" r:id="rId14"/>
    <p:sldLayoutId id="2147487076" r:id="rId15"/>
    <p:sldLayoutId id="2147487077" r:id="rId16"/>
    <p:sldLayoutId id="2147487078" r:id="rId17"/>
    <p:sldLayoutId id="2147487079" r:id="rId18"/>
    <p:sldLayoutId id="2147487080" r:id="rId19"/>
    <p:sldLayoutId id="2147487081" r:id="rId20"/>
    <p:sldLayoutId id="2147487082" r:id="rId21"/>
    <p:sldLayoutId id="2147487083" r:id="rId22"/>
    <p:sldLayoutId id="2147487084" r:id="rId23"/>
    <p:sldLayoutId id="2147487085" r:id="rId24"/>
    <p:sldLayoutId id="2147487086" r:id="rId25"/>
    <p:sldLayoutId id="2147487087" r:id="rId26"/>
    <p:sldLayoutId id="2147487088" r:id="rId27"/>
    <p:sldLayoutId id="2147487089" r:id="rId28"/>
    <p:sldLayoutId id="2147487090" r:id="rId29"/>
    <p:sldLayoutId id="2147487091" r:id="rId30"/>
    <p:sldLayoutId id="2147487092" r:id="rId31"/>
    <p:sldLayoutId id="2147487093" r:id="rId32"/>
    <p:sldLayoutId id="2147487094" r:id="rId33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Arial" charset="0"/>
          <a:ea typeface="Microsoft YaHei" charset="-122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Arial" charset="0"/>
          <a:ea typeface="Microsoft YaHei" charset="-122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Arial" charset="0"/>
          <a:ea typeface="Microsoft YaHei" charset="-122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1C1C1C"/>
          </a:solidFill>
          <a:latin typeface="Arial" charset="0"/>
          <a:ea typeface="Microsoft YaHei" charset="-122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1C1C1C"/>
          </a:solidFill>
          <a:latin typeface="Arial" charset="0"/>
          <a:ea typeface="Microsoft YaHei" charset="-122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1C1C1C"/>
          </a:solidFill>
          <a:latin typeface="Arial" charset="0"/>
          <a:ea typeface="Microsoft YaHei" charset="-122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1C1C1C"/>
          </a:solidFill>
          <a:latin typeface="Arial" charset="0"/>
          <a:ea typeface="Microsoft YaHei" charset="-122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1C1C1C"/>
          </a:solidFill>
          <a:latin typeface="Arial" charset="0"/>
          <a:ea typeface="Microsoft YaHei" charset="-122"/>
        </a:defRPr>
      </a:lvl9pPr>
    </p:titleStyle>
    <p:bodyStyle>
      <a:lvl1pPr marL="342900" indent="-3429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cloud/atlas/registe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6BEB-E507-2D26-3E20-A2E68F80E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5798-78EE-FA25-F7AB-69193E23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sz="1800" dirty="0"/>
              <a:t>SQL &amp; NoSQL Databases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Introduction to MongoDB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Mapping MongoDB with RDBMS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Environment Setup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MongoDB Insert Documents, Update Documents, Delete Documents, Retrieve Documents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Basics of Aggregation Framework in MongoDB</a:t>
            </a:r>
          </a:p>
        </p:txBody>
      </p:sp>
    </p:spTree>
    <p:extLst>
      <p:ext uri="{BB962C8B-B14F-4D97-AF65-F5344CB8AC3E}">
        <p14:creationId xmlns:p14="http://schemas.microsoft.com/office/powerpoint/2010/main" val="109195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ADA9A3B2-DF41-BFF9-E3D6-7ABB1647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A3B6C1A4-DB34-9576-5304-7C9110C38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Enormous data is generated by  Modern Web Applications</a:t>
            </a:r>
          </a:p>
          <a:p>
            <a:endParaRPr lang="en-US" altLang="en-US" sz="2000"/>
          </a:p>
          <a:p>
            <a:pPr lvl="1"/>
            <a:r>
              <a:rPr lang="en-US" altLang="en-US" sz="2000"/>
              <a:t>Most of these data is handled by RDBMS system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The relational model is  </a:t>
            </a:r>
            <a:r>
              <a:rPr lang="en-US" altLang="en-US" sz="2000" b="1" i="1">
                <a:solidFill>
                  <a:srgbClr val="CC3300"/>
                </a:solidFill>
              </a:rPr>
              <a:t>not the best for client-server Web programming</a:t>
            </a:r>
            <a:r>
              <a:rPr lang="en-US" altLang="en-US" sz="2000"/>
              <a:t>  handling huge data.</a:t>
            </a:r>
          </a:p>
          <a:p>
            <a:pPr lvl="1"/>
            <a:endParaRPr lang="en-US" altLang="en-US" sz="1600"/>
          </a:p>
          <a:p>
            <a:pPr lvl="1"/>
            <a:r>
              <a:rPr lang="en-US" altLang="en-US" sz="2000"/>
              <a:t>It is </a:t>
            </a:r>
            <a:r>
              <a:rPr lang="en-US" altLang="en-US" sz="2000" b="1" i="1">
                <a:solidFill>
                  <a:srgbClr val="002060"/>
                </a:solidFill>
              </a:rPr>
              <a:t>suitable for storing structured data </a:t>
            </a:r>
            <a:r>
              <a:rPr lang="en-US" altLang="en-US" sz="2000"/>
              <a:t>in web and business applications.</a:t>
            </a:r>
          </a:p>
          <a:p>
            <a:pPr lvl="1"/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A3494C3-7E5F-5834-BDF3-32E601BC9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NOSQL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44D1B4DC-79A7-38E1-991E-199E77FC7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Non-relational database management systems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Designed for </a:t>
            </a:r>
            <a:r>
              <a:rPr lang="en-US" altLang="en-US" sz="2000" b="1" dirty="0">
                <a:solidFill>
                  <a:srgbClr val="002060"/>
                </a:solidFill>
              </a:rPr>
              <a:t>distributed data stores</a:t>
            </a:r>
            <a:r>
              <a:rPr lang="en-US" altLang="en-US" sz="2000" dirty="0"/>
              <a:t> where very </a:t>
            </a:r>
            <a:r>
              <a:rPr lang="en-US" altLang="en-US" sz="2000" b="1" dirty="0">
                <a:solidFill>
                  <a:srgbClr val="C00000"/>
                </a:solidFill>
              </a:rPr>
              <a:t>large scale of data is stored</a:t>
            </a:r>
            <a:endParaRPr lang="en-US" altLang="en-US" sz="2000" dirty="0"/>
          </a:p>
          <a:p>
            <a:endParaRPr lang="en-US" altLang="en-US" sz="2000" dirty="0"/>
          </a:p>
          <a:p>
            <a:pPr lvl="1"/>
            <a:r>
              <a:rPr lang="en-US" altLang="en-US" sz="2000" i="1" dirty="0"/>
              <a:t>Google or Facebook which collects terabytes  of data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Stored Data may not require fixed schema, should avoid join operations .</a:t>
            </a:r>
          </a:p>
          <a:p>
            <a:pPr>
              <a:buFontTx/>
              <a:buNone/>
            </a:pPr>
            <a:br>
              <a:rPr lang="en-US" altLang="en-US" sz="2000" dirty="0"/>
            </a:br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2DF3-E06F-44EE-F526-6067B705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E05C4B0F-A963-D590-23DF-E3CF7089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NoSQL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0AB3425F-8DAD-669E-10BF-25AE72EA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Coined by </a:t>
            </a:r>
            <a:r>
              <a:rPr lang="en-US" altLang="en-US" sz="2000" dirty="0">
                <a:solidFill>
                  <a:srgbClr val="C00000"/>
                </a:solidFill>
              </a:rPr>
              <a:t>Carlo Strozzi</a:t>
            </a:r>
            <a:r>
              <a:rPr lang="en-US" altLang="en-US" sz="2000" dirty="0"/>
              <a:t> in the year 1998. </a:t>
            </a:r>
          </a:p>
          <a:p>
            <a:endParaRPr lang="en-US" altLang="en-US" sz="2000" dirty="0"/>
          </a:p>
          <a:p>
            <a:r>
              <a:rPr lang="en-US" altLang="en-US" sz="2000" dirty="0"/>
              <a:t>Used for his Open Source, Light Weight, </a:t>
            </a:r>
            <a:r>
              <a:rPr lang="en-US" altLang="en-US" sz="2000" dirty="0" err="1"/>
              <a:t>DataBase</a:t>
            </a:r>
            <a:r>
              <a:rPr lang="en-US" altLang="en-US" sz="2000" dirty="0"/>
              <a:t> without an SQL interface.</a:t>
            </a:r>
          </a:p>
          <a:p>
            <a:endParaRPr lang="en-US" altLang="en-US" sz="2000" dirty="0"/>
          </a:p>
          <a:p>
            <a:r>
              <a:rPr lang="en-US" altLang="en-US" sz="2000" dirty="0"/>
              <a:t>In the early 2009 Eric Evans reused the term to refer databases which are non-relational, distributed,</a:t>
            </a:r>
          </a:p>
          <a:p>
            <a:pPr lvl="1"/>
            <a:r>
              <a:rPr lang="en-US" altLang="en-US" sz="1600" dirty="0"/>
              <a:t>Does not conform to atomicity, consistency, isolation, durability - four obvious features of traditional relational database systems.</a:t>
            </a:r>
          </a:p>
          <a:p>
            <a:endParaRPr lang="en-US" altLang="en-US" sz="2000" dirty="0"/>
          </a:p>
          <a:p>
            <a:r>
              <a:rPr lang="en-US" altLang="en-US" sz="2000" dirty="0"/>
              <a:t>NoSQL witnessing an  unprecedented growth.</a:t>
            </a:r>
          </a:p>
          <a:p>
            <a:endParaRPr lang="en-US" altLang="en-US" sz="2000" dirty="0"/>
          </a:p>
          <a:p>
            <a:pPr>
              <a:buFontTx/>
              <a:buNone/>
            </a:pPr>
            <a:br>
              <a:rPr lang="en-US" altLang="en-US" sz="2000" dirty="0"/>
            </a:b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952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5C16CBFD-7300-94A8-35DE-6F2DCD7F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NOSQL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87CB8AFE-38B2-8048-EB54-3CF39C97E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Data is becoming easier to access and capture through third parties such as Facebook, Google+ and others. </a:t>
            </a:r>
          </a:p>
          <a:p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Data has been increasing exponentially. </a:t>
            </a:r>
          </a:p>
          <a:p>
            <a:pPr lvl="1"/>
            <a:r>
              <a:rPr lang="en-US" altLang="en-US" sz="1800"/>
              <a:t>Personal user information, social graphs, geo location data, user-generated content and machine logging data</a:t>
            </a:r>
          </a:p>
          <a:p>
            <a:pPr lvl="1"/>
            <a:endParaRPr lang="en-US" altLang="en-US" sz="1600"/>
          </a:p>
          <a:p>
            <a:endParaRPr lang="en-US" altLang="en-US" sz="2000"/>
          </a:p>
          <a:p>
            <a:r>
              <a:rPr lang="en-US" altLang="en-US" sz="2000"/>
              <a:t>To avail the above service properly, it is required to process huge amount of data. </a:t>
            </a:r>
          </a:p>
          <a:p>
            <a:endParaRPr lang="en-US" altLang="en-US" sz="2000"/>
          </a:p>
          <a:p>
            <a:r>
              <a:rPr lang="en-US" altLang="en-US" sz="2000"/>
              <a:t>The NoSql databases is to handle these huge data properly.</a:t>
            </a:r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2592F13C-704D-8AC5-449C-7495310C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RDBMS vs NOSQL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E06D178B-3A41-B1E3-1632-4237C39DD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RDBMS </a:t>
            </a:r>
          </a:p>
          <a:p>
            <a:pPr lvl="1"/>
            <a:r>
              <a:rPr lang="en-US" altLang="en-US" sz="1800"/>
              <a:t> Structured and organized data </a:t>
            </a:r>
          </a:p>
          <a:p>
            <a:pPr lvl="1"/>
            <a:r>
              <a:rPr lang="en-US" altLang="en-US" sz="1800"/>
              <a:t> Structured query language (SQL) </a:t>
            </a:r>
          </a:p>
          <a:p>
            <a:pPr lvl="1"/>
            <a:r>
              <a:rPr lang="en-US" altLang="en-US" sz="1800"/>
              <a:t> Data and its relationships are stored in separate tables. </a:t>
            </a:r>
          </a:p>
          <a:p>
            <a:pPr lvl="1"/>
            <a:r>
              <a:rPr lang="en-US" altLang="en-US" sz="1800"/>
              <a:t> Data Manipulation Language, Data Definition Language </a:t>
            </a:r>
            <a:br>
              <a:rPr lang="en-US" altLang="en-US" sz="1800"/>
            </a:br>
            <a:r>
              <a:rPr lang="en-US" altLang="en-US" sz="1600"/>
              <a:t> </a:t>
            </a:r>
          </a:p>
          <a:p>
            <a:r>
              <a:rPr lang="en-US" altLang="en-US" sz="2000" b="1"/>
              <a:t>NoSQL </a:t>
            </a:r>
          </a:p>
          <a:p>
            <a:pPr lvl="1"/>
            <a:r>
              <a:rPr lang="en-US" altLang="en-US" sz="2000"/>
              <a:t> No declarative query language</a:t>
            </a:r>
          </a:p>
          <a:p>
            <a:pPr lvl="1"/>
            <a:r>
              <a:rPr lang="en-US" altLang="en-US" sz="2000"/>
              <a:t> No predefined schema </a:t>
            </a:r>
          </a:p>
          <a:p>
            <a:pPr lvl="1"/>
            <a:r>
              <a:rPr lang="en-US" altLang="en-US" sz="2000"/>
              <a:t> Key-Value pair storage, Column Store, Document Store, Graph databases</a:t>
            </a:r>
          </a:p>
          <a:p>
            <a:pPr lvl="1"/>
            <a:r>
              <a:rPr lang="en-US" altLang="en-US" sz="2000"/>
              <a:t> Unstructured and unpredictable data</a:t>
            </a:r>
          </a:p>
          <a:p>
            <a:pPr lvl="1"/>
            <a:r>
              <a:rPr lang="en-US" altLang="en-US" sz="2000"/>
              <a:t> Prioritizes high performance, high availability and scalability</a:t>
            </a:r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4EA612F8-4EA9-EA1C-E8EB-5DB29A56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CAP Theorem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ADF03299-D274-9D25-ACF4-4C972DC42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4550"/>
            <a:ext cx="8228013" cy="5280025"/>
          </a:xfrm>
        </p:spPr>
        <p:txBody>
          <a:bodyPr/>
          <a:lstStyle/>
          <a:p>
            <a:r>
              <a:rPr lang="en-US" altLang="en-US" sz="1800" dirty="0"/>
              <a:t>Three basic requirements for designing applications for a distributed architecture.</a:t>
            </a:r>
          </a:p>
          <a:p>
            <a:endParaRPr lang="en-US" altLang="en-US" sz="1800" dirty="0"/>
          </a:p>
          <a:p>
            <a:r>
              <a:rPr lang="en-US" altLang="en-US" sz="1800" b="1" dirty="0">
                <a:solidFill>
                  <a:srgbClr val="C00000"/>
                </a:solidFill>
              </a:rPr>
              <a:t>Consistency</a:t>
            </a:r>
            <a:r>
              <a:rPr lang="en-US" altLang="en-US" sz="1800" dirty="0">
                <a:solidFill>
                  <a:srgbClr val="C00000"/>
                </a:solidFill>
              </a:rPr>
              <a:t> </a:t>
            </a:r>
          </a:p>
          <a:p>
            <a:pPr lvl="1"/>
            <a:r>
              <a:rPr lang="en-IN" sz="1800" dirty="0"/>
              <a:t>Data is the same across the cluster, can read or write from/to any node and get the same data.</a:t>
            </a:r>
          </a:p>
          <a:p>
            <a:pPr marL="0" indent="0">
              <a:buNone/>
            </a:pPr>
            <a:endParaRPr lang="en-US" altLang="en-US" sz="1800" dirty="0"/>
          </a:p>
          <a:p>
            <a:r>
              <a:rPr lang="en-US" altLang="en-US" sz="1800" b="1" dirty="0">
                <a:solidFill>
                  <a:srgbClr val="7030A0"/>
                </a:solidFill>
              </a:rPr>
              <a:t>Availability</a:t>
            </a:r>
            <a:r>
              <a:rPr lang="en-US" altLang="en-US" sz="1800" dirty="0">
                <a:solidFill>
                  <a:srgbClr val="7030A0"/>
                </a:solidFill>
              </a:rPr>
              <a:t> </a:t>
            </a:r>
          </a:p>
          <a:p>
            <a:pPr lvl="1"/>
            <a:r>
              <a:rPr lang="en-IN" sz="1800" dirty="0"/>
              <a:t>Ability to access the cluster even if a node in the cluster goes down.</a:t>
            </a:r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b="1" dirty="0">
                <a:solidFill>
                  <a:srgbClr val="00B050"/>
                </a:solidFill>
              </a:rPr>
              <a:t>Partition Tolerance</a:t>
            </a:r>
            <a:r>
              <a:rPr lang="en-US" altLang="en-US" sz="1800" dirty="0">
                <a:solidFill>
                  <a:srgbClr val="00B050"/>
                </a:solidFill>
              </a:rPr>
              <a:t> </a:t>
            </a:r>
          </a:p>
          <a:p>
            <a:pPr lvl="1"/>
            <a:r>
              <a:rPr lang="en-IN" sz="1800" dirty="0"/>
              <a:t>Cluster continues to function even if there is a communication break between two nodes -both nodes are up, but can't communicate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D0A43223-E6A1-16B6-699C-D2EFD3BD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CAP Theorem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4ED8FA5D-7340-67D4-38B2-230D8C71A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4550"/>
            <a:ext cx="8228013" cy="5280025"/>
          </a:xfrm>
        </p:spPr>
        <p:txBody>
          <a:bodyPr/>
          <a:lstStyle/>
          <a:p>
            <a:r>
              <a:rPr lang="en-US" altLang="en-US" sz="2000" dirty="0"/>
              <a:t>Theoretically it is impossible to fulfill all 3 requirements. </a:t>
            </a:r>
          </a:p>
          <a:p>
            <a:pPr lvl="1"/>
            <a:r>
              <a:rPr lang="en-US" altLang="en-US" sz="1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 requires for a distributed system to follow </a:t>
            </a:r>
            <a:r>
              <a:rPr lang="en-US" altLang="en-US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of the 3</a:t>
            </a:r>
            <a:r>
              <a:rPr lang="en-US" altLang="en-US" sz="1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requirements. </a:t>
            </a:r>
            <a:endParaRPr lang="en-US" alt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altLang="en-US" sz="1800" b="1" dirty="0">
                <a:solidFill>
                  <a:srgbClr val="C00000"/>
                </a:solidFill>
              </a:rPr>
              <a:t>CA </a:t>
            </a:r>
          </a:p>
          <a:p>
            <a:pPr lvl="1"/>
            <a:r>
              <a:rPr lang="en-US" altLang="en-US" sz="1800" dirty="0"/>
              <a:t>Single site cluster, all nodes are always in contact. </a:t>
            </a:r>
          </a:p>
          <a:p>
            <a:pPr lvl="1"/>
            <a:r>
              <a:rPr lang="en-US" altLang="en-US" sz="1800" dirty="0"/>
              <a:t>When a partition occurs, the system blocks. </a:t>
            </a:r>
            <a:r>
              <a:rPr lang="en-IN" sz="1800" dirty="0"/>
              <a:t> </a:t>
            </a:r>
          </a:p>
          <a:p>
            <a:pPr lvl="1"/>
            <a:r>
              <a:rPr lang="en-IN" sz="1800" dirty="0">
                <a:solidFill>
                  <a:srgbClr val="C00000"/>
                </a:solidFill>
              </a:rPr>
              <a:t>PostgreSQL, Neo4j</a:t>
            </a:r>
            <a:endParaRPr lang="en-US" altLang="en-US" sz="1800" dirty="0"/>
          </a:p>
          <a:p>
            <a:r>
              <a:rPr lang="en-US" altLang="en-US" sz="1800" b="1" dirty="0">
                <a:solidFill>
                  <a:srgbClr val="C00000"/>
                </a:solidFill>
              </a:rPr>
              <a:t>CP</a:t>
            </a:r>
          </a:p>
          <a:p>
            <a:pPr lvl="1"/>
            <a:r>
              <a:rPr lang="en-US" altLang="en-US" sz="1800" dirty="0"/>
              <a:t>Some data may not be accessible, but the rest is still consistent/accurate. </a:t>
            </a:r>
          </a:p>
          <a:p>
            <a:pPr lvl="1"/>
            <a:r>
              <a:rPr lang="en-US" altLang="en-US" sz="1800" b="1" dirty="0" err="1">
                <a:solidFill>
                  <a:srgbClr val="7030A0"/>
                </a:solidFill>
              </a:rPr>
              <a:t>MongoDB,Redis</a:t>
            </a:r>
            <a:endParaRPr lang="en-US" altLang="en-US" sz="1800" b="1" dirty="0">
              <a:solidFill>
                <a:srgbClr val="7030A0"/>
              </a:solidFill>
            </a:endParaRPr>
          </a:p>
          <a:p>
            <a:r>
              <a:rPr lang="en-US" altLang="en-US" sz="1800" b="1" dirty="0">
                <a:solidFill>
                  <a:srgbClr val="C00000"/>
                </a:solidFill>
              </a:rPr>
              <a:t>AP</a:t>
            </a:r>
            <a:r>
              <a:rPr lang="en-US" altLang="en-US" sz="1800" b="1" dirty="0"/>
              <a:t> </a:t>
            </a:r>
          </a:p>
          <a:p>
            <a:pPr lvl="1"/>
            <a:r>
              <a:rPr lang="en-US" altLang="en-US" sz="1800" dirty="0"/>
              <a:t>System is still available under partitioning, </a:t>
            </a:r>
          </a:p>
          <a:p>
            <a:pPr lvl="1"/>
            <a:r>
              <a:rPr lang="en-US" altLang="en-US" sz="1800" dirty="0"/>
              <a:t>Some of the data returned may be inaccurate. </a:t>
            </a:r>
          </a:p>
          <a:p>
            <a:pPr lvl="1"/>
            <a:r>
              <a:rPr lang="en-US" altLang="en-US" sz="1800" b="1" dirty="0">
                <a:solidFill>
                  <a:srgbClr val="00B050"/>
                </a:solidFill>
              </a:rPr>
              <a:t> </a:t>
            </a:r>
            <a:r>
              <a:rPr lang="en-US" altLang="en-US" sz="1800" b="1" dirty="0" err="1">
                <a:solidFill>
                  <a:srgbClr val="00B050"/>
                </a:solidFill>
                <a:cs typeface="+mn-cs"/>
              </a:rPr>
              <a:t>Casandra,couchDB</a:t>
            </a:r>
            <a:endParaRPr lang="en-US" altLang="en-US" sz="1800" b="1" dirty="0">
              <a:solidFill>
                <a:srgbClr val="00B050"/>
              </a:solidFill>
              <a:cs typeface="+mn-cs"/>
            </a:endParaRPr>
          </a:p>
          <a:p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3DBC664-DE77-D9D1-0C3F-6FEDFBD9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NoSQL Pros and Cons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29DED3EB-3813-28F7-CA63-1EE0B5C89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/>
              <a:t>Advantages </a:t>
            </a:r>
            <a:r>
              <a:rPr lang="en-US" altLang="en-US" sz="2000" dirty="0"/>
              <a:t>:</a:t>
            </a:r>
          </a:p>
          <a:p>
            <a:pPr lvl="1"/>
            <a:r>
              <a:rPr lang="en-US" altLang="en-US" sz="2000" dirty="0"/>
              <a:t>High scalability</a:t>
            </a:r>
          </a:p>
          <a:p>
            <a:pPr lvl="1"/>
            <a:r>
              <a:rPr lang="en-US" altLang="en-US" sz="2000" dirty="0"/>
              <a:t>Distributed Computing</a:t>
            </a:r>
          </a:p>
          <a:p>
            <a:pPr lvl="1"/>
            <a:r>
              <a:rPr lang="en-US" altLang="en-US" sz="2000" dirty="0"/>
              <a:t>Lower cost</a:t>
            </a:r>
          </a:p>
          <a:p>
            <a:pPr lvl="1"/>
            <a:r>
              <a:rPr lang="en-US" altLang="en-US" sz="2000" dirty="0"/>
              <a:t>Schema flexibility, semi-structure data</a:t>
            </a:r>
          </a:p>
          <a:p>
            <a:pPr lvl="1"/>
            <a:r>
              <a:rPr lang="en-US" altLang="en-US" sz="2000" dirty="0"/>
              <a:t>No complicated Relationships</a:t>
            </a:r>
          </a:p>
          <a:p>
            <a:r>
              <a:rPr lang="en-US" altLang="en-US" sz="2000" b="1" dirty="0"/>
              <a:t>Disadvantages</a:t>
            </a:r>
            <a:endParaRPr lang="en-US" altLang="en-US" sz="2000" dirty="0"/>
          </a:p>
          <a:p>
            <a:pPr lvl="1"/>
            <a:r>
              <a:rPr lang="en-US" altLang="en-US" sz="2000" dirty="0"/>
              <a:t>No standardization</a:t>
            </a:r>
          </a:p>
          <a:p>
            <a:pPr lvl="1"/>
            <a:r>
              <a:rPr lang="en-US" altLang="en-US" sz="2000" dirty="0"/>
              <a:t>Eventual consistent is not intuitive to program 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3">
            <a:extLst>
              <a:ext uri="{FF2B5EF4-FFF2-40B4-BE49-F238E27FC236}">
                <a16:creationId xmlns:a16="http://schemas.microsoft.com/office/drawing/2014/main" id="{EC7800EC-0A77-02FB-68DF-9E44487B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MongoDB</a:t>
            </a:r>
          </a:p>
        </p:txBody>
      </p:sp>
      <p:sp>
        <p:nvSpPr>
          <p:cNvPr id="26627" name="Content Placeholder 4">
            <a:extLst>
              <a:ext uri="{FF2B5EF4-FFF2-40B4-BE49-F238E27FC236}">
                <a16:creationId xmlns:a16="http://schemas.microsoft.com/office/drawing/2014/main" id="{4CFE7E43-DD93-6833-5EF2-C99F2662F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document-oriented NoSQL database that stores JSON-like documents</a:t>
            </a:r>
          </a:p>
          <a:p>
            <a:pPr lvl="1"/>
            <a:r>
              <a:rPr lang="en-US" altLang="en-US" sz="2000"/>
              <a:t>Commonly used for high volume data storage.</a:t>
            </a:r>
          </a:p>
          <a:p>
            <a:endParaRPr lang="en-US" altLang="en-US"/>
          </a:p>
          <a:p>
            <a:r>
              <a:rPr lang="en-US" altLang="en-US"/>
              <a:t>Each document has a different number of fields, size, content</a:t>
            </a:r>
          </a:p>
          <a:p>
            <a:endParaRPr lang="en-US" altLang="en-US"/>
          </a:p>
          <a:p>
            <a:r>
              <a:rPr lang="en-US" altLang="en-US"/>
              <a:t>Documents doesn’t need to have a schema defined beforehand. </a:t>
            </a:r>
          </a:p>
          <a:p>
            <a:pPr lvl="1"/>
            <a:r>
              <a:rPr lang="en-US" altLang="en-US" sz="2000"/>
              <a:t>The fields (i.e. </a:t>
            </a:r>
            <a:r>
              <a:rPr lang="en-US" altLang="en-US" sz="2000" i="1"/>
              <a:t>records</a:t>
            </a:r>
            <a:r>
              <a:rPr lang="en-US" altLang="en-US" sz="2000"/>
              <a:t>) can be created on the go</a:t>
            </a:r>
          </a:p>
          <a:p>
            <a:endParaRPr lang="en-US" altLang="en-US"/>
          </a:p>
          <a:p>
            <a:r>
              <a:rPr lang="en-US" altLang="en-US"/>
              <a:t>Data model allows to represent the hierarchical relationships, store arrays, and other more complex structures easily</a:t>
            </a:r>
          </a:p>
          <a:p>
            <a:endParaRPr lang="en-US" altLang="en-US"/>
          </a:p>
          <a:p>
            <a:endParaRPr lang="en-US" altLang="en-US"/>
          </a:p>
          <a:p>
            <a:pPr lvl="1"/>
            <a:endParaRPr lang="en-US" altLang="en-US" sz="2000"/>
          </a:p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3B069D6E-F50C-C659-FC68-E18A8A16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MongoDB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D17CFE73-7F4E-AEE7-65BF-6C2200EC4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MongoDB stores the data in the form of a document. </a:t>
            </a:r>
          </a:p>
          <a:p>
            <a:endParaRPr lang="en-US" altLang="en-US"/>
          </a:p>
          <a:p>
            <a:r>
              <a:rPr lang="en-US" altLang="en-US"/>
              <a:t>Supports search by field-name, range queries, and regular expressions. </a:t>
            </a:r>
          </a:p>
          <a:p>
            <a:endParaRPr lang="en-US" altLang="en-US"/>
          </a:p>
          <a:p>
            <a:r>
              <a:rPr lang="en-US" altLang="en-US"/>
              <a:t>Offers </a:t>
            </a:r>
            <a:r>
              <a:rPr lang="en-US" altLang="en-US" i="1"/>
              <a:t>indexes</a:t>
            </a:r>
            <a:r>
              <a:rPr lang="en-US" altLang="en-US"/>
              <a:t> to improve the </a:t>
            </a:r>
            <a:r>
              <a:rPr lang="en-US" altLang="en-US" i="1"/>
              <a:t>search performance</a:t>
            </a:r>
            <a:r>
              <a:rPr lang="en-US" altLang="en-US"/>
              <a:t> within the NoSQL database</a:t>
            </a:r>
          </a:p>
          <a:p>
            <a:endParaRPr lang="en-US" altLang="en-US"/>
          </a:p>
          <a:p>
            <a:r>
              <a:rPr lang="en-US" altLang="en-US"/>
              <a:t>No need to create schema </a:t>
            </a:r>
          </a:p>
          <a:p>
            <a:pPr lvl="1"/>
            <a:r>
              <a:rPr lang="en-US" altLang="en-US" sz="2000"/>
              <a:t>Adding additional attributes or changing data types much easier than in a relational database. </a:t>
            </a:r>
          </a:p>
          <a:p>
            <a:endParaRPr lang="en-US" altLang="en-US"/>
          </a:p>
          <a:p>
            <a:r>
              <a:rPr lang="en-US" altLang="en-US"/>
              <a:t>For Very large database, provides excellent scalability and performance.</a:t>
            </a:r>
          </a:p>
          <a:p>
            <a:pPr>
              <a:buFont typeface="Times New Roman" panose="02020603050405020304" pitchFamily="18" charset="0"/>
              <a:buNone/>
            </a:pP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D792653E-B226-9CB0-76DE-63FFBC18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Model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AC5BD377-E32C-370E-E5C8-57EEE0696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Document-Based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Documents consists field-value pairs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document is stored in a collection</a:t>
            </a: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Collections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1800" dirty="0"/>
              <a:t>Objects are Combined into one document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1800" dirty="0"/>
              <a:t>No need for joins.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1800" dirty="0"/>
              <a:t>Joins are created while write, not on read.</a:t>
            </a:r>
          </a:p>
          <a:p>
            <a:pPr marL="457200" lvl="1" indent="0" fontAlgn="auto">
              <a:spcAft>
                <a:spcPts val="0"/>
              </a:spcAft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849A39DE-9C21-7DB7-2B11-29F100C5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MongoDB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552587A2-6F76-EF12-918D-C96892740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Database</a:t>
            </a:r>
            <a:r>
              <a:rPr lang="en-US" altLang="en-US"/>
              <a:t>: </a:t>
            </a:r>
          </a:p>
          <a:p>
            <a:pPr lvl="1"/>
            <a:r>
              <a:rPr lang="en-US" altLang="en-US" sz="2000"/>
              <a:t>It is a container for collections </a:t>
            </a:r>
          </a:p>
          <a:p>
            <a:pPr lvl="1"/>
            <a:r>
              <a:rPr lang="en-US" altLang="en-US" sz="2000"/>
              <a:t>RDBMS database, is a container for Tables.</a:t>
            </a:r>
          </a:p>
          <a:p>
            <a:r>
              <a:rPr lang="en-US" altLang="en-US" b="1"/>
              <a:t>Collection</a:t>
            </a:r>
            <a:r>
              <a:rPr lang="en-US" altLang="en-US"/>
              <a:t>: </a:t>
            </a:r>
          </a:p>
          <a:p>
            <a:pPr lvl="1"/>
            <a:r>
              <a:rPr lang="en-US" altLang="en-US" sz="2000"/>
              <a:t>It is equivalent to Tables in RDBMS, </a:t>
            </a:r>
          </a:p>
          <a:p>
            <a:pPr lvl="1"/>
            <a:r>
              <a:rPr lang="en-US" altLang="en-US" sz="2000"/>
              <a:t>A collection has a dynamic schema. </a:t>
            </a:r>
          </a:p>
          <a:p>
            <a:pPr lvl="1"/>
            <a:r>
              <a:rPr lang="en-US" altLang="en-US" sz="2000"/>
              <a:t>A collection exists within a database.</a:t>
            </a:r>
          </a:p>
          <a:p>
            <a:r>
              <a:rPr lang="en-US" altLang="en-US" b="1"/>
              <a:t>Document</a:t>
            </a:r>
            <a:r>
              <a:rPr lang="en-US" altLang="en-US"/>
              <a:t>: </a:t>
            </a:r>
          </a:p>
          <a:p>
            <a:pPr lvl="1"/>
            <a:r>
              <a:rPr lang="en-US" altLang="en-US" sz="2000"/>
              <a:t>It is a single record in a MongoDB collection. </a:t>
            </a:r>
          </a:p>
          <a:p>
            <a:pPr lvl="1"/>
            <a:r>
              <a:rPr lang="en-US" altLang="en-US" sz="2000"/>
              <a:t>It can be thought of as a row in RDBMS.</a:t>
            </a:r>
          </a:p>
          <a:p>
            <a:r>
              <a:rPr lang="en-US" altLang="en-US" b="1"/>
              <a:t>Field</a:t>
            </a:r>
            <a:r>
              <a:rPr lang="en-US" altLang="en-US"/>
              <a:t>: </a:t>
            </a:r>
          </a:p>
          <a:p>
            <a:pPr lvl="1"/>
            <a:r>
              <a:rPr lang="en-US" altLang="en-US" sz="2000"/>
              <a:t>A document has zero or more fields. </a:t>
            </a:r>
          </a:p>
          <a:p>
            <a:pPr lvl="1"/>
            <a:r>
              <a:rPr lang="en-US" altLang="en-US" sz="2000"/>
              <a:t>It's like an RDBMS column having a key-value pair.m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8764-23D1-3318-0AEC-2EEE6FDE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MongoDB Atlas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DC00B-27EF-FE6E-FBC7-4A2CAB6D4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modern multi-cloud database.</a:t>
            </a:r>
          </a:p>
          <a:p>
            <a:r>
              <a:rPr lang="en-IN" dirty="0"/>
              <a:t>Combines the flexible document model with a suite of data services </a:t>
            </a:r>
          </a:p>
          <a:p>
            <a:r>
              <a:rPr lang="en-IN" dirty="0"/>
              <a:t>Versatile cloud database that simplifies every task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Handles complex database operations -setup, scaling, patching, backups automatically.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Provides built-in security features, including encryption and access controls.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 Supports various programming languages and tools, 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Offers free, flexible (pay-as-you-go), and dedicated tiers to suit different needs.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571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7BC7-32ED-93F4-E9E6-1FE6FEFB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57E96-4668-E20B-2A38-1E30BB64B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Create a MongoDB Cloud Account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Sign up for a free account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Follow the Intuitive Registration Process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Create an organization and a project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https://www.mongodb.com/cloud/atlas/register</a:t>
            </a:r>
            <a:endParaRPr lang="en-IN" sz="20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IN" sz="2000" dirty="0"/>
              <a:t>Deploy a free tier (M0) cluster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Choosing preferred cloud provider and region.</a:t>
            </a:r>
          </a:p>
          <a:p>
            <a:pPr marL="0" indent="0">
              <a:buNone/>
            </a:pPr>
            <a:br>
              <a:rPr lang="en-IN" dirty="0"/>
            </a:b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47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F33B-D819-0460-5AC6-311517EB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E9E2F-4FB7-8383-6B4B-F7F466F0A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IN" sz="1800" dirty="0"/>
              <a:t>Use the Atlas management console and </a:t>
            </a:r>
            <a:r>
              <a:rPr lang="en-IN" sz="1800" b="1" dirty="0"/>
              <a:t>Create</a:t>
            </a:r>
            <a:r>
              <a:rPr lang="en-IN" sz="1800" dirty="0"/>
              <a:t>  a new cluster.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Choose M0 sandbox tier perfect for learning and small projects.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Choose Cloud provider -AWS, Google Cloud, or Azure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Select the region closest to physical location.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Set up a database username and password. 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Manage IP Access List Add Your Current IP Address  allow access from anywhere (for learning purposes only). 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To  Connect application select your preferred programming language driver ,Atlas provides a connection string to use 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Replace &lt;username&gt; and &lt;password&gt; with user credentials. </a:t>
            </a:r>
          </a:p>
          <a:p>
            <a:pPr lvl="1">
              <a:lnSpc>
                <a:spcPct val="150000"/>
              </a:lnSpc>
            </a:pPr>
            <a:endParaRPr lang="en-IN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042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871012F8-A9F1-E6ED-06AD-267FFAE3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_id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CB70-0F83-E253-0BB9-3537C9131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default, each document contains an _id field. </a:t>
            </a:r>
          </a:p>
          <a:p>
            <a:pPr fontAlgn="auto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field has a number of special characteristics:</a:t>
            </a:r>
          </a:p>
          <a:p>
            <a:pPr lvl="1" fontAlgn="auto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serves as primary key for collection.</a:t>
            </a:r>
          </a:p>
          <a:p>
            <a:pPr lvl="1" fontAlgn="auto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is unique, immutable, and may be any non-array type.</a:t>
            </a:r>
          </a:p>
          <a:p>
            <a:pPr lvl="1" fontAlgn="auto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Default data type is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ObjectId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</a:p>
          <a:p>
            <a:pPr lvl="1" fontAlgn="auto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Its auto generated  at the time of document creation </a:t>
            </a:r>
          </a:p>
          <a:p>
            <a:pPr lvl="1" fontAlgn="auto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The complex combination of </a:t>
            </a:r>
            <a:r>
              <a:rPr lang="en-US" sz="2000" dirty="0" err="1"/>
              <a:t>ObjectId</a:t>
            </a:r>
            <a:r>
              <a:rPr lang="en-US" sz="2000" dirty="0"/>
              <a:t> makes all the _id fields unique.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F685A827-6F28-9B82-1B6D-9E55FEC68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Setting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30974-A62E-86C5-DD69-07DD08EB8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use DATABASE_NAME </a:t>
            </a:r>
          </a:p>
          <a:p>
            <a:pPr lvl="1">
              <a:defRPr/>
            </a:pPr>
            <a:r>
              <a:rPr lang="en-US" sz="1800" dirty="0">
                <a:cs typeface="+mn-cs"/>
              </a:rPr>
              <a:t>Creates a  database  if it does not exist. </a:t>
            </a:r>
          </a:p>
          <a:p>
            <a:pPr lvl="1">
              <a:defRPr/>
            </a:pPr>
            <a:r>
              <a:rPr lang="en-US" sz="1800" dirty="0">
                <a:cs typeface="+mn-cs"/>
              </a:rPr>
              <a:t>Else will return the existing database.</a:t>
            </a: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db</a:t>
            </a:r>
          </a:p>
          <a:p>
            <a:pPr lvl="1">
              <a:defRPr/>
            </a:pPr>
            <a:r>
              <a:rPr lang="en-US" sz="2000" dirty="0">
                <a:cs typeface="+mn-cs"/>
              </a:rPr>
              <a:t>To display current database, </a:t>
            </a:r>
          </a:p>
          <a:p>
            <a:pPr lvl="1">
              <a:defRPr/>
            </a:pPr>
            <a:r>
              <a:rPr lang="en-US" sz="2000" dirty="0">
                <a:cs typeface="+mn-cs"/>
              </a:rPr>
              <a:t>db’s are not actually created until data is inserted</a:t>
            </a: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show </a:t>
            </a:r>
            <a:r>
              <a:rPr lang="en-US" b="1" dirty="0" err="1">
                <a:solidFill>
                  <a:srgbClr val="FF0000"/>
                </a:solidFill>
              </a:rPr>
              <a:t>dbs</a:t>
            </a:r>
            <a:endParaRPr lang="en-US" b="1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sz="1800" dirty="0">
                <a:cs typeface="+mn-cs"/>
              </a:rPr>
              <a:t>Show the list databases</a:t>
            </a:r>
          </a:p>
          <a:p>
            <a:pPr marL="342900" lvl="1" indent="-342900">
              <a:spcBef>
                <a:spcPts val="500"/>
              </a:spcBef>
              <a:buFont typeface="Times New Roman" panose="02020603050405020304" pitchFamily="18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cs typeface="+mn-cs"/>
              </a:rPr>
              <a:t> show collections</a:t>
            </a:r>
          </a:p>
          <a:p>
            <a:pPr marL="400050" lvl="1" indent="0" fontAlgn="auto">
              <a:spcAft>
                <a:spcPts val="0"/>
              </a:spcAft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 all the collections that  exist in a db	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24A35E16-FD6D-CEE6-2ADF-BE142893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E631-0C7B-1EC3-FB1F-1E1802572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US" dirty="0"/>
              <a:t>To insert documents into a collection/make a new collection:</a:t>
            </a:r>
          </a:p>
          <a:p>
            <a:pPr marL="0" indent="0">
              <a:buFontTx/>
              <a:buNone/>
              <a:defRPr/>
            </a:pPr>
            <a:endParaRPr lang="en-US" dirty="0"/>
          </a:p>
          <a:p>
            <a:pPr marL="0" indent="0">
              <a:defRPr/>
            </a:pPr>
            <a:r>
              <a:rPr lang="en-US" dirty="0"/>
              <a:t>Insert one document</a:t>
            </a:r>
          </a:p>
          <a:p>
            <a:pPr marL="400050" lvl="1" indent="0">
              <a:defRPr/>
            </a:pPr>
            <a:r>
              <a:rPr lang="en-US" sz="2400" dirty="0"/>
              <a:t>db.&lt;collection&gt;.insert({&lt;field&gt;:&lt;value&gt;})</a:t>
            </a:r>
          </a:p>
          <a:p>
            <a:pPr marL="400050" lvl="1" indent="0">
              <a:defRPr/>
            </a:pPr>
            <a:r>
              <a:rPr lang="en-US" sz="2400" dirty="0" err="1"/>
              <a:t>db.users.insert</a:t>
            </a:r>
            <a:r>
              <a:rPr lang="en-US" sz="2400" dirty="0"/>
              <a:t>({"name":"</a:t>
            </a:r>
            <a:r>
              <a:rPr lang="en-US" sz="2400" dirty="0" err="1"/>
              <a:t>ramesh“,”password</a:t>
            </a:r>
            <a:r>
              <a:rPr lang="en-US" sz="2400" dirty="0"/>
              <a:t>”:”</a:t>
            </a:r>
            <a:r>
              <a:rPr lang="en-US" sz="2400" dirty="0" err="1"/>
              <a:t>india</a:t>
            </a:r>
            <a:r>
              <a:rPr lang="en-US" sz="2400" dirty="0"/>
              <a:t>”})</a:t>
            </a:r>
          </a:p>
          <a:p>
            <a:pPr marL="0" indent="0">
              <a:buFontTx/>
              <a:buNone/>
              <a:defRPr/>
            </a:pPr>
            <a:endParaRPr lang="en-US" dirty="0"/>
          </a:p>
          <a:p>
            <a:pPr marL="0" indent="0">
              <a:defRPr/>
            </a:pPr>
            <a:r>
              <a:rPr lang="en-US" dirty="0"/>
              <a:t>Multiple documents are created using  an array.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85FCC3A4-5285-D5D1-0469-80733A91C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CADF2-A478-9FFC-3EAD-55A4470C4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Done on collections.</a:t>
            </a:r>
          </a:p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 all docs: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db.&lt;collection&gt;.find()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Returns a cursor, which is iterated over shell to display first 20 results.</a:t>
            </a:r>
          </a:p>
          <a:p>
            <a:pPr lvl="1" fontAlgn="auto">
              <a:spcAft>
                <a:spcPts val="0"/>
              </a:spcAft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Get one doc: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db.&lt;collection&gt;.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findOne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6399BE3C-2382-641B-175C-E4B88B19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Query: AND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9F6A0-FF38-2B28-DA04-E029A5D73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 fontAlgn="auto">
              <a:spcAft>
                <a:spcPts val="0"/>
              </a:spcAft>
              <a:defRPr/>
            </a:pPr>
            <a:r>
              <a:rPr lang="en-US" sz="2000" b="1" dirty="0"/>
              <a:t>$and</a:t>
            </a:r>
            <a:r>
              <a:rPr lang="en-US" sz="2000" dirty="0"/>
              <a:t> </a:t>
            </a:r>
          </a:p>
          <a:p>
            <a:pPr marL="400050" lvl="1" indent="0" fontAlgn="auto">
              <a:spcAft>
                <a:spcPts val="0"/>
              </a:spcAft>
              <a:buFontTx/>
              <a:buNone/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00050" lvl="1" indent="0" fontAlgn="auto">
              <a:spcAft>
                <a:spcPts val="0"/>
              </a:spcAft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To match a specific value: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condition</a:t>
            </a:r>
          </a:p>
          <a:p>
            <a:pPr lvl="1">
              <a:defRPr/>
            </a:pPr>
            <a:r>
              <a:rPr lang="en-US" sz="2000" dirty="0"/>
              <a:t>Done by passing multiple keys separated with ',' </a:t>
            </a:r>
          </a:p>
          <a:p>
            <a:pPr lvl="1"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2" indent="0" fontAlgn="auto">
              <a:spcAft>
                <a:spcPts val="0"/>
              </a:spcAft>
              <a:buFontTx/>
              <a:buNone/>
              <a:defRPr/>
            </a:pPr>
            <a:r>
              <a:rPr lang="en-US" sz="2000" dirty="0" err="1"/>
              <a:t>db.mycol.find</a:t>
            </a:r>
            <a:r>
              <a:rPr lang="en-US" sz="2000" dirty="0"/>
              <a:t>( { $and: [ {key1: value1}, {key2:value2} ] } )</a:t>
            </a:r>
          </a:p>
          <a:p>
            <a:pPr marL="800100" lvl="2" indent="0" fontAlgn="auto">
              <a:spcAft>
                <a:spcPts val="0"/>
              </a:spcAft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b="1" dirty="0"/>
              <a:t>$or</a:t>
            </a:r>
            <a:r>
              <a:rPr lang="en-US" sz="2000" dirty="0"/>
              <a:t> </a:t>
            </a:r>
          </a:p>
          <a:p>
            <a:pPr lvl="1">
              <a:defRPr/>
            </a:pPr>
            <a:endParaRPr lang="en-US" sz="2000" dirty="0"/>
          </a:p>
          <a:p>
            <a:pPr lvl="1">
              <a:buFontTx/>
              <a:buNone/>
              <a:defRPr/>
            </a:pPr>
            <a:r>
              <a:rPr lang="en-US" sz="2000" dirty="0"/>
              <a:t> </a:t>
            </a:r>
            <a:r>
              <a:rPr lang="en-US" sz="2000" dirty="0" err="1"/>
              <a:t>db.mycol.find</a:t>
            </a:r>
            <a:r>
              <a:rPr lang="en-US" sz="2000" dirty="0"/>
              <a:t>( { $or: [ {key1: value1}, {key2:value2} ] } )</a:t>
            </a:r>
          </a:p>
          <a:p>
            <a:pPr marL="800100" lvl="2" indent="0" fontAlgn="auto">
              <a:spcAft>
                <a:spcPts val="0"/>
              </a:spcAft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2" indent="0" fontAlgn="auto">
              <a:spcAft>
                <a:spcPts val="0"/>
              </a:spcAft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2" indent="0" fontAlgn="auto">
              <a:spcAft>
                <a:spcPts val="0"/>
              </a:spcAft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38979C6E-E8A5-E684-6856-0E9401CB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Updating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FEBD2539-0FA1-4F69-6C54-6F9052EC2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method updates the values in the existing document.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db.COLLECTION_NAME.update(SELECTION_CRITERIA, UPDATED_DATA) </a:t>
            </a:r>
            <a:br>
              <a:rPr lang="en-US" altLang="en-US"/>
            </a:br>
            <a:endParaRPr lang="en-US" altLang="en-US"/>
          </a:p>
          <a:p>
            <a:endParaRPr lang="en-US" altLang="en-US"/>
          </a:p>
          <a:p>
            <a:r>
              <a:rPr lang="en-US" altLang="en-US"/>
              <a:t>db.mycol.update({‘name':‘Ramesh'},{$set:{‘name':‘Suresh'}}) </a:t>
            </a: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278997A3-180E-886E-0262-19E80B12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Deleting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5DE800E2-0939-363B-2182-FBC3C228B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remove()</a:t>
            </a:r>
            <a:r>
              <a:rPr lang="en-US" altLang="en-US"/>
              <a:t> </a:t>
            </a:r>
          </a:p>
          <a:p>
            <a:pPr lvl="1"/>
            <a:r>
              <a:rPr lang="en-US" altLang="en-US" sz="2000"/>
              <a:t>To remove a document from the collection</a:t>
            </a:r>
          </a:p>
          <a:p>
            <a:pPr lvl="1"/>
            <a:r>
              <a:rPr lang="en-US" altLang="en-US" sz="2000"/>
              <a:t>Accepts two parameters.</a:t>
            </a:r>
          </a:p>
          <a:p>
            <a:pPr lvl="1"/>
            <a:r>
              <a:rPr lang="en-US" altLang="en-US" sz="2000"/>
              <a:t> One is deletion criteria and second is justOne flag.</a:t>
            </a:r>
          </a:p>
          <a:p>
            <a:endParaRPr lang="en-US" altLang="en-US" b="1"/>
          </a:p>
          <a:p>
            <a:r>
              <a:rPr lang="en-US" altLang="en-US" b="1"/>
              <a:t>deletion criteria</a:t>
            </a:r>
          </a:p>
          <a:p>
            <a:pPr lvl="1"/>
            <a:r>
              <a:rPr lang="en-US" altLang="en-US" sz="2000"/>
              <a:t>deletion criteria according to documents will be removed.</a:t>
            </a:r>
          </a:p>
          <a:p>
            <a:endParaRPr lang="en-US" altLang="en-US" b="1"/>
          </a:p>
          <a:p>
            <a:r>
              <a:rPr lang="en-US" altLang="en-US"/>
              <a:t>db.mycol.remove({‘name':’Ramesh’})</a:t>
            </a:r>
          </a:p>
          <a:p>
            <a:endParaRPr lang="en-US" altLang="en-US"/>
          </a:p>
          <a:p>
            <a:r>
              <a:rPr lang="en-US" altLang="en-US"/>
              <a:t>db.mycol.remove()</a:t>
            </a:r>
          </a:p>
        </p:txBody>
      </p:sp>
    </p:spTree>
    <p:extLst>
      <p:ext uri="{BB962C8B-B14F-4D97-AF65-F5344CB8AC3E}">
        <p14:creationId xmlns:p14="http://schemas.microsoft.com/office/powerpoint/2010/main" val="2437410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F3EF-E3D9-0A1B-874B-828BAE50A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671AB-F2C7-DA82-3FA4-3BA1451A0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Greater than</a:t>
            </a:r>
            <a:r>
              <a:rPr lang="en-IN" dirty="0"/>
              <a:t>: { "amount": { "$</a:t>
            </a:r>
            <a:r>
              <a:rPr lang="en-IN" dirty="0" err="1"/>
              <a:t>gt</a:t>
            </a:r>
            <a:r>
              <a:rPr lang="en-IN" dirty="0"/>
              <a:t>": 4500 } }</a:t>
            </a:r>
          </a:p>
          <a:p>
            <a:pPr>
              <a:lnSpc>
                <a:spcPct val="150000"/>
              </a:lnSpc>
            </a:pPr>
            <a:r>
              <a:rPr lang="en-IN" b="1" dirty="0"/>
              <a:t>Less than or equal to</a:t>
            </a:r>
            <a:r>
              <a:rPr lang="en-IN" dirty="0"/>
              <a:t>: { "amount": { "$</a:t>
            </a:r>
            <a:r>
              <a:rPr lang="en-IN" dirty="0" err="1"/>
              <a:t>lte</a:t>
            </a:r>
            <a:r>
              <a:rPr lang="en-IN" dirty="0"/>
              <a:t>": 4500 } }</a:t>
            </a:r>
          </a:p>
          <a:p>
            <a:pPr>
              <a:lnSpc>
                <a:spcPct val="150000"/>
              </a:lnSpc>
            </a:pPr>
            <a:r>
              <a:rPr lang="en-IN" b="1" dirty="0"/>
              <a:t>Between two values</a:t>
            </a:r>
            <a:r>
              <a:rPr lang="en-IN" dirty="0"/>
              <a:t>: { "amount": { "$</a:t>
            </a:r>
            <a:r>
              <a:rPr lang="en-IN" dirty="0" err="1"/>
              <a:t>gte</a:t>
            </a:r>
            <a:r>
              <a:rPr lang="en-IN" dirty="0"/>
              <a:t>": 4000, "$</a:t>
            </a:r>
            <a:r>
              <a:rPr lang="en-IN" dirty="0" err="1"/>
              <a:t>lte</a:t>
            </a:r>
            <a:r>
              <a:rPr lang="en-IN" dirty="0"/>
              <a:t>": 5000 } } 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36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DCBEE-58CE-A218-6DAA-7D15C982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BDAF-1680-6646-337B-90966EA59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Aggregation is </a:t>
            </a:r>
            <a:r>
              <a:rPr lang="en-IN" dirty="0"/>
              <a:t> processing a large number of documents in a collection by means of passing them through different stages. </a:t>
            </a:r>
          </a:p>
          <a:p>
            <a:endParaRPr lang="en-IN" dirty="0"/>
          </a:p>
          <a:p>
            <a:r>
              <a:rPr lang="en-IN" dirty="0"/>
              <a:t>The stages make up what is known as a pipeline. </a:t>
            </a:r>
          </a:p>
          <a:p>
            <a:endParaRPr lang="en-IN" dirty="0"/>
          </a:p>
          <a:p>
            <a:r>
              <a:rPr lang="en-IN" dirty="0"/>
              <a:t>The stages in a pipeline can filter, sort, group, reshape and modify documents that pass through the pipeline.</a:t>
            </a:r>
          </a:p>
          <a:p>
            <a:endParaRPr lang="en-IN" dirty="0"/>
          </a:p>
          <a:p>
            <a:r>
              <a:rPr lang="en-IN" dirty="0"/>
              <a:t>Similar to the basic aggregation available in SQL with the GROUP BY clause and COUNT, SUM and AVG functions. </a:t>
            </a:r>
          </a:p>
          <a:p>
            <a:endParaRPr lang="en-IN" dirty="0"/>
          </a:p>
          <a:p>
            <a:endParaRPr lang="en-IN" dirty="0"/>
          </a:p>
          <a:p>
            <a:br>
              <a:rPr lang="en-IN" dirty="0"/>
            </a:br>
            <a:endParaRPr lang="en-US" dirty="0"/>
          </a:p>
        </p:txBody>
      </p:sp>
      <p:pic>
        <p:nvPicPr>
          <p:cNvPr id="4" name="Content Placeholder 3" descr="The user sees a typical MongoDB aggregation Pipeline. Stage 1: Input. Stage 2: Match. Stage 3: Group . Stage 4: Sort. Stage 5: Output">
            <a:extLst>
              <a:ext uri="{FF2B5EF4-FFF2-40B4-BE49-F238E27FC236}">
                <a16:creationId xmlns:a16="http://schemas.microsoft.com/office/drawing/2014/main" id="{B4B7D495-1145-0420-4291-5E5E320C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5206" y="4678112"/>
            <a:ext cx="45720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6426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9193B-AD58-571F-F48C-28E10B65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76-87D5-B012-74F2-8F8ABE484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Can Have Multiple Stage</a:t>
            </a:r>
          </a:p>
          <a:p>
            <a:r>
              <a:rPr lang="en-IN" sz="1800" b="1" dirty="0"/>
              <a:t>$match stage </a:t>
            </a:r>
          </a:p>
          <a:p>
            <a:pPr lvl="1"/>
            <a:r>
              <a:rPr lang="en-IN" sz="1800" dirty="0"/>
              <a:t>Filters those documents we need to work with, those that fit our needs</a:t>
            </a:r>
          </a:p>
          <a:p>
            <a:r>
              <a:rPr lang="en-IN" sz="1800" b="1" dirty="0"/>
              <a:t>$group stage </a:t>
            </a:r>
          </a:p>
          <a:p>
            <a:pPr lvl="1"/>
            <a:r>
              <a:rPr lang="en-IN" sz="1800" dirty="0"/>
              <a:t>Does the aggregation job</a:t>
            </a:r>
          </a:p>
          <a:p>
            <a:r>
              <a:rPr lang="en-IN" sz="1800" b="1" dirty="0"/>
              <a:t>$sort  stage </a:t>
            </a:r>
          </a:p>
          <a:p>
            <a:pPr lvl="1"/>
            <a:r>
              <a:rPr lang="en-IN" sz="1800" dirty="0"/>
              <a:t>sorts the resulting documents the way we require (ascending or descending)</a:t>
            </a:r>
          </a:p>
          <a:p>
            <a:endParaRPr lang="en-IN" sz="1800" dirty="0"/>
          </a:p>
          <a:p>
            <a:r>
              <a:rPr lang="en-IN" sz="1800" dirty="0"/>
              <a:t>The input of the pipeline can be a single collection, where others can be merged later down the pipeline.</a:t>
            </a:r>
          </a:p>
          <a:p>
            <a:endParaRPr lang="en-IN" sz="1800" dirty="0"/>
          </a:p>
          <a:p>
            <a:r>
              <a:rPr lang="en-IN" sz="1800" dirty="0"/>
              <a:t>The pipeline then performs successive transformations on the data until goal is achieved.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9435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E0DB-D394-18E8-2B48-006556C9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D3308-3D54-A3E7-A0BF-3431D900A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db.</a:t>
            </a:r>
            <a:r>
              <a:rPr lang="en-IN" i="1" dirty="0" err="1"/>
              <a:t>collectionName</a:t>
            </a:r>
            <a:r>
              <a:rPr lang="en-IN" dirty="0" err="1"/>
              <a:t>.aggregate</a:t>
            </a:r>
            <a:r>
              <a:rPr lang="en-IN" dirty="0"/>
              <a:t>(</a:t>
            </a:r>
            <a:r>
              <a:rPr lang="en-IN" i="1" dirty="0"/>
              <a:t>pipeline</a:t>
            </a:r>
            <a:r>
              <a:rPr lang="en-IN" dirty="0"/>
              <a:t>, </a:t>
            </a:r>
            <a:r>
              <a:rPr lang="en-IN" i="1" dirty="0"/>
              <a:t>options</a:t>
            </a:r>
            <a:r>
              <a:rPr lang="en-IN" dirty="0"/>
              <a:t>),</a:t>
            </a:r>
          </a:p>
          <a:p>
            <a:endParaRPr lang="en-IN" dirty="0"/>
          </a:p>
          <a:p>
            <a:pPr marL="914400" lvl="2" indent="0">
              <a:buNone/>
            </a:pPr>
            <a:r>
              <a:rPr lang="en-IN" sz="2000" i="1" dirty="0" err="1"/>
              <a:t>collectionName</a:t>
            </a:r>
            <a:r>
              <a:rPr lang="en-IN" sz="2000" dirty="0"/>
              <a:t> – is the name of a collection,</a:t>
            </a:r>
          </a:p>
          <a:p>
            <a:pPr marL="914400" lvl="2" indent="0">
              <a:buNone/>
            </a:pPr>
            <a:r>
              <a:rPr lang="en-IN" sz="2000" i="1" dirty="0"/>
              <a:t>pipeline</a:t>
            </a:r>
            <a:r>
              <a:rPr lang="en-IN" sz="2000" dirty="0"/>
              <a:t> – is an array that contains the aggregation stages,</a:t>
            </a:r>
          </a:p>
          <a:p>
            <a:pPr marL="914400" lvl="2" indent="0">
              <a:buNone/>
            </a:pPr>
            <a:r>
              <a:rPr lang="en-IN" sz="2000" i="1" dirty="0"/>
              <a:t>options</a:t>
            </a:r>
            <a:r>
              <a:rPr lang="en-IN" sz="2000" dirty="0"/>
              <a:t> – optional parameters for the aggregation </a:t>
            </a:r>
          </a:p>
          <a:p>
            <a:pPr marL="457200" lvl="1" indent="0">
              <a:buNone/>
            </a:pPr>
            <a:endParaRPr lang="en-IN" sz="2000" dirty="0"/>
          </a:p>
          <a:p>
            <a:pPr marL="457200" lvl="1" indent="0">
              <a:buNone/>
            </a:pPr>
            <a:r>
              <a:rPr lang="en-IN" sz="2000" dirty="0"/>
              <a:t>pipeline = [</a:t>
            </a:r>
          </a:p>
          <a:p>
            <a:pPr marL="457200" lvl="1" indent="0">
              <a:buNone/>
            </a:pPr>
            <a:r>
              <a:rPr lang="en-IN" sz="2000" dirty="0"/>
              <a:t>        { $match : { … } },</a:t>
            </a:r>
          </a:p>
          <a:p>
            <a:pPr marL="457200" lvl="1" indent="0">
              <a:buNone/>
            </a:pPr>
            <a:r>
              <a:rPr lang="en-IN" sz="2000" dirty="0"/>
              <a:t>        { $group : { … } },</a:t>
            </a:r>
          </a:p>
          <a:p>
            <a:pPr marL="457200" lvl="1" indent="0">
              <a:buNone/>
            </a:pPr>
            <a:r>
              <a:rPr lang="en-IN" sz="2000" dirty="0"/>
              <a:t>        { $sort : { … } }</a:t>
            </a:r>
          </a:p>
          <a:p>
            <a:pPr marL="457200" lvl="1" indent="0">
              <a:buNone/>
            </a:pPr>
            <a:r>
              <a:rPr lang="en-IN" sz="2000" dirty="0"/>
              <a:t>       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460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2205-27FB-CE76-F698-32A8B823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$match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004B-4943-04DB-58FE-5AA2E933C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to choose just those documents from a collection that we want to work with. </a:t>
            </a:r>
          </a:p>
          <a:p>
            <a:endParaRPr lang="en-IN" dirty="0"/>
          </a:p>
          <a:p>
            <a:r>
              <a:rPr lang="en-IN" dirty="0"/>
              <a:t>It filters those that do not follow our requirements.</a:t>
            </a:r>
          </a:p>
          <a:p>
            <a:endParaRPr lang="en-IN" dirty="0"/>
          </a:p>
          <a:p>
            <a:endParaRPr lang="en-I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2000" dirty="0"/>
              <a:t> { $match : { country : India', city : Chennai' } }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sz="2000" dirty="0"/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331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D529-1337-9E80-F3B8-0D0F3637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38BBE-9CF0-3045-13FB-FBE564EDD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there is a need return only fields required to avoid processing more data than is necessary.</a:t>
            </a:r>
          </a:p>
          <a:p>
            <a:endParaRPr lang="en-IN" dirty="0"/>
          </a:p>
          <a:p>
            <a:r>
              <a:rPr lang="en-IN" dirty="0"/>
              <a:t>To can also add any calculated fields </a:t>
            </a:r>
          </a:p>
          <a:p>
            <a:endParaRPr lang="en-IN" dirty="0"/>
          </a:p>
          <a:p>
            <a:r>
              <a:rPr lang="en-IN" dirty="0"/>
              <a:t> _id : 0 when this field is not required. _id:1 when its required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sz="1800" dirty="0" err="1"/>
              <a:t>db.universities.aggregate</a:t>
            </a:r>
            <a:r>
              <a:rPr lang="en-IN" sz="1800" dirty="0"/>
              <a:t>([</a:t>
            </a:r>
          </a:p>
          <a:p>
            <a:pPr marL="457200" lvl="1" indent="0">
              <a:buNone/>
            </a:pPr>
            <a:r>
              <a:rPr lang="en-IN" sz="1800" dirty="0"/>
              <a:t>  { $project : { _id : 0, country : 1, city : 1, name : 1 } }</a:t>
            </a:r>
          </a:p>
          <a:p>
            <a:pPr marL="457200" lvl="1" indent="0">
              <a:buNone/>
            </a:pPr>
            <a:r>
              <a:rPr lang="en-IN" sz="1800" dirty="0"/>
              <a:t>]).pretty()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745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2FACE-2728-7F27-BE54-5F6127EBA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AE731-1FB3-E970-85E1-3E3D4D50E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perform all the aggregation or summary queries that we need, such as finding counts, totals, averages or maximums.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sz="1600" dirty="0"/>
              <a:t>$group:{</a:t>
            </a:r>
          </a:p>
          <a:p>
            <a:pPr marL="457200" lvl="1" indent="0">
              <a:buNone/>
            </a:pPr>
            <a:r>
              <a:rPr lang="en-IN" sz="1600" dirty="0"/>
              <a:t>  _id: "$class",</a:t>
            </a:r>
          </a:p>
          <a:p>
            <a:pPr marL="457200" lvl="1" indent="0">
              <a:buNone/>
            </a:pPr>
            <a:r>
              <a:rPr lang="en-IN" sz="1600" dirty="0"/>
              <a:t>  count: {</a:t>
            </a:r>
          </a:p>
          <a:p>
            <a:pPr marL="457200" lvl="1" indent="0">
              <a:buNone/>
            </a:pPr>
            <a:r>
              <a:rPr lang="en-IN" sz="1600" dirty="0"/>
              <a:t>    $sum: 1</a:t>
            </a:r>
          </a:p>
          <a:p>
            <a:pPr marL="457200" lvl="1" indent="0">
              <a:buNone/>
            </a:pPr>
            <a:r>
              <a:rPr lang="en-IN" sz="1600" dirty="0"/>
              <a:t>  }</a:t>
            </a:r>
          </a:p>
          <a:p>
            <a:pPr marL="457200" lvl="1" indent="0">
              <a:buNone/>
            </a:pPr>
            <a:r>
              <a:rPr lang="en-IN" sz="1600" dirty="0"/>
              <a:t>}</a:t>
            </a:r>
          </a:p>
          <a:p>
            <a:pPr marL="457200" lvl="1" indent="0">
              <a:buNone/>
            </a:pPr>
            <a:r>
              <a:rPr lang="en-US" sz="1600" dirty="0"/>
              <a:t>{</a:t>
            </a:r>
          </a:p>
          <a:p>
            <a:pPr marL="457200" lvl="1" indent="0">
              <a:buNone/>
            </a:pPr>
            <a:r>
              <a:rPr lang="en-US" sz="1600" dirty="0"/>
              <a:t> _id:"$class",</a:t>
            </a:r>
          </a:p>
          <a:p>
            <a:pPr marL="457200" lvl="1" indent="0">
              <a:buNone/>
            </a:pPr>
            <a:r>
              <a:rPr lang="en-US" sz="1600" dirty="0"/>
              <a:t>  </a:t>
            </a:r>
            <a:r>
              <a:rPr lang="en-US" sz="1600" dirty="0" err="1"/>
              <a:t>avgMark</a:t>
            </a:r>
            <a:r>
              <a:rPr lang="en-US" sz="1600" dirty="0"/>
              <a:t>:{</a:t>
            </a:r>
          </a:p>
          <a:p>
            <a:pPr marL="457200" lvl="1" indent="0">
              <a:buNone/>
            </a:pPr>
            <a:r>
              <a:rPr lang="en-US" sz="1600" dirty="0"/>
              <a:t>  $avg:{</a:t>
            </a:r>
          </a:p>
          <a:p>
            <a:pPr marL="457200" lvl="1" indent="0">
              <a:buNone/>
            </a:pPr>
            <a:r>
              <a:rPr lang="en-US" sz="1600" dirty="0"/>
              <a:t>    $</a:t>
            </a:r>
            <a:r>
              <a:rPr lang="en-US" sz="1600" dirty="0" err="1"/>
              <a:t>toDouble</a:t>
            </a:r>
            <a:r>
              <a:rPr lang="en-US" sz="1600" dirty="0"/>
              <a:t>:"$</a:t>
            </a:r>
            <a:r>
              <a:rPr lang="en-US" sz="1600" dirty="0" err="1"/>
              <a:t>markScored</a:t>
            </a:r>
            <a:r>
              <a:rPr lang="en-US" sz="1600" dirty="0"/>
              <a:t>"</a:t>
            </a:r>
          </a:p>
          <a:p>
            <a:pPr marL="457200" lvl="1" indent="0">
              <a:buNone/>
            </a:pPr>
            <a:r>
              <a:rPr lang="en-US" sz="1600" dirty="0"/>
              <a:t>  }</a:t>
            </a:r>
          </a:p>
          <a:p>
            <a:pPr marL="457200" lvl="1" indent="0">
              <a:buNone/>
            </a:pPr>
            <a:r>
              <a:rPr lang="en-US" sz="1600" dirty="0"/>
              <a:t>  }</a:t>
            </a:r>
          </a:p>
          <a:p>
            <a:pPr marL="457200" lvl="1" indent="0">
              <a:buNone/>
            </a:pPr>
            <a:r>
              <a:rPr lang="en-US" sz="1600" dirty="0"/>
              <a:t>}</a:t>
            </a:r>
          </a:p>
          <a:p>
            <a:pPr marL="457200" lvl="1" indent="0">
              <a:buNone/>
            </a:pPr>
            <a:endParaRPr lang="en-IN" sz="2000" dirty="0"/>
          </a:p>
          <a:p>
            <a:pPr marL="457200" lvl="1" indent="0">
              <a:buNone/>
            </a:pPr>
            <a:br>
              <a:rPr lang="en-IN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91352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1D50-4A4F-2346-43B1-DB6B19E1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474230-D977-3BB6-BD58-FA166ABBE0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6968" y="1042987"/>
          <a:ext cx="6848476" cy="5029200"/>
        </p:xfrm>
        <a:graphic>
          <a:graphicData uri="http://schemas.openxmlformats.org/drawingml/2006/table">
            <a:tbl>
              <a:tblPr/>
              <a:tblGrid>
                <a:gridCol w="3424238">
                  <a:extLst>
                    <a:ext uri="{9D8B030D-6E8A-4147-A177-3AD203B41FA5}">
                      <a16:colId xmlns:a16="http://schemas.microsoft.com/office/drawing/2014/main" val="2638022296"/>
                    </a:ext>
                  </a:extLst>
                </a:gridCol>
                <a:gridCol w="3424238">
                  <a:extLst>
                    <a:ext uri="{9D8B030D-6E8A-4147-A177-3AD203B41FA5}">
                      <a16:colId xmlns:a16="http://schemas.microsoft.com/office/drawing/2014/main" val="421278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effectLst/>
                        </a:rPr>
                        <a:t>Operator</a:t>
                      </a:r>
                      <a:endParaRPr lang="en-IN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effectLst/>
                        </a:rPr>
                        <a:t>Meaning</a:t>
                      </a:r>
                      <a:endParaRPr lang="en-IN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266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$count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Calculates the quantity of documents in the given group.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360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$max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Displays the maximum value of a document’s field in the collection.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619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$min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Displays the minimum value of a document’s field in the collection.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692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$avg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Displays the average value of a document’s field in the collection.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0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$sum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Sums up the specified values of all documents in the collection.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110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$push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dirty="0">
                          <a:effectLst/>
                        </a:rPr>
                        <a:t>Adds extra values into the array of the resulting document.</a:t>
                      </a:r>
                    </a:p>
                  </a:txBody>
                  <a:tcPr>
                    <a:lnL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6364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F753F5-9E5C-1F1D-9B70-B563B3EB5DB6}"/>
              </a:ext>
            </a:extLst>
          </p:cNvPr>
          <p:cNvSpPr txBox="1"/>
          <p:nvPr/>
        </p:nvSpPr>
        <p:spPr>
          <a:xfrm>
            <a:off x="2286000" y="230735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93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7CD-486D-0872-860C-3615910E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$unwind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2EF72-EE92-94D3-0AB8-73DFCF9D2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with the values of the fields within an array.</a:t>
            </a:r>
          </a:p>
          <a:p>
            <a:endParaRPr lang="en-IN" dirty="0"/>
          </a:p>
          <a:p>
            <a:r>
              <a:rPr lang="en-IN" dirty="0"/>
              <a:t>To output the document several times, once for every element of that array.</a:t>
            </a:r>
          </a:p>
          <a:p>
            <a:endParaRPr lang="en-IN" dirty="0"/>
          </a:p>
          <a:p>
            <a:r>
              <a:rPr lang="en-IN" dirty="0"/>
              <a:t>Each copy of the document has the array field replaced with the successive element.</a:t>
            </a:r>
          </a:p>
        </p:txBody>
      </p:sp>
    </p:spTree>
    <p:extLst>
      <p:ext uri="{BB962C8B-B14F-4D97-AF65-F5344CB8AC3E}">
        <p14:creationId xmlns:p14="http://schemas.microsoft.com/office/powerpoint/2010/main" val="3708183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F4C7C-6AD7-09E5-3258-102B1D5C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into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228E6-26FC-BBC7-13D2-C167182A5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000" dirty="0"/>
              <a:t>$group.{</a:t>
            </a:r>
          </a:p>
          <a:p>
            <a:pPr marL="457200" lvl="1" indent="0">
              <a:buNone/>
            </a:pPr>
            <a:r>
              <a:rPr lang="en-US" sz="2000" dirty="0"/>
              <a:t>  _id: "$class",</a:t>
            </a:r>
          </a:p>
          <a:p>
            <a:pPr marL="457200" lvl="1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studentList</a:t>
            </a:r>
            <a:r>
              <a:rPr lang="en-US" sz="2000" dirty="0"/>
              <a:t>: { $push: "$</a:t>
            </a:r>
            <a:r>
              <a:rPr lang="en-US" sz="2000" dirty="0" err="1"/>
              <a:t>firstName</a:t>
            </a:r>
            <a:r>
              <a:rPr lang="en-US" sz="2000" dirty="0"/>
              <a:t>" }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}</a:t>
            </a:r>
          </a:p>
          <a:p>
            <a:pPr marL="457200" lvl="1" indent="0">
              <a:buNone/>
            </a:pPr>
            <a:r>
              <a:rPr lang="en-US" sz="2000" dirty="0"/>
              <a:t>{</a:t>
            </a:r>
          </a:p>
          <a:p>
            <a:pPr marL="457200" lvl="1" indent="0">
              <a:buNone/>
            </a:pPr>
            <a:r>
              <a:rPr lang="en-US" sz="2000" dirty="0"/>
              <a:t> _id:"$class",</a:t>
            </a:r>
          </a:p>
          <a:p>
            <a:pPr marL="457200" lvl="1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maxMark</a:t>
            </a:r>
            <a:r>
              <a:rPr lang="en-US" sz="2000" dirty="0"/>
              <a:t>:{</a:t>
            </a:r>
          </a:p>
          <a:p>
            <a:pPr marL="457200" lvl="1" indent="0">
              <a:buNone/>
            </a:pPr>
            <a:r>
              <a:rPr lang="en-US" sz="2000" dirty="0"/>
              <a:t>  $max:{</a:t>
            </a:r>
          </a:p>
          <a:p>
            <a:pPr marL="457200" lvl="1" indent="0">
              <a:buNone/>
            </a:pPr>
            <a:r>
              <a:rPr lang="en-US" sz="2000" dirty="0"/>
              <a:t>    $</a:t>
            </a:r>
            <a:r>
              <a:rPr lang="en-US" sz="2000" dirty="0" err="1"/>
              <a:t>toDouble</a:t>
            </a:r>
            <a:r>
              <a:rPr lang="en-US" sz="2000" dirty="0"/>
              <a:t>:"$</a:t>
            </a:r>
            <a:r>
              <a:rPr lang="en-US" sz="2000" dirty="0" err="1"/>
              <a:t>markScored</a:t>
            </a:r>
            <a:r>
              <a:rPr lang="en-US" sz="2000" dirty="0"/>
              <a:t>"</a:t>
            </a:r>
          </a:p>
          <a:p>
            <a:pPr marL="457200" lvl="1" indent="0">
              <a:buNone/>
            </a:pPr>
            <a:r>
              <a:rPr lang="en-US" sz="2000" dirty="0"/>
              <a:t>  }</a:t>
            </a:r>
          </a:p>
          <a:p>
            <a:pPr marL="457200" lvl="1" indent="0">
              <a:buNone/>
            </a:pPr>
            <a:r>
              <a:rPr lang="en-US" sz="2000" dirty="0"/>
              <a:t>  }</a:t>
            </a:r>
          </a:p>
          <a:p>
            <a:pPr marL="457200" lvl="1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4795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F80A-DC43-25ED-91F8-22EC0D42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72FAC-0B8D-F5F5-D9D0-8B46F18D9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sort results by the value of a specific field.</a:t>
            </a:r>
          </a:p>
          <a:p>
            <a:endParaRPr lang="en-IN" dirty="0"/>
          </a:p>
          <a:p>
            <a:r>
              <a:rPr lang="en-IN" dirty="0"/>
              <a:t>To sort documents obtained as a result of the $unwind stage by the number of students in descending order.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sz="1600" dirty="0" err="1"/>
              <a:t>db.universities.aggregate</a:t>
            </a:r>
            <a:r>
              <a:rPr lang="en-IN" sz="1600" dirty="0"/>
              <a:t>([</a:t>
            </a:r>
          </a:p>
          <a:p>
            <a:pPr marL="457200" lvl="1" indent="0">
              <a:buNone/>
            </a:pPr>
            <a:r>
              <a:rPr lang="en-IN" sz="1600" dirty="0"/>
              <a:t>  { $match : { name : 'USAL' } },</a:t>
            </a:r>
          </a:p>
          <a:p>
            <a:pPr marL="457200" lvl="1" indent="0">
              <a:buNone/>
            </a:pPr>
            <a:r>
              <a:rPr lang="en-IN" sz="1600" dirty="0"/>
              <a:t>  { $unwind : '$students' },</a:t>
            </a:r>
          </a:p>
          <a:p>
            <a:pPr marL="457200" lvl="1" indent="0">
              <a:buNone/>
            </a:pPr>
            <a:r>
              <a:rPr lang="en-IN" sz="1600" dirty="0"/>
              <a:t>  { $project : { _id : 0, '</a:t>
            </a:r>
            <a:r>
              <a:rPr lang="en-IN" sz="1600" dirty="0" err="1"/>
              <a:t>students.year</a:t>
            </a:r>
            <a:r>
              <a:rPr lang="en-IN" sz="1600" dirty="0"/>
              <a:t>' : 1, '</a:t>
            </a:r>
            <a:r>
              <a:rPr lang="en-IN" sz="1600" dirty="0" err="1"/>
              <a:t>students.number</a:t>
            </a:r>
            <a:r>
              <a:rPr lang="en-IN" sz="1600" dirty="0"/>
              <a:t>' : 1 } },</a:t>
            </a:r>
          </a:p>
          <a:p>
            <a:pPr marL="457200" lvl="1" indent="0">
              <a:buNone/>
            </a:pPr>
            <a:r>
              <a:rPr lang="en-IN" sz="1600" dirty="0"/>
              <a:t>  { $sort : { '</a:t>
            </a:r>
            <a:r>
              <a:rPr lang="en-IN" sz="1600" dirty="0" err="1"/>
              <a:t>students.number</a:t>
            </a:r>
            <a:r>
              <a:rPr lang="en-IN" sz="1600" dirty="0"/>
              <a:t>' : -1 } }</a:t>
            </a:r>
          </a:p>
          <a:p>
            <a:pPr marL="457200" lvl="1" indent="0">
              <a:buNone/>
            </a:pPr>
            <a:r>
              <a:rPr lang="en-IN" sz="1600" dirty="0"/>
              <a:t>])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680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5215C1-A59F-3035-EB65-7332F511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Spring </a:t>
            </a:r>
            <a:r>
              <a:rPr lang="en-US" dirty="0" err="1"/>
              <a:t>mongodb</a:t>
            </a:r>
            <a:endParaRPr lang="en-US" dirty="0"/>
          </a:p>
        </p:txBody>
      </p:sp>
      <p:sp>
        <p:nvSpPr>
          <p:cNvPr id="41987" name="Text Placeholder 4">
            <a:extLst>
              <a:ext uri="{FF2B5EF4-FFF2-40B4-BE49-F238E27FC236}">
                <a16:creationId xmlns:a16="http://schemas.microsoft.com/office/drawing/2014/main" id="{F7384E3D-BADE-5147-AE2F-6FD2D9534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857E7DCE-0B9D-4685-7391-95C9DE04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Defining a Collection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287EBACF-4FEC-AE95-8074-FCEDF9821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@Document(collection="computercourses")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/>
              <a:t>@NoArgsConstructor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/>
              <a:t>@AllArgsConstructor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/>
              <a:t>@Data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/>
              <a:t>public class Course {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C00000"/>
                </a:solidFill>
              </a:rPr>
              <a:t>@Id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C00000"/>
                </a:solidFill>
              </a:rPr>
              <a:t>private long  courseId;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7030A0"/>
                </a:solidFill>
              </a:rPr>
              <a:t>@Indexed(unique = true) 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7030A0"/>
                </a:solidFill>
              </a:rPr>
              <a:t>private  String courseName;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/>
              <a:t>    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/>
              <a:t>     private double courseFee;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/>
              <a:t>    private LocalDate startDate;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EBA8-6AD4-23B4-4742-42E3BEC3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92B05-9563-A894-9484-7E2A1BB05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org.springframework.data.annotation.Id</a:t>
            </a:r>
            <a:r>
              <a:rPr lang="en-IN" dirty="0"/>
              <a:t>;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sz="1800" dirty="0"/>
              <a:t>@Document(collection = "players")</a:t>
            </a:r>
          </a:p>
          <a:p>
            <a:pPr marL="457200" lvl="1" indent="0">
              <a:buNone/>
            </a:pPr>
            <a:r>
              <a:rPr lang="en-IN" sz="1800" dirty="0"/>
              <a:t>public class Player {</a:t>
            </a:r>
          </a:p>
          <a:p>
            <a:pPr marL="457200" lvl="1" indent="0">
              <a:buNone/>
            </a:pPr>
            <a:r>
              <a:rPr lang="en-IN" sz="1800" dirty="0"/>
              <a:t>    @Id</a:t>
            </a:r>
          </a:p>
          <a:p>
            <a:pPr marL="457200" lvl="1" indent="0">
              <a:buNone/>
            </a:pPr>
            <a:r>
              <a:rPr lang="en-IN" sz="1800" dirty="0"/>
              <a:t>    private String id; 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    private Integer </a:t>
            </a:r>
            <a:r>
              <a:rPr lang="en-IN" sz="1800" dirty="0" err="1"/>
              <a:t>player_id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r>
              <a:rPr lang="en-IN" sz="1800" dirty="0"/>
              <a:t>    private String name;</a:t>
            </a:r>
          </a:p>
          <a:p>
            <a:pPr marL="457200" lvl="1" indent="0">
              <a:buNone/>
            </a:pPr>
            <a:r>
              <a:rPr lang="en-IN" sz="1800" dirty="0"/>
              <a:t>    private String email;</a:t>
            </a:r>
          </a:p>
          <a:p>
            <a:pPr marL="457200" lvl="1" indent="0">
              <a:buNone/>
            </a:pPr>
            <a:r>
              <a:rPr lang="en-IN" sz="1800" dirty="0"/>
              <a:t>    private Stats stats;</a:t>
            </a:r>
          </a:p>
          <a:p>
            <a:pPr marL="457200" lvl="1" indent="0">
              <a:buNone/>
            </a:pPr>
            <a:r>
              <a:rPr lang="en-IN" sz="1800" dirty="0"/>
              <a:t>    private List&lt;Item&gt; items;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3147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9F68-8742-38DE-3643-C062D00E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2CA73-E998-8D08-E171-65D4B959B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1800" dirty="0"/>
              <a:t>public class Stats {</a:t>
            </a:r>
          </a:p>
          <a:p>
            <a:pPr marL="457200" lvl="1" indent="0">
              <a:buNone/>
            </a:pPr>
            <a:r>
              <a:rPr lang="en-IN" sz="1800" dirty="0"/>
              <a:t>    private Integer </a:t>
            </a:r>
            <a:r>
              <a:rPr lang="en-IN" sz="1800" dirty="0" err="1"/>
              <a:t>gamesPlayed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r>
              <a:rPr lang="en-IN" sz="1800" dirty="0"/>
              <a:t>    private Integer wins;</a:t>
            </a:r>
          </a:p>
          <a:p>
            <a:pPr marL="457200" lvl="1" indent="0">
              <a:buNone/>
            </a:pPr>
            <a:r>
              <a:rPr lang="en-IN" sz="1800" dirty="0"/>
              <a:t>    private Integer losses;</a:t>
            </a:r>
          </a:p>
          <a:p>
            <a:pPr marL="457200" lvl="1" indent="0">
              <a:buNone/>
            </a:pPr>
            <a:r>
              <a:rPr lang="en-IN" sz="1800" dirty="0"/>
              <a:t>    private Integer </a:t>
            </a:r>
            <a:r>
              <a:rPr lang="en-IN" sz="1800" dirty="0" err="1"/>
              <a:t>winStreakMax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public class Item {</a:t>
            </a:r>
          </a:p>
          <a:p>
            <a:pPr marL="457200" lvl="1" indent="0">
              <a:buNone/>
            </a:pPr>
            <a:r>
              <a:rPr lang="en-IN" sz="1800" dirty="0"/>
              <a:t>    private Integer </a:t>
            </a:r>
            <a:r>
              <a:rPr lang="en-IN" sz="1800" dirty="0" err="1"/>
              <a:t>item_id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r>
              <a:rPr lang="en-IN" sz="1800" dirty="0"/>
              <a:t>    private String name;</a:t>
            </a:r>
          </a:p>
          <a:p>
            <a:pPr marL="457200" lvl="1" indent="0">
              <a:buNone/>
            </a:pPr>
            <a:r>
              <a:rPr lang="en-IN" sz="1800" dirty="0"/>
              <a:t>    private Integer durability;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8537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A5EF-D7D1-E33F-71D0-E0AA156DA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719F2-B9A2-6409-DC19-690259608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Spring maps Java camelCase (e.g., </a:t>
            </a:r>
            <a:r>
              <a:rPr lang="en-IN" dirty="0" err="1"/>
              <a:t>gamesPlayed</a:t>
            </a:r>
            <a:r>
              <a:rPr lang="en-IN" dirty="0"/>
              <a:t>) to the same field name in MongoDB. </a:t>
            </a:r>
          </a:p>
          <a:p>
            <a:endParaRPr lang="en-IN" dirty="0"/>
          </a:p>
          <a:p>
            <a:r>
              <a:rPr lang="en-IN" dirty="0"/>
              <a:t>@Field("</a:t>
            </a:r>
            <a:r>
              <a:rPr lang="en-IN" dirty="0" err="1"/>
              <a:t>bson_field_name</a:t>
            </a:r>
            <a:r>
              <a:rPr lang="en-IN" dirty="0"/>
              <a:t>") </a:t>
            </a:r>
          </a:p>
          <a:p>
            <a:pPr lvl="1"/>
            <a:r>
              <a:rPr lang="en-IN" sz="2000" dirty="0"/>
              <a:t>Used If the field Name casing differs</a:t>
            </a:r>
            <a:endParaRPr lang="en-IN" sz="2000" b="1" dirty="0"/>
          </a:p>
          <a:p>
            <a:endParaRPr lang="en-IN" dirty="0"/>
          </a:p>
          <a:p>
            <a:r>
              <a:rPr lang="en-IN" dirty="0"/>
              <a:t>@Id </a:t>
            </a:r>
          </a:p>
          <a:p>
            <a:pPr lvl="1"/>
            <a:r>
              <a:rPr lang="en-IN" sz="2000" dirty="0"/>
              <a:t>On a  String field automatically handles the conversion from MongoDB's </a:t>
            </a:r>
            <a:r>
              <a:rPr lang="en-IN" sz="2000" dirty="0" err="1"/>
              <a:t>ObjectId</a:t>
            </a:r>
            <a:r>
              <a:rPr lang="en-IN" sz="2000" dirty="0"/>
              <a:t> to a hex string.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143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C772-FDDF-D4ED-C3B7-80889B1B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Mappings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1363F-D470-016A-D9DD-3ADAA6ACB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1800" dirty="0"/>
              <a:t>import </a:t>
            </a:r>
            <a:r>
              <a:rPr lang="en-IN" sz="1800" dirty="0" err="1"/>
              <a:t>org.bson.types.ObjectId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public class User {</a:t>
            </a:r>
          </a:p>
          <a:p>
            <a:pPr marL="457200" lvl="1" indent="0">
              <a:buNone/>
            </a:pPr>
            <a:r>
              <a:rPr lang="en-IN" sz="1800" dirty="0"/>
              <a:t>    @Id</a:t>
            </a:r>
          </a:p>
          <a:p>
            <a:pPr marL="457200" lvl="1" indent="0">
              <a:buNone/>
            </a:pPr>
            <a:r>
              <a:rPr lang="en-IN" sz="1800" dirty="0"/>
              <a:t>    private </a:t>
            </a:r>
            <a:r>
              <a:rPr lang="en-IN" sz="1800" dirty="0" err="1"/>
              <a:t>ObjectId</a:t>
            </a:r>
            <a:r>
              <a:rPr lang="en-IN" sz="1800" dirty="0"/>
              <a:t> id; 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pPr marL="457200" lvl="1" indent="0">
              <a:buNone/>
            </a:pP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import </a:t>
            </a:r>
            <a:r>
              <a:rPr lang="en-IN" sz="1800" dirty="0" err="1"/>
              <a:t>org.springframework.data.annotation.Id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public class User {</a:t>
            </a:r>
          </a:p>
          <a:p>
            <a:pPr marL="457200" lvl="1" indent="0">
              <a:buNone/>
            </a:pPr>
            <a:r>
              <a:rPr lang="en-IN" sz="1800" dirty="0"/>
              <a:t>    @Id</a:t>
            </a:r>
          </a:p>
          <a:p>
            <a:pPr marL="457200" lvl="1" indent="0">
              <a:buNone/>
            </a:pPr>
            <a:r>
              <a:rPr lang="en-IN" sz="1800" dirty="0"/>
              <a:t>    private String </a:t>
            </a:r>
            <a:r>
              <a:rPr lang="en-IN" sz="1800" dirty="0" err="1"/>
              <a:t>userId</a:t>
            </a:r>
            <a:r>
              <a:rPr lang="en-IN" sz="1800" dirty="0"/>
              <a:t>; </a:t>
            </a:r>
            <a:r>
              <a:rPr lang="en-IN" sz="1800" i="1" dirty="0"/>
              <a:t>// Maps to _id in MongoDB</a:t>
            </a: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br>
              <a:rPr lang="en-IN" dirty="0"/>
            </a:b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1946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975E45-A99C-FA33-7C94-AF0E76C1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Mongo Repository</a:t>
            </a:r>
          </a:p>
        </p:txBody>
      </p:sp>
      <p:sp>
        <p:nvSpPr>
          <p:cNvPr id="50179" name="Text Placeholder 4">
            <a:extLst>
              <a:ext uri="{FF2B5EF4-FFF2-40B4-BE49-F238E27FC236}">
                <a16:creationId xmlns:a16="http://schemas.microsoft.com/office/drawing/2014/main" id="{B07E26DB-1EF4-AD58-81C7-F855D19F3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AAE1AF1E-4A7B-FDDB-D70B-F870F2F5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Defining Repository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0A06417E-99D5-7DFE-18E5-2C6C9943E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1" dirty="0" err="1"/>
              <a:t>MongoRepository</a:t>
            </a:r>
            <a:r>
              <a:rPr lang="en-US" altLang="en-US" b="1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Uses Spring Data-centric approach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Flexible and complex API operations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Based on the access patterns in Spring Data </a:t>
            </a:r>
          </a:p>
          <a:p>
            <a:endParaRPr lang="en-US" altLang="en-US" dirty="0"/>
          </a:p>
          <a:p>
            <a:r>
              <a:rPr lang="en-US" altLang="en-US" dirty="0"/>
              <a:t>Extends the </a:t>
            </a:r>
            <a:r>
              <a:rPr lang="en-US" altLang="en-US" dirty="0" err="1"/>
              <a:t>MongoRepository</a:t>
            </a:r>
            <a:r>
              <a:rPr lang="en-US" altLang="en-US" dirty="0"/>
              <a:t> interface and plugs in the datatype of the document </a:t>
            </a:r>
          </a:p>
          <a:p>
            <a:r>
              <a:rPr lang="en-US" altLang="en-US" dirty="0"/>
              <a:t>Access to all the CRUD operations around the MongoDB collection.</a:t>
            </a:r>
          </a:p>
          <a:p>
            <a:pPr>
              <a:buFont typeface="Times New Roman" panose="02020603050405020304" pitchFamily="18" charset="0"/>
              <a:buNone/>
            </a:pP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80F3610C-32DE-645F-E292-0AD8DAD2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Mongo Repository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628479C7-FF62-238F-8CFF-CE0F0FAEA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Times New Roman" panose="02020603050405020304" pitchFamily="18" charset="0"/>
              <a:buNone/>
            </a:pPr>
            <a:r>
              <a:rPr lang="en-US" altLang="en-US" sz="1600" b="1" dirty="0"/>
              <a:t>import </a:t>
            </a:r>
            <a:r>
              <a:rPr lang="en-US" altLang="en-US" sz="1600" b="1" dirty="0" err="1"/>
              <a:t>org.springframework.data.mongodb.repository.MongoRepository</a:t>
            </a:r>
            <a:r>
              <a:rPr lang="en-US" altLang="en-US" sz="1600" b="1" dirty="0"/>
              <a:t>;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 dirty="0"/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 dirty="0"/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dirty="0"/>
              <a:t>public interface </a:t>
            </a:r>
            <a:r>
              <a:rPr lang="en-US" altLang="en-US" sz="2000" dirty="0" err="1"/>
              <a:t>ServiceRecordRepository</a:t>
            </a:r>
            <a:r>
              <a:rPr lang="en-US" altLang="en-US" sz="2000" dirty="0"/>
              <a:t> extends 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dirty="0"/>
              <a:t>           </a:t>
            </a:r>
            <a:r>
              <a:rPr lang="en-US" altLang="en-US" sz="2000" dirty="0" err="1"/>
              <a:t>MongoRepository</a:t>
            </a:r>
            <a:r>
              <a:rPr lang="en-US" altLang="en-US" sz="2000" dirty="0"/>
              <a:t>&lt;</a:t>
            </a:r>
            <a:r>
              <a:rPr lang="en-US" altLang="en-US" sz="2000" dirty="0" err="1"/>
              <a:t>ServiceRecord</a:t>
            </a:r>
            <a:r>
              <a:rPr lang="en-US" altLang="en-US" sz="2000" dirty="0"/>
              <a:t>, Long&gt; {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 dirty="0"/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dirty="0"/>
              <a:t>}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 dirty="0"/>
          </a:p>
          <a:p>
            <a:pPr lvl="1">
              <a:buNone/>
            </a:pPr>
            <a:r>
              <a:rPr lang="en-US" altLang="en-US" sz="2000" b="1" dirty="0">
                <a:solidFill>
                  <a:srgbClr val="7030A0"/>
                </a:solidFill>
              </a:rPr>
              <a:t>public interface </a:t>
            </a:r>
            <a:r>
              <a:rPr lang="en-US" altLang="en-US" sz="2000" b="1" dirty="0" err="1">
                <a:solidFill>
                  <a:srgbClr val="7030A0"/>
                </a:solidFill>
              </a:rPr>
              <a:t>CandidateRepository</a:t>
            </a:r>
            <a:r>
              <a:rPr lang="en-US" altLang="en-US" sz="2000" b="1" dirty="0">
                <a:solidFill>
                  <a:srgbClr val="7030A0"/>
                </a:solidFill>
              </a:rPr>
              <a:t> extends </a:t>
            </a:r>
            <a:r>
              <a:rPr lang="en-US" altLang="en-US" sz="2000" b="1" dirty="0" err="1">
                <a:solidFill>
                  <a:srgbClr val="7030A0"/>
                </a:solidFill>
              </a:rPr>
              <a:t>MongoRepository</a:t>
            </a:r>
            <a:r>
              <a:rPr lang="en-US" altLang="en-US" sz="2000" b="1" dirty="0">
                <a:solidFill>
                  <a:srgbClr val="7030A0"/>
                </a:solidFill>
              </a:rPr>
              <a:t>&lt;Candidate, String&gt; {} 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icrosoft YaHei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icrosoft YaHei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18642</TotalTime>
  <Words>2533</Words>
  <Application>Microsoft Macintosh PowerPoint</Application>
  <PresentationFormat>On-screen Show (4:3)</PresentationFormat>
  <Paragraphs>448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Hand Of Sean</vt:lpstr>
      <vt:lpstr>Times New Roman</vt:lpstr>
      <vt:lpstr>Office Theme</vt:lpstr>
      <vt:lpstr>Topics</vt:lpstr>
      <vt:lpstr>Introduction</vt:lpstr>
      <vt:lpstr>NOSQL</vt:lpstr>
      <vt:lpstr>History of NoSQL</vt:lpstr>
      <vt:lpstr>Why NOSQL</vt:lpstr>
      <vt:lpstr>RDBMS vs NOSQL</vt:lpstr>
      <vt:lpstr>CAP Theorem</vt:lpstr>
      <vt:lpstr>CAP Theorem</vt:lpstr>
      <vt:lpstr>NoSQL Pros and Cons</vt:lpstr>
      <vt:lpstr>MongoDB</vt:lpstr>
      <vt:lpstr>Why MongoDB</vt:lpstr>
      <vt:lpstr>Data Model</vt:lpstr>
      <vt:lpstr>MongoDB</vt:lpstr>
      <vt:lpstr>MongoDB Atlas</vt:lpstr>
      <vt:lpstr>MongoDB Atlas</vt:lpstr>
      <vt:lpstr>MongoDB Atlas</vt:lpstr>
      <vt:lpstr>The _id Field</vt:lpstr>
      <vt:lpstr>Setting Up</vt:lpstr>
      <vt:lpstr>Insert</vt:lpstr>
      <vt:lpstr>Query </vt:lpstr>
      <vt:lpstr>Query: AND condition</vt:lpstr>
      <vt:lpstr>Updating</vt:lpstr>
      <vt:lpstr>Deleting</vt:lpstr>
      <vt:lpstr>Conditional</vt:lpstr>
      <vt:lpstr>Aggregation</vt:lpstr>
      <vt:lpstr>Aggregation</vt:lpstr>
      <vt:lpstr>Example</vt:lpstr>
      <vt:lpstr>$match Stage</vt:lpstr>
      <vt:lpstr>$project</vt:lpstr>
      <vt:lpstr>$group</vt:lpstr>
      <vt:lpstr>Group Operators</vt:lpstr>
      <vt:lpstr>$unwind</vt:lpstr>
      <vt:lpstr>Push into Array</vt:lpstr>
      <vt:lpstr>$sort</vt:lpstr>
      <vt:lpstr>Spring mongodb</vt:lpstr>
      <vt:lpstr>Defining a Collection</vt:lpstr>
      <vt:lpstr>Player</vt:lpstr>
      <vt:lpstr>PowerPoint Presentation</vt:lpstr>
      <vt:lpstr>Field Name</vt:lpstr>
      <vt:lpstr>Id Mappings</vt:lpstr>
      <vt:lpstr>Mongo Repository</vt:lpstr>
      <vt:lpstr>Defining Repository</vt:lpstr>
      <vt:lpstr>Mongo Repository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</dc:creator>
  <cp:lastModifiedBy>Srivatsan Krishnamachari</cp:lastModifiedBy>
  <cp:revision>1109</cp:revision>
  <cp:lastPrinted>1601-01-01T00:00:00Z</cp:lastPrinted>
  <dcterms:created xsi:type="dcterms:W3CDTF">2005-01-17T05:49:17Z</dcterms:created>
  <dcterms:modified xsi:type="dcterms:W3CDTF">2026-01-16T02:34:48Z</dcterms:modified>
</cp:coreProperties>
</file>