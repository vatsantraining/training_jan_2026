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65"/>
  </p:notesMasterIdLst>
  <p:sldIdLst>
    <p:sldId id="2254" r:id="rId2"/>
    <p:sldId id="2244" r:id="rId3"/>
    <p:sldId id="2079" r:id="rId4"/>
    <p:sldId id="2078" r:id="rId5"/>
    <p:sldId id="2243" r:id="rId6"/>
    <p:sldId id="2278" r:id="rId7"/>
    <p:sldId id="2569" r:id="rId8"/>
    <p:sldId id="2575" r:id="rId9"/>
    <p:sldId id="2256" r:id="rId10"/>
    <p:sldId id="2297" r:id="rId11"/>
    <p:sldId id="2279" r:id="rId12"/>
    <p:sldId id="2576" r:id="rId13"/>
    <p:sldId id="2577" r:id="rId14"/>
    <p:sldId id="2292" r:id="rId15"/>
    <p:sldId id="2275" r:id="rId16"/>
    <p:sldId id="2280" r:id="rId17"/>
    <p:sldId id="2258" r:id="rId18"/>
    <p:sldId id="2323" r:id="rId19"/>
    <p:sldId id="2322" r:id="rId20"/>
    <p:sldId id="2326" r:id="rId21"/>
    <p:sldId id="2354" r:id="rId22"/>
    <p:sldId id="2345" r:id="rId23"/>
    <p:sldId id="2380" r:id="rId24"/>
    <p:sldId id="2381" r:id="rId25"/>
    <p:sldId id="2226" r:id="rId26"/>
    <p:sldId id="961" r:id="rId27"/>
    <p:sldId id="2232" r:id="rId28"/>
    <p:sldId id="995" r:id="rId29"/>
    <p:sldId id="2231" r:id="rId30"/>
    <p:sldId id="2014" r:id="rId31"/>
    <p:sldId id="2233" r:id="rId32"/>
    <p:sldId id="2235" r:id="rId33"/>
    <p:sldId id="2234" r:id="rId34"/>
    <p:sldId id="2560" r:id="rId35"/>
    <p:sldId id="2561" r:id="rId36"/>
    <p:sldId id="2250" r:id="rId37"/>
    <p:sldId id="2259" r:id="rId38"/>
    <p:sldId id="2260" r:id="rId39"/>
    <p:sldId id="2266" r:id="rId40"/>
    <p:sldId id="2299" r:id="rId41"/>
    <p:sldId id="2308" r:id="rId42"/>
    <p:sldId id="2389" r:id="rId43"/>
    <p:sldId id="2382" r:id="rId44"/>
    <p:sldId id="2383" r:id="rId45"/>
    <p:sldId id="2300" r:id="rId46"/>
    <p:sldId id="2298" r:id="rId47"/>
    <p:sldId id="2301" r:id="rId48"/>
    <p:sldId id="2305" r:id="rId49"/>
    <p:sldId id="2302" r:id="rId50"/>
    <p:sldId id="2306" r:id="rId51"/>
    <p:sldId id="2303" r:id="rId52"/>
    <p:sldId id="2307" r:id="rId53"/>
    <p:sldId id="2311" r:id="rId54"/>
    <p:sldId id="2312" r:id="rId55"/>
    <p:sldId id="2342" r:id="rId56"/>
    <p:sldId id="2315" r:id="rId57"/>
    <p:sldId id="2316" r:id="rId58"/>
    <p:sldId id="2287" r:id="rId59"/>
    <p:sldId id="2318" r:id="rId60"/>
    <p:sldId id="2360" r:id="rId61"/>
    <p:sldId id="2567" r:id="rId62"/>
    <p:sldId id="2568" r:id="rId63"/>
    <p:sldId id="2563" r:id="rId64"/>
  </p:sldIdLst>
  <p:sldSz cx="9144000" cy="6858000" type="screen4x3"/>
  <p:notesSz cx="6858000" cy="9144000"/>
  <p:custShowLst>
    <p:custShow name="Sapient" id="0">
      <p:sldLst/>
    </p:custShow>
  </p:custShow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226" autoAdjust="0"/>
    <p:restoredTop sz="96764" autoAdjust="0"/>
  </p:normalViewPr>
  <p:slideViewPr>
    <p:cSldViewPr>
      <p:cViewPr varScale="1">
        <p:scale>
          <a:sx n="127" d="100"/>
          <a:sy n="127" d="100"/>
        </p:scale>
        <p:origin x="800"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5640"/>
    </p:cViewPr>
  </p:sorterViewPr>
  <p:notesViewPr>
    <p:cSldViewPr>
      <p:cViewPr varScale="1">
        <p:scale>
          <a:sx n="96" d="100"/>
          <a:sy n="96" d="100"/>
        </p:scale>
        <p:origin x="3808" y="17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00E9984-D88D-6C09-E001-6F6D74DE999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1987" name="Rectangle 3">
            <a:extLst>
              <a:ext uri="{FF2B5EF4-FFF2-40B4-BE49-F238E27FC236}">
                <a16:creationId xmlns:a16="http://schemas.microsoft.com/office/drawing/2014/main" id="{121516EC-643C-F1E9-2DEF-CBC46AE37FC5}"/>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defRPr>
            </a:lvl1pPr>
          </a:lstStyle>
          <a:p>
            <a:pPr>
              <a:defRPr/>
            </a:pPr>
            <a:endParaRPr lang="en-US"/>
          </a:p>
        </p:txBody>
      </p:sp>
      <p:sp>
        <p:nvSpPr>
          <p:cNvPr id="14340" name="Rectangle 4">
            <a:extLst>
              <a:ext uri="{FF2B5EF4-FFF2-40B4-BE49-F238E27FC236}">
                <a16:creationId xmlns:a16="http://schemas.microsoft.com/office/drawing/2014/main" id="{1C69DF7D-C83D-99C3-F099-F42B1E7ABF3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9" name="Rectangle 5">
            <a:extLst>
              <a:ext uri="{FF2B5EF4-FFF2-40B4-BE49-F238E27FC236}">
                <a16:creationId xmlns:a16="http://schemas.microsoft.com/office/drawing/2014/main" id="{B5C140CF-F05D-C0EF-C2AE-897BBE80BAA6}"/>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990" name="Rectangle 6">
            <a:extLst>
              <a:ext uri="{FF2B5EF4-FFF2-40B4-BE49-F238E27FC236}">
                <a16:creationId xmlns:a16="http://schemas.microsoft.com/office/drawing/2014/main" id="{C2748A74-8C58-AF81-DB1C-2B82B0BB376E}"/>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defRPr>
            </a:lvl1pPr>
          </a:lstStyle>
          <a:p>
            <a:pPr>
              <a:defRPr/>
            </a:pPr>
            <a:endParaRPr lang="en-US"/>
          </a:p>
        </p:txBody>
      </p:sp>
      <p:sp>
        <p:nvSpPr>
          <p:cNvPr id="41991" name="Rectangle 7">
            <a:extLst>
              <a:ext uri="{FF2B5EF4-FFF2-40B4-BE49-F238E27FC236}">
                <a16:creationId xmlns:a16="http://schemas.microsoft.com/office/drawing/2014/main" id="{90EC2947-38F6-06CA-3DB8-395615B7E0B1}"/>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pPr>
              <a:defRPr/>
            </a:pPr>
            <a:fld id="{F82D12CD-9A69-CE48-BDF2-43BB2339B77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82D12CD-9A69-CE48-BDF2-43BB2339B77C}" type="slidenum">
              <a:rPr lang="en-US" altLang="en-US" smtClean="0"/>
              <a:pPr>
                <a:defRPr/>
              </a:pPr>
              <a:t>12</a:t>
            </a:fld>
            <a:endParaRPr lang="en-US" altLang="en-US"/>
          </a:p>
        </p:txBody>
      </p:sp>
    </p:spTree>
    <p:extLst>
      <p:ext uri="{BB962C8B-B14F-4D97-AF65-F5344CB8AC3E}">
        <p14:creationId xmlns:p14="http://schemas.microsoft.com/office/powerpoint/2010/main" val="3002200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 </a:t>
            </a:r>
            <a:r>
              <a:rPr lang="en-IN" b="1" dirty="0" err="1"/>
              <a:t>GatewayFilter</a:t>
            </a:r>
            <a:r>
              <a:rPr lang="en-IN" dirty="0"/>
              <a:t> (also called a Route-Specific Filter) is applied </a:t>
            </a:r>
            <a:r>
              <a:rPr lang="en-IN" b="1" dirty="0"/>
              <a:t>only to specific routes</a:t>
            </a:r>
            <a:r>
              <a:rPr lang="en-IN" dirty="0"/>
              <a:t> where it is explicitly configured. </a:t>
            </a:r>
          </a:p>
          <a:p>
            <a:r>
              <a:rPr lang="en-IN" b="1" dirty="0"/>
              <a:t>Purpose</a:t>
            </a:r>
            <a:r>
              <a:rPr lang="en-IN" dirty="0"/>
              <a:t>: Used for route-specific tasks, such as adding a header to a specific service, stripping a URL prefix, or rate-limiting a specific API.</a:t>
            </a:r>
          </a:p>
          <a:p>
            <a:r>
              <a:rPr lang="en-IN" b="1" dirty="0"/>
              <a:t>Implementation</a:t>
            </a:r>
            <a:r>
              <a:rPr lang="en-IN" dirty="0"/>
              <a:t>: These are typically created using a </a:t>
            </a:r>
            <a:r>
              <a:rPr lang="en-IN" dirty="0" err="1"/>
              <a:t>GatewayFilterFactory</a:t>
            </a:r>
            <a:r>
              <a:rPr lang="en-IN" dirty="0"/>
              <a:t>.</a:t>
            </a:r>
          </a:p>
          <a:p>
            <a:r>
              <a:rPr lang="en-IN" b="1" dirty="0"/>
              <a:t>Configuration</a:t>
            </a:r>
            <a:r>
              <a:rPr lang="en-IN" dirty="0"/>
              <a:t>: You must list them under the filters section for a specific route in your configuration file. </a:t>
            </a:r>
          </a:p>
          <a:p>
            <a:br>
              <a:rPr lang="en-IN" dirty="0"/>
            </a:br>
            <a:endParaRPr lang="en-US" dirty="0"/>
          </a:p>
        </p:txBody>
      </p:sp>
      <p:sp>
        <p:nvSpPr>
          <p:cNvPr id="4" name="Slide Number Placeholder 3"/>
          <p:cNvSpPr>
            <a:spLocks noGrp="1"/>
          </p:cNvSpPr>
          <p:nvPr>
            <p:ph type="sldNum" sz="quarter" idx="5"/>
          </p:nvPr>
        </p:nvSpPr>
        <p:spPr/>
        <p:txBody>
          <a:bodyPr/>
          <a:lstStyle/>
          <a:p>
            <a:pPr>
              <a:defRPr/>
            </a:pPr>
            <a:fld id="{F82D12CD-9A69-CE48-BDF2-43BB2339B77C}" type="slidenum">
              <a:rPr lang="en-US" altLang="en-US" smtClean="0"/>
              <a:pPr>
                <a:defRPr/>
              </a:pPr>
              <a:t>13</a:t>
            </a:fld>
            <a:endParaRPr lang="en-US" altLang="en-US"/>
          </a:p>
        </p:txBody>
      </p:sp>
    </p:spTree>
    <p:extLst>
      <p:ext uri="{BB962C8B-B14F-4D97-AF65-F5344CB8AC3E}">
        <p14:creationId xmlns:p14="http://schemas.microsoft.com/office/powerpoint/2010/main" val="644388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a:extLst>
              <a:ext uri="{FF2B5EF4-FFF2-40B4-BE49-F238E27FC236}">
                <a16:creationId xmlns:a16="http://schemas.microsoft.com/office/drawing/2014/main" id="{8C06430D-0C52-9A51-6826-0C9E83C67E93}"/>
              </a:ext>
            </a:extLst>
          </p:cNvPr>
          <p:cNvSpPr>
            <a:spLocks noGrp="1" noRot="1" noChangeAspect="1" noChangeArrowheads="1" noTextEdit="1"/>
          </p:cNvSpPr>
          <p:nvPr>
            <p:ph type="sldImg"/>
          </p:nvPr>
        </p:nvSpPr>
        <p:spPr>
          <a:ln/>
        </p:spPr>
      </p:sp>
      <p:sp>
        <p:nvSpPr>
          <p:cNvPr id="93186" name="Notes Placeholder 2">
            <a:extLst>
              <a:ext uri="{FF2B5EF4-FFF2-40B4-BE49-F238E27FC236}">
                <a16:creationId xmlns:a16="http://schemas.microsoft.com/office/drawing/2014/main" id="{9C1E949F-CEC1-AF3F-481F-A4F571B9F5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
        <p:nvSpPr>
          <p:cNvPr id="93187" name="Slide Number Placeholder 3">
            <a:extLst>
              <a:ext uri="{FF2B5EF4-FFF2-40B4-BE49-F238E27FC236}">
                <a16:creationId xmlns:a16="http://schemas.microsoft.com/office/drawing/2014/main" id="{AF107E96-B42E-B505-08FF-88CA787E5F1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D84BCD-BC93-BD4F-A5B5-E8FA31B1207A}" type="slidenum">
              <a:rPr lang="en-US" altLang="en-US" smtClean="0">
                <a:latin typeface="Times New Roman" panose="02020603050405020304" pitchFamily="18" charset="0"/>
              </a:rPr>
              <a:pPr/>
              <a:t>54</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F82D12CD-9A69-CE48-BDF2-43BB2339B77C}" type="slidenum">
              <a:rPr lang="en-US" altLang="en-US" smtClean="0"/>
              <a:pPr>
                <a:defRPr/>
              </a:pPr>
              <a:t>62</a:t>
            </a:fld>
            <a:endParaRPr lang="en-US" altLang="en-US"/>
          </a:p>
        </p:txBody>
      </p:sp>
    </p:spTree>
    <p:extLst>
      <p:ext uri="{BB962C8B-B14F-4D97-AF65-F5344CB8AC3E}">
        <p14:creationId xmlns:p14="http://schemas.microsoft.com/office/powerpoint/2010/main" val="2985467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55C5EEDF-5998-54F2-57CE-5FA94035D33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519239F-B226-D71C-E1A6-77ABE48CE9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62FADAF7-FAD0-618F-6410-0B7DB960824D}"/>
              </a:ext>
            </a:extLst>
          </p:cNvPr>
          <p:cNvSpPr>
            <a:spLocks noGrp="1" noChangeArrowheads="1"/>
          </p:cNvSpPr>
          <p:nvPr>
            <p:ph type="sldNum" sz="quarter" idx="12"/>
          </p:nvPr>
        </p:nvSpPr>
        <p:spPr>
          <a:ln/>
        </p:spPr>
        <p:txBody>
          <a:bodyPr/>
          <a:lstStyle>
            <a:lvl1pPr>
              <a:defRPr/>
            </a:lvl1pPr>
          </a:lstStyle>
          <a:p>
            <a:pPr>
              <a:defRPr/>
            </a:pPr>
            <a:fld id="{FF5006D5-528C-764A-A425-FF118CF0E9C4}" type="slidenum">
              <a:rPr lang="en-US" altLang="en-US"/>
              <a:pPr>
                <a:defRPr/>
              </a:pPr>
              <a:t>‹#›</a:t>
            </a:fld>
            <a:endParaRPr lang="en-US" altLang="en-US"/>
          </a:p>
        </p:txBody>
      </p:sp>
    </p:spTree>
    <p:extLst>
      <p:ext uri="{BB962C8B-B14F-4D97-AF65-F5344CB8AC3E}">
        <p14:creationId xmlns:p14="http://schemas.microsoft.com/office/powerpoint/2010/main" val="1794788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4646305-004B-845B-B435-9F8AC613FEA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AEDFD49-9435-C4E1-5A96-387AF6F30F0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CFACAF2-894B-6117-38ED-C71796D49B31}"/>
              </a:ext>
            </a:extLst>
          </p:cNvPr>
          <p:cNvSpPr>
            <a:spLocks noGrp="1" noChangeArrowheads="1"/>
          </p:cNvSpPr>
          <p:nvPr>
            <p:ph type="sldNum" sz="quarter" idx="12"/>
          </p:nvPr>
        </p:nvSpPr>
        <p:spPr>
          <a:ln/>
        </p:spPr>
        <p:txBody>
          <a:bodyPr/>
          <a:lstStyle>
            <a:lvl1pPr>
              <a:defRPr/>
            </a:lvl1pPr>
          </a:lstStyle>
          <a:p>
            <a:pPr>
              <a:defRPr/>
            </a:pPr>
            <a:fld id="{48C61122-C1CC-F544-B5AA-5615F624DB89}" type="slidenum">
              <a:rPr lang="en-US" altLang="en-US"/>
              <a:pPr>
                <a:defRPr/>
              </a:pPr>
              <a:t>‹#›</a:t>
            </a:fld>
            <a:endParaRPr lang="en-US" altLang="en-US"/>
          </a:p>
        </p:txBody>
      </p:sp>
    </p:spTree>
    <p:extLst>
      <p:ext uri="{BB962C8B-B14F-4D97-AF65-F5344CB8AC3E}">
        <p14:creationId xmlns:p14="http://schemas.microsoft.com/office/powerpoint/2010/main" val="3361710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BE446F0-6A27-8163-BC8F-3E8E196454F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B686A02-D63F-1F0A-AA18-7E4A557D299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42C4F53-2481-9402-9722-920B1AF37A97}"/>
              </a:ext>
            </a:extLst>
          </p:cNvPr>
          <p:cNvSpPr>
            <a:spLocks noGrp="1" noChangeArrowheads="1"/>
          </p:cNvSpPr>
          <p:nvPr>
            <p:ph type="sldNum" sz="quarter" idx="12"/>
          </p:nvPr>
        </p:nvSpPr>
        <p:spPr>
          <a:ln/>
        </p:spPr>
        <p:txBody>
          <a:bodyPr/>
          <a:lstStyle>
            <a:lvl1pPr>
              <a:defRPr/>
            </a:lvl1pPr>
          </a:lstStyle>
          <a:p>
            <a:pPr>
              <a:defRPr/>
            </a:pPr>
            <a:fld id="{835F4667-CB50-6745-AFDC-CF75BD58CDD7}" type="slidenum">
              <a:rPr lang="en-US" altLang="en-US"/>
              <a:pPr>
                <a:defRPr/>
              </a:pPr>
              <a:t>‹#›</a:t>
            </a:fld>
            <a:endParaRPr lang="en-US" altLang="en-US"/>
          </a:p>
        </p:txBody>
      </p:sp>
    </p:spTree>
    <p:extLst>
      <p:ext uri="{BB962C8B-B14F-4D97-AF65-F5344CB8AC3E}">
        <p14:creationId xmlns:p14="http://schemas.microsoft.com/office/powerpoint/2010/main" val="4199077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066802"/>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66802"/>
            <a:ext cx="4038600" cy="5059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9C63E8A-E51F-391B-92BD-CD862433375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D0E5F3-7D19-C351-FEF4-EC14C3DED8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4EF83AC-31A6-634E-D593-7F1DACE2D84D}"/>
              </a:ext>
            </a:extLst>
          </p:cNvPr>
          <p:cNvSpPr>
            <a:spLocks noGrp="1" noChangeArrowheads="1"/>
          </p:cNvSpPr>
          <p:nvPr>
            <p:ph type="sldNum" sz="quarter" idx="12"/>
          </p:nvPr>
        </p:nvSpPr>
        <p:spPr>
          <a:ln/>
        </p:spPr>
        <p:txBody>
          <a:bodyPr/>
          <a:lstStyle>
            <a:lvl1pPr>
              <a:defRPr/>
            </a:lvl1pPr>
          </a:lstStyle>
          <a:p>
            <a:pPr>
              <a:defRPr/>
            </a:pPr>
            <a:fld id="{11321DC3-CC5F-A74C-B512-225C7406E196}" type="slidenum">
              <a:rPr lang="en-US" altLang="en-US"/>
              <a:pPr>
                <a:defRPr/>
              </a:pPr>
              <a:t>‹#›</a:t>
            </a:fld>
            <a:endParaRPr lang="en-US" altLang="en-US"/>
          </a:p>
        </p:txBody>
      </p:sp>
    </p:spTree>
    <p:extLst>
      <p:ext uri="{BB962C8B-B14F-4D97-AF65-F5344CB8AC3E}">
        <p14:creationId xmlns:p14="http://schemas.microsoft.com/office/powerpoint/2010/main" val="715676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1F85F9D-D566-FB39-8F66-7B9D560CE467}"/>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FED6DF64-D2EE-EFA1-46F7-699FEB880EC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5C12473-49F4-53C7-1B5F-E6B6A2F19A3F}"/>
              </a:ext>
            </a:extLst>
          </p:cNvPr>
          <p:cNvSpPr>
            <a:spLocks noGrp="1" noChangeArrowheads="1"/>
          </p:cNvSpPr>
          <p:nvPr>
            <p:ph type="sldNum" sz="quarter" idx="12"/>
          </p:nvPr>
        </p:nvSpPr>
        <p:spPr>
          <a:ln/>
        </p:spPr>
        <p:txBody>
          <a:bodyPr/>
          <a:lstStyle>
            <a:lvl1pPr>
              <a:defRPr/>
            </a:lvl1pPr>
          </a:lstStyle>
          <a:p>
            <a:pPr>
              <a:defRPr/>
            </a:pPr>
            <a:fld id="{617AD599-4A6D-C44C-B03B-F3B8E3926513}" type="slidenum">
              <a:rPr lang="en-US" altLang="en-US"/>
              <a:pPr>
                <a:defRPr/>
              </a:pPr>
              <a:t>‹#›</a:t>
            </a:fld>
            <a:endParaRPr lang="en-US" altLang="en-US"/>
          </a:p>
        </p:txBody>
      </p:sp>
    </p:spTree>
    <p:extLst>
      <p:ext uri="{BB962C8B-B14F-4D97-AF65-F5344CB8AC3E}">
        <p14:creationId xmlns:p14="http://schemas.microsoft.com/office/powerpoint/2010/main" val="2401151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6B0BBF0-107D-50C5-2B6F-E789C569204E}"/>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330326CD-2A47-2B05-2676-7AAEE269817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2E7765E4-BA49-715E-A661-526C92727890}"/>
              </a:ext>
            </a:extLst>
          </p:cNvPr>
          <p:cNvSpPr>
            <a:spLocks noGrp="1" noChangeArrowheads="1"/>
          </p:cNvSpPr>
          <p:nvPr>
            <p:ph type="sldNum" sz="quarter" idx="12"/>
          </p:nvPr>
        </p:nvSpPr>
        <p:spPr>
          <a:ln/>
        </p:spPr>
        <p:txBody>
          <a:bodyPr/>
          <a:lstStyle>
            <a:lvl1pPr>
              <a:defRPr/>
            </a:lvl1pPr>
          </a:lstStyle>
          <a:p>
            <a:pPr>
              <a:defRPr/>
            </a:pPr>
            <a:fld id="{3274A902-1B63-A74D-9346-F27C667ABCF8}" type="slidenum">
              <a:rPr lang="en-US" altLang="en-US"/>
              <a:pPr>
                <a:defRPr/>
              </a:pPr>
              <a:t>‹#›</a:t>
            </a:fld>
            <a:endParaRPr lang="en-US" altLang="en-US"/>
          </a:p>
        </p:txBody>
      </p:sp>
    </p:spTree>
    <p:extLst>
      <p:ext uri="{BB962C8B-B14F-4D97-AF65-F5344CB8AC3E}">
        <p14:creationId xmlns:p14="http://schemas.microsoft.com/office/powerpoint/2010/main" val="830054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AED7328-C933-268C-7F49-4CD3FE444E67}"/>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49C25A29-BF8D-3DAE-83CB-B50DC2975F3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FC8B8A50-7728-4EE7-BED2-46EC8717F1AE}"/>
              </a:ext>
            </a:extLst>
          </p:cNvPr>
          <p:cNvSpPr>
            <a:spLocks noGrp="1" noChangeArrowheads="1"/>
          </p:cNvSpPr>
          <p:nvPr>
            <p:ph type="sldNum" sz="quarter" idx="12"/>
          </p:nvPr>
        </p:nvSpPr>
        <p:spPr>
          <a:ln/>
        </p:spPr>
        <p:txBody>
          <a:bodyPr/>
          <a:lstStyle>
            <a:lvl1pPr>
              <a:defRPr/>
            </a:lvl1pPr>
          </a:lstStyle>
          <a:p>
            <a:pPr>
              <a:defRPr/>
            </a:pPr>
            <a:fld id="{4668DACE-5CEB-7D4C-B686-C30B91646552}" type="slidenum">
              <a:rPr lang="en-US" altLang="en-US"/>
              <a:pPr>
                <a:defRPr/>
              </a:pPr>
              <a:t>‹#›</a:t>
            </a:fld>
            <a:endParaRPr lang="en-US" altLang="en-US"/>
          </a:p>
        </p:txBody>
      </p:sp>
    </p:spTree>
    <p:extLst>
      <p:ext uri="{BB962C8B-B14F-4D97-AF65-F5344CB8AC3E}">
        <p14:creationId xmlns:p14="http://schemas.microsoft.com/office/powerpoint/2010/main" val="177442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96988C2-2F25-CB81-D282-59FAD5CEEC6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1AFF05BB-7D57-7A76-5585-29267076564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213CE73-0EF1-4CB4-FAD7-69B23E2C1C4C}"/>
              </a:ext>
            </a:extLst>
          </p:cNvPr>
          <p:cNvSpPr>
            <a:spLocks noGrp="1" noChangeArrowheads="1"/>
          </p:cNvSpPr>
          <p:nvPr>
            <p:ph type="sldNum" sz="quarter" idx="12"/>
          </p:nvPr>
        </p:nvSpPr>
        <p:spPr>
          <a:ln/>
        </p:spPr>
        <p:txBody>
          <a:bodyPr/>
          <a:lstStyle>
            <a:lvl1pPr>
              <a:defRPr/>
            </a:lvl1pPr>
          </a:lstStyle>
          <a:p>
            <a:pPr>
              <a:defRPr/>
            </a:pPr>
            <a:fld id="{C1321FDA-A351-6F45-BB0C-E1676C35454A}" type="slidenum">
              <a:rPr lang="en-US" altLang="en-US"/>
              <a:pPr>
                <a:defRPr/>
              </a:pPr>
              <a:t>‹#›</a:t>
            </a:fld>
            <a:endParaRPr lang="en-US" altLang="en-US"/>
          </a:p>
        </p:txBody>
      </p:sp>
    </p:spTree>
    <p:extLst>
      <p:ext uri="{BB962C8B-B14F-4D97-AF65-F5344CB8AC3E}">
        <p14:creationId xmlns:p14="http://schemas.microsoft.com/office/powerpoint/2010/main" val="2553459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DB4291A-1984-B2C3-4928-2B29372C46F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0B88E11-5931-9617-E554-F798C8C902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8CF80E1-FF83-8B00-69A6-2E753270D283}"/>
              </a:ext>
            </a:extLst>
          </p:cNvPr>
          <p:cNvSpPr>
            <a:spLocks noGrp="1" noChangeArrowheads="1"/>
          </p:cNvSpPr>
          <p:nvPr>
            <p:ph type="sldNum" sz="quarter" idx="12"/>
          </p:nvPr>
        </p:nvSpPr>
        <p:spPr>
          <a:ln/>
        </p:spPr>
        <p:txBody>
          <a:bodyPr/>
          <a:lstStyle>
            <a:lvl1pPr>
              <a:defRPr/>
            </a:lvl1pPr>
          </a:lstStyle>
          <a:p>
            <a:pPr>
              <a:defRPr/>
            </a:pPr>
            <a:fld id="{B81F0886-DD0A-DB47-B81D-4B55019E652F}" type="slidenum">
              <a:rPr lang="en-US" altLang="en-US"/>
              <a:pPr>
                <a:defRPr/>
              </a:pPr>
              <a:t>‹#›</a:t>
            </a:fld>
            <a:endParaRPr lang="en-US" altLang="en-US"/>
          </a:p>
        </p:txBody>
      </p:sp>
    </p:spTree>
    <p:extLst>
      <p:ext uri="{BB962C8B-B14F-4D97-AF65-F5344CB8AC3E}">
        <p14:creationId xmlns:p14="http://schemas.microsoft.com/office/powerpoint/2010/main" val="3860269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F224A0C-7F85-D0B9-6317-718E5A56579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F2A8F7D-9966-D0E3-BC90-277EF4CA1C0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15CD8B4-85FC-F5C8-8DD6-0BAF6A2C1D26}"/>
              </a:ext>
            </a:extLst>
          </p:cNvPr>
          <p:cNvSpPr>
            <a:spLocks noGrp="1" noChangeArrowheads="1"/>
          </p:cNvSpPr>
          <p:nvPr>
            <p:ph type="sldNum" sz="quarter" idx="12"/>
          </p:nvPr>
        </p:nvSpPr>
        <p:spPr>
          <a:ln/>
        </p:spPr>
        <p:txBody>
          <a:bodyPr/>
          <a:lstStyle>
            <a:lvl1pPr>
              <a:defRPr/>
            </a:lvl1pPr>
          </a:lstStyle>
          <a:p>
            <a:pPr>
              <a:defRPr/>
            </a:pPr>
            <a:fld id="{5BF6E5DC-E04C-054F-96B6-C4102AA6709D}" type="slidenum">
              <a:rPr lang="en-US" altLang="en-US"/>
              <a:pPr>
                <a:defRPr/>
              </a:pPr>
              <a:t>‹#›</a:t>
            </a:fld>
            <a:endParaRPr lang="en-US" altLang="en-US"/>
          </a:p>
        </p:txBody>
      </p:sp>
    </p:spTree>
    <p:extLst>
      <p:ext uri="{BB962C8B-B14F-4D97-AF65-F5344CB8AC3E}">
        <p14:creationId xmlns:p14="http://schemas.microsoft.com/office/powerpoint/2010/main" val="10086901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56689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457200"/>
            <a:ext cx="6019800" cy="5668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8F52F84-2DA5-832F-20DE-DEAC291C9D0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EEC1054-016A-C761-E79F-3F8EA580A0A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BDCEBF1-C8A6-4DC0-962D-5F95019B26F2}"/>
              </a:ext>
            </a:extLst>
          </p:cNvPr>
          <p:cNvSpPr>
            <a:spLocks noGrp="1" noChangeArrowheads="1"/>
          </p:cNvSpPr>
          <p:nvPr>
            <p:ph type="sldNum" sz="quarter" idx="12"/>
          </p:nvPr>
        </p:nvSpPr>
        <p:spPr>
          <a:ln/>
        </p:spPr>
        <p:txBody>
          <a:bodyPr/>
          <a:lstStyle>
            <a:lvl1pPr>
              <a:defRPr/>
            </a:lvl1pPr>
          </a:lstStyle>
          <a:p>
            <a:pPr>
              <a:defRPr/>
            </a:pPr>
            <a:fld id="{C3E2BC0B-149B-4149-817A-812979FA2551}" type="slidenum">
              <a:rPr lang="en-US" altLang="en-US"/>
              <a:pPr>
                <a:defRPr/>
              </a:pPr>
              <a:t>‹#›</a:t>
            </a:fld>
            <a:endParaRPr lang="en-US" altLang="en-US"/>
          </a:p>
        </p:txBody>
      </p:sp>
    </p:spTree>
    <p:extLst>
      <p:ext uri="{BB962C8B-B14F-4D97-AF65-F5344CB8AC3E}">
        <p14:creationId xmlns:p14="http://schemas.microsoft.com/office/powerpoint/2010/main" val="781659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1"/>
            <a:ext cx="8229600" cy="411163"/>
          </a:xfrm>
        </p:spPr>
        <p:txBody>
          <a:bodyPr/>
          <a:lstStyle/>
          <a:p>
            <a:r>
              <a:rPr lang="en-US"/>
              <a:t>Click to edit Master title style</a:t>
            </a:r>
          </a:p>
        </p:txBody>
      </p:sp>
      <p:sp>
        <p:nvSpPr>
          <p:cNvPr id="3" name="Text Placeholder 2"/>
          <p:cNvSpPr>
            <a:spLocks noGrp="1"/>
          </p:cNvSpPr>
          <p:nvPr>
            <p:ph type="body" sz="half" idx="1"/>
          </p:nvPr>
        </p:nvSpPr>
        <p:spPr>
          <a:xfrm>
            <a:off x="457200" y="1066802"/>
            <a:ext cx="4038600" cy="5059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066802"/>
            <a:ext cx="4038600" cy="5059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C6AE321-6905-31CC-1BDB-05C8E806FE0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81BFC7C-3C69-69C8-12BD-0742EE70647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050C3A2-688E-3E38-00CB-52353DA3A1FD}"/>
              </a:ext>
            </a:extLst>
          </p:cNvPr>
          <p:cNvSpPr>
            <a:spLocks noGrp="1" noChangeArrowheads="1"/>
          </p:cNvSpPr>
          <p:nvPr>
            <p:ph type="sldNum" sz="quarter" idx="12"/>
          </p:nvPr>
        </p:nvSpPr>
        <p:spPr>
          <a:ln/>
        </p:spPr>
        <p:txBody>
          <a:bodyPr/>
          <a:lstStyle>
            <a:lvl1pPr>
              <a:defRPr/>
            </a:lvl1pPr>
          </a:lstStyle>
          <a:p>
            <a:pPr>
              <a:defRPr/>
            </a:pPr>
            <a:fld id="{E8FC57A3-0E57-5F4B-B1B7-94F00CF32F33}" type="slidenum">
              <a:rPr lang="en-US" altLang="en-US"/>
              <a:pPr>
                <a:defRPr/>
              </a:pPr>
              <a:t>‹#›</a:t>
            </a:fld>
            <a:endParaRPr lang="en-US" altLang="en-US"/>
          </a:p>
        </p:txBody>
      </p:sp>
    </p:spTree>
    <p:extLst>
      <p:ext uri="{BB962C8B-B14F-4D97-AF65-F5344CB8AC3E}">
        <p14:creationId xmlns:p14="http://schemas.microsoft.com/office/powerpoint/2010/main" val="391452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69AD0B7-5C9A-B01E-2474-9ECBD014DD52}"/>
              </a:ext>
            </a:extLst>
          </p:cNvPr>
          <p:cNvSpPr>
            <a:spLocks noGrp="1" noChangeArrowheads="1"/>
          </p:cNvSpPr>
          <p:nvPr>
            <p:ph type="title"/>
          </p:nvPr>
        </p:nvSpPr>
        <p:spPr bwMode="auto">
          <a:xfrm>
            <a:off x="457200" y="457200"/>
            <a:ext cx="82296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EA30229B-7F46-0661-BBBA-7A6386209FE5}"/>
              </a:ext>
            </a:extLst>
          </p:cNvPr>
          <p:cNvSpPr>
            <a:spLocks noGrp="1" noChangeArrowheads="1"/>
          </p:cNvSpPr>
          <p:nvPr>
            <p:ph type="body" idx="1"/>
          </p:nvPr>
        </p:nvSpPr>
        <p:spPr bwMode="auto">
          <a:xfrm>
            <a:off x="457200" y="1066800"/>
            <a:ext cx="8229600" cy="505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94212" name="Rectangle 4">
            <a:extLst>
              <a:ext uri="{FF2B5EF4-FFF2-40B4-BE49-F238E27FC236}">
                <a16:creationId xmlns:a16="http://schemas.microsoft.com/office/drawing/2014/main" id="{CA6F74AD-6346-A79B-4D48-15C014E6ED9D}"/>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94213" name="Rectangle 5">
            <a:extLst>
              <a:ext uri="{FF2B5EF4-FFF2-40B4-BE49-F238E27FC236}">
                <a16:creationId xmlns:a16="http://schemas.microsoft.com/office/drawing/2014/main" id="{9EC28752-0692-1949-8535-EB4E598CE579}"/>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94214" name="Rectangle 6">
            <a:extLst>
              <a:ext uri="{FF2B5EF4-FFF2-40B4-BE49-F238E27FC236}">
                <a16:creationId xmlns:a16="http://schemas.microsoft.com/office/drawing/2014/main" id="{2CD76653-0DEC-7813-E66E-E5850CE72536}"/>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DA5DB715-8BD5-AF4D-9F01-2819478DF4A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3200">
          <a:solidFill>
            <a:schemeClr val="tx2"/>
          </a:solidFill>
          <a:latin typeface="Arial" charset="0"/>
        </a:defRPr>
      </a:lvl6pPr>
      <a:lvl7pPr marL="914400" algn="ctr" rtl="0" fontAlgn="base">
        <a:spcBef>
          <a:spcPct val="0"/>
        </a:spcBef>
        <a:spcAft>
          <a:spcPct val="0"/>
        </a:spcAft>
        <a:defRPr sz="3200">
          <a:solidFill>
            <a:schemeClr val="tx2"/>
          </a:solidFill>
          <a:latin typeface="Arial" charset="0"/>
        </a:defRPr>
      </a:lvl7pPr>
      <a:lvl8pPr marL="1371600" algn="ctr" rtl="0" fontAlgn="base">
        <a:spcBef>
          <a:spcPct val="0"/>
        </a:spcBef>
        <a:spcAft>
          <a:spcPct val="0"/>
        </a:spcAft>
        <a:defRPr sz="3200">
          <a:solidFill>
            <a:schemeClr val="tx2"/>
          </a:solidFill>
          <a:latin typeface="Arial" charset="0"/>
        </a:defRPr>
      </a:lvl8pPr>
      <a:lvl9pPr marL="1828800" algn="ctr" rtl="0" fontAlgn="base">
        <a:spcBef>
          <a:spcPct val="0"/>
        </a:spcBef>
        <a:spcAft>
          <a:spcPct val="0"/>
        </a:spcAft>
        <a:defRPr sz="32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localhost:8080/actuator/health" TargetMode="External"/><Relationship Id="rId2" Type="http://schemas.openxmlformats.org/officeDocument/2006/relationships/hyperlink" Target="http://localhost:6565/actuator/circuitbreakerevents" TargetMode="External"/><Relationship Id="rId1" Type="http://schemas.openxmlformats.org/officeDocument/2006/relationships/slideLayout" Target="../slideLayouts/slideLayout2.xml"/><Relationship Id="rId5" Type="http://schemas.openxmlformats.org/officeDocument/2006/relationships/hyperlink" Target="http://localhost:6565/actuator/metrics/resilience4j.circuitbreaker.calls" TargetMode="External"/><Relationship Id="rId4" Type="http://schemas.openxmlformats.org/officeDocument/2006/relationships/hyperlink" Target="http://localhost:6565/actuator/circuitbreakers"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3419B6-960D-E54C-48F3-935F062C4147}"/>
              </a:ext>
            </a:extLst>
          </p:cNvPr>
          <p:cNvSpPr>
            <a:spLocks noGrp="1"/>
          </p:cNvSpPr>
          <p:nvPr>
            <p:ph type="title"/>
          </p:nvPr>
        </p:nvSpPr>
        <p:spPr>
          <a:xfrm>
            <a:off x="722313" y="4406900"/>
            <a:ext cx="7772400" cy="1362075"/>
          </a:xfrm>
        </p:spPr>
        <p:txBody>
          <a:bodyPr/>
          <a:lstStyle/>
          <a:p>
            <a:pPr>
              <a:defRPr/>
            </a:pPr>
            <a:r>
              <a:rPr lang="en-US" dirty="0"/>
              <a:t>Spring cloud gateway</a:t>
            </a:r>
            <a:endParaRPr lang="en-IN" dirty="0"/>
          </a:p>
        </p:txBody>
      </p:sp>
      <p:sp>
        <p:nvSpPr>
          <p:cNvPr id="100354" name="Text Placeholder 4">
            <a:extLst>
              <a:ext uri="{FF2B5EF4-FFF2-40B4-BE49-F238E27FC236}">
                <a16:creationId xmlns:a16="http://schemas.microsoft.com/office/drawing/2014/main" id="{95208F99-3A90-1C0F-5E3F-64F06787A8C3}"/>
              </a:ext>
            </a:extLst>
          </p:cNvPr>
          <p:cNvSpPr>
            <a:spLocks noGrp="1" noChangeArrowheads="1"/>
          </p:cNvSpPr>
          <p:nvPr>
            <p:ph type="body" idx="1"/>
          </p:nvPr>
        </p:nvSpPr>
        <p:spPr/>
        <p:txBody>
          <a:bodyPr/>
          <a:lstStyle/>
          <a:p>
            <a:endParaRPr lang="en-IN" altLang="en-US"/>
          </a:p>
        </p:txBody>
      </p:sp>
    </p:spTree>
    <p:extLst>
      <p:ext uri="{BB962C8B-B14F-4D97-AF65-F5344CB8AC3E}">
        <p14:creationId xmlns:p14="http://schemas.microsoft.com/office/powerpoint/2010/main" val="1972182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Title 1">
            <a:extLst>
              <a:ext uri="{FF2B5EF4-FFF2-40B4-BE49-F238E27FC236}">
                <a16:creationId xmlns:a16="http://schemas.microsoft.com/office/drawing/2014/main" id="{22039543-E0CF-35EE-E294-44892C07DE0E}"/>
              </a:ext>
            </a:extLst>
          </p:cNvPr>
          <p:cNvSpPr>
            <a:spLocks noGrp="1" noChangeArrowheads="1"/>
          </p:cNvSpPr>
          <p:nvPr>
            <p:ph type="title"/>
          </p:nvPr>
        </p:nvSpPr>
        <p:spPr/>
        <p:txBody>
          <a:bodyPr/>
          <a:lstStyle/>
          <a:p>
            <a:r>
              <a:rPr lang="en-US" altLang="en-US"/>
              <a:t>Spring cloud gateway</a:t>
            </a:r>
            <a:endParaRPr lang="en-IN" altLang="en-US"/>
          </a:p>
        </p:txBody>
      </p:sp>
      <p:pic>
        <p:nvPicPr>
          <p:cNvPr id="101378" name="Picture 2">
            <a:extLst>
              <a:ext uri="{FF2B5EF4-FFF2-40B4-BE49-F238E27FC236}">
                <a16:creationId xmlns:a16="http://schemas.microsoft.com/office/drawing/2014/main" id="{D898E494-53BC-5678-3557-7A93D2F45F8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335088"/>
            <a:ext cx="8229600" cy="4522787"/>
          </a:xfrm>
          <a:noFill/>
        </p:spPr>
      </p:pic>
    </p:spTree>
    <p:extLst>
      <p:ext uri="{BB962C8B-B14F-4D97-AF65-F5344CB8AC3E}">
        <p14:creationId xmlns:p14="http://schemas.microsoft.com/office/powerpoint/2010/main" val="1553256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a:extLst>
              <a:ext uri="{FF2B5EF4-FFF2-40B4-BE49-F238E27FC236}">
                <a16:creationId xmlns:a16="http://schemas.microsoft.com/office/drawing/2014/main" id="{0FEBE0FA-C517-498D-5210-F5B22147A1A5}"/>
              </a:ext>
            </a:extLst>
          </p:cNvPr>
          <p:cNvSpPr>
            <a:spLocks noGrp="1" noChangeArrowheads="1"/>
          </p:cNvSpPr>
          <p:nvPr>
            <p:ph type="title"/>
          </p:nvPr>
        </p:nvSpPr>
        <p:spPr>
          <a:xfrm>
            <a:off x="457200" y="438150"/>
            <a:ext cx="8229600" cy="411163"/>
          </a:xfrm>
        </p:spPr>
        <p:txBody>
          <a:bodyPr/>
          <a:lstStyle/>
          <a:p>
            <a:r>
              <a:rPr lang="en-US" altLang="en-US"/>
              <a:t>Gateway</a:t>
            </a:r>
          </a:p>
        </p:txBody>
      </p:sp>
      <p:sp>
        <p:nvSpPr>
          <p:cNvPr id="141315" name="Content Placeholder 2">
            <a:extLst>
              <a:ext uri="{FF2B5EF4-FFF2-40B4-BE49-F238E27FC236}">
                <a16:creationId xmlns:a16="http://schemas.microsoft.com/office/drawing/2014/main" id="{4A1E11FC-F604-7AFE-5192-199C7D2E081B}"/>
              </a:ext>
            </a:extLst>
          </p:cNvPr>
          <p:cNvSpPr>
            <a:spLocks noGrp="1"/>
          </p:cNvSpPr>
          <p:nvPr>
            <p:ph idx="1"/>
          </p:nvPr>
        </p:nvSpPr>
        <p:spPr/>
        <p:txBody>
          <a:bodyPr/>
          <a:lstStyle/>
          <a:p>
            <a:pPr>
              <a:defRPr/>
            </a:pPr>
            <a:r>
              <a:rPr lang="en-US" sz="2000" dirty="0"/>
              <a:t>Micro Services </a:t>
            </a:r>
            <a:r>
              <a:rPr lang="en-US" sz="2000" b="1" i="1" dirty="0"/>
              <a:t>require a unified interface</a:t>
            </a:r>
            <a:r>
              <a:rPr lang="en-US" sz="2000" dirty="0"/>
              <a:t> to the consumers. </a:t>
            </a:r>
          </a:p>
          <a:p>
            <a:pPr lvl="1">
              <a:lnSpc>
                <a:spcPct val="150000"/>
              </a:lnSpc>
              <a:defRPr/>
            </a:pPr>
            <a:r>
              <a:rPr lang="en-US" sz="2000" dirty="0"/>
              <a:t>Services are split into small composable apps </a:t>
            </a:r>
          </a:p>
          <a:p>
            <a:pPr lvl="1">
              <a:lnSpc>
                <a:spcPct val="150000"/>
              </a:lnSpc>
              <a:defRPr/>
            </a:pPr>
            <a:r>
              <a:rPr lang="en-US" sz="2000" dirty="0"/>
              <a:t>It shouldn’t be visible to users </a:t>
            </a:r>
          </a:p>
          <a:p>
            <a:pPr lvl="1">
              <a:lnSpc>
                <a:spcPct val="150000"/>
              </a:lnSpc>
              <a:defRPr/>
            </a:pPr>
            <a:r>
              <a:rPr lang="en-US" sz="2000" dirty="0"/>
              <a:t>Should have less development effort.</a:t>
            </a:r>
          </a:p>
          <a:p>
            <a:pPr>
              <a:defRPr/>
            </a:pPr>
            <a:endParaRPr lang="en-US" sz="2000" dirty="0"/>
          </a:p>
          <a:p>
            <a:pPr>
              <a:defRPr/>
            </a:pPr>
            <a:r>
              <a:rPr lang="en-US" sz="2000" dirty="0"/>
              <a:t>Gateway handles requests to multiple backing services.</a:t>
            </a:r>
          </a:p>
          <a:p>
            <a:pPr lvl="1">
              <a:lnSpc>
                <a:spcPct val="150000"/>
              </a:lnSpc>
              <a:defRPr/>
            </a:pPr>
            <a:r>
              <a:rPr lang="en-US" sz="2000" dirty="0">
                <a:solidFill>
                  <a:schemeClr val="accent1">
                    <a:lumMod val="50000"/>
                  </a:schemeClr>
                </a:solidFill>
              </a:rPr>
              <a:t> It provides a unified “front door” </a:t>
            </a:r>
          </a:p>
          <a:p>
            <a:pPr lvl="1">
              <a:lnSpc>
                <a:spcPct val="150000"/>
              </a:lnSpc>
              <a:defRPr/>
            </a:pPr>
            <a:r>
              <a:rPr lang="en-US" sz="2000" i="1" dirty="0">
                <a:solidFill>
                  <a:schemeClr val="accent6">
                    <a:lumMod val="75000"/>
                  </a:schemeClr>
                </a:solidFill>
              </a:rPr>
              <a:t>Browser, Mobile Application or other user interface can  consume services from multiple hosts </a:t>
            </a:r>
          </a:p>
          <a:p>
            <a:pPr lvl="1">
              <a:lnSpc>
                <a:spcPct val="150000"/>
              </a:lnSpc>
              <a:defRPr/>
            </a:pPr>
            <a:r>
              <a:rPr lang="en-US" sz="2000" i="1" dirty="0">
                <a:solidFill>
                  <a:schemeClr val="accent1">
                    <a:lumMod val="75000"/>
                  </a:schemeClr>
                </a:solidFill>
              </a:rPr>
              <a:t>Can mange the cross-origin resource sharing and authentication </a:t>
            </a:r>
          </a:p>
        </p:txBody>
      </p:sp>
    </p:spTree>
    <p:extLst>
      <p:ext uri="{BB962C8B-B14F-4D97-AF65-F5344CB8AC3E}">
        <p14:creationId xmlns:p14="http://schemas.microsoft.com/office/powerpoint/2010/main" val="869654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a:extLst>
              <a:ext uri="{FF2B5EF4-FFF2-40B4-BE49-F238E27FC236}">
                <a16:creationId xmlns:a16="http://schemas.microsoft.com/office/drawing/2014/main" id="{B75370A6-CEEB-8334-FF23-163FD735E1DC}"/>
              </a:ext>
            </a:extLst>
          </p:cNvPr>
          <p:cNvSpPr>
            <a:spLocks noGrp="1" noChangeArrowheads="1"/>
          </p:cNvSpPr>
          <p:nvPr>
            <p:ph type="title"/>
          </p:nvPr>
        </p:nvSpPr>
        <p:spPr>
          <a:xfrm>
            <a:off x="457200" y="438150"/>
            <a:ext cx="8229600" cy="411163"/>
          </a:xfrm>
        </p:spPr>
        <p:txBody>
          <a:bodyPr/>
          <a:lstStyle/>
          <a:p>
            <a:r>
              <a:rPr lang="en-US" altLang="en-US"/>
              <a:t>Cloud Gateway</a:t>
            </a:r>
          </a:p>
        </p:txBody>
      </p:sp>
      <p:sp>
        <p:nvSpPr>
          <p:cNvPr id="103426" name="Content Placeholder 2">
            <a:extLst>
              <a:ext uri="{FF2B5EF4-FFF2-40B4-BE49-F238E27FC236}">
                <a16:creationId xmlns:a16="http://schemas.microsoft.com/office/drawing/2014/main" id="{41734613-0E49-E072-7C63-F470DE927FED}"/>
              </a:ext>
            </a:extLst>
          </p:cNvPr>
          <p:cNvSpPr>
            <a:spLocks noGrp="1" noChangeArrowheads="1"/>
          </p:cNvSpPr>
          <p:nvPr>
            <p:ph idx="1"/>
          </p:nvPr>
        </p:nvSpPr>
        <p:spPr/>
        <p:txBody>
          <a:bodyPr/>
          <a:lstStyle/>
          <a:p>
            <a:r>
              <a:rPr lang="en-US" altLang="en-US" sz="2000"/>
              <a:t>Gateway is an intermediate layer between the users and services.</a:t>
            </a:r>
          </a:p>
          <a:p>
            <a:pPr lvl="1"/>
            <a:endParaRPr lang="en-US" altLang="en-US" sz="2000"/>
          </a:p>
          <a:p>
            <a:pPr lvl="1"/>
            <a:r>
              <a:rPr lang="en-US" altLang="en-US" sz="2000"/>
              <a:t>Eureka server solved the problem of giving names to services instead of hard coding their IP addresses.</a:t>
            </a:r>
          </a:p>
          <a:p>
            <a:endParaRPr lang="en-US" altLang="en-US" sz="2000"/>
          </a:p>
          <a:p>
            <a:r>
              <a:rPr lang="en-US" altLang="en-US" sz="2000" i="1">
                <a:solidFill>
                  <a:srgbClr val="C00000"/>
                </a:solidFill>
              </a:rPr>
              <a:t>It Maps between a prefix path  and a service  or more than one service running on different ports</a:t>
            </a:r>
          </a:p>
          <a:p>
            <a:endParaRPr lang="en-US" altLang="en-US" sz="2000"/>
          </a:p>
          <a:p>
            <a:r>
              <a:rPr lang="en-US" altLang="en-US" sz="2000"/>
              <a:t>Can Use Eureka server to route the requested service.</a:t>
            </a:r>
          </a:p>
          <a:p>
            <a:r>
              <a:rPr lang="en-US" altLang="en-US" sz="2000"/>
              <a:t>Load balances instances </a:t>
            </a:r>
          </a:p>
          <a:p>
            <a:r>
              <a:rPr lang="en-US" altLang="en-US" sz="2000"/>
              <a:t>Can filter requests, add authentication, etc.</a:t>
            </a:r>
          </a:p>
          <a:p>
            <a:pPr>
              <a:buFont typeface="Times New Roman" panose="02020603050405020304" pitchFamily="18" charset="0"/>
              <a:buNone/>
            </a:pPr>
            <a:br>
              <a:rPr lang="en-US" altLang="en-US" sz="2000"/>
            </a:br>
            <a:endParaRPr lang="en-US" altLang="en-US" sz="2000"/>
          </a:p>
          <a:p>
            <a:endParaRPr lang="en-US" altLang="en-US" sz="2000"/>
          </a:p>
        </p:txBody>
      </p:sp>
    </p:spTree>
    <p:extLst>
      <p:ext uri="{BB962C8B-B14F-4D97-AF65-F5344CB8AC3E}">
        <p14:creationId xmlns:p14="http://schemas.microsoft.com/office/powerpoint/2010/main" val="1682324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a:extLst>
              <a:ext uri="{FF2B5EF4-FFF2-40B4-BE49-F238E27FC236}">
                <a16:creationId xmlns:a16="http://schemas.microsoft.com/office/drawing/2014/main" id="{8ACC0A83-2796-4F67-CF27-873D3578D713}"/>
              </a:ext>
            </a:extLst>
          </p:cNvPr>
          <p:cNvSpPr>
            <a:spLocks noGrp="1" noChangeArrowheads="1"/>
          </p:cNvSpPr>
          <p:nvPr>
            <p:ph type="title"/>
          </p:nvPr>
        </p:nvSpPr>
        <p:spPr/>
        <p:txBody>
          <a:bodyPr/>
          <a:lstStyle/>
          <a:p>
            <a:r>
              <a:rPr lang="en-US" altLang="en-US"/>
              <a:t>Spring Cloud Gateway</a:t>
            </a:r>
            <a:endParaRPr lang="en-IN" altLang="en-US"/>
          </a:p>
        </p:txBody>
      </p:sp>
      <p:sp>
        <p:nvSpPr>
          <p:cNvPr id="104450" name="Content Placeholder 2">
            <a:extLst>
              <a:ext uri="{FF2B5EF4-FFF2-40B4-BE49-F238E27FC236}">
                <a16:creationId xmlns:a16="http://schemas.microsoft.com/office/drawing/2014/main" id="{837953D2-CFF3-72A3-405F-DF0E83BDBA76}"/>
              </a:ext>
            </a:extLst>
          </p:cNvPr>
          <p:cNvSpPr>
            <a:spLocks noGrp="1" noChangeArrowheads="1"/>
          </p:cNvSpPr>
          <p:nvPr>
            <p:ph idx="1"/>
          </p:nvPr>
        </p:nvSpPr>
        <p:spPr/>
        <p:txBody>
          <a:bodyPr/>
          <a:lstStyle/>
          <a:p>
            <a:pPr>
              <a:lnSpc>
                <a:spcPct val="150000"/>
              </a:lnSpc>
            </a:pPr>
            <a:r>
              <a:rPr lang="en-US" altLang="en-US" sz="2000"/>
              <a:t>Provides a simple and effective way to route incoming requests to the appropriate destination using Gateway Handler Mapping.</a:t>
            </a:r>
          </a:p>
          <a:p>
            <a:pPr>
              <a:lnSpc>
                <a:spcPct val="150000"/>
              </a:lnSpc>
            </a:pPr>
            <a:r>
              <a:rPr lang="en-US" altLang="en-US" sz="2000"/>
              <a:t>Uses Netty server to provide non-blocking asynchronous request processing.</a:t>
            </a:r>
          </a:p>
          <a:p>
            <a:endParaRPr lang="en-US" altLang="en-US" sz="2000" b="1"/>
          </a:p>
          <a:p>
            <a:r>
              <a:rPr lang="en-US" altLang="en-US" sz="2000" b="1"/>
              <a:t>Route configuration </a:t>
            </a:r>
          </a:p>
          <a:p>
            <a:endParaRPr lang="en-US" altLang="en-US" sz="2000"/>
          </a:p>
          <a:p>
            <a:r>
              <a:rPr lang="en-US" altLang="en-US" sz="1800" b="1"/>
              <a:t>Programmatically </a:t>
            </a:r>
          </a:p>
          <a:p>
            <a:pPr lvl="1"/>
            <a:r>
              <a:rPr lang="en-US" altLang="en-US" sz="1800"/>
              <a:t>Using Spring RouteLocator. </a:t>
            </a:r>
          </a:p>
          <a:p>
            <a:endParaRPr lang="en-US" altLang="en-US" sz="1800"/>
          </a:p>
          <a:p>
            <a:r>
              <a:rPr lang="en-US" altLang="en-US" sz="1800" b="1"/>
              <a:t>Properties </a:t>
            </a:r>
          </a:p>
          <a:p>
            <a:pPr lvl="1"/>
            <a:r>
              <a:rPr lang="en-US" altLang="en-US" sz="1800"/>
              <a:t>application.yml</a:t>
            </a:r>
          </a:p>
          <a:p>
            <a:endParaRPr lang="en-IN" altLang="en-US" sz="2000"/>
          </a:p>
          <a:p>
            <a:pPr>
              <a:lnSpc>
                <a:spcPct val="150000"/>
              </a:lnSpc>
            </a:pPr>
            <a:endParaRPr lang="en-US" altLang="en-US" sz="2000"/>
          </a:p>
          <a:p>
            <a:pPr>
              <a:lnSpc>
                <a:spcPct val="150000"/>
              </a:lnSpc>
            </a:pPr>
            <a:endParaRPr lang="en-IN" altLang="en-US" sz="2000"/>
          </a:p>
        </p:txBody>
      </p:sp>
    </p:spTree>
    <p:extLst>
      <p:ext uri="{BB962C8B-B14F-4D97-AF65-F5344CB8AC3E}">
        <p14:creationId xmlns:p14="http://schemas.microsoft.com/office/powerpoint/2010/main" val="1543120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a:extLst>
              <a:ext uri="{FF2B5EF4-FFF2-40B4-BE49-F238E27FC236}">
                <a16:creationId xmlns:a16="http://schemas.microsoft.com/office/drawing/2014/main" id="{1C9420DC-D20B-4D00-1F2E-17A82D55C7DC}"/>
              </a:ext>
            </a:extLst>
          </p:cNvPr>
          <p:cNvSpPr>
            <a:spLocks noGrp="1" noChangeArrowheads="1"/>
          </p:cNvSpPr>
          <p:nvPr>
            <p:ph type="title"/>
          </p:nvPr>
        </p:nvSpPr>
        <p:spPr/>
        <p:txBody>
          <a:bodyPr/>
          <a:lstStyle/>
          <a:p>
            <a:r>
              <a:rPr lang="en-US" altLang="en-US"/>
              <a:t>Gateway Routing </a:t>
            </a:r>
            <a:endParaRPr lang="en-IN" altLang="en-US"/>
          </a:p>
        </p:txBody>
      </p:sp>
      <p:sp>
        <p:nvSpPr>
          <p:cNvPr id="112642" name="Content Placeholder 2">
            <a:extLst>
              <a:ext uri="{FF2B5EF4-FFF2-40B4-BE49-F238E27FC236}">
                <a16:creationId xmlns:a16="http://schemas.microsoft.com/office/drawing/2014/main" id="{D9A35FF1-990E-6FEB-DAAC-3378FCD90B80}"/>
              </a:ext>
            </a:extLst>
          </p:cNvPr>
          <p:cNvSpPr>
            <a:spLocks noGrp="1" noChangeArrowheads="1"/>
          </p:cNvSpPr>
          <p:nvPr>
            <p:ph idx="1"/>
          </p:nvPr>
        </p:nvSpPr>
        <p:spPr/>
        <p:txBody>
          <a:bodyPr/>
          <a:lstStyle/>
          <a:p>
            <a:r>
              <a:rPr lang="en-US" altLang="en-US" sz="2000" dirty="0"/>
              <a:t>Has Three Main parts</a:t>
            </a:r>
          </a:p>
          <a:p>
            <a:r>
              <a:rPr lang="en-US" altLang="en-US" sz="2000" b="1" dirty="0"/>
              <a:t>Route:</a:t>
            </a:r>
            <a:r>
              <a:rPr lang="en-US" altLang="en-US" sz="2000" dirty="0"/>
              <a:t> </a:t>
            </a:r>
          </a:p>
          <a:p>
            <a:pPr lvl="1"/>
            <a:r>
              <a:rPr lang="en-US" altLang="en-US" sz="2000" dirty="0"/>
              <a:t>The Destination of a particular request. </a:t>
            </a:r>
          </a:p>
          <a:p>
            <a:pPr lvl="1"/>
            <a:r>
              <a:rPr lang="en-US" altLang="en-US" sz="2000" dirty="0"/>
              <a:t>It will have destination URI</a:t>
            </a:r>
          </a:p>
          <a:p>
            <a:pPr lvl="1"/>
            <a:r>
              <a:rPr lang="en-US" altLang="en-US" sz="2000" dirty="0"/>
              <a:t>It has a condition to be satisfied</a:t>
            </a:r>
          </a:p>
          <a:p>
            <a:pPr lvl="1"/>
            <a:r>
              <a:rPr lang="en-US" altLang="en-US" sz="2000" dirty="0"/>
              <a:t>It has one or more filters.</a:t>
            </a:r>
          </a:p>
          <a:p>
            <a:r>
              <a:rPr lang="en-US" altLang="en-US" sz="2000" b="1" dirty="0"/>
              <a:t>Predicate</a:t>
            </a:r>
          </a:p>
          <a:p>
            <a:pPr lvl="1"/>
            <a:r>
              <a:rPr lang="en-US" altLang="en-US" sz="2000" dirty="0"/>
              <a:t>A condition to match like an “if” condition.</a:t>
            </a:r>
          </a:p>
          <a:p>
            <a:pPr lvl="1"/>
            <a:r>
              <a:rPr lang="en-US" altLang="en-US" sz="2000" dirty="0"/>
              <a:t>Java 8 Function Predicate</a:t>
            </a:r>
          </a:p>
          <a:p>
            <a:r>
              <a:rPr lang="en-US" altLang="en-US" sz="2000" b="1" dirty="0"/>
              <a:t>Filter: </a:t>
            </a:r>
          </a:p>
          <a:p>
            <a:pPr lvl="1"/>
            <a:r>
              <a:rPr lang="en-US" altLang="en-US" sz="2000" dirty="0"/>
              <a:t>Instances of Spring Framework </a:t>
            </a:r>
            <a:r>
              <a:rPr lang="en-US" altLang="en-US" sz="2000" dirty="0" err="1"/>
              <a:t>WebFilter</a:t>
            </a:r>
            <a:r>
              <a:rPr lang="en-US" altLang="en-US" sz="2000" dirty="0"/>
              <a:t>. </a:t>
            </a:r>
          </a:p>
          <a:p>
            <a:pPr lvl="1"/>
            <a:r>
              <a:rPr lang="en-US" altLang="en-US" sz="2000" dirty="0"/>
              <a:t>Can modify request or response. </a:t>
            </a:r>
          </a:p>
          <a:p>
            <a:pPr lvl="1"/>
            <a:r>
              <a:rPr lang="en-US" altLang="en-US" sz="2000" dirty="0"/>
              <a:t>Spring Provides many </a:t>
            </a:r>
            <a:r>
              <a:rPr lang="en-US" altLang="en-US" sz="2000" dirty="0" err="1"/>
              <a:t>WebFilters</a:t>
            </a:r>
            <a:endParaRPr lang="en-US" altLang="en-US" sz="2000" dirty="0"/>
          </a:p>
          <a:p>
            <a:endParaRPr lang="en-IN" altLang="en-US" sz="2000" dirty="0"/>
          </a:p>
        </p:txBody>
      </p:sp>
    </p:spTree>
    <p:extLst>
      <p:ext uri="{BB962C8B-B14F-4D97-AF65-F5344CB8AC3E}">
        <p14:creationId xmlns:p14="http://schemas.microsoft.com/office/powerpoint/2010/main" val="2031620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FA94-F737-BE75-55CD-FB2796513C29}"/>
              </a:ext>
            </a:extLst>
          </p:cNvPr>
          <p:cNvSpPr>
            <a:spLocks noGrp="1"/>
          </p:cNvSpPr>
          <p:nvPr>
            <p:ph type="title"/>
          </p:nvPr>
        </p:nvSpPr>
        <p:spPr/>
        <p:txBody>
          <a:bodyPr/>
          <a:lstStyle/>
          <a:p>
            <a:r>
              <a:rPr lang="en-US" dirty="0"/>
              <a:t>For Version 6.0 onwards</a:t>
            </a:r>
          </a:p>
        </p:txBody>
      </p:sp>
      <p:sp>
        <p:nvSpPr>
          <p:cNvPr id="3" name="Content Placeholder 2">
            <a:extLst>
              <a:ext uri="{FF2B5EF4-FFF2-40B4-BE49-F238E27FC236}">
                <a16:creationId xmlns:a16="http://schemas.microsoft.com/office/drawing/2014/main" id="{96B418EC-A1AC-4158-99F3-D56F9B380006}"/>
              </a:ext>
            </a:extLst>
          </p:cNvPr>
          <p:cNvSpPr>
            <a:spLocks noGrp="1"/>
          </p:cNvSpPr>
          <p:nvPr>
            <p:ph idx="1"/>
          </p:nvPr>
        </p:nvSpPr>
        <p:spPr/>
        <p:txBody>
          <a:bodyPr/>
          <a:lstStyle/>
          <a:p>
            <a:pPr marL="457200" lvl="1" indent="0">
              <a:buNone/>
            </a:pPr>
            <a:r>
              <a:rPr lang="en-US" dirty="0"/>
              <a:t>spring:</a:t>
            </a:r>
          </a:p>
          <a:p>
            <a:pPr marL="457200" lvl="1" indent="0">
              <a:buNone/>
            </a:pPr>
            <a:r>
              <a:rPr lang="en-US" dirty="0"/>
              <a:t>  application:</a:t>
            </a:r>
          </a:p>
          <a:p>
            <a:pPr marL="457200" lvl="1" indent="0">
              <a:buNone/>
            </a:pPr>
            <a:r>
              <a:rPr lang="en-US" dirty="0"/>
              <a:t>    name: </a:t>
            </a:r>
            <a:r>
              <a:rPr lang="en-US" dirty="0" err="1"/>
              <a:t>api</a:t>
            </a:r>
            <a:r>
              <a:rPr lang="en-US" dirty="0"/>
              <a:t>-gateway</a:t>
            </a:r>
          </a:p>
          <a:p>
            <a:pPr marL="457200" lvl="1" indent="0">
              <a:buNone/>
            </a:pPr>
            <a:r>
              <a:rPr lang="en-US" dirty="0"/>
              <a:t>  cloud:</a:t>
            </a:r>
          </a:p>
          <a:p>
            <a:pPr marL="457200" lvl="1" indent="0">
              <a:buNone/>
            </a:pPr>
            <a:r>
              <a:rPr lang="en-US" dirty="0"/>
              <a:t>    gateway:</a:t>
            </a:r>
          </a:p>
          <a:p>
            <a:pPr marL="457200" lvl="1" indent="0">
              <a:buNone/>
            </a:pPr>
            <a:r>
              <a:rPr lang="en-US" dirty="0"/>
              <a:t>      server:</a:t>
            </a:r>
          </a:p>
          <a:p>
            <a:pPr marL="457200" lvl="1" indent="0">
              <a:buNone/>
            </a:pPr>
            <a:r>
              <a:rPr lang="en-US" dirty="0"/>
              <a:t>        </a:t>
            </a:r>
            <a:r>
              <a:rPr lang="en-US" dirty="0" err="1"/>
              <a:t>webflux</a:t>
            </a:r>
            <a:r>
              <a:rPr lang="en-US" dirty="0"/>
              <a:t>:</a:t>
            </a:r>
          </a:p>
          <a:p>
            <a:pPr marL="457200" lvl="1" indent="0">
              <a:buNone/>
            </a:pPr>
            <a:r>
              <a:rPr lang="en-US" dirty="0"/>
              <a:t>          routes:</a:t>
            </a:r>
          </a:p>
          <a:p>
            <a:pPr marL="457200" lvl="1" indent="0">
              <a:buNone/>
            </a:pPr>
            <a:r>
              <a:rPr lang="en-US" dirty="0"/>
              <a:t>            - id: customer-service</a:t>
            </a:r>
          </a:p>
          <a:p>
            <a:pPr marL="457200" lvl="1" indent="0">
              <a:buNone/>
            </a:pPr>
            <a:r>
              <a:rPr lang="en-US" dirty="0"/>
              <a:t>              </a:t>
            </a:r>
            <a:r>
              <a:rPr lang="en-US" dirty="0" err="1"/>
              <a:t>uri</a:t>
            </a:r>
            <a:r>
              <a:rPr lang="en-US" dirty="0"/>
              <a:t>: </a:t>
            </a:r>
            <a:r>
              <a:rPr lang="en-US" dirty="0" err="1"/>
              <a:t>lb</a:t>
            </a:r>
            <a:r>
              <a:rPr lang="en-US" dirty="0"/>
              <a:t>://DATA-JPA-DSL-MULTIPART</a:t>
            </a:r>
          </a:p>
          <a:p>
            <a:pPr marL="457200" lvl="1" indent="0">
              <a:buNone/>
            </a:pPr>
            <a:r>
              <a:rPr lang="en-US" dirty="0"/>
              <a:t>              predicates:</a:t>
            </a:r>
          </a:p>
          <a:p>
            <a:pPr marL="457200" lvl="1" indent="0">
              <a:buNone/>
            </a:pPr>
            <a:r>
              <a:rPr lang="en-US" dirty="0"/>
              <a:t>                - Path=/</a:t>
            </a:r>
            <a:r>
              <a:rPr lang="en-US" dirty="0" err="1"/>
              <a:t>api</a:t>
            </a:r>
            <a:r>
              <a:rPr lang="en-US" dirty="0"/>
              <a:t>/v1/customers/**</a:t>
            </a:r>
          </a:p>
          <a:p>
            <a:pPr marL="457200" lvl="1" indent="0">
              <a:buNone/>
            </a:pPr>
            <a:r>
              <a:rPr lang="en-US" dirty="0"/>
              <a:t>server:</a:t>
            </a:r>
          </a:p>
          <a:p>
            <a:pPr marL="457200" lvl="1" indent="0">
              <a:buNone/>
            </a:pPr>
            <a:r>
              <a:rPr lang="en-US" dirty="0"/>
              <a:t>  port: 8060</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3952632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83B90-BC71-3B8E-1C37-720992D0BDEA}"/>
              </a:ext>
            </a:extLst>
          </p:cNvPr>
          <p:cNvSpPr>
            <a:spLocks noGrp="1"/>
          </p:cNvSpPr>
          <p:nvPr>
            <p:ph type="title"/>
          </p:nvPr>
        </p:nvSpPr>
        <p:spPr/>
        <p:txBody>
          <a:bodyPr/>
          <a:lstStyle/>
          <a:p>
            <a:r>
              <a:rPr lang="en-US" dirty="0" err="1"/>
              <a:t>application.yml</a:t>
            </a:r>
            <a:endParaRPr lang="en-US" dirty="0"/>
          </a:p>
        </p:txBody>
      </p:sp>
      <p:sp>
        <p:nvSpPr>
          <p:cNvPr id="3" name="Content Placeholder 2">
            <a:extLst>
              <a:ext uri="{FF2B5EF4-FFF2-40B4-BE49-F238E27FC236}">
                <a16:creationId xmlns:a16="http://schemas.microsoft.com/office/drawing/2014/main" id="{F02EE9F0-D14F-39AB-AEC4-36F8079D04C2}"/>
              </a:ext>
            </a:extLst>
          </p:cNvPr>
          <p:cNvSpPr>
            <a:spLocks noGrp="1"/>
          </p:cNvSpPr>
          <p:nvPr>
            <p:ph idx="1"/>
          </p:nvPr>
        </p:nvSpPr>
        <p:spPr/>
        <p:txBody>
          <a:bodyPr/>
          <a:lstStyle/>
          <a:p>
            <a:pPr marL="457200" lvl="1" indent="0">
              <a:buNone/>
            </a:pPr>
            <a:r>
              <a:rPr lang="en-US" dirty="0"/>
              <a:t>management:</a:t>
            </a:r>
          </a:p>
          <a:p>
            <a:pPr marL="457200" lvl="1" indent="0">
              <a:buNone/>
            </a:pPr>
            <a:r>
              <a:rPr lang="en-US" dirty="0"/>
              <a:t>  endpoints:</a:t>
            </a:r>
          </a:p>
          <a:p>
            <a:pPr marL="457200" lvl="1" indent="0">
              <a:buNone/>
            </a:pPr>
            <a:r>
              <a:rPr lang="en-US" dirty="0"/>
              <a:t>    web:</a:t>
            </a:r>
          </a:p>
          <a:p>
            <a:pPr marL="457200" lvl="1" indent="0">
              <a:buNone/>
            </a:pPr>
            <a:r>
              <a:rPr lang="en-US" dirty="0"/>
              <a:t>      exposure:</a:t>
            </a:r>
          </a:p>
          <a:p>
            <a:pPr marL="457200" lvl="1" indent="0">
              <a:buNone/>
            </a:pPr>
            <a:r>
              <a:rPr lang="en-US" dirty="0"/>
              <a:t>        include: '*'</a:t>
            </a:r>
          </a:p>
          <a:p>
            <a:pPr marL="457200" lvl="1" indent="0">
              <a:buNone/>
            </a:pPr>
            <a:r>
              <a:rPr lang="en-US" dirty="0"/>
              <a:t>  endpoint:</a:t>
            </a:r>
          </a:p>
          <a:p>
            <a:pPr marL="457200" lvl="1" indent="0">
              <a:buNone/>
            </a:pPr>
            <a:r>
              <a:rPr lang="en-US" dirty="0"/>
              <a:t>    gateway:</a:t>
            </a:r>
          </a:p>
          <a:p>
            <a:pPr marL="457200" lvl="1" indent="0">
              <a:buNone/>
            </a:pPr>
            <a:r>
              <a:rPr lang="en-US" dirty="0"/>
              <a:t>      access: unrestricted</a:t>
            </a:r>
          </a:p>
          <a:p>
            <a:pPr marL="457200" lvl="1" indent="0">
              <a:buNone/>
            </a:pPr>
            <a:r>
              <a:rPr lang="en-US" dirty="0"/>
              <a:t>    health:</a:t>
            </a:r>
          </a:p>
          <a:p>
            <a:pPr marL="457200" lvl="1" indent="0">
              <a:buNone/>
            </a:pPr>
            <a:r>
              <a:rPr lang="en-US" dirty="0"/>
              <a:t>      show-details: always</a:t>
            </a:r>
          </a:p>
          <a:p>
            <a:endParaRPr lang="en-US" dirty="0"/>
          </a:p>
        </p:txBody>
      </p:sp>
    </p:spTree>
    <p:extLst>
      <p:ext uri="{BB962C8B-B14F-4D97-AF65-F5344CB8AC3E}">
        <p14:creationId xmlns:p14="http://schemas.microsoft.com/office/powerpoint/2010/main" val="1589819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Title 1">
            <a:extLst>
              <a:ext uri="{FF2B5EF4-FFF2-40B4-BE49-F238E27FC236}">
                <a16:creationId xmlns:a16="http://schemas.microsoft.com/office/drawing/2014/main" id="{3259A1C4-979B-6BBD-34AC-E70BDF3DFA44}"/>
              </a:ext>
            </a:extLst>
          </p:cNvPr>
          <p:cNvSpPr>
            <a:spLocks noGrp="1" noChangeArrowheads="1"/>
          </p:cNvSpPr>
          <p:nvPr>
            <p:ph type="title"/>
          </p:nvPr>
        </p:nvSpPr>
        <p:spPr>
          <a:xfrm>
            <a:off x="457200" y="457200"/>
            <a:ext cx="8229600" cy="411163"/>
          </a:xfrm>
        </p:spPr>
        <p:txBody>
          <a:bodyPr/>
          <a:lstStyle/>
          <a:p>
            <a:r>
              <a:rPr lang="en-US" altLang="en-US" dirty="0" err="1"/>
              <a:t>application.yml</a:t>
            </a:r>
            <a:r>
              <a:rPr lang="en-US" altLang="en-US" dirty="0"/>
              <a:t>- Older Version</a:t>
            </a:r>
            <a:endParaRPr lang="en-IN" altLang="en-US" dirty="0"/>
          </a:p>
        </p:txBody>
      </p:sp>
      <p:sp>
        <p:nvSpPr>
          <p:cNvPr id="33795" name="Content Placeholder 2">
            <a:extLst>
              <a:ext uri="{FF2B5EF4-FFF2-40B4-BE49-F238E27FC236}">
                <a16:creationId xmlns:a16="http://schemas.microsoft.com/office/drawing/2014/main" id="{1DBF7497-903A-9989-B810-C0A93B774984}"/>
              </a:ext>
            </a:extLst>
          </p:cNvPr>
          <p:cNvSpPr>
            <a:spLocks noGrp="1" noChangeArrowheads="1"/>
          </p:cNvSpPr>
          <p:nvPr>
            <p:ph idx="1"/>
          </p:nvPr>
        </p:nvSpPr>
        <p:spPr>
          <a:xfrm>
            <a:off x="457200" y="868363"/>
            <a:ext cx="8229600" cy="5257800"/>
          </a:xfrm>
        </p:spPr>
        <p:txBody>
          <a:bodyPr/>
          <a:lstStyle/>
          <a:p>
            <a:pPr marL="457200" lvl="1" indent="0">
              <a:buFontTx/>
              <a:buNone/>
              <a:defRPr/>
            </a:pPr>
            <a:r>
              <a:rPr lang="en-IN" sz="2000" dirty="0">
                <a:solidFill>
                  <a:srgbClr val="00C832"/>
                </a:solidFill>
                <a:latin typeface="Consolas" panose="020B0609020204030204" pitchFamily="49" charset="0"/>
              </a:rPr>
              <a:t>spring:</a:t>
            </a:r>
          </a:p>
          <a:p>
            <a:pPr marL="457200" lvl="1" indent="0">
              <a:buFontTx/>
              <a:buNone/>
              <a:defRPr/>
            </a:pPr>
            <a:r>
              <a:rPr lang="en-IN" sz="2000" dirty="0">
                <a:solidFill>
                  <a:srgbClr val="000000"/>
                </a:solidFill>
                <a:latin typeface="Consolas" panose="020B0609020204030204" pitchFamily="49" charset="0"/>
              </a:rPr>
              <a:t>  </a:t>
            </a:r>
            <a:r>
              <a:rPr lang="en-IN" sz="2000" dirty="0">
                <a:solidFill>
                  <a:srgbClr val="00C832"/>
                </a:solidFill>
                <a:latin typeface="Consolas" panose="020B0609020204030204" pitchFamily="49" charset="0"/>
              </a:rPr>
              <a:t>cloud:</a:t>
            </a:r>
          </a:p>
          <a:p>
            <a:pPr marL="457200" lvl="1" indent="0">
              <a:buFontTx/>
              <a:buNone/>
              <a:defRPr/>
            </a:pPr>
            <a:r>
              <a:rPr lang="en-IN" sz="2000" dirty="0">
                <a:solidFill>
                  <a:srgbClr val="000000"/>
                </a:solidFill>
                <a:latin typeface="Consolas" panose="020B0609020204030204" pitchFamily="49" charset="0"/>
              </a:rPr>
              <a:t>    </a:t>
            </a:r>
            <a:r>
              <a:rPr lang="en-IN" sz="2000" dirty="0">
                <a:solidFill>
                  <a:srgbClr val="00C832"/>
                </a:solidFill>
                <a:latin typeface="Consolas" panose="020B0609020204030204" pitchFamily="49" charset="0"/>
              </a:rPr>
              <a:t>gateway:</a:t>
            </a:r>
          </a:p>
          <a:p>
            <a:pPr marL="457200" lvl="1" indent="0">
              <a:buFontTx/>
              <a:buNone/>
              <a:defRPr/>
            </a:pPr>
            <a:r>
              <a:rPr lang="en-IN" sz="2000" dirty="0">
                <a:solidFill>
                  <a:srgbClr val="000000"/>
                </a:solidFill>
                <a:latin typeface="Consolas" panose="020B0609020204030204" pitchFamily="49" charset="0"/>
              </a:rPr>
              <a:t>      </a:t>
            </a:r>
            <a:r>
              <a:rPr lang="en-IN" sz="2000" dirty="0">
                <a:solidFill>
                  <a:srgbClr val="00C832"/>
                </a:solidFill>
                <a:latin typeface="Consolas" panose="020B0609020204030204" pitchFamily="49" charset="0"/>
              </a:rPr>
              <a:t>routes:</a:t>
            </a:r>
          </a:p>
          <a:p>
            <a:pPr marL="457200" lvl="1" indent="0">
              <a:buFontTx/>
              <a:buNone/>
              <a:defRPr/>
            </a:pPr>
            <a:r>
              <a:rPr lang="en-IN" sz="2000" dirty="0">
                <a:solidFill>
                  <a:srgbClr val="000000"/>
                </a:solidFill>
                <a:latin typeface="Consolas" panose="020B0609020204030204" pitchFamily="49" charset="0"/>
              </a:rPr>
              <a:t>      </a:t>
            </a:r>
            <a:r>
              <a:rPr lang="en-IN" sz="2000" dirty="0">
                <a:solidFill>
                  <a:srgbClr val="00C832"/>
                </a:solidFill>
                <a:latin typeface="Consolas" panose="020B0609020204030204" pitchFamily="49" charset="0"/>
              </a:rPr>
              <a:t>- id:</a:t>
            </a:r>
            <a:r>
              <a:rPr lang="en-IN" sz="2000" dirty="0">
                <a:solidFill>
                  <a:srgbClr val="000000"/>
                </a:solidFill>
                <a:latin typeface="Consolas" panose="020B0609020204030204" pitchFamily="49" charset="0"/>
              </a:rPr>
              <a:t> review-module</a:t>
            </a:r>
          </a:p>
          <a:p>
            <a:pPr marL="457200" lvl="1" indent="0">
              <a:buFontTx/>
              <a:buNone/>
              <a:defRPr/>
            </a:pPr>
            <a:r>
              <a:rPr lang="en-IN" sz="2000" dirty="0">
                <a:solidFill>
                  <a:srgbClr val="000000"/>
                </a:solidFill>
                <a:latin typeface="Consolas" panose="020B0609020204030204" pitchFamily="49" charset="0"/>
              </a:rPr>
              <a:t>        </a:t>
            </a:r>
            <a:r>
              <a:rPr lang="en-IN" sz="2000" dirty="0" err="1">
                <a:solidFill>
                  <a:srgbClr val="00C832"/>
                </a:solidFill>
                <a:latin typeface="Consolas" panose="020B0609020204030204" pitchFamily="49" charset="0"/>
              </a:rPr>
              <a:t>uri</a:t>
            </a:r>
            <a:r>
              <a:rPr lang="en-IN" sz="2000" dirty="0">
                <a:solidFill>
                  <a:srgbClr val="00C832"/>
                </a:solidFill>
                <a:latin typeface="Consolas" panose="020B0609020204030204" pitchFamily="49" charset="0"/>
              </a:rPr>
              <a:t>:</a:t>
            </a:r>
            <a:r>
              <a:rPr lang="en-IN" sz="2000" dirty="0">
                <a:solidFill>
                  <a:srgbClr val="000000"/>
                </a:solidFill>
                <a:latin typeface="Consolas" panose="020B0609020204030204" pitchFamily="49" charset="0"/>
              </a:rPr>
              <a:t> </a:t>
            </a:r>
            <a:r>
              <a:rPr lang="en-IN" sz="2000" b="1" dirty="0">
                <a:solidFill>
                  <a:srgbClr val="C00000"/>
                </a:solidFill>
                <a:latin typeface="Consolas" panose="020B0609020204030204" pitchFamily="49" charset="0"/>
              </a:rPr>
              <a:t>lb:</a:t>
            </a:r>
            <a:r>
              <a:rPr lang="en-IN" sz="2000" dirty="0">
                <a:solidFill>
                  <a:srgbClr val="000000"/>
                </a:solidFill>
                <a:latin typeface="Consolas" panose="020B0609020204030204" pitchFamily="49" charset="0"/>
              </a:rPr>
              <a:t>//REVIEW-SERVICE</a:t>
            </a:r>
          </a:p>
          <a:p>
            <a:pPr marL="457200" lvl="1" indent="0">
              <a:buFontTx/>
              <a:buNone/>
              <a:defRPr/>
            </a:pPr>
            <a:r>
              <a:rPr lang="en-IN" sz="2000" dirty="0">
                <a:solidFill>
                  <a:srgbClr val="000000"/>
                </a:solidFill>
                <a:latin typeface="Consolas" panose="020B0609020204030204" pitchFamily="49" charset="0"/>
              </a:rPr>
              <a:t>        </a:t>
            </a:r>
            <a:r>
              <a:rPr lang="en-IN" sz="2000" dirty="0">
                <a:solidFill>
                  <a:srgbClr val="00C832"/>
                </a:solidFill>
                <a:latin typeface="Consolas" panose="020B0609020204030204" pitchFamily="49" charset="0"/>
              </a:rPr>
              <a:t>predicates:</a:t>
            </a:r>
          </a:p>
          <a:p>
            <a:pPr marL="457200" lvl="1" indent="0">
              <a:buFontTx/>
              <a:buNone/>
              <a:defRPr/>
            </a:pPr>
            <a:r>
              <a:rPr lang="en-IN" sz="2000" dirty="0">
                <a:solidFill>
                  <a:srgbClr val="000000"/>
                </a:solidFill>
                <a:latin typeface="Consolas" panose="020B0609020204030204" pitchFamily="49" charset="0"/>
              </a:rPr>
              <a:t>        - Path=/</a:t>
            </a:r>
            <a:r>
              <a:rPr lang="en-IN" sz="2000" dirty="0" err="1">
                <a:solidFill>
                  <a:srgbClr val="000000"/>
                </a:solidFill>
                <a:latin typeface="Consolas" panose="020B0609020204030204" pitchFamily="49" charset="0"/>
              </a:rPr>
              <a:t>api</a:t>
            </a:r>
            <a:r>
              <a:rPr lang="en-IN" sz="2000" dirty="0">
                <a:solidFill>
                  <a:srgbClr val="000000"/>
                </a:solidFill>
                <a:latin typeface="Consolas" panose="020B0609020204030204" pitchFamily="49" charset="0"/>
              </a:rPr>
              <a:t>/v1/reviews/</a:t>
            </a:r>
            <a:r>
              <a:rPr lang="en-IN" sz="2000" dirty="0">
                <a:solidFill>
                  <a:srgbClr val="AF00FF"/>
                </a:solidFill>
                <a:latin typeface="Consolas" panose="020B0609020204030204" pitchFamily="49" charset="0"/>
              </a:rPr>
              <a:t>**</a:t>
            </a:r>
            <a:r>
              <a:rPr lang="en-IN" sz="2000" dirty="0">
                <a:solidFill>
                  <a:srgbClr val="000000"/>
                </a:solidFill>
                <a:latin typeface="Consolas" panose="020B0609020204030204" pitchFamily="49" charset="0"/>
              </a:rPr>
              <a:t> </a:t>
            </a:r>
          </a:p>
          <a:p>
            <a:pPr marL="457200" lvl="1" indent="0">
              <a:buFontTx/>
              <a:buNone/>
              <a:defRPr/>
            </a:pPr>
            <a:r>
              <a:rPr lang="en-IN" sz="2000" dirty="0">
                <a:solidFill>
                  <a:srgbClr val="000000"/>
                </a:solidFill>
                <a:latin typeface="Consolas" panose="020B0609020204030204" pitchFamily="49" charset="0"/>
              </a:rPr>
              <a:t>  </a:t>
            </a:r>
            <a:r>
              <a:rPr lang="en-IN" sz="2000" dirty="0">
                <a:solidFill>
                  <a:srgbClr val="00C832"/>
                </a:solidFill>
                <a:latin typeface="Consolas" panose="020B0609020204030204" pitchFamily="49" charset="0"/>
              </a:rPr>
              <a:t>application:</a:t>
            </a:r>
          </a:p>
          <a:p>
            <a:pPr marL="457200" lvl="1" indent="0">
              <a:buFontTx/>
              <a:buNone/>
              <a:defRPr/>
            </a:pPr>
            <a:r>
              <a:rPr lang="en-IN" sz="2000" dirty="0">
                <a:solidFill>
                  <a:srgbClr val="000000"/>
                </a:solidFill>
                <a:latin typeface="Consolas" panose="020B0609020204030204" pitchFamily="49" charset="0"/>
              </a:rPr>
              <a:t>    </a:t>
            </a:r>
            <a:r>
              <a:rPr lang="en-IN" sz="2000" dirty="0">
                <a:solidFill>
                  <a:srgbClr val="00C832"/>
                </a:solidFill>
                <a:latin typeface="Consolas" panose="020B0609020204030204" pitchFamily="49" charset="0"/>
              </a:rPr>
              <a:t>name:</a:t>
            </a:r>
            <a:r>
              <a:rPr lang="en-IN" sz="2000" dirty="0">
                <a:solidFill>
                  <a:srgbClr val="000000"/>
                </a:solidFill>
                <a:latin typeface="Consolas" panose="020B0609020204030204" pitchFamily="49" charset="0"/>
              </a:rPr>
              <a:t> cloud-gateway</a:t>
            </a:r>
          </a:p>
          <a:p>
            <a:pPr marL="457200" lvl="1" indent="0">
              <a:buFontTx/>
              <a:buNone/>
              <a:defRPr/>
            </a:pPr>
            <a:endParaRPr lang="en-IN" altLang="en-US" sz="1800" dirty="0">
              <a:solidFill>
                <a:srgbClr val="2AA198"/>
              </a:solidFill>
              <a:latin typeface="Consolas" panose="020B0609020204030204" pitchFamily="49" charset="0"/>
            </a:endParaRPr>
          </a:p>
          <a:p>
            <a:pPr marL="457200" lvl="1" indent="0">
              <a:buFontTx/>
              <a:buNone/>
              <a:defRPr/>
            </a:pPr>
            <a:r>
              <a:rPr lang="en-IN" altLang="en-US" sz="1800" dirty="0">
                <a:solidFill>
                  <a:srgbClr val="2AA198"/>
                </a:solidFill>
                <a:latin typeface="Consolas" panose="020B0609020204030204" pitchFamily="49" charset="0"/>
              </a:rPr>
              <a:t>Invoke the service :</a:t>
            </a:r>
          </a:p>
          <a:p>
            <a:pPr marL="457200" lvl="1" indent="0">
              <a:buFontTx/>
              <a:buNone/>
              <a:defRPr/>
            </a:pPr>
            <a:r>
              <a:rPr lang="en-IN" altLang="en-US" sz="1800" dirty="0">
                <a:solidFill>
                  <a:srgbClr val="2AA198"/>
                </a:solidFill>
                <a:latin typeface="Consolas" panose="020B0609020204030204" pitchFamily="49" charset="0"/>
              </a:rPr>
              <a:t>           http://localhost:8080/api/v1/reviews</a:t>
            </a:r>
          </a:p>
          <a:p>
            <a:pPr lvl="1">
              <a:defRPr/>
            </a:pPr>
            <a:endParaRPr lang="en-IN" altLang="en-US" sz="1800" dirty="0">
              <a:solidFill>
                <a:srgbClr val="2AA198"/>
              </a:solidFill>
              <a:latin typeface="Consolas" panose="020B0609020204030204" pitchFamily="49" charset="0"/>
            </a:endParaRPr>
          </a:p>
          <a:p>
            <a:pPr marL="457200" lvl="1" indent="0">
              <a:buFontTx/>
              <a:buNone/>
              <a:defRPr/>
            </a:pPr>
            <a:r>
              <a:rPr lang="en-IN" altLang="en-US" sz="1800" dirty="0">
                <a:solidFill>
                  <a:srgbClr val="000000"/>
                </a:solidFill>
                <a:latin typeface="Consolas" panose="020B0609020204030204" pitchFamily="49" charset="0"/>
              </a:rPr>
              <a:t>            </a:t>
            </a:r>
          </a:p>
          <a:p>
            <a:pPr marL="457200" lvl="1" indent="0">
              <a:buFontTx/>
              <a:buNone/>
              <a:defRPr/>
            </a:pPr>
            <a:endParaRPr lang="en-IN" altLang="en-US" sz="1800" dirty="0"/>
          </a:p>
        </p:txBody>
      </p:sp>
    </p:spTree>
    <p:extLst>
      <p:ext uri="{BB962C8B-B14F-4D97-AF65-F5344CB8AC3E}">
        <p14:creationId xmlns:p14="http://schemas.microsoft.com/office/powerpoint/2010/main" val="1176122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Title 1">
            <a:extLst>
              <a:ext uri="{FF2B5EF4-FFF2-40B4-BE49-F238E27FC236}">
                <a16:creationId xmlns:a16="http://schemas.microsoft.com/office/drawing/2014/main" id="{8214980A-81C0-B1FE-162F-847F0734D15E}"/>
              </a:ext>
            </a:extLst>
          </p:cNvPr>
          <p:cNvSpPr>
            <a:spLocks noGrp="1" noChangeArrowheads="1"/>
          </p:cNvSpPr>
          <p:nvPr>
            <p:ph type="title"/>
          </p:nvPr>
        </p:nvSpPr>
        <p:spPr/>
        <p:txBody>
          <a:bodyPr/>
          <a:lstStyle/>
          <a:p>
            <a:r>
              <a:rPr lang="en-US" altLang="en-US"/>
              <a:t>Actuator Endpoints</a:t>
            </a:r>
            <a:br>
              <a:rPr lang="en-US" altLang="en-US"/>
            </a:br>
            <a:endParaRPr lang="en-IN" altLang="en-US"/>
          </a:p>
        </p:txBody>
      </p:sp>
      <p:sp>
        <p:nvSpPr>
          <p:cNvPr id="107522" name="Content Placeholder 2">
            <a:extLst>
              <a:ext uri="{FF2B5EF4-FFF2-40B4-BE49-F238E27FC236}">
                <a16:creationId xmlns:a16="http://schemas.microsoft.com/office/drawing/2014/main" id="{2C2D3137-2EA7-26DE-18EF-0ED681C8C620}"/>
              </a:ext>
            </a:extLst>
          </p:cNvPr>
          <p:cNvSpPr>
            <a:spLocks noGrp="1" noChangeArrowheads="1"/>
          </p:cNvSpPr>
          <p:nvPr>
            <p:ph idx="1"/>
          </p:nvPr>
        </p:nvSpPr>
        <p:spPr/>
        <p:txBody>
          <a:bodyPr/>
          <a:lstStyle/>
          <a:p>
            <a:pPr>
              <a:lnSpc>
                <a:spcPct val="150000"/>
              </a:lnSpc>
            </a:pPr>
            <a:r>
              <a:rPr lang="en-US" altLang="en-US" sz="2000"/>
              <a:t>Base Path :</a:t>
            </a:r>
          </a:p>
          <a:p>
            <a:pPr lvl="1">
              <a:lnSpc>
                <a:spcPct val="150000"/>
              </a:lnSpc>
            </a:pPr>
            <a:r>
              <a:rPr lang="en-US" altLang="en-US" sz="2000"/>
              <a:t>/actuator/gateway</a:t>
            </a:r>
          </a:p>
          <a:p>
            <a:pPr>
              <a:lnSpc>
                <a:spcPct val="150000"/>
              </a:lnSpc>
            </a:pPr>
            <a:r>
              <a:rPr lang="en-US" altLang="en-US" sz="2000" b="1"/>
              <a:t>/actuator/gateway/routefilters</a:t>
            </a:r>
          </a:p>
          <a:p>
            <a:pPr lvl="1">
              <a:lnSpc>
                <a:spcPct val="150000"/>
              </a:lnSpc>
            </a:pPr>
            <a:r>
              <a:rPr lang="en-US" altLang="en-US" sz="2000"/>
              <a:t>Displays the list of global filters applied to the routes.</a:t>
            </a:r>
          </a:p>
          <a:p>
            <a:pPr>
              <a:lnSpc>
                <a:spcPct val="150000"/>
              </a:lnSpc>
            </a:pPr>
            <a:r>
              <a:rPr lang="en-US" altLang="en-US" sz="2000" b="1"/>
              <a:t>/actuator/gateway/routes</a:t>
            </a:r>
          </a:p>
          <a:p>
            <a:pPr lvl="1">
              <a:lnSpc>
                <a:spcPct val="150000"/>
              </a:lnSpc>
            </a:pPr>
            <a:r>
              <a:rPr lang="en-US" altLang="en-US" sz="2000"/>
              <a:t>Displays the list of routes defined in the gateway.</a:t>
            </a:r>
          </a:p>
          <a:p>
            <a:pPr>
              <a:lnSpc>
                <a:spcPct val="150000"/>
              </a:lnSpc>
            </a:pPr>
            <a:r>
              <a:rPr lang="en-US" altLang="en-US" sz="2000" b="1"/>
              <a:t>/actuator/gateway/routes/{id}</a:t>
            </a:r>
          </a:p>
          <a:p>
            <a:pPr lvl="1">
              <a:lnSpc>
                <a:spcPct val="150000"/>
              </a:lnSpc>
            </a:pPr>
            <a:r>
              <a:rPr lang="en-US" altLang="en-US" sz="2000"/>
              <a:t>Displays information about a particular route.</a:t>
            </a:r>
          </a:p>
          <a:p>
            <a:pPr>
              <a:lnSpc>
                <a:spcPct val="150000"/>
              </a:lnSpc>
            </a:pPr>
            <a:endParaRPr lang="en-US" altLang="en-US" sz="2000"/>
          </a:p>
          <a:p>
            <a:pPr>
              <a:lnSpc>
                <a:spcPct val="150000"/>
              </a:lnSpc>
            </a:pPr>
            <a:endParaRPr lang="en-IN" altLang="en-US" sz="2000"/>
          </a:p>
        </p:txBody>
      </p:sp>
    </p:spTree>
    <p:extLst>
      <p:ext uri="{BB962C8B-B14F-4D97-AF65-F5344CB8AC3E}">
        <p14:creationId xmlns:p14="http://schemas.microsoft.com/office/powerpoint/2010/main" val="3043173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a:extLst>
              <a:ext uri="{FF2B5EF4-FFF2-40B4-BE49-F238E27FC236}">
                <a16:creationId xmlns:a16="http://schemas.microsoft.com/office/drawing/2014/main" id="{200D9CE3-3182-3CC2-D277-9E1DD9496890}"/>
              </a:ext>
            </a:extLst>
          </p:cNvPr>
          <p:cNvSpPr>
            <a:spLocks noGrp="1" noChangeArrowheads="1"/>
          </p:cNvSpPr>
          <p:nvPr>
            <p:ph type="title"/>
          </p:nvPr>
        </p:nvSpPr>
        <p:spPr/>
        <p:txBody>
          <a:bodyPr/>
          <a:lstStyle/>
          <a:p>
            <a:r>
              <a:rPr lang="en-US" altLang="en-US"/>
              <a:t>Cloud Gateway Filters</a:t>
            </a:r>
            <a:endParaRPr lang="en-IN" altLang="en-US"/>
          </a:p>
        </p:txBody>
      </p:sp>
      <p:pic>
        <p:nvPicPr>
          <p:cNvPr id="108546" name="Picture 6" descr="Spring Cloud Gateway Tutorial | DevGlan">
            <a:extLst>
              <a:ext uri="{FF2B5EF4-FFF2-40B4-BE49-F238E27FC236}">
                <a16:creationId xmlns:a16="http://schemas.microsoft.com/office/drawing/2014/main" id="{46520115-9753-DC5B-C7B7-F95D19021F5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47675" y="1066800"/>
            <a:ext cx="8239125" cy="4953000"/>
          </a:xfrm>
          <a:noFill/>
        </p:spPr>
      </p:pic>
    </p:spTree>
    <p:extLst>
      <p:ext uri="{BB962C8B-B14F-4D97-AF65-F5344CB8AC3E}">
        <p14:creationId xmlns:p14="http://schemas.microsoft.com/office/powerpoint/2010/main" val="2160914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A6F6-84A1-B40C-8B1B-7E0F68EC77A0}"/>
              </a:ext>
            </a:extLst>
          </p:cNvPr>
          <p:cNvSpPr>
            <a:spLocks noGrp="1"/>
          </p:cNvSpPr>
          <p:nvPr>
            <p:ph type="title"/>
          </p:nvPr>
        </p:nvSpPr>
        <p:spPr/>
        <p:txBody>
          <a:bodyPr/>
          <a:lstStyle/>
          <a:p>
            <a:r>
              <a:rPr lang="en-US" dirty="0"/>
              <a:t>Global Filter</a:t>
            </a:r>
          </a:p>
        </p:txBody>
      </p:sp>
      <p:sp>
        <p:nvSpPr>
          <p:cNvPr id="3" name="Content Placeholder 2">
            <a:extLst>
              <a:ext uri="{FF2B5EF4-FFF2-40B4-BE49-F238E27FC236}">
                <a16:creationId xmlns:a16="http://schemas.microsoft.com/office/drawing/2014/main" id="{9697531F-26E5-5EC6-5A63-4B28624C2E28}"/>
              </a:ext>
            </a:extLst>
          </p:cNvPr>
          <p:cNvSpPr>
            <a:spLocks noGrp="1"/>
          </p:cNvSpPr>
          <p:nvPr>
            <p:ph idx="1"/>
          </p:nvPr>
        </p:nvSpPr>
        <p:spPr/>
        <p:txBody>
          <a:bodyPr/>
          <a:lstStyle/>
          <a:p>
            <a:pPr>
              <a:lnSpc>
                <a:spcPct val="150000"/>
              </a:lnSpc>
            </a:pPr>
            <a:r>
              <a:rPr lang="en-IN" sz="1800" b="1" dirty="0"/>
              <a:t>Its applied to every request</a:t>
            </a:r>
            <a:r>
              <a:rPr lang="en-IN" sz="1800" dirty="0"/>
              <a:t> that matches a route in the gateway. </a:t>
            </a:r>
          </a:p>
          <a:p>
            <a:pPr>
              <a:lnSpc>
                <a:spcPct val="150000"/>
              </a:lnSpc>
            </a:pPr>
            <a:r>
              <a:rPr lang="en-IN" sz="1800" dirty="0"/>
              <a:t>Used for cross-cutting concerns like universal logging, global security (JWT validation), and metrics collection.</a:t>
            </a:r>
          </a:p>
          <a:p>
            <a:pPr>
              <a:lnSpc>
                <a:spcPct val="150000"/>
              </a:lnSpc>
            </a:pPr>
            <a:r>
              <a:rPr lang="en-IN" sz="1800" dirty="0"/>
              <a:t>Create a class implementing </a:t>
            </a:r>
            <a:r>
              <a:rPr lang="en-IN" sz="1800" dirty="0" err="1"/>
              <a:t>GlobalFilter</a:t>
            </a:r>
            <a:r>
              <a:rPr lang="en-IN" sz="1800" dirty="0"/>
              <a:t> and Ordered interfaces and define it as a @Bean.</a:t>
            </a:r>
          </a:p>
          <a:p>
            <a:pPr lvl="1">
              <a:lnSpc>
                <a:spcPct val="150000"/>
              </a:lnSpc>
            </a:pPr>
            <a:r>
              <a:rPr lang="en-IN" sz="1800" dirty="0"/>
              <a:t>Since its registered as a bean, it is automatically active for all routes. </a:t>
            </a:r>
          </a:p>
          <a:p>
            <a:pPr marL="0" indent="0">
              <a:lnSpc>
                <a:spcPct val="150000"/>
              </a:lnSpc>
              <a:buNone/>
            </a:pPr>
            <a:br>
              <a:rPr lang="en-IN" sz="1800" dirty="0"/>
            </a:br>
            <a:endParaRPr lang="en-US" sz="1800" dirty="0"/>
          </a:p>
          <a:p>
            <a:endParaRPr lang="en-US" sz="1800" dirty="0"/>
          </a:p>
        </p:txBody>
      </p:sp>
    </p:spTree>
    <p:extLst>
      <p:ext uri="{BB962C8B-B14F-4D97-AF65-F5344CB8AC3E}">
        <p14:creationId xmlns:p14="http://schemas.microsoft.com/office/powerpoint/2010/main" val="3010795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0F303-9AB4-FA2F-8BAF-80B86B6E14D1}"/>
              </a:ext>
            </a:extLst>
          </p:cNvPr>
          <p:cNvSpPr>
            <a:spLocks noGrp="1"/>
          </p:cNvSpPr>
          <p:nvPr>
            <p:ph type="title"/>
          </p:nvPr>
        </p:nvSpPr>
        <p:spPr/>
        <p:txBody>
          <a:bodyPr/>
          <a:lstStyle/>
          <a:p>
            <a:r>
              <a:rPr lang="en-US" dirty="0"/>
              <a:t>Gateway Filter</a:t>
            </a:r>
          </a:p>
        </p:txBody>
      </p:sp>
      <p:sp>
        <p:nvSpPr>
          <p:cNvPr id="3" name="Content Placeholder 2">
            <a:extLst>
              <a:ext uri="{FF2B5EF4-FFF2-40B4-BE49-F238E27FC236}">
                <a16:creationId xmlns:a16="http://schemas.microsoft.com/office/drawing/2014/main" id="{92E095F3-A991-6B59-DEDC-5786BEAB4D3C}"/>
              </a:ext>
            </a:extLst>
          </p:cNvPr>
          <p:cNvSpPr>
            <a:spLocks noGrp="1"/>
          </p:cNvSpPr>
          <p:nvPr>
            <p:ph idx="1"/>
          </p:nvPr>
        </p:nvSpPr>
        <p:spPr/>
        <p:txBody>
          <a:bodyPr/>
          <a:lstStyle/>
          <a:p>
            <a:pPr>
              <a:lnSpc>
                <a:spcPct val="150000"/>
              </a:lnSpc>
            </a:pPr>
            <a:r>
              <a:rPr lang="en-IN" sz="2000" dirty="0"/>
              <a:t>It’s a Route-Specific Filter</a:t>
            </a:r>
          </a:p>
          <a:p>
            <a:pPr lvl="1">
              <a:lnSpc>
                <a:spcPct val="150000"/>
              </a:lnSpc>
            </a:pPr>
            <a:r>
              <a:rPr lang="en-IN" sz="1800" dirty="0"/>
              <a:t>Applied </a:t>
            </a:r>
            <a:r>
              <a:rPr lang="en-IN" sz="1800" b="1" dirty="0"/>
              <a:t>only to specific routes</a:t>
            </a:r>
            <a:r>
              <a:rPr lang="en-IN" sz="1800" dirty="0"/>
              <a:t> </a:t>
            </a:r>
          </a:p>
          <a:p>
            <a:pPr>
              <a:lnSpc>
                <a:spcPct val="150000"/>
              </a:lnSpc>
            </a:pPr>
            <a:r>
              <a:rPr lang="en-IN" sz="2000" dirty="0"/>
              <a:t>Used for route-specific tasks, such as adding a header to a specific service, stripping a URL prefix</a:t>
            </a:r>
          </a:p>
          <a:p>
            <a:pPr>
              <a:lnSpc>
                <a:spcPct val="150000"/>
              </a:lnSpc>
            </a:pPr>
            <a:r>
              <a:rPr lang="en-IN" sz="2000" dirty="0"/>
              <a:t>Created using a </a:t>
            </a:r>
            <a:r>
              <a:rPr lang="en-IN" sz="2000" dirty="0" err="1"/>
              <a:t>GatewayFilter</a:t>
            </a:r>
            <a:r>
              <a:rPr lang="en-IN" sz="2000" dirty="0"/>
              <a:t> or </a:t>
            </a:r>
            <a:r>
              <a:rPr lang="en-IN" sz="2000" dirty="0" err="1"/>
              <a:t>GatewayFilterFactory</a:t>
            </a:r>
            <a:r>
              <a:rPr lang="en-IN" sz="2000" dirty="0"/>
              <a:t>.</a:t>
            </a:r>
          </a:p>
          <a:p>
            <a:pPr>
              <a:lnSpc>
                <a:spcPct val="150000"/>
              </a:lnSpc>
            </a:pPr>
            <a:r>
              <a:rPr lang="en-IN" sz="2000" dirty="0"/>
              <a:t>Listed under the filters section for a specific route in configuration file. </a:t>
            </a:r>
          </a:p>
          <a:p>
            <a:pPr marL="0" indent="0">
              <a:buNone/>
            </a:pPr>
            <a:br>
              <a:rPr lang="en-IN" sz="2000" dirty="0"/>
            </a:br>
            <a:endParaRPr lang="en-US" sz="2000" dirty="0"/>
          </a:p>
          <a:p>
            <a:endParaRPr lang="en-US" sz="2000" dirty="0"/>
          </a:p>
        </p:txBody>
      </p:sp>
    </p:spTree>
    <p:extLst>
      <p:ext uri="{BB962C8B-B14F-4D97-AF65-F5344CB8AC3E}">
        <p14:creationId xmlns:p14="http://schemas.microsoft.com/office/powerpoint/2010/main" val="4103261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a:extLst>
              <a:ext uri="{FF2B5EF4-FFF2-40B4-BE49-F238E27FC236}">
                <a16:creationId xmlns:a16="http://schemas.microsoft.com/office/drawing/2014/main" id="{EE93D59E-74A3-680D-DFAC-20DD3B7636D7}"/>
              </a:ext>
            </a:extLst>
          </p:cNvPr>
          <p:cNvSpPr>
            <a:spLocks noGrp="1" noChangeArrowheads="1"/>
          </p:cNvSpPr>
          <p:nvPr>
            <p:ph type="title"/>
          </p:nvPr>
        </p:nvSpPr>
        <p:spPr/>
        <p:txBody>
          <a:bodyPr/>
          <a:lstStyle/>
          <a:p>
            <a:r>
              <a:rPr lang="en-US" altLang="en-US"/>
              <a:t>Global Filters</a:t>
            </a:r>
            <a:endParaRPr lang="en-IN" altLang="en-US"/>
          </a:p>
        </p:txBody>
      </p:sp>
      <p:sp>
        <p:nvSpPr>
          <p:cNvPr id="109570" name="Content Placeholder 2">
            <a:extLst>
              <a:ext uri="{FF2B5EF4-FFF2-40B4-BE49-F238E27FC236}">
                <a16:creationId xmlns:a16="http://schemas.microsoft.com/office/drawing/2014/main" id="{500BBD88-A6B8-8F61-E16A-1414BB24DCF7}"/>
              </a:ext>
            </a:extLst>
          </p:cNvPr>
          <p:cNvSpPr>
            <a:spLocks noGrp="1" noChangeArrowheads="1"/>
          </p:cNvSpPr>
          <p:nvPr>
            <p:ph idx="1"/>
          </p:nvPr>
        </p:nvSpPr>
        <p:spPr/>
        <p:txBody>
          <a:bodyPr/>
          <a:lstStyle/>
          <a:p>
            <a:r>
              <a:rPr lang="en-US" altLang="en-US" sz="2000"/>
              <a:t>Created by implementing the </a:t>
            </a:r>
            <a:r>
              <a:rPr lang="en-US" altLang="en-US" sz="2000" b="1">
                <a:solidFill>
                  <a:srgbClr val="C00000"/>
                </a:solidFill>
              </a:rPr>
              <a:t>Interface GlobalFilter</a:t>
            </a:r>
            <a:r>
              <a:rPr lang="en-US" altLang="en-US" sz="2000"/>
              <a:t> with one Method filter()</a:t>
            </a:r>
          </a:p>
          <a:p>
            <a:endParaRPr lang="en-IN" altLang="en-US" sz="2000" b="1">
              <a:solidFill>
                <a:srgbClr val="7F0055"/>
              </a:solidFill>
            </a:endParaRPr>
          </a:p>
          <a:p>
            <a:r>
              <a:rPr lang="en-IN" altLang="en-US" sz="2000" b="1">
                <a:solidFill>
                  <a:srgbClr val="7F0055"/>
                </a:solidFill>
              </a:rPr>
              <a:t>public</a:t>
            </a:r>
            <a:r>
              <a:rPr lang="en-IN" altLang="en-US" sz="2000" b="1">
                <a:solidFill>
                  <a:srgbClr val="000000"/>
                </a:solidFill>
              </a:rPr>
              <a:t> Mono&lt;Void&gt; filter(</a:t>
            </a:r>
            <a:r>
              <a:rPr lang="en-IN" altLang="en-US" sz="1800" b="1">
                <a:solidFill>
                  <a:srgbClr val="000000"/>
                </a:solidFill>
              </a:rPr>
              <a:t>ServerWebExchange </a:t>
            </a:r>
            <a:r>
              <a:rPr lang="en-IN" altLang="en-US" sz="1800" b="1">
                <a:solidFill>
                  <a:srgbClr val="6A3E3E"/>
                </a:solidFill>
              </a:rPr>
              <a:t>exchange</a:t>
            </a:r>
            <a:r>
              <a:rPr lang="en-IN" altLang="en-US" sz="1800" b="1">
                <a:solidFill>
                  <a:srgbClr val="000000"/>
                </a:solidFill>
              </a:rPr>
              <a:t>, GatewayFilterChain </a:t>
            </a:r>
            <a:r>
              <a:rPr lang="en-IN" altLang="en-US" sz="1800" b="1">
                <a:solidFill>
                  <a:srgbClr val="6A3E3E"/>
                </a:solidFill>
              </a:rPr>
              <a:t>chain</a:t>
            </a:r>
            <a:r>
              <a:rPr lang="en-IN" altLang="en-US" sz="2000" b="1">
                <a:solidFill>
                  <a:srgbClr val="000000"/>
                </a:solidFill>
              </a:rPr>
              <a:t>)</a:t>
            </a:r>
          </a:p>
          <a:p>
            <a:endParaRPr lang="en-IN" altLang="en-US" sz="2000" b="1">
              <a:solidFill>
                <a:srgbClr val="000000"/>
              </a:solidFill>
            </a:endParaRPr>
          </a:p>
          <a:p>
            <a:r>
              <a:rPr lang="en-IN" altLang="en-US" sz="2000" b="1">
                <a:solidFill>
                  <a:srgbClr val="000000"/>
                </a:solidFill>
              </a:rPr>
              <a:t>ServerWebExchange</a:t>
            </a:r>
          </a:p>
          <a:p>
            <a:pPr lvl="1">
              <a:lnSpc>
                <a:spcPct val="150000"/>
              </a:lnSpc>
            </a:pPr>
            <a:r>
              <a:rPr lang="en-US" altLang="en-US" sz="1800"/>
              <a:t>Contract for an HTTP request-response interaction. </a:t>
            </a:r>
          </a:p>
          <a:p>
            <a:pPr lvl="1">
              <a:lnSpc>
                <a:spcPct val="150000"/>
              </a:lnSpc>
            </a:pPr>
            <a:r>
              <a:rPr lang="en-US" altLang="en-US" sz="1800"/>
              <a:t>Provides access to the HTTP request and response </a:t>
            </a:r>
          </a:p>
          <a:p>
            <a:pPr lvl="1">
              <a:lnSpc>
                <a:spcPct val="150000"/>
              </a:lnSpc>
            </a:pPr>
            <a:r>
              <a:rPr lang="en-US" altLang="en-US" sz="1800"/>
              <a:t>Exposes  Properties for server-side processing</a:t>
            </a:r>
          </a:p>
          <a:p>
            <a:pPr>
              <a:lnSpc>
                <a:spcPct val="150000"/>
              </a:lnSpc>
            </a:pPr>
            <a:r>
              <a:rPr lang="en-US" altLang="en-US" sz="2000" b="1"/>
              <a:t>GatewayFilterChain</a:t>
            </a:r>
          </a:p>
          <a:p>
            <a:pPr lvl="1">
              <a:lnSpc>
                <a:spcPct val="150000"/>
              </a:lnSpc>
            </a:pPr>
            <a:r>
              <a:rPr lang="en-US" altLang="en-US" sz="1800"/>
              <a:t>An inteface that allows a WebFilter to delegate to the next in the chain.</a:t>
            </a:r>
          </a:p>
          <a:p>
            <a:pPr>
              <a:lnSpc>
                <a:spcPct val="150000"/>
              </a:lnSpc>
            </a:pPr>
            <a:endParaRPr lang="en-US" altLang="en-US" sz="2000" b="1"/>
          </a:p>
          <a:p>
            <a:pPr>
              <a:lnSpc>
                <a:spcPct val="150000"/>
              </a:lnSpc>
            </a:pPr>
            <a:endParaRPr lang="en-IN" altLang="en-US" sz="2000" b="1"/>
          </a:p>
        </p:txBody>
      </p:sp>
    </p:spTree>
    <p:extLst>
      <p:ext uri="{BB962C8B-B14F-4D97-AF65-F5344CB8AC3E}">
        <p14:creationId xmlns:p14="http://schemas.microsoft.com/office/powerpoint/2010/main" val="1559780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a:extLst>
              <a:ext uri="{FF2B5EF4-FFF2-40B4-BE49-F238E27FC236}">
                <a16:creationId xmlns:a16="http://schemas.microsoft.com/office/drawing/2014/main" id="{2D668958-0656-5438-240D-AE9362429ADE}"/>
              </a:ext>
            </a:extLst>
          </p:cNvPr>
          <p:cNvSpPr>
            <a:spLocks noGrp="1" noChangeArrowheads="1"/>
          </p:cNvSpPr>
          <p:nvPr>
            <p:ph type="title"/>
          </p:nvPr>
        </p:nvSpPr>
        <p:spPr/>
        <p:txBody>
          <a:bodyPr/>
          <a:lstStyle/>
          <a:p>
            <a:r>
              <a:rPr lang="en-US" altLang="en-US"/>
              <a:t>Global Filters- Pre Filter</a:t>
            </a:r>
            <a:endParaRPr lang="en-IN" altLang="en-US"/>
          </a:p>
        </p:txBody>
      </p:sp>
      <p:sp>
        <p:nvSpPr>
          <p:cNvPr id="138243" name="Content Placeholder 2">
            <a:extLst>
              <a:ext uri="{FF2B5EF4-FFF2-40B4-BE49-F238E27FC236}">
                <a16:creationId xmlns:a16="http://schemas.microsoft.com/office/drawing/2014/main" id="{C86205A0-38FF-C3D1-D519-E3B561B5809E}"/>
              </a:ext>
            </a:extLst>
          </p:cNvPr>
          <p:cNvSpPr>
            <a:spLocks noGrp="1" noChangeArrowheads="1"/>
          </p:cNvSpPr>
          <p:nvPr>
            <p:ph idx="1"/>
          </p:nvPr>
        </p:nvSpPr>
        <p:spPr>
          <a:xfrm>
            <a:off x="457200" y="868363"/>
            <a:ext cx="8229600" cy="5257800"/>
          </a:xfrm>
        </p:spPr>
        <p:txBody>
          <a:bodyPr/>
          <a:lstStyle/>
          <a:p>
            <a:pPr marL="457200" lvl="1" indent="0">
              <a:buFontTx/>
              <a:buNone/>
              <a:defRPr/>
            </a:pPr>
            <a:r>
              <a:rPr lang="en-IN" altLang="en-US" dirty="0">
                <a:solidFill>
                  <a:srgbClr val="646464"/>
                </a:solidFill>
                <a:latin typeface="Consolas" panose="020B0609020204030204" pitchFamily="49" charset="0"/>
              </a:rPr>
              <a:t>@Component</a:t>
            </a:r>
          </a:p>
          <a:p>
            <a:pPr marL="457200" lvl="1" indent="0">
              <a:buFontTx/>
              <a:buNone/>
              <a:defRPr/>
            </a:pPr>
            <a:r>
              <a:rPr lang="en-US" altLang="en-US" b="1" dirty="0">
                <a:solidFill>
                  <a:srgbClr val="7F0055"/>
                </a:solidFill>
                <a:latin typeface="Consolas" panose="020B0609020204030204" pitchFamily="49" charset="0"/>
              </a:rPr>
              <a:t>public</a:t>
            </a:r>
            <a:r>
              <a:rPr lang="en-US" altLang="en-US" b="1" dirty="0">
                <a:solidFill>
                  <a:srgbClr val="000000"/>
                </a:solidFill>
                <a:latin typeface="Consolas" panose="020B0609020204030204" pitchFamily="49" charset="0"/>
              </a:rPr>
              <a:t> </a:t>
            </a:r>
            <a:r>
              <a:rPr lang="en-US" altLang="en-US" b="1" dirty="0">
                <a:solidFill>
                  <a:srgbClr val="7F0055"/>
                </a:solidFill>
                <a:latin typeface="Consolas" panose="020B0609020204030204" pitchFamily="49" charset="0"/>
              </a:rPr>
              <a:t>class</a:t>
            </a:r>
            <a:r>
              <a:rPr lang="en-US" altLang="en-US" b="1" dirty="0">
                <a:solidFill>
                  <a:srgbClr val="000000"/>
                </a:solidFill>
                <a:latin typeface="Consolas" panose="020B0609020204030204" pitchFamily="49" charset="0"/>
              </a:rPr>
              <a:t> </a:t>
            </a:r>
            <a:r>
              <a:rPr lang="en-US" altLang="en-US" b="1" dirty="0" err="1">
                <a:solidFill>
                  <a:srgbClr val="000000"/>
                </a:solidFill>
                <a:latin typeface="Consolas" panose="020B0609020204030204" pitchFamily="49" charset="0"/>
              </a:rPr>
              <a:t>MyGlobalFilter</a:t>
            </a:r>
            <a:r>
              <a:rPr lang="en-US" altLang="en-US" b="1" dirty="0">
                <a:solidFill>
                  <a:srgbClr val="000000"/>
                </a:solidFill>
                <a:latin typeface="Consolas" panose="020B0609020204030204" pitchFamily="49" charset="0"/>
              </a:rPr>
              <a:t> </a:t>
            </a:r>
            <a:r>
              <a:rPr lang="en-US" altLang="en-US" b="1" dirty="0">
                <a:solidFill>
                  <a:srgbClr val="7F0055"/>
                </a:solidFill>
                <a:latin typeface="Consolas" panose="020B0609020204030204" pitchFamily="49" charset="0"/>
              </a:rPr>
              <a:t>implements</a:t>
            </a:r>
            <a:r>
              <a:rPr lang="en-US" altLang="en-US" b="1" dirty="0">
                <a:solidFill>
                  <a:srgbClr val="000000"/>
                </a:solidFill>
                <a:latin typeface="Consolas" panose="020B0609020204030204" pitchFamily="49" charset="0"/>
              </a:rPr>
              <a:t> </a:t>
            </a:r>
            <a:r>
              <a:rPr lang="en-US" altLang="en-US" b="1" dirty="0" err="1">
                <a:solidFill>
                  <a:srgbClr val="00B0F0"/>
                </a:solidFill>
                <a:latin typeface="Consolas" panose="020B0609020204030204" pitchFamily="49" charset="0"/>
              </a:rPr>
              <a:t>GlobalFilter</a:t>
            </a:r>
            <a:r>
              <a:rPr lang="en-US" altLang="en-US" b="1" dirty="0">
                <a:solidFill>
                  <a:srgbClr val="000000"/>
                </a:solidFill>
                <a:latin typeface="Consolas" panose="020B0609020204030204" pitchFamily="49" charset="0"/>
              </a:rPr>
              <a:t> {</a:t>
            </a:r>
          </a:p>
          <a:p>
            <a:pPr marL="457200" lvl="1" indent="0">
              <a:buFontTx/>
              <a:buNone/>
              <a:defRPr/>
            </a:pPr>
            <a:endParaRPr lang="en-IN" altLang="en-US" dirty="0">
              <a:latin typeface="Consolas" panose="020B0609020204030204" pitchFamily="49" charset="0"/>
            </a:endParaRPr>
          </a:p>
          <a:p>
            <a:pPr marL="400050" lvl="1" indent="0">
              <a:buFontTx/>
              <a:buNone/>
              <a:defRPr/>
            </a:pPr>
            <a:r>
              <a:rPr lang="en-IN" altLang="en-US" b="1" dirty="0">
                <a:solidFill>
                  <a:srgbClr val="7F0055"/>
                </a:solidFill>
                <a:latin typeface="Consolas" panose="020B0609020204030204" pitchFamily="49" charset="0"/>
              </a:rPr>
              <a:t>public</a:t>
            </a:r>
            <a:r>
              <a:rPr lang="en-IN" altLang="en-US" b="1" dirty="0">
                <a:solidFill>
                  <a:srgbClr val="000000"/>
                </a:solidFill>
                <a:latin typeface="Consolas" panose="020B0609020204030204" pitchFamily="49" charset="0"/>
              </a:rPr>
              <a:t> Mono&lt;Void&gt; filter(</a:t>
            </a:r>
            <a:r>
              <a:rPr lang="en-IN" altLang="en-US" b="1" dirty="0" err="1">
                <a:solidFill>
                  <a:srgbClr val="000000"/>
                </a:solidFill>
                <a:latin typeface="Consolas" panose="020B0609020204030204" pitchFamily="49" charset="0"/>
              </a:rPr>
              <a:t>ServerWebExchange</a:t>
            </a:r>
            <a:r>
              <a:rPr lang="en-IN" altLang="en-US" b="1" dirty="0">
                <a:solidFill>
                  <a:srgbClr val="000000"/>
                </a:solidFill>
                <a:latin typeface="Consolas" panose="020B0609020204030204" pitchFamily="49" charset="0"/>
              </a:rPr>
              <a:t> </a:t>
            </a:r>
            <a:r>
              <a:rPr lang="en-IN" altLang="en-US" b="1" dirty="0">
                <a:solidFill>
                  <a:srgbClr val="6A3E3E"/>
                </a:solidFill>
                <a:latin typeface="Consolas" panose="020B0609020204030204" pitchFamily="49" charset="0"/>
              </a:rPr>
              <a:t>exchange</a:t>
            </a:r>
            <a:r>
              <a:rPr lang="en-IN" altLang="en-US" b="1" dirty="0">
                <a:solidFill>
                  <a:srgbClr val="000000"/>
                </a:solidFill>
                <a:latin typeface="Consolas" panose="020B0609020204030204" pitchFamily="49" charset="0"/>
              </a:rPr>
              <a:t>, </a:t>
            </a:r>
            <a:r>
              <a:rPr lang="en-IN" altLang="en-US" b="1" dirty="0" err="1">
                <a:solidFill>
                  <a:srgbClr val="000000"/>
                </a:solidFill>
                <a:latin typeface="Consolas" panose="020B0609020204030204" pitchFamily="49" charset="0"/>
              </a:rPr>
              <a:t>GatewayFilterChain</a:t>
            </a:r>
            <a:r>
              <a:rPr lang="en-IN" altLang="en-US" b="1" dirty="0">
                <a:solidFill>
                  <a:srgbClr val="000000"/>
                </a:solidFill>
                <a:latin typeface="Consolas" panose="020B0609020204030204" pitchFamily="49" charset="0"/>
              </a:rPr>
              <a:t> </a:t>
            </a:r>
            <a:r>
              <a:rPr lang="en-IN" altLang="en-US" b="1" dirty="0">
                <a:solidFill>
                  <a:srgbClr val="6A3E3E"/>
                </a:solidFill>
                <a:latin typeface="Consolas" panose="020B0609020204030204" pitchFamily="49" charset="0"/>
              </a:rPr>
              <a:t>chain</a:t>
            </a:r>
            <a:r>
              <a:rPr lang="en-IN" altLang="en-US" b="1" dirty="0">
                <a:solidFill>
                  <a:srgbClr val="000000"/>
                </a:solidFill>
                <a:latin typeface="Consolas" panose="020B0609020204030204" pitchFamily="49" charset="0"/>
              </a:rPr>
              <a:t>) {</a:t>
            </a:r>
          </a:p>
          <a:p>
            <a:pPr marL="400050" lvl="1" indent="0">
              <a:buFontTx/>
              <a:buNone/>
              <a:defRPr/>
            </a:pPr>
            <a:endParaRPr lang="en-IN" altLang="en-US" dirty="0">
              <a:latin typeface="Consolas" panose="020B0609020204030204" pitchFamily="49" charset="0"/>
            </a:endParaRPr>
          </a:p>
          <a:p>
            <a:pPr marL="400050" lvl="1" indent="0">
              <a:buFontTx/>
              <a:buNone/>
              <a:defRPr/>
            </a:pPr>
            <a:r>
              <a:rPr lang="en-US" altLang="en-US" b="1" dirty="0" err="1">
                <a:solidFill>
                  <a:srgbClr val="7F0055"/>
                </a:solidFill>
                <a:latin typeface="Consolas" panose="020B0609020204030204" pitchFamily="49" charset="0"/>
              </a:rPr>
              <a:t>boolean</a:t>
            </a:r>
            <a:r>
              <a:rPr lang="en-US" altLang="en-US" b="1" dirty="0">
                <a:solidFill>
                  <a:srgbClr val="000000"/>
                </a:solidFill>
                <a:latin typeface="Consolas" panose="020B0609020204030204" pitchFamily="49" charset="0"/>
              </a:rPr>
              <a:t> </a:t>
            </a:r>
            <a:r>
              <a:rPr lang="en-US" altLang="en-US" b="1" dirty="0">
                <a:solidFill>
                  <a:srgbClr val="6A3E3E"/>
                </a:solidFill>
                <a:latin typeface="Consolas" panose="020B0609020204030204" pitchFamily="49" charset="0"/>
              </a:rPr>
              <a:t>result</a:t>
            </a:r>
            <a:r>
              <a:rPr lang="en-US" altLang="en-US" b="1" dirty="0">
                <a:solidFill>
                  <a:srgbClr val="000000"/>
                </a:solidFill>
                <a:latin typeface="Consolas" panose="020B0609020204030204" pitchFamily="49" charset="0"/>
              </a:rPr>
              <a:t> =</a:t>
            </a:r>
          </a:p>
          <a:p>
            <a:pPr marL="400050" lvl="1" indent="0">
              <a:buFontTx/>
              <a:buNone/>
              <a:defRPr/>
            </a:pPr>
            <a:r>
              <a:rPr lang="en-US" altLang="en-US" b="1" dirty="0" err="1">
                <a:solidFill>
                  <a:srgbClr val="6A3E3E"/>
                </a:solidFill>
                <a:latin typeface="Consolas" panose="020B0609020204030204" pitchFamily="49" charset="0"/>
              </a:rPr>
              <a:t>exchange</a:t>
            </a:r>
            <a:r>
              <a:rPr lang="en-US" altLang="en-US" b="1" dirty="0" err="1">
                <a:solidFill>
                  <a:srgbClr val="000000"/>
                </a:solidFill>
                <a:latin typeface="Consolas" panose="020B0609020204030204" pitchFamily="49" charset="0"/>
              </a:rPr>
              <a:t>.getRequest</a:t>
            </a:r>
            <a:r>
              <a:rPr lang="en-US" altLang="en-US" b="1" dirty="0">
                <a:solidFill>
                  <a:srgbClr val="000000"/>
                </a:solidFill>
                <a:latin typeface="Consolas" panose="020B0609020204030204" pitchFamily="49" charset="0"/>
              </a:rPr>
              <a:t>().</a:t>
            </a:r>
            <a:r>
              <a:rPr lang="en-US" altLang="en-US" b="1" dirty="0" err="1">
                <a:solidFill>
                  <a:srgbClr val="000000"/>
                </a:solidFill>
                <a:latin typeface="Consolas" panose="020B0609020204030204" pitchFamily="49" charset="0"/>
              </a:rPr>
              <a:t>getURI</a:t>
            </a:r>
            <a:r>
              <a:rPr lang="en-US" altLang="en-US" b="1" dirty="0">
                <a:solidFill>
                  <a:srgbClr val="000000"/>
                </a:solidFill>
                <a:latin typeface="Consolas" panose="020B0609020204030204" pitchFamily="49" charset="0"/>
              </a:rPr>
              <a:t>().</a:t>
            </a:r>
          </a:p>
          <a:p>
            <a:pPr marL="400050" lvl="1" indent="0">
              <a:buFontTx/>
              <a:buNone/>
              <a:defRPr/>
            </a:pPr>
            <a:r>
              <a:rPr lang="en-US" altLang="en-US" b="1" dirty="0">
                <a:solidFill>
                  <a:srgbClr val="000000"/>
                </a:solidFill>
                <a:latin typeface="Consolas" panose="020B0609020204030204" pitchFamily="49" charset="0"/>
              </a:rPr>
              <a:t>        </a:t>
            </a:r>
            <a:r>
              <a:rPr lang="en-US" altLang="en-US" b="1" dirty="0" err="1">
                <a:solidFill>
                  <a:srgbClr val="000000"/>
                </a:solidFill>
                <a:latin typeface="Consolas" panose="020B0609020204030204" pitchFamily="49" charset="0"/>
              </a:rPr>
              <a:t>getRawPath</a:t>
            </a:r>
            <a:r>
              <a:rPr lang="en-US" altLang="en-US" b="1" dirty="0">
                <a:solidFill>
                  <a:srgbClr val="000000"/>
                </a:solidFill>
                <a:latin typeface="Consolas" panose="020B0609020204030204" pitchFamily="49" charset="0"/>
              </a:rPr>
              <a:t>().contains(</a:t>
            </a:r>
            <a:r>
              <a:rPr lang="en-US" altLang="en-US" b="1" dirty="0">
                <a:solidFill>
                  <a:srgbClr val="2A00FF"/>
                </a:solidFill>
                <a:latin typeface="Consolas" panose="020B0609020204030204" pitchFamily="49" charset="0"/>
              </a:rPr>
              <a:t>"reviews"</a:t>
            </a:r>
            <a:r>
              <a:rPr lang="en-US" altLang="en-US" b="1" dirty="0">
                <a:solidFill>
                  <a:srgbClr val="000000"/>
                </a:solidFill>
                <a:latin typeface="Consolas" panose="020B0609020204030204" pitchFamily="49" charset="0"/>
              </a:rPr>
              <a:t>);</a:t>
            </a:r>
          </a:p>
          <a:p>
            <a:pPr marL="400050" lvl="1" indent="0">
              <a:buFontTx/>
              <a:buNone/>
              <a:defRPr/>
            </a:pPr>
            <a:r>
              <a:rPr lang="en-IN" altLang="en-US" dirty="0">
                <a:solidFill>
                  <a:srgbClr val="000000"/>
                </a:solidFill>
                <a:latin typeface="Consolas" panose="020B0609020204030204" pitchFamily="49" charset="0"/>
              </a:rPr>
              <a:t>      </a:t>
            </a:r>
          </a:p>
          <a:p>
            <a:pPr marL="400050" lvl="1" indent="0">
              <a:buFontTx/>
              <a:buNone/>
              <a:defRPr/>
            </a:pPr>
            <a:r>
              <a:rPr lang="en-IN" altLang="en-US" dirty="0">
                <a:solidFill>
                  <a:srgbClr val="000000"/>
                </a:solidFill>
                <a:latin typeface="Consolas" panose="020B0609020204030204" pitchFamily="49" charset="0"/>
              </a:rPr>
              <a:t>   </a:t>
            </a:r>
            <a:r>
              <a:rPr lang="en-IN" altLang="en-US" b="1" dirty="0">
                <a:solidFill>
                  <a:srgbClr val="7F0055"/>
                </a:solidFill>
                <a:latin typeface="Consolas" panose="020B0609020204030204" pitchFamily="49" charset="0"/>
              </a:rPr>
              <a:t>if</a:t>
            </a:r>
            <a:r>
              <a:rPr lang="en-IN" altLang="en-US" b="1" dirty="0">
                <a:solidFill>
                  <a:srgbClr val="000000"/>
                </a:solidFill>
                <a:latin typeface="Consolas" panose="020B0609020204030204" pitchFamily="49" charset="0"/>
              </a:rPr>
              <a:t>(</a:t>
            </a:r>
            <a:r>
              <a:rPr lang="en-IN" altLang="en-US" b="1" dirty="0">
                <a:solidFill>
                  <a:srgbClr val="6A3E3E"/>
                </a:solidFill>
                <a:latin typeface="Consolas" panose="020B0609020204030204" pitchFamily="49" charset="0"/>
              </a:rPr>
              <a:t>result</a:t>
            </a:r>
            <a:r>
              <a:rPr lang="en-IN" altLang="en-US" b="1" dirty="0">
                <a:solidFill>
                  <a:srgbClr val="000000"/>
                </a:solidFill>
                <a:latin typeface="Consolas" panose="020B0609020204030204" pitchFamily="49" charset="0"/>
              </a:rPr>
              <a:t>) {</a:t>
            </a:r>
          </a:p>
          <a:p>
            <a:pPr marL="400050" lvl="1" indent="0">
              <a:buFontTx/>
              <a:buNone/>
              <a:defRPr/>
            </a:pPr>
            <a:r>
              <a:rPr lang="en-IN" altLang="en-US" dirty="0" err="1">
                <a:solidFill>
                  <a:srgbClr val="000000"/>
                </a:solidFill>
                <a:latin typeface="Consolas" panose="020B0609020204030204" pitchFamily="49" charset="0"/>
              </a:rPr>
              <a:t>e</a:t>
            </a:r>
            <a:r>
              <a:rPr lang="en-IN" altLang="en-US" dirty="0" err="1">
                <a:solidFill>
                  <a:srgbClr val="6A3E3E"/>
                </a:solidFill>
                <a:latin typeface="Consolas" panose="020B0609020204030204" pitchFamily="49" charset="0"/>
              </a:rPr>
              <a:t>xchange</a:t>
            </a:r>
            <a:r>
              <a:rPr lang="en-IN" altLang="en-US" dirty="0" err="1">
                <a:solidFill>
                  <a:srgbClr val="000000"/>
                </a:solidFill>
                <a:latin typeface="Consolas" panose="020B0609020204030204" pitchFamily="49" charset="0"/>
              </a:rPr>
              <a:t>.getResponse</a:t>
            </a:r>
            <a:r>
              <a:rPr lang="en-IN" altLang="en-US" dirty="0">
                <a:solidFill>
                  <a:srgbClr val="000000"/>
                </a:solidFill>
                <a:latin typeface="Consolas" panose="020B0609020204030204" pitchFamily="49" charset="0"/>
              </a:rPr>
              <a:t>().</a:t>
            </a:r>
            <a:r>
              <a:rPr lang="en-IN" altLang="en-US" dirty="0" err="1">
                <a:solidFill>
                  <a:srgbClr val="000000"/>
                </a:solidFill>
                <a:latin typeface="Consolas" panose="020B0609020204030204" pitchFamily="49" charset="0"/>
              </a:rPr>
              <a:t>setStatusCode</a:t>
            </a:r>
            <a:r>
              <a:rPr lang="en-IN" altLang="en-US" dirty="0">
                <a:solidFill>
                  <a:srgbClr val="000000"/>
                </a:solidFill>
                <a:latin typeface="Consolas" panose="020B0609020204030204" pitchFamily="49" charset="0"/>
              </a:rPr>
              <a:t>(</a:t>
            </a:r>
            <a:r>
              <a:rPr lang="en-IN" altLang="en-US" dirty="0" err="1">
                <a:solidFill>
                  <a:srgbClr val="000000"/>
                </a:solidFill>
                <a:latin typeface="Consolas" panose="020B0609020204030204" pitchFamily="49" charset="0"/>
              </a:rPr>
              <a:t>HttpStatus.</a:t>
            </a:r>
            <a:r>
              <a:rPr lang="en-IN" altLang="en-US" b="1" i="1" dirty="0" err="1">
                <a:solidFill>
                  <a:srgbClr val="0000C0"/>
                </a:solidFill>
                <a:latin typeface="Consolas" panose="020B0609020204030204" pitchFamily="49" charset="0"/>
              </a:rPr>
              <a:t>UNAUTHORIZED</a:t>
            </a:r>
            <a:r>
              <a:rPr lang="en-IN" altLang="en-US" b="1" i="1" dirty="0">
                <a:solidFill>
                  <a:srgbClr val="000000"/>
                </a:solidFill>
                <a:latin typeface="Consolas" panose="020B0609020204030204" pitchFamily="49" charset="0"/>
              </a:rPr>
              <a:t>);</a:t>
            </a:r>
          </a:p>
          <a:p>
            <a:pPr marL="400050" lvl="1" indent="0">
              <a:buFontTx/>
              <a:buNone/>
              <a:defRPr/>
            </a:pPr>
            <a:r>
              <a:rPr lang="en-IN" altLang="en-US" dirty="0">
                <a:solidFill>
                  <a:srgbClr val="000000"/>
                </a:solidFill>
                <a:latin typeface="Consolas" panose="020B0609020204030204" pitchFamily="49" charset="0"/>
              </a:rPr>
              <a:t>        </a:t>
            </a:r>
            <a:r>
              <a:rPr lang="en-IN" altLang="en-US" b="1" dirty="0">
                <a:solidFill>
                  <a:srgbClr val="7F0055"/>
                </a:solidFill>
                <a:latin typeface="Consolas" panose="020B0609020204030204" pitchFamily="49" charset="0"/>
              </a:rPr>
              <a:t>return</a:t>
            </a:r>
            <a:r>
              <a:rPr lang="en-IN" altLang="en-US" b="1" dirty="0">
                <a:solidFill>
                  <a:srgbClr val="000000"/>
                </a:solidFill>
                <a:latin typeface="Consolas" panose="020B0609020204030204" pitchFamily="49" charset="0"/>
              </a:rPr>
              <a:t> </a:t>
            </a:r>
            <a:r>
              <a:rPr lang="en-IN" altLang="en-US" b="1" dirty="0" err="1">
                <a:solidFill>
                  <a:srgbClr val="6A3E3E"/>
                </a:solidFill>
                <a:latin typeface="Consolas" panose="020B0609020204030204" pitchFamily="49" charset="0"/>
              </a:rPr>
              <a:t>exchange</a:t>
            </a:r>
            <a:r>
              <a:rPr lang="en-IN" altLang="en-US" b="1" dirty="0" err="1">
                <a:solidFill>
                  <a:srgbClr val="000000"/>
                </a:solidFill>
                <a:latin typeface="Consolas" panose="020B0609020204030204" pitchFamily="49" charset="0"/>
              </a:rPr>
              <a:t>.getResponse</a:t>
            </a:r>
            <a:r>
              <a:rPr lang="en-IN" altLang="en-US" b="1" dirty="0">
                <a:solidFill>
                  <a:srgbClr val="000000"/>
                </a:solidFill>
                <a:latin typeface="Consolas" panose="020B0609020204030204" pitchFamily="49" charset="0"/>
              </a:rPr>
              <a:t>().</a:t>
            </a:r>
            <a:r>
              <a:rPr lang="en-IN" altLang="en-US" b="1" dirty="0" err="1">
                <a:solidFill>
                  <a:srgbClr val="000000"/>
                </a:solidFill>
                <a:latin typeface="Consolas" panose="020B0609020204030204" pitchFamily="49" charset="0"/>
              </a:rPr>
              <a:t>setComplete</a:t>
            </a:r>
            <a:r>
              <a:rPr lang="en-IN" altLang="en-US" b="1" dirty="0">
                <a:solidFill>
                  <a:srgbClr val="000000"/>
                </a:solidFill>
                <a:latin typeface="Consolas" panose="020B0609020204030204" pitchFamily="49" charset="0"/>
              </a:rPr>
              <a:t>();</a:t>
            </a:r>
          </a:p>
          <a:p>
            <a:pPr marL="400050" lvl="1" indent="0">
              <a:buFontTx/>
              <a:buNone/>
              <a:defRPr/>
            </a:pPr>
            <a:r>
              <a:rPr lang="en-IN" altLang="en-US" dirty="0">
                <a:solidFill>
                  <a:srgbClr val="000000"/>
                </a:solidFill>
                <a:latin typeface="Consolas" panose="020B0609020204030204" pitchFamily="49" charset="0"/>
              </a:rPr>
              <a:t>        }</a:t>
            </a:r>
          </a:p>
          <a:p>
            <a:pPr marL="400050" lvl="1" indent="0">
              <a:buFontTx/>
              <a:buNone/>
              <a:defRPr/>
            </a:pPr>
            <a:r>
              <a:rPr lang="en-IN" altLang="en-US" dirty="0">
                <a:solidFill>
                  <a:srgbClr val="000000"/>
                </a:solidFill>
                <a:latin typeface="Consolas" panose="020B0609020204030204" pitchFamily="49" charset="0"/>
              </a:rPr>
              <a:t>      </a:t>
            </a:r>
          </a:p>
          <a:p>
            <a:pPr marL="400050" lvl="1" indent="0">
              <a:buFontTx/>
              <a:buNone/>
              <a:defRPr/>
            </a:pPr>
            <a:r>
              <a:rPr lang="en-IN" altLang="en-US" b="1" dirty="0">
                <a:solidFill>
                  <a:srgbClr val="7F0055"/>
                </a:solidFill>
                <a:latin typeface="Consolas" panose="020B0609020204030204" pitchFamily="49" charset="0"/>
              </a:rPr>
              <a:t>return</a:t>
            </a:r>
            <a:r>
              <a:rPr lang="en-IN" altLang="en-US" b="1" dirty="0">
                <a:solidFill>
                  <a:srgbClr val="000000"/>
                </a:solidFill>
                <a:latin typeface="Consolas" panose="020B0609020204030204" pitchFamily="49" charset="0"/>
              </a:rPr>
              <a:t> </a:t>
            </a:r>
            <a:r>
              <a:rPr lang="en-IN" altLang="en-US" b="1" dirty="0" err="1">
                <a:solidFill>
                  <a:srgbClr val="6A3E3E"/>
                </a:solidFill>
                <a:latin typeface="Consolas" panose="020B0609020204030204" pitchFamily="49" charset="0"/>
              </a:rPr>
              <a:t>chain</a:t>
            </a:r>
            <a:r>
              <a:rPr lang="en-IN" altLang="en-US" b="1" dirty="0" err="1">
                <a:solidFill>
                  <a:srgbClr val="000000"/>
                </a:solidFill>
                <a:latin typeface="Consolas" panose="020B0609020204030204" pitchFamily="49" charset="0"/>
              </a:rPr>
              <a:t>.filter</a:t>
            </a:r>
            <a:r>
              <a:rPr lang="en-IN" altLang="en-US" b="1" dirty="0">
                <a:solidFill>
                  <a:srgbClr val="000000"/>
                </a:solidFill>
                <a:latin typeface="Consolas" panose="020B0609020204030204" pitchFamily="49" charset="0"/>
              </a:rPr>
              <a:t>(</a:t>
            </a:r>
            <a:r>
              <a:rPr lang="en-IN" altLang="en-US" b="1" dirty="0">
                <a:solidFill>
                  <a:srgbClr val="6A3E3E"/>
                </a:solidFill>
                <a:latin typeface="Consolas" panose="020B0609020204030204" pitchFamily="49" charset="0"/>
              </a:rPr>
              <a:t>exchange</a:t>
            </a:r>
            <a:r>
              <a:rPr lang="en-IN" altLang="en-US" b="1" dirty="0">
                <a:solidFill>
                  <a:srgbClr val="000000"/>
                </a:solidFill>
                <a:latin typeface="Consolas" panose="020B0609020204030204" pitchFamily="49" charset="0"/>
              </a:rPr>
              <a:t>);</a:t>
            </a:r>
          </a:p>
          <a:p>
            <a:pPr marL="400050" lvl="1" indent="0">
              <a:buFontTx/>
              <a:buNone/>
              <a:defRPr/>
            </a:pPr>
            <a:endParaRPr lang="en-IN" altLang="en-US" dirty="0"/>
          </a:p>
          <a:p>
            <a:pPr marL="400050" lvl="1" indent="0">
              <a:buFontTx/>
              <a:buNone/>
              <a:defRPr/>
            </a:pPr>
            <a:r>
              <a:rPr lang="en-IN" altLang="en-US" dirty="0"/>
              <a:t>}</a:t>
            </a:r>
            <a:endParaRPr lang="en-IN" altLang="en-US" dirty="0">
              <a:solidFill>
                <a:srgbClr val="000000"/>
              </a:solidFill>
              <a:latin typeface="Consolas" panose="020B0609020204030204" pitchFamily="49" charset="0"/>
            </a:endParaRPr>
          </a:p>
          <a:p>
            <a:pPr marL="457200" lvl="1" indent="0">
              <a:buFontTx/>
              <a:buNone/>
              <a:defRPr/>
            </a:pPr>
            <a:r>
              <a:rPr lang="en-IN" altLang="en-US" dirty="0">
                <a:solidFill>
                  <a:srgbClr val="000000"/>
                </a:solidFill>
                <a:latin typeface="Consolas" panose="020B0609020204030204" pitchFamily="49" charset="0"/>
              </a:rPr>
              <a:t>}</a:t>
            </a:r>
          </a:p>
          <a:p>
            <a:pPr marL="857250" lvl="2" indent="0">
              <a:buFontTx/>
              <a:buNone/>
              <a:defRPr/>
            </a:pPr>
            <a:endParaRPr lang="en-IN" altLang="en-US" sz="1600" dirty="0"/>
          </a:p>
        </p:txBody>
      </p:sp>
    </p:spTree>
    <p:extLst>
      <p:ext uri="{BB962C8B-B14F-4D97-AF65-F5344CB8AC3E}">
        <p14:creationId xmlns:p14="http://schemas.microsoft.com/office/powerpoint/2010/main" val="177807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Title 1">
            <a:extLst>
              <a:ext uri="{FF2B5EF4-FFF2-40B4-BE49-F238E27FC236}">
                <a16:creationId xmlns:a16="http://schemas.microsoft.com/office/drawing/2014/main" id="{28CF331F-67A8-0594-01E9-D8A45E3BE203}"/>
              </a:ext>
            </a:extLst>
          </p:cNvPr>
          <p:cNvSpPr>
            <a:spLocks noGrp="1" noChangeArrowheads="1"/>
          </p:cNvSpPr>
          <p:nvPr>
            <p:ph type="title"/>
          </p:nvPr>
        </p:nvSpPr>
        <p:spPr/>
        <p:txBody>
          <a:bodyPr/>
          <a:lstStyle/>
          <a:p>
            <a:r>
              <a:rPr lang="en-US" altLang="en-US"/>
              <a:t>Global Filter – Post Filter</a:t>
            </a:r>
            <a:endParaRPr lang="en-IN" altLang="en-US"/>
          </a:p>
        </p:txBody>
      </p:sp>
      <p:sp>
        <p:nvSpPr>
          <p:cNvPr id="3" name="Content Placeholder 2">
            <a:extLst>
              <a:ext uri="{FF2B5EF4-FFF2-40B4-BE49-F238E27FC236}">
                <a16:creationId xmlns:a16="http://schemas.microsoft.com/office/drawing/2014/main" id="{7C35D802-640A-6F7E-4D2D-2AB9ADB5C2B0}"/>
              </a:ext>
            </a:extLst>
          </p:cNvPr>
          <p:cNvSpPr>
            <a:spLocks noGrp="1"/>
          </p:cNvSpPr>
          <p:nvPr>
            <p:ph idx="1"/>
          </p:nvPr>
        </p:nvSpPr>
        <p:spPr/>
        <p:txBody>
          <a:bodyPr/>
          <a:lstStyle/>
          <a:p>
            <a:pPr marL="457200" lvl="1" indent="0">
              <a:buNone/>
            </a:pPr>
            <a:endParaRPr lang="en-IN" dirty="0"/>
          </a:p>
          <a:p>
            <a:pPr marL="457200" lvl="1" indent="0">
              <a:buNone/>
            </a:pPr>
            <a:r>
              <a:rPr lang="en-IN" dirty="0"/>
              <a:t>@Bean</a:t>
            </a:r>
          </a:p>
          <a:p>
            <a:pPr marL="457200" lvl="1" indent="0">
              <a:buNone/>
            </a:pPr>
            <a:r>
              <a:rPr lang="en-IN" dirty="0"/>
              <a:t>public </a:t>
            </a:r>
            <a:r>
              <a:rPr lang="en-IN" dirty="0" err="1"/>
              <a:t>GlobalFilter</a:t>
            </a:r>
            <a:r>
              <a:rPr lang="en-IN" dirty="0"/>
              <a:t> </a:t>
            </a:r>
            <a:r>
              <a:rPr lang="en-IN" dirty="0" err="1"/>
              <a:t>postGlobalFilter</a:t>
            </a:r>
            <a:r>
              <a:rPr lang="en-IN" dirty="0"/>
              <a:t>() {</a:t>
            </a:r>
          </a:p>
          <a:p>
            <a:pPr marL="457200" lvl="1" indent="0">
              <a:buNone/>
            </a:pPr>
            <a:r>
              <a:rPr lang="en-IN" dirty="0"/>
              <a:t>    return new </a:t>
            </a:r>
            <a:r>
              <a:rPr lang="en-IN" dirty="0" err="1">
                <a:solidFill>
                  <a:srgbClr val="C00000"/>
                </a:solidFill>
              </a:rPr>
              <a:t>GlobalFilter</a:t>
            </a:r>
            <a:r>
              <a:rPr lang="en-IN" dirty="0"/>
              <a:t>() {</a:t>
            </a:r>
          </a:p>
          <a:p>
            <a:pPr marL="457200" lvl="1" indent="0">
              <a:buNone/>
            </a:pPr>
            <a:r>
              <a:rPr lang="en-IN" dirty="0"/>
              <a:t>        @Override</a:t>
            </a:r>
          </a:p>
          <a:p>
            <a:pPr marL="457200" lvl="1" indent="0">
              <a:buNone/>
            </a:pPr>
            <a:r>
              <a:rPr lang="en-IN" dirty="0"/>
              <a:t>        public Mono&lt;Void&gt; filter(</a:t>
            </a:r>
            <a:r>
              <a:rPr lang="en-IN" dirty="0" err="1"/>
              <a:t>ServerWebExchange</a:t>
            </a:r>
            <a:r>
              <a:rPr lang="en-IN" dirty="0"/>
              <a:t> exchange, </a:t>
            </a:r>
            <a:r>
              <a:rPr lang="en-IN" dirty="0" err="1"/>
              <a:t>GatewayFilterChain</a:t>
            </a:r>
            <a:r>
              <a:rPr lang="en-IN" dirty="0"/>
              <a:t> chain) {</a:t>
            </a:r>
          </a:p>
          <a:p>
            <a:pPr marL="457200" lvl="1" indent="0">
              <a:buNone/>
            </a:pPr>
            <a:r>
              <a:rPr lang="en-IN" dirty="0"/>
              <a:t>            return </a:t>
            </a:r>
            <a:r>
              <a:rPr lang="en-IN" dirty="0" err="1"/>
              <a:t>chain.filter</a:t>
            </a:r>
            <a:r>
              <a:rPr lang="en-IN" dirty="0"/>
              <a:t>(exchange)</a:t>
            </a:r>
          </a:p>
          <a:p>
            <a:pPr marL="457200" lvl="1" indent="0">
              <a:buNone/>
            </a:pPr>
            <a:r>
              <a:rPr lang="en-IN" dirty="0"/>
              <a:t>                .then(</a:t>
            </a:r>
            <a:r>
              <a:rPr lang="en-IN" dirty="0" err="1"/>
              <a:t>Mono.fromRunnable</a:t>
            </a:r>
            <a:r>
              <a:rPr lang="en-IN" dirty="0"/>
              <a:t>(new Runnable() {</a:t>
            </a:r>
          </a:p>
          <a:p>
            <a:pPr marL="457200" lvl="1" indent="0">
              <a:buNone/>
            </a:pPr>
            <a:r>
              <a:rPr lang="en-IN" dirty="0"/>
              <a:t>                    @Override</a:t>
            </a:r>
          </a:p>
          <a:p>
            <a:pPr marL="457200" lvl="1" indent="0">
              <a:buNone/>
            </a:pPr>
            <a:r>
              <a:rPr lang="en-IN" dirty="0"/>
              <a:t>                    public void run() {</a:t>
            </a:r>
          </a:p>
          <a:p>
            <a:pPr marL="457200" lvl="1" indent="0">
              <a:buNone/>
            </a:pPr>
            <a:r>
              <a:rPr lang="en-IN" dirty="0"/>
              <a:t>                        </a:t>
            </a:r>
            <a:r>
              <a:rPr lang="en-IN" dirty="0" err="1"/>
              <a:t>log.info</a:t>
            </a:r>
            <a:r>
              <a:rPr lang="en-IN" dirty="0"/>
              <a:t>("Global Post Filter executed");</a:t>
            </a:r>
          </a:p>
          <a:p>
            <a:pPr marL="457200" lvl="1" indent="0">
              <a:buNone/>
            </a:pPr>
            <a:r>
              <a:rPr lang="en-IN" dirty="0"/>
              <a:t>                    }</a:t>
            </a:r>
          </a:p>
          <a:p>
            <a:pPr marL="457200" lvl="1" indent="0">
              <a:buNone/>
            </a:pPr>
            <a:r>
              <a:rPr lang="en-IN" dirty="0"/>
              <a:t>                }));</a:t>
            </a:r>
          </a:p>
          <a:p>
            <a:pPr marL="457200" lvl="1" indent="0">
              <a:buNone/>
            </a:pPr>
            <a:r>
              <a:rPr lang="en-IN" dirty="0"/>
              <a:t>        }</a:t>
            </a:r>
          </a:p>
          <a:p>
            <a:pPr marL="457200" lvl="1" indent="0">
              <a:buNone/>
            </a:pPr>
            <a:r>
              <a:rPr lang="en-IN" dirty="0"/>
              <a:t>    }</a:t>
            </a:r>
          </a:p>
        </p:txBody>
      </p:sp>
    </p:spTree>
    <p:extLst>
      <p:ext uri="{BB962C8B-B14F-4D97-AF65-F5344CB8AC3E}">
        <p14:creationId xmlns:p14="http://schemas.microsoft.com/office/powerpoint/2010/main" val="2468703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a:extLst>
              <a:ext uri="{FF2B5EF4-FFF2-40B4-BE49-F238E27FC236}">
                <a16:creationId xmlns:a16="http://schemas.microsoft.com/office/drawing/2014/main" id="{76D0BAD5-03A2-E4AF-78E0-B6C5A89AE71E}"/>
              </a:ext>
            </a:extLst>
          </p:cNvPr>
          <p:cNvSpPr>
            <a:spLocks noGrp="1" noChangeArrowheads="1"/>
          </p:cNvSpPr>
          <p:nvPr>
            <p:ph type="title"/>
          </p:nvPr>
        </p:nvSpPr>
        <p:spPr/>
        <p:txBody>
          <a:bodyPr/>
          <a:lstStyle/>
          <a:p>
            <a:r>
              <a:rPr lang="en-US" altLang="en-US"/>
              <a:t>Route Locator Builder</a:t>
            </a:r>
            <a:endParaRPr lang="en-IN" altLang="en-US"/>
          </a:p>
        </p:txBody>
      </p:sp>
      <p:sp>
        <p:nvSpPr>
          <p:cNvPr id="113666" name="Content Placeholder 2">
            <a:extLst>
              <a:ext uri="{FF2B5EF4-FFF2-40B4-BE49-F238E27FC236}">
                <a16:creationId xmlns:a16="http://schemas.microsoft.com/office/drawing/2014/main" id="{5AB4468A-D93C-38BC-D156-0F40E6AE0F92}"/>
              </a:ext>
            </a:extLst>
          </p:cNvPr>
          <p:cNvSpPr>
            <a:spLocks noGrp="1" noChangeArrowheads="1"/>
          </p:cNvSpPr>
          <p:nvPr>
            <p:ph idx="1"/>
          </p:nvPr>
        </p:nvSpPr>
        <p:spPr>
          <a:xfrm>
            <a:off x="457200" y="868363"/>
            <a:ext cx="8229600" cy="5257800"/>
          </a:xfrm>
        </p:spPr>
        <p:txBody>
          <a:bodyPr/>
          <a:lstStyle/>
          <a:p>
            <a:pPr>
              <a:lnSpc>
                <a:spcPct val="150000"/>
              </a:lnSpc>
            </a:pPr>
            <a:r>
              <a:rPr lang="en-US" altLang="en-US" sz="2000"/>
              <a:t>Gateway configuration can also be done using java route api </a:t>
            </a:r>
          </a:p>
          <a:p>
            <a:pPr>
              <a:lnSpc>
                <a:spcPct val="150000"/>
              </a:lnSpc>
            </a:pPr>
            <a:r>
              <a:rPr lang="en-US" altLang="en-US" sz="2000" b="1">
                <a:solidFill>
                  <a:srgbClr val="C00000"/>
                </a:solidFill>
              </a:rPr>
              <a:t>RouteLocatorBuilder </a:t>
            </a:r>
          </a:p>
          <a:p>
            <a:pPr lvl="1">
              <a:lnSpc>
                <a:spcPct val="150000"/>
              </a:lnSpc>
            </a:pPr>
            <a:r>
              <a:rPr lang="en-US" altLang="en-US" sz="2000"/>
              <a:t>Used to configure related routing information</a:t>
            </a:r>
          </a:p>
          <a:p>
            <a:pPr lvl="1">
              <a:lnSpc>
                <a:spcPct val="150000"/>
              </a:lnSpc>
            </a:pPr>
            <a:r>
              <a:rPr lang="en-US" altLang="en-US" sz="2000"/>
              <a:t>To  add predicates and filters </a:t>
            </a:r>
          </a:p>
          <a:p>
            <a:pPr lvl="1">
              <a:lnSpc>
                <a:spcPct val="150000"/>
              </a:lnSpc>
            </a:pPr>
            <a:r>
              <a:rPr lang="en-US" altLang="en-US" sz="2000"/>
              <a:t>Provides a Static Method </a:t>
            </a:r>
            <a:r>
              <a:rPr lang="en-US" altLang="en-US" sz="2000" b="1">
                <a:solidFill>
                  <a:srgbClr val="7030A0"/>
                </a:solidFill>
              </a:rPr>
              <a:t>Builder()</a:t>
            </a:r>
          </a:p>
          <a:p>
            <a:pPr lvl="2">
              <a:lnSpc>
                <a:spcPct val="150000"/>
              </a:lnSpc>
            </a:pPr>
            <a:r>
              <a:rPr lang="en-US" altLang="en-US" sz="1800"/>
              <a:t>Builder() method is used to construct routes and return a RouteLocator</a:t>
            </a:r>
          </a:p>
        </p:txBody>
      </p:sp>
    </p:spTree>
    <p:extLst>
      <p:ext uri="{BB962C8B-B14F-4D97-AF65-F5344CB8AC3E}">
        <p14:creationId xmlns:p14="http://schemas.microsoft.com/office/powerpoint/2010/main" val="2247700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a:extLst>
              <a:ext uri="{FF2B5EF4-FFF2-40B4-BE49-F238E27FC236}">
                <a16:creationId xmlns:a16="http://schemas.microsoft.com/office/drawing/2014/main" id="{DDCCEA62-530F-8908-A179-73F32BB4A28F}"/>
              </a:ext>
            </a:extLst>
          </p:cNvPr>
          <p:cNvSpPr>
            <a:spLocks noGrp="1" noChangeArrowheads="1"/>
          </p:cNvSpPr>
          <p:nvPr>
            <p:ph type="title"/>
          </p:nvPr>
        </p:nvSpPr>
        <p:spPr/>
        <p:txBody>
          <a:bodyPr/>
          <a:lstStyle/>
          <a:p>
            <a:r>
              <a:rPr lang="en-US" altLang="en-US" b="1"/>
              <a:t>RouteLocator</a:t>
            </a:r>
            <a:br>
              <a:rPr lang="en-US" altLang="en-US" b="1"/>
            </a:br>
            <a:endParaRPr lang="en-IN" altLang="en-US"/>
          </a:p>
        </p:txBody>
      </p:sp>
      <p:sp>
        <p:nvSpPr>
          <p:cNvPr id="114690" name="Content Placeholder 2">
            <a:extLst>
              <a:ext uri="{FF2B5EF4-FFF2-40B4-BE49-F238E27FC236}">
                <a16:creationId xmlns:a16="http://schemas.microsoft.com/office/drawing/2014/main" id="{34CA4DBE-D65B-11DB-27D2-416DA88D05F5}"/>
              </a:ext>
            </a:extLst>
          </p:cNvPr>
          <p:cNvSpPr>
            <a:spLocks noGrp="1" noChangeArrowheads="1"/>
          </p:cNvSpPr>
          <p:nvPr>
            <p:ph idx="1"/>
          </p:nvPr>
        </p:nvSpPr>
        <p:spPr>
          <a:xfrm>
            <a:off x="457200" y="685800"/>
            <a:ext cx="8229600" cy="5440363"/>
          </a:xfrm>
        </p:spPr>
        <p:txBody>
          <a:bodyPr/>
          <a:lstStyle/>
          <a:p>
            <a:pPr>
              <a:lnSpc>
                <a:spcPct val="150000"/>
              </a:lnSpc>
            </a:pPr>
            <a:r>
              <a:rPr lang="en-US" altLang="en-US" sz="2000" b="1"/>
              <a:t>RouteLocator</a:t>
            </a:r>
          </a:p>
          <a:p>
            <a:pPr marL="457200" lvl="1" indent="0">
              <a:buFontTx/>
              <a:buNone/>
            </a:pPr>
            <a:r>
              <a:rPr lang="en-US" altLang="en-US" sz="2000"/>
              <a:t>public interface </a:t>
            </a:r>
            <a:r>
              <a:rPr lang="en-US" altLang="en-US" sz="2000" b="1">
                <a:solidFill>
                  <a:srgbClr val="C00000"/>
                </a:solidFill>
              </a:rPr>
              <a:t>RouteLocator</a:t>
            </a:r>
            <a:r>
              <a:rPr lang="en-US" altLang="en-US" sz="2000"/>
              <a:t> {</a:t>
            </a:r>
          </a:p>
          <a:p>
            <a:pPr marL="457200" lvl="1" indent="0">
              <a:buFontTx/>
              <a:buNone/>
            </a:pPr>
            <a:r>
              <a:rPr lang="en-US" altLang="en-US" sz="2000"/>
              <a:t>	Flux&lt;Route&gt; getRoutes();</a:t>
            </a:r>
          </a:p>
          <a:p>
            <a:pPr marL="457200" lvl="1" indent="0">
              <a:buFontTx/>
              <a:buNone/>
            </a:pPr>
            <a:r>
              <a:rPr lang="en-US" altLang="en-US" sz="2000"/>
              <a:t>}</a:t>
            </a:r>
          </a:p>
          <a:p>
            <a:pPr marL="457200" lvl="1" indent="0">
              <a:lnSpc>
                <a:spcPct val="150000"/>
              </a:lnSpc>
              <a:buFontTx/>
              <a:buNone/>
            </a:pPr>
            <a:endParaRPr lang="en-US" altLang="en-US" sz="1800"/>
          </a:p>
          <a:p>
            <a:pPr marL="457200" lvl="1" indent="0">
              <a:lnSpc>
                <a:spcPct val="150000"/>
              </a:lnSpc>
              <a:buFontTx/>
              <a:buNone/>
            </a:pPr>
            <a:r>
              <a:rPr lang="en-US" altLang="en-US" sz="1800" b="1"/>
              <a:t>@Bean</a:t>
            </a:r>
          </a:p>
          <a:p>
            <a:pPr marL="457200" lvl="1" indent="0">
              <a:lnSpc>
                <a:spcPct val="150000"/>
              </a:lnSpc>
              <a:buFontTx/>
              <a:buNone/>
            </a:pPr>
            <a:r>
              <a:rPr lang="en-US" altLang="en-US" sz="1800" b="1">
                <a:solidFill>
                  <a:srgbClr val="7F0055"/>
                </a:solidFill>
                <a:latin typeface="Consolas" panose="020B0609020204030204" pitchFamily="49" charset="0"/>
              </a:rPr>
              <a:t>public</a:t>
            </a:r>
            <a:r>
              <a:rPr lang="en-US" altLang="en-US" sz="1800" b="1">
                <a:solidFill>
                  <a:srgbClr val="000000"/>
                </a:solidFill>
                <a:latin typeface="Consolas" panose="020B0609020204030204" pitchFamily="49" charset="0"/>
              </a:rPr>
              <a:t> </a:t>
            </a:r>
            <a:r>
              <a:rPr lang="en-US" altLang="en-US" sz="1800" b="1">
                <a:solidFill>
                  <a:srgbClr val="0070C0"/>
                </a:solidFill>
                <a:latin typeface="Consolas" panose="020B0609020204030204" pitchFamily="49" charset="0"/>
              </a:rPr>
              <a:t>RouteLocator</a:t>
            </a:r>
            <a:r>
              <a:rPr lang="en-US" altLang="en-US" sz="1800" b="1">
                <a:solidFill>
                  <a:srgbClr val="000000"/>
                </a:solidFill>
                <a:latin typeface="Consolas" panose="020B0609020204030204" pitchFamily="49" charset="0"/>
              </a:rPr>
              <a:t> </a:t>
            </a:r>
            <a:r>
              <a:rPr lang="en-US" altLang="en-US" sz="1800" b="1" i="1">
                <a:solidFill>
                  <a:srgbClr val="000000"/>
                </a:solidFill>
                <a:latin typeface="Consolas" panose="020B0609020204030204" pitchFamily="49" charset="0"/>
              </a:rPr>
              <a:t>gatewayRoutes</a:t>
            </a:r>
            <a:r>
              <a:rPr lang="en-US" altLang="en-US" sz="1800" b="1">
                <a:solidFill>
                  <a:srgbClr val="000000"/>
                </a:solidFill>
                <a:latin typeface="Consolas" panose="020B0609020204030204" pitchFamily="49" charset="0"/>
              </a:rPr>
              <a:t>(</a:t>
            </a:r>
            <a:r>
              <a:rPr lang="en-US" altLang="en-US" sz="1800" b="1">
                <a:solidFill>
                  <a:srgbClr val="C00000"/>
                </a:solidFill>
                <a:latin typeface="Consolas" panose="020B0609020204030204" pitchFamily="49" charset="0"/>
              </a:rPr>
              <a:t>RouteLocatorBuilder</a:t>
            </a:r>
            <a:r>
              <a:rPr lang="en-US" altLang="en-US" sz="1800" b="1">
                <a:solidFill>
                  <a:srgbClr val="000000"/>
                </a:solidFill>
                <a:latin typeface="Consolas" panose="020B0609020204030204" pitchFamily="49" charset="0"/>
              </a:rPr>
              <a:t> </a:t>
            </a:r>
            <a:r>
              <a:rPr lang="en-US" altLang="en-US" sz="1800">
                <a:solidFill>
                  <a:srgbClr val="6A3E3E"/>
                </a:solidFill>
                <a:latin typeface="Consolas" panose="020B0609020204030204" pitchFamily="49" charset="0"/>
              </a:rPr>
              <a:t>builder</a:t>
            </a:r>
            <a:r>
              <a:rPr lang="en-US" altLang="en-US" sz="1800" b="1">
                <a:solidFill>
                  <a:srgbClr val="000000"/>
                </a:solidFill>
                <a:latin typeface="Consolas" panose="020B0609020204030204" pitchFamily="49" charset="0"/>
              </a:rPr>
              <a:t>) { </a:t>
            </a:r>
          </a:p>
          <a:p>
            <a:pPr marL="457200" lvl="1" indent="0">
              <a:lnSpc>
                <a:spcPct val="150000"/>
              </a:lnSpc>
              <a:buFontTx/>
              <a:buNone/>
            </a:pPr>
            <a:endParaRPr lang="en-US" altLang="en-US" sz="1800" b="1">
              <a:solidFill>
                <a:srgbClr val="000000"/>
              </a:solidFill>
              <a:latin typeface="Consolas" panose="020B0609020204030204" pitchFamily="49" charset="0"/>
            </a:endParaRPr>
          </a:p>
          <a:p>
            <a:pPr marL="457200" lvl="1" indent="0">
              <a:lnSpc>
                <a:spcPct val="150000"/>
              </a:lnSpc>
              <a:buFontTx/>
              <a:buNone/>
            </a:pPr>
            <a:r>
              <a:rPr lang="en-US" altLang="en-US" sz="1800" b="1">
                <a:solidFill>
                  <a:srgbClr val="000000"/>
                </a:solidFill>
                <a:latin typeface="Consolas" panose="020B0609020204030204" pitchFamily="49" charset="0"/>
              </a:rPr>
              <a:t>}</a:t>
            </a:r>
            <a:endParaRPr lang="en-US" altLang="en-US" sz="1800"/>
          </a:p>
          <a:p>
            <a:pPr marL="457200" lvl="1" indent="0">
              <a:lnSpc>
                <a:spcPct val="150000"/>
              </a:lnSpc>
              <a:buFontTx/>
              <a:buNone/>
            </a:pPr>
            <a:endParaRPr lang="en-US" altLang="en-US" sz="1800"/>
          </a:p>
          <a:p>
            <a:pPr marL="914400" lvl="2" indent="0">
              <a:buFontTx/>
              <a:buNone/>
            </a:pPr>
            <a:endParaRPr lang="en-US" altLang="en-US" sz="1800"/>
          </a:p>
          <a:p>
            <a:pPr>
              <a:lnSpc>
                <a:spcPct val="150000"/>
              </a:lnSpc>
            </a:pPr>
            <a:endParaRPr lang="en-US" altLang="en-US" sz="2000"/>
          </a:p>
          <a:p>
            <a:pPr>
              <a:lnSpc>
                <a:spcPct val="150000"/>
              </a:lnSpc>
            </a:pPr>
            <a:endParaRPr lang="en-IN" altLang="en-US" sz="2000"/>
          </a:p>
          <a:p>
            <a:endParaRPr lang="en-IN" altLang="en-US"/>
          </a:p>
        </p:txBody>
      </p:sp>
    </p:spTree>
    <p:extLst>
      <p:ext uri="{BB962C8B-B14F-4D97-AF65-F5344CB8AC3E}">
        <p14:creationId xmlns:p14="http://schemas.microsoft.com/office/powerpoint/2010/main" val="187022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1">
            <a:extLst>
              <a:ext uri="{FF2B5EF4-FFF2-40B4-BE49-F238E27FC236}">
                <a16:creationId xmlns:a16="http://schemas.microsoft.com/office/drawing/2014/main" id="{80CCB065-9FF3-63CC-39A8-5CCC568B1AD4}"/>
              </a:ext>
            </a:extLst>
          </p:cNvPr>
          <p:cNvSpPr>
            <a:spLocks noGrp="1" noChangeArrowheads="1"/>
          </p:cNvSpPr>
          <p:nvPr>
            <p:ph type="title"/>
          </p:nvPr>
        </p:nvSpPr>
        <p:spPr/>
        <p:txBody>
          <a:bodyPr/>
          <a:lstStyle/>
          <a:p>
            <a:r>
              <a:rPr lang="en-US" altLang="en-US"/>
              <a:t>Routing Object</a:t>
            </a:r>
            <a:endParaRPr lang="en-IN" altLang="en-US"/>
          </a:p>
        </p:txBody>
      </p:sp>
      <p:sp>
        <p:nvSpPr>
          <p:cNvPr id="3" name="Content Placeholder 2">
            <a:extLst>
              <a:ext uri="{FF2B5EF4-FFF2-40B4-BE49-F238E27FC236}">
                <a16:creationId xmlns:a16="http://schemas.microsoft.com/office/drawing/2014/main" id="{571480B8-FA03-B190-402D-83950DCF4C66}"/>
              </a:ext>
            </a:extLst>
          </p:cNvPr>
          <p:cNvSpPr>
            <a:spLocks noGrp="1"/>
          </p:cNvSpPr>
          <p:nvPr>
            <p:ph idx="1"/>
          </p:nvPr>
        </p:nvSpPr>
        <p:spPr/>
        <p:txBody>
          <a:bodyPr/>
          <a:lstStyle/>
          <a:p>
            <a:pPr>
              <a:defRPr/>
            </a:pPr>
            <a:r>
              <a:rPr lang="en-US" sz="1800" b="1" dirty="0"/>
              <a:t>Route </a:t>
            </a:r>
          </a:p>
          <a:p>
            <a:pPr lvl="1">
              <a:defRPr/>
            </a:pPr>
            <a:r>
              <a:rPr lang="en-US" sz="1800" dirty="0"/>
              <a:t>Defines the routes information such as route assertions, filters, routing addresses, and route priorities. </a:t>
            </a:r>
          </a:p>
          <a:p>
            <a:pPr lvl="1">
              <a:defRPr/>
            </a:pPr>
            <a:r>
              <a:rPr lang="en-US" sz="1800" dirty="0"/>
              <a:t>When the request arrives, it is processed by the Gateway filter </a:t>
            </a:r>
          </a:p>
          <a:p>
            <a:pPr lvl="2">
              <a:defRPr/>
            </a:pPr>
            <a:r>
              <a:rPr lang="en-US" sz="1800" dirty="0"/>
              <a:t>And then its forwarded to the proxy service.</a:t>
            </a:r>
          </a:p>
          <a:p>
            <a:pPr>
              <a:defRPr/>
            </a:pPr>
            <a:endParaRPr lang="en-US" sz="1800" dirty="0"/>
          </a:p>
          <a:p>
            <a:pPr marL="457200" lvl="1" indent="0">
              <a:buFontTx/>
              <a:buNone/>
              <a:defRPr/>
            </a:pPr>
            <a:r>
              <a:rPr lang="en-US" sz="1800" dirty="0"/>
              <a:t>public class Route implements Ordered {</a:t>
            </a:r>
          </a:p>
          <a:p>
            <a:pPr marL="457200" lvl="1" indent="0">
              <a:buFontTx/>
              <a:buNone/>
              <a:defRPr/>
            </a:pPr>
            <a:endParaRPr lang="en-US" sz="1800" dirty="0"/>
          </a:p>
          <a:p>
            <a:pPr marL="457200" lvl="1" indent="0">
              <a:buFontTx/>
              <a:buNone/>
              <a:defRPr/>
            </a:pPr>
            <a:r>
              <a:rPr lang="en-US" sz="1800" dirty="0"/>
              <a:t>private final String id; </a:t>
            </a:r>
          </a:p>
          <a:p>
            <a:pPr marL="457200" lvl="1" indent="0">
              <a:buFontTx/>
              <a:buNone/>
              <a:defRPr/>
            </a:pPr>
            <a:r>
              <a:rPr lang="en-US" sz="1800" dirty="0"/>
              <a:t>private final URI </a:t>
            </a:r>
            <a:r>
              <a:rPr lang="en-US" sz="1800" dirty="0" err="1"/>
              <a:t>uri</a:t>
            </a:r>
            <a:r>
              <a:rPr lang="en-US" sz="1800" dirty="0"/>
              <a:t>; </a:t>
            </a:r>
          </a:p>
          <a:p>
            <a:pPr marL="457200" lvl="1" indent="0">
              <a:buFontTx/>
              <a:buNone/>
              <a:defRPr/>
            </a:pPr>
            <a:r>
              <a:rPr lang="en-US" sz="1800" dirty="0"/>
              <a:t>private final int order; </a:t>
            </a:r>
          </a:p>
          <a:p>
            <a:pPr marL="457200" lvl="1" indent="0">
              <a:buFontTx/>
              <a:buNone/>
              <a:defRPr/>
            </a:pPr>
            <a:r>
              <a:rPr lang="en-US" sz="1800" dirty="0"/>
              <a:t>private final </a:t>
            </a:r>
            <a:r>
              <a:rPr lang="en-US" sz="1800" dirty="0" err="1"/>
              <a:t>AsyncPredicate</a:t>
            </a:r>
            <a:r>
              <a:rPr lang="en-US" sz="1800" dirty="0"/>
              <a:t>&lt;</a:t>
            </a:r>
            <a:r>
              <a:rPr lang="en-US" sz="1800" dirty="0" err="1"/>
              <a:t>ServerWebExchange</a:t>
            </a:r>
            <a:r>
              <a:rPr lang="en-US" sz="1800" dirty="0"/>
              <a:t>&gt; predicate;</a:t>
            </a:r>
          </a:p>
          <a:p>
            <a:pPr marL="457200" lvl="1" indent="0">
              <a:buFontTx/>
              <a:buNone/>
              <a:defRPr/>
            </a:pPr>
            <a:r>
              <a:rPr lang="en-US" sz="1800" dirty="0"/>
              <a:t>private final List&lt;</a:t>
            </a:r>
            <a:r>
              <a:rPr lang="en-US" sz="1800" dirty="0" err="1"/>
              <a:t>GatewayFilter</a:t>
            </a:r>
            <a:r>
              <a:rPr lang="en-US" sz="1800" dirty="0"/>
              <a:t>&gt; </a:t>
            </a:r>
            <a:r>
              <a:rPr lang="en-US" sz="1800" dirty="0" err="1"/>
              <a:t>gatewayFilters</a:t>
            </a:r>
            <a:r>
              <a:rPr lang="en-US" sz="1800" dirty="0"/>
              <a:t>;</a:t>
            </a:r>
          </a:p>
          <a:p>
            <a:pPr marL="457200" lvl="1" indent="0">
              <a:buFontTx/>
              <a:buNone/>
              <a:defRPr/>
            </a:pPr>
            <a:r>
              <a:rPr lang="en-US" sz="1800" dirty="0"/>
              <a:t>   }</a:t>
            </a:r>
          </a:p>
          <a:p>
            <a:pPr>
              <a:defRPr/>
            </a:pPr>
            <a:endParaRPr lang="en-IN" sz="1800" dirty="0"/>
          </a:p>
        </p:txBody>
      </p:sp>
    </p:spTree>
    <p:extLst>
      <p:ext uri="{BB962C8B-B14F-4D97-AF65-F5344CB8AC3E}">
        <p14:creationId xmlns:p14="http://schemas.microsoft.com/office/powerpoint/2010/main" val="1293987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itle 1">
            <a:extLst>
              <a:ext uri="{FF2B5EF4-FFF2-40B4-BE49-F238E27FC236}">
                <a16:creationId xmlns:a16="http://schemas.microsoft.com/office/drawing/2014/main" id="{CB672840-C8CB-E905-0C2D-22972C9FD350}"/>
              </a:ext>
            </a:extLst>
          </p:cNvPr>
          <p:cNvSpPr>
            <a:spLocks noGrp="1" noChangeArrowheads="1"/>
          </p:cNvSpPr>
          <p:nvPr>
            <p:ph type="title"/>
          </p:nvPr>
        </p:nvSpPr>
        <p:spPr/>
        <p:txBody>
          <a:bodyPr/>
          <a:lstStyle/>
          <a:p>
            <a:r>
              <a:rPr lang="en-US" altLang="en-US"/>
              <a:t>Configuring Route Locator</a:t>
            </a:r>
            <a:endParaRPr lang="en-IN" altLang="en-US"/>
          </a:p>
        </p:txBody>
      </p:sp>
      <p:sp>
        <p:nvSpPr>
          <p:cNvPr id="35843" name="Content Placeholder 2">
            <a:extLst>
              <a:ext uri="{FF2B5EF4-FFF2-40B4-BE49-F238E27FC236}">
                <a16:creationId xmlns:a16="http://schemas.microsoft.com/office/drawing/2014/main" id="{332F6083-8A09-3E5C-0135-DF547CF3A58E}"/>
              </a:ext>
            </a:extLst>
          </p:cNvPr>
          <p:cNvSpPr>
            <a:spLocks noGrp="1" noChangeArrowheads="1"/>
          </p:cNvSpPr>
          <p:nvPr>
            <p:ph idx="1"/>
          </p:nvPr>
        </p:nvSpPr>
        <p:spPr/>
        <p:txBody>
          <a:bodyPr/>
          <a:lstStyle/>
          <a:p>
            <a:pPr marL="457200" lvl="1" indent="0">
              <a:buFontTx/>
              <a:buNone/>
              <a:defRPr/>
            </a:pPr>
            <a:r>
              <a:rPr lang="en-IN" altLang="en-US" sz="1800" dirty="0">
                <a:solidFill>
                  <a:srgbClr val="646464"/>
                </a:solidFill>
                <a:latin typeface="Consolas" panose="020B0609020204030204" pitchFamily="49" charset="0"/>
              </a:rPr>
              <a:t>@Configuration</a:t>
            </a:r>
          </a:p>
          <a:p>
            <a:pPr marL="457200" lvl="1" indent="0">
              <a:buFontTx/>
              <a:buNone/>
              <a:defRPr/>
            </a:pPr>
            <a:r>
              <a:rPr lang="en-IN" altLang="en-US" sz="1800" b="1" dirty="0">
                <a:solidFill>
                  <a:srgbClr val="7F0055"/>
                </a:solidFill>
                <a:latin typeface="Consolas" panose="020B0609020204030204" pitchFamily="49" charset="0"/>
              </a:rPr>
              <a:t>public</a:t>
            </a:r>
            <a:r>
              <a:rPr lang="en-IN" altLang="en-US" sz="1800" b="1" dirty="0">
                <a:solidFill>
                  <a:srgbClr val="000000"/>
                </a:solidFill>
                <a:latin typeface="Consolas" panose="020B0609020204030204" pitchFamily="49" charset="0"/>
              </a:rPr>
              <a:t> </a:t>
            </a:r>
            <a:r>
              <a:rPr lang="en-IN" altLang="en-US" sz="1800" b="1" dirty="0">
                <a:solidFill>
                  <a:srgbClr val="7F0055"/>
                </a:solidFill>
                <a:latin typeface="Consolas" panose="020B0609020204030204" pitchFamily="49" charset="0"/>
              </a:rPr>
              <a:t>class</a:t>
            </a:r>
            <a:r>
              <a:rPr lang="en-IN" altLang="en-US" sz="1800" b="1" dirty="0">
                <a:solidFill>
                  <a:srgbClr val="000000"/>
                </a:solidFill>
                <a:latin typeface="Consolas" panose="020B0609020204030204" pitchFamily="49" charset="0"/>
              </a:rPr>
              <a:t> </a:t>
            </a:r>
            <a:r>
              <a:rPr lang="en-IN" altLang="en-US" sz="1800" b="1" dirty="0" err="1">
                <a:solidFill>
                  <a:srgbClr val="000000"/>
                </a:solidFill>
                <a:latin typeface="Consolas" panose="020B0609020204030204" pitchFamily="49" charset="0"/>
              </a:rPr>
              <a:t>MyRouteConfig</a:t>
            </a:r>
            <a:r>
              <a:rPr lang="en-IN" altLang="en-US" sz="1800" b="1" dirty="0">
                <a:solidFill>
                  <a:srgbClr val="000000"/>
                </a:solidFill>
                <a:latin typeface="Consolas" panose="020B0609020204030204" pitchFamily="49" charset="0"/>
              </a:rPr>
              <a:t> {</a:t>
            </a:r>
          </a:p>
          <a:p>
            <a:pPr marL="457200" lvl="1" indent="0">
              <a:buFontTx/>
              <a:buNone/>
              <a:defRPr/>
            </a:pPr>
            <a:endParaRPr lang="en-IN" altLang="en-US" sz="1800" dirty="0">
              <a:latin typeface="Consolas" panose="020B0609020204030204" pitchFamily="49" charset="0"/>
            </a:endParaRPr>
          </a:p>
          <a:p>
            <a:pPr marL="457200" lvl="1" indent="0">
              <a:buFontTx/>
              <a:buNone/>
              <a:defRPr/>
            </a:pPr>
            <a:r>
              <a:rPr lang="en-IN" altLang="en-US" sz="1800" dirty="0">
                <a:solidFill>
                  <a:srgbClr val="000000"/>
                </a:solidFill>
                <a:latin typeface="Consolas" panose="020B0609020204030204" pitchFamily="49" charset="0"/>
              </a:rPr>
              <a:t>    </a:t>
            </a:r>
            <a:r>
              <a:rPr lang="en-IN" altLang="en-US" sz="1800" dirty="0">
                <a:solidFill>
                  <a:srgbClr val="646464"/>
                </a:solidFill>
                <a:latin typeface="Consolas" panose="020B0609020204030204" pitchFamily="49" charset="0"/>
              </a:rPr>
              <a:t>@Bean</a:t>
            </a:r>
          </a:p>
          <a:p>
            <a:pPr marL="457200" lvl="1" indent="0">
              <a:buFontTx/>
              <a:buNone/>
              <a:defRPr/>
            </a:pPr>
            <a:r>
              <a:rPr lang="en-US" altLang="en-US" sz="1800" dirty="0">
                <a:solidFill>
                  <a:srgbClr val="000000"/>
                </a:solidFill>
                <a:latin typeface="Consolas" panose="020B0609020204030204" pitchFamily="49" charset="0"/>
              </a:rPr>
              <a:t>    </a:t>
            </a:r>
            <a:r>
              <a:rPr lang="en-US" altLang="en-US" sz="1800" b="1" dirty="0">
                <a:solidFill>
                  <a:srgbClr val="7F0055"/>
                </a:solidFill>
                <a:latin typeface="Consolas" panose="020B0609020204030204" pitchFamily="49" charset="0"/>
              </a:rPr>
              <a:t>public</a:t>
            </a:r>
            <a:r>
              <a:rPr lang="en-US" altLang="en-US" sz="1800" b="1" dirty="0">
                <a:solidFill>
                  <a:srgbClr val="000000"/>
                </a:solidFill>
                <a:latin typeface="Consolas" panose="020B0609020204030204" pitchFamily="49" charset="0"/>
              </a:rPr>
              <a:t> </a:t>
            </a:r>
            <a:r>
              <a:rPr lang="en-US" altLang="en-US" sz="1800" b="1" dirty="0" err="1">
                <a:solidFill>
                  <a:srgbClr val="000000"/>
                </a:solidFill>
                <a:latin typeface="Consolas" panose="020B0609020204030204" pitchFamily="49" charset="0"/>
              </a:rPr>
              <a:t>RouteLocator</a:t>
            </a:r>
            <a:r>
              <a:rPr lang="en-US" altLang="en-US" sz="1800" b="1" dirty="0">
                <a:solidFill>
                  <a:srgbClr val="000000"/>
                </a:solidFill>
                <a:latin typeface="Consolas" panose="020B0609020204030204" pitchFamily="49" charset="0"/>
              </a:rPr>
              <a:t> </a:t>
            </a:r>
            <a:r>
              <a:rPr lang="en-US" altLang="en-US" sz="1800" b="1" dirty="0" err="1">
                <a:solidFill>
                  <a:srgbClr val="000000"/>
                </a:solidFill>
                <a:latin typeface="Consolas" panose="020B0609020204030204" pitchFamily="49" charset="0"/>
              </a:rPr>
              <a:t>gatewayRoutes</a:t>
            </a:r>
            <a:r>
              <a:rPr lang="en-US" altLang="en-US" sz="1800" b="1" dirty="0">
                <a:solidFill>
                  <a:srgbClr val="000000"/>
                </a:solidFill>
                <a:latin typeface="Consolas" panose="020B0609020204030204" pitchFamily="49" charset="0"/>
              </a:rPr>
              <a:t>(</a:t>
            </a:r>
            <a:r>
              <a:rPr lang="en-US" altLang="en-US" sz="1800" b="1" dirty="0" err="1">
                <a:solidFill>
                  <a:srgbClr val="000000"/>
                </a:solidFill>
                <a:latin typeface="Consolas" panose="020B0609020204030204" pitchFamily="49" charset="0"/>
              </a:rPr>
              <a:t>RouteLocatorBuilder</a:t>
            </a:r>
            <a:r>
              <a:rPr lang="en-US" altLang="en-US" sz="1800" b="1" dirty="0">
                <a:solidFill>
                  <a:srgbClr val="000000"/>
                </a:solidFill>
                <a:latin typeface="Consolas" panose="020B0609020204030204" pitchFamily="49" charset="0"/>
              </a:rPr>
              <a:t> </a:t>
            </a:r>
            <a:r>
              <a:rPr lang="en-US" altLang="en-US" sz="1800" b="1" dirty="0">
                <a:solidFill>
                  <a:srgbClr val="6A3E3E"/>
                </a:solidFill>
                <a:latin typeface="Consolas" panose="020B0609020204030204" pitchFamily="49" charset="0"/>
              </a:rPr>
              <a:t>builder</a:t>
            </a:r>
            <a:r>
              <a:rPr lang="en-US" altLang="en-US" sz="1800" b="1" dirty="0">
                <a:solidFill>
                  <a:srgbClr val="000000"/>
                </a:solidFill>
                <a:latin typeface="Consolas" panose="020B0609020204030204" pitchFamily="49" charset="0"/>
              </a:rPr>
              <a:t>) {</a:t>
            </a:r>
          </a:p>
          <a:p>
            <a:pPr marL="457200" lvl="1" indent="0">
              <a:buFontTx/>
              <a:buNone/>
              <a:defRPr/>
            </a:pPr>
            <a:r>
              <a:rPr lang="en-IN" altLang="en-US" sz="1800" dirty="0">
                <a:solidFill>
                  <a:srgbClr val="000000"/>
                </a:solidFill>
                <a:latin typeface="Consolas" panose="020B0609020204030204" pitchFamily="49" charset="0"/>
              </a:rPr>
              <a:t>    </a:t>
            </a:r>
          </a:p>
          <a:p>
            <a:pPr marL="0" indent="0">
              <a:buFontTx/>
              <a:buNone/>
              <a:defRPr/>
            </a:pPr>
            <a:r>
              <a:rPr lang="en-IN" altLang="en-US" sz="1800" dirty="0">
                <a:solidFill>
                  <a:srgbClr val="000000"/>
                </a:solidFill>
                <a:latin typeface="Consolas" panose="020B0609020204030204" pitchFamily="49" charset="0"/>
              </a:rPr>
              <a:t>         </a:t>
            </a:r>
            <a:r>
              <a:rPr lang="en-IN" altLang="en-US" sz="1800" b="1" dirty="0">
                <a:solidFill>
                  <a:srgbClr val="7F0055"/>
                </a:solidFill>
                <a:latin typeface="Consolas" panose="020B0609020204030204" pitchFamily="49" charset="0"/>
              </a:rPr>
              <a:t>r</a:t>
            </a:r>
            <a:r>
              <a:rPr lang="en-IN" sz="1800" b="1" dirty="0">
                <a:solidFill>
                  <a:srgbClr val="7F0055"/>
                </a:solidFill>
                <a:latin typeface="Consolas" panose="020B0609020204030204" pitchFamily="49" charset="0"/>
              </a:rPr>
              <a:t>eturn</a:t>
            </a:r>
            <a:r>
              <a:rPr lang="en-IN" sz="1800" b="1" dirty="0">
                <a:solidFill>
                  <a:srgbClr val="000000"/>
                </a:solidFill>
                <a:latin typeface="Consolas" panose="020B0609020204030204" pitchFamily="49" charset="0"/>
              </a:rPr>
              <a:t> </a:t>
            </a:r>
            <a:r>
              <a:rPr lang="en-IN" sz="1800" b="1" dirty="0" err="1">
                <a:solidFill>
                  <a:srgbClr val="6A3E3E"/>
                </a:solidFill>
                <a:latin typeface="Consolas" panose="020B0609020204030204" pitchFamily="49" charset="0"/>
              </a:rPr>
              <a:t>builder</a:t>
            </a:r>
            <a:r>
              <a:rPr lang="en-IN" sz="1800" b="1" dirty="0" err="1">
                <a:solidFill>
                  <a:srgbClr val="000000"/>
                </a:solidFill>
                <a:latin typeface="Consolas" panose="020B0609020204030204" pitchFamily="49" charset="0"/>
              </a:rPr>
              <a:t>.routes</a:t>
            </a:r>
            <a:r>
              <a:rPr lang="en-IN" sz="1800" b="1" dirty="0">
                <a:solidFill>
                  <a:srgbClr val="000000"/>
                </a:solidFill>
                <a:latin typeface="Consolas" panose="020B0609020204030204" pitchFamily="49" charset="0"/>
              </a:rPr>
              <a:t>()</a:t>
            </a:r>
          </a:p>
          <a:p>
            <a:pPr marL="0" indent="0">
              <a:buFontTx/>
              <a:buNone/>
              <a:defRPr/>
            </a:pPr>
            <a:r>
              <a:rPr lang="en-US" sz="1800" dirty="0">
                <a:solidFill>
                  <a:srgbClr val="000000"/>
                </a:solidFill>
                <a:latin typeface="Consolas" panose="020B0609020204030204" pitchFamily="49" charset="0"/>
              </a:rPr>
              <a:t>           .route</a:t>
            </a:r>
            <a:r>
              <a:rPr lang="en-US" sz="1800" b="1" dirty="0">
                <a:solidFill>
                  <a:srgbClr val="C00000"/>
                </a:solidFill>
                <a:latin typeface="Consolas" panose="020B0609020204030204" pitchFamily="49" charset="0"/>
              </a:rPr>
              <a:t>(</a:t>
            </a:r>
            <a:r>
              <a:rPr lang="en-US" sz="1800" dirty="0">
                <a:solidFill>
                  <a:srgbClr val="6A3E3E"/>
                </a:solidFill>
                <a:latin typeface="Consolas" panose="020B0609020204030204" pitchFamily="49" charset="0"/>
              </a:rPr>
              <a:t>p</a:t>
            </a:r>
            <a:r>
              <a:rPr lang="en-US" sz="1800" dirty="0">
                <a:solidFill>
                  <a:srgbClr val="000000"/>
                </a:solidFill>
                <a:latin typeface="Consolas" panose="020B0609020204030204" pitchFamily="49" charset="0"/>
              </a:rPr>
              <a:t> -&gt; </a:t>
            </a:r>
            <a:r>
              <a:rPr lang="en-US" sz="1800" dirty="0" err="1">
                <a:solidFill>
                  <a:srgbClr val="6A3E3E"/>
                </a:solidFill>
                <a:latin typeface="Consolas" panose="020B0609020204030204" pitchFamily="49" charset="0"/>
              </a:rPr>
              <a:t>p</a:t>
            </a:r>
            <a:r>
              <a:rPr lang="en-US" sz="1800" dirty="0" err="1">
                <a:solidFill>
                  <a:srgbClr val="000000"/>
                </a:solidFill>
                <a:latin typeface="Consolas" panose="020B0609020204030204" pitchFamily="49" charset="0"/>
              </a:rPr>
              <a:t>.path</a:t>
            </a:r>
            <a:r>
              <a:rPr lang="en-US" sz="1800" b="1" dirty="0">
                <a:solidFill>
                  <a:srgbClr val="00B050"/>
                </a:solidFill>
                <a:latin typeface="Consolas" panose="020B0609020204030204" pitchFamily="49" charset="0"/>
              </a:rPr>
              <a:t>(</a:t>
            </a:r>
            <a:r>
              <a:rPr lang="en-US" sz="1800" dirty="0">
                <a:solidFill>
                  <a:srgbClr val="2A00FF"/>
                </a:solidFill>
                <a:latin typeface="Consolas" panose="020B0609020204030204" pitchFamily="49" charset="0"/>
              </a:rPr>
              <a:t>"/</a:t>
            </a:r>
            <a:r>
              <a:rPr lang="en-US" sz="1800" dirty="0" err="1">
                <a:solidFill>
                  <a:srgbClr val="2A00FF"/>
                </a:solidFill>
                <a:latin typeface="Consolas" panose="020B0609020204030204" pitchFamily="49" charset="0"/>
              </a:rPr>
              <a:t>api</a:t>
            </a:r>
            <a:r>
              <a:rPr lang="en-US" sz="1800" dirty="0">
                <a:solidFill>
                  <a:srgbClr val="2A00FF"/>
                </a:solidFill>
                <a:latin typeface="Consolas" panose="020B0609020204030204" pitchFamily="49" charset="0"/>
              </a:rPr>
              <a:t>/v1/reviews/**"</a:t>
            </a:r>
            <a:r>
              <a:rPr lang="en-US" sz="1800" b="1" dirty="0">
                <a:solidFill>
                  <a:srgbClr val="00B050"/>
                </a:solidFill>
                <a:latin typeface="Consolas" panose="020B0609020204030204" pitchFamily="49" charset="0"/>
              </a:rPr>
              <a:t>)</a:t>
            </a:r>
          </a:p>
          <a:p>
            <a:pPr marL="0" indent="0">
              <a:buFontTx/>
              <a:buNone/>
              <a:defRPr/>
            </a:pPr>
            <a:r>
              <a:rPr lang="en-US" sz="1800" dirty="0">
                <a:solidFill>
                  <a:srgbClr val="000000"/>
                </a:solidFill>
                <a:latin typeface="Consolas" panose="020B0609020204030204" pitchFamily="49" charset="0"/>
              </a:rPr>
              <a:t>           .filters</a:t>
            </a:r>
            <a:r>
              <a:rPr lang="en-US" sz="1800" b="1" dirty="0">
                <a:solidFill>
                  <a:schemeClr val="bg1">
                    <a:lumMod val="75000"/>
                  </a:schemeClr>
                </a:solidFill>
                <a:latin typeface="Consolas" panose="020B0609020204030204" pitchFamily="49" charset="0"/>
              </a:rPr>
              <a:t>(</a:t>
            </a:r>
            <a:r>
              <a:rPr lang="en-US" sz="1800" dirty="0">
                <a:solidFill>
                  <a:srgbClr val="6A3E3E"/>
                </a:solidFill>
                <a:latin typeface="Consolas" panose="020B0609020204030204" pitchFamily="49" charset="0"/>
              </a:rPr>
              <a:t>f</a:t>
            </a:r>
            <a:r>
              <a:rPr lang="en-US" sz="1800" dirty="0">
                <a:solidFill>
                  <a:srgbClr val="000000"/>
                </a:solidFill>
                <a:latin typeface="Consolas" panose="020B0609020204030204" pitchFamily="49" charset="0"/>
              </a:rPr>
              <a:t> -&gt; </a:t>
            </a:r>
            <a:r>
              <a:rPr lang="en-US" sz="1800" dirty="0" err="1">
                <a:solidFill>
                  <a:srgbClr val="6A3E3E"/>
                </a:solidFill>
                <a:latin typeface="Consolas" panose="020B0609020204030204" pitchFamily="49" charset="0"/>
              </a:rPr>
              <a:t>f</a:t>
            </a:r>
            <a:r>
              <a:rPr lang="en-US" sz="1800" dirty="0" err="1">
                <a:solidFill>
                  <a:srgbClr val="000000"/>
                </a:solidFill>
                <a:latin typeface="Consolas" panose="020B0609020204030204" pitchFamily="49" charset="0"/>
              </a:rPr>
              <a:t>.addResponseHeader</a:t>
            </a:r>
            <a:r>
              <a:rPr lang="en-US" sz="1400" dirty="0">
                <a:solidFill>
                  <a:srgbClr val="000000"/>
                </a:solidFill>
                <a:latin typeface="Consolas" panose="020B0609020204030204" pitchFamily="49" charset="0"/>
              </a:rPr>
              <a:t>(</a:t>
            </a:r>
            <a:r>
              <a:rPr lang="en-US" sz="1800" dirty="0">
                <a:solidFill>
                  <a:srgbClr val="2A00FF"/>
                </a:solidFill>
                <a:latin typeface="Consolas" panose="020B0609020204030204" pitchFamily="49" charset="0"/>
              </a:rPr>
              <a:t>"Hello"</a:t>
            </a:r>
            <a:r>
              <a:rPr lang="en-US" sz="1800" dirty="0">
                <a:solidFill>
                  <a:srgbClr val="000000"/>
                </a:solidFill>
                <a:latin typeface="Consolas" panose="020B0609020204030204" pitchFamily="49" charset="0"/>
              </a:rPr>
              <a:t>, </a:t>
            </a:r>
            <a:r>
              <a:rPr lang="en-US" sz="1800" dirty="0">
                <a:solidFill>
                  <a:srgbClr val="2A00FF"/>
                </a:solidFill>
                <a:latin typeface="Consolas" panose="020B0609020204030204" pitchFamily="49" charset="0"/>
              </a:rPr>
              <a:t>"World"</a:t>
            </a:r>
            <a:r>
              <a:rPr lang="en-US" sz="1400" dirty="0">
                <a:solidFill>
                  <a:srgbClr val="000000"/>
                </a:solidFill>
                <a:latin typeface="Consolas" panose="020B0609020204030204" pitchFamily="49" charset="0"/>
              </a:rPr>
              <a:t>)</a:t>
            </a:r>
            <a:r>
              <a:rPr lang="en-US" sz="1800" b="1" dirty="0">
                <a:solidFill>
                  <a:schemeClr val="bg1">
                    <a:lumMod val="75000"/>
                  </a:schemeClr>
                </a:solidFill>
                <a:latin typeface="Consolas" panose="020B0609020204030204" pitchFamily="49" charset="0"/>
              </a:rPr>
              <a:t>)</a:t>
            </a:r>
          </a:p>
          <a:p>
            <a:pPr marL="0" indent="0">
              <a:buFontTx/>
              <a:buNone/>
              <a:defRPr/>
            </a:pPr>
            <a:r>
              <a:rPr lang="en-IN" sz="1800" dirty="0">
                <a:solidFill>
                  <a:srgbClr val="000000"/>
                </a:solidFill>
                <a:latin typeface="Consolas" panose="020B0609020204030204" pitchFamily="49" charset="0"/>
              </a:rPr>
              <a:t>           .</a:t>
            </a:r>
            <a:r>
              <a:rPr lang="en-IN" sz="1800" dirty="0" err="1">
                <a:solidFill>
                  <a:srgbClr val="000000"/>
                </a:solidFill>
                <a:latin typeface="Consolas" panose="020B0609020204030204" pitchFamily="49" charset="0"/>
              </a:rPr>
              <a:t>uri</a:t>
            </a:r>
            <a:r>
              <a:rPr lang="en-IN" sz="1800" b="1" dirty="0">
                <a:solidFill>
                  <a:srgbClr val="00B0F0"/>
                </a:solidFill>
                <a:latin typeface="Consolas" panose="020B0609020204030204" pitchFamily="49" charset="0"/>
              </a:rPr>
              <a:t>(</a:t>
            </a:r>
            <a:r>
              <a:rPr lang="en-IN" sz="1800" dirty="0">
                <a:solidFill>
                  <a:srgbClr val="2A00FF"/>
                </a:solidFill>
                <a:latin typeface="Consolas" panose="020B0609020204030204" pitchFamily="49" charset="0"/>
              </a:rPr>
              <a:t>"lb://REVIEW-SERVICE"</a:t>
            </a:r>
            <a:r>
              <a:rPr lang="en-IN" sz="1800" b="1" dirty="0">
                <a:solidFill>
                  <a:srgbClr val="00B0F0"/>
                </a:solidFill>
                <a:latin typeface="Consolas" panose="020B0609020204030204" pitchFamily="49" charset="0"/>
              </a:rPr>
              <a:t>)</a:t>
            </a:r>
            <a:r>
              <a:rPr lang="en-IN" sz="1800" dirty="0">
                <a:solidFill>
                  <a:srgbClr val="000000"/>
                </a:solidFill>
                <a:latin typeface="Consolas" panose="020B0609020204030204" pitchFamily="49" charset="0"/>
              </a:rPr>
              <a:t> </a:t>
            </a:r>
            <a:r>
              <a:rPr lang="en-IN" sz="1800" dirty="0">
                <a:solidFill>
                  <a:srgbClr val="C00000"/>
                </a:solidFill>
                <a:latin typeface="Consolas" panose="020B0609020204030204" pitchFamily="49" charset="0"/>
              </a:rPr>
              <a:t>)</a:t>
            </a:r>
          </a:p>
          <a:p>
            <a:pPr marL="0" indent="0">
              <a:buFontTx/>
              <a:buNone/>
              <a:defRPr/>
            </a:pPr>
            <a:r>
              <a:rPr lang="en-US" sz="1800" dirty="0">
                <a:solidFill>
                  <a:srgbClr val="000000"/>
                </a:solidFill>
                <a:latin typeface="Consolas" panose="020B0609020204030204" pitchFamily="49" charset="0"/>
              </a:rPr>
              <a:t>                .route(</a:t>
            </a:r>
            <a:r>
              <a:rPr lang="en-US" sz="1800" dirty="0">
                <a:solidFill>
                  <a:srgbClr val="6A3E3E"/>
                </a:solidFill>
                <a:latin typeface="Consolas" panose="020B0609020204030204" pitchFamily="49" charset="0"/>
              </a:rPr>
              <a:t>p</a:t>
            </a:r>
            <a:r>
              <a:rPr lang="en-US" sz="1800" dirty="0">
                <a:solidFill>
                  <a:srgbClr val="000000"/>
                </a:solidFill>
                <a:latin typeface="Consolas" panose="020B0609020204030204" pitchFamily="49" charset="0"/>
              </a:rPr>
              <a:t> -&gt; </a:t>
            </a:r>
            <a:r>
              <a:rPr lang="en-US" sz="1800" dirty="0" err="1">
                <a:solidFill>
                  <a:srgbClr val="6A3E3E"/>
                </a:solidFill>
                <a:latin typeface="Consolas" panose="020B0609020204030204" pitchFamily="49" charset="0"/>
              </a:rPr>
              <a:t>p</a:t>
            </a:r>
            <a:r>
              <a:rPr lang="en-US" sz="1800" dirty="0" err="1">
                <a:solidFill>
                  <a:srgbClr val="000000"/>
                </a:solidFill>
                <a:latin typeface="Consolas" panose="020B0609020204030204" pitchFamily="49" charset="0"/>
              </a:rPr>
              <a:t>.path</a:t>
            </a:r>
            <a:r>
              <a:rPr lang="en-US" sz="1800" dirty="0">
                <a:solidFill>
                  <a:srgbClr val="000000"/>
                </a:solidFill>
                <a:latin typeface="Consolas" panose="020B0609020204030204" pitchFamily="49" charset="0"/>
              </a:rPr>
              <a:t>(</a:t>
            </a:r>
            <a:r>
              <a:rPr lang="en-US" sz="1800" dirty="0">
                <a:solidFill>
                  <a:srgbClr val="2A00FF"/>
                </a:solidFill>
                <a:latin typeface="Consolas" panose="020B0609020204030204" pitchFamily="49" charset="0"/>
              </a:rPr>
              <a:t>"/</a:t>
            </a:r>
            <a:r>
              <a:rPr lang="en-US" sz="1800" dirty="0" err="1">
                <a:solidFill>
                  <a:srgbClr val="2A00FF"/>
                </a:solidFill>
                <a:latin typeface="Consolas" panose="020B0609020204030204" pitchFamily="49" charset="0"/>
              </a:rPr>
              <a:t>api</a:t>
            </a:r>
            <a:r>
              <a:rPr lang="en-US" sz="1800" dirty="0">
                <a:solidFill>
                  <a:srgbClr val="2A00FF"/>
                </a:solidFill>
                <a:latin typeface="Consolas" panose="020B0609020204030204" pitchFamily="49" charset="0"/>
              </a:rPr>
              <a:t>/v1/choices/**"</a:t>
            </a:r>
            <a:r>
              <a:rPr lang="en-US" sz="1800" dirty="0">
                <a:solidFill>
                  <a:srgbClr val="000000"/>
                </a:solidFill>
                <a:latin typeface="Consolas" panose="020B0609020204030204" pitchFamily="49" charset="0"/>
              </a:rPr>
              <a:t>)</a:t>
            </a:r>
          </a:p>
          <a:p>
            <a:pPr marL="0" indent="0">
              <a:buFontTx/>
              <a:buNone/>
              <a:defRPr/>
            </a:pPr>
            <a:r>
              <a:rPr lang="en-IN" sz="1800" dirty="0">
                <a:solidFill>
                  <a:srgbClr val="000000"/>
                </a:solidFill>
                <a:latin typeface="Consolas" panose="020B0609020204030204" pitchFamily="49" charset="0"/>
              </a:rPr>
              <a:t>                .</a:t>
            </a:r>
            <a:r>
              <a:rPr lang="en-IN" sz="1800" dirty="0" err="1">
                <a:solidFill>
                  <a:srgbClr val="000000"/>
                </a:solidFill>
                <a:latin typeface="Consolas" panose="020B0609020204030204" pitchFamily="49" charset="0"/>
              </a:rPr>
              <a:t>uri</a:t>
            </a:r>
            <a:r>
              <a:rPr lang="en-IN" sz="1800" dirty="0">
                <a:solidFill>
                  <a:srgbClr val="000000"/>
                </a:solidFill>
                <a:latin typeface="Consolas" panose="020B0609020204030204" pitchFamily="49" charset="0"/>
              </a:rPr>
              <a:t>(</a:t>
            </a:r>
            <a:r>
              <a:rPr lang="en-IN" sz="1800" dirty="0">
                <a:solidFill>
                  <a:srgbClr val="2A00FF"/>
                </a:solidFill>
                <a:latin typeface="Consolas" panose="020B0609020204030204" pitchFamily="49" charset="0"/>
              </a:rPr>
              <a:t>"http://localhost:7575/"</a:t>
            </a:r>
            <a:r>
              <a:rPr lang="en-IN" sz="1800" dirty="0">
                <a:solidFill>
                  <a:srgbClr val="000000"/>
                </a:solidFill>
                <a:latin typeface="Consolas" panose="020B0609020204030204" pitchFamily="49" charset="0"/>
              </a:rPr>
              <a:t>))</a:t>
            </a:r>
          </a:p>
          <a:p>
            <a:pPr marL="0" indent="0">
              <a:buFontTx/>
              <a:buNone/>
              <a:defRPr/>
            </a:pPr>
            <a:r>
              <a:rPr lang="en-IN" sz="1800" dirty="0">
                <a:solidFill>
                  <a:srgbClr val="000000"/>
                </a:solidFill>
                <a:latin typeface="Consolas" panose="020B0609020204030204" pitchFamily="49" charset="0"/>
              </a:rPr>
              <a:t>                .build();</a:t>
            </a:r>
          </a:p>
          <a:p>
            <a:pPr marL="457200" lvl="1" indent="0">
              <a:buFontTx/>
              <a:buNone/>
              <a:defRPr/>
            </a:pPr>
            <a:r>
              <a:rPr lang="en-IN" altLang="en-US" sz="1800" dirty="0">
                <a:solidFill>
                  <a:srgbClr val="000000"/>
                </a:solidFill>
                <a:latin typeface="Consolas" panose="020B0609020204030204" pitchFamily="49" charset="0"/>
              </a:rPr>
              <a:t>}</a:t>
            </a:r>
          </a:p>
          <a:p>
            <a:pPr marL="457200" lvl="1" indent="0">
              <a:buFontTx/>
              <a:buNone/>
              <a:defRPr/>
            </a:pPr>
            <a:r>
              <a:rPr lang="en-IN" altLang="en-US" sz="1800" dirty="0">
                <a:solidFill>
                  <a:srgbClr val="000000"/>
                </a:solidFill>
                <a:latin typeface="Consolas" panose="020B0609020204030204" pitchFamily="49" charset="0"/>
              </a:rPr>
              <a:t>}</a:t>
            </a:r>
          </a:p>
          <a:p>
            <a:pPr marL="457200" lvl="1" indent="0">
              <a:buFontTx/>
              <a:buNone/>
              <a:defRPr/>
            </a:pPr>
            <a:endParaRPr lang="en-IN" altLang="en-US" dirty="0"/>
          </a:p>
        </p:txBody>
      </p:sp>
    </p:spTree>
    <p:extLst>
      <p:ext uri="{BB962C8B-B14F-4D97-AF65-F5344CB8AC3E}">
        <p14:creationId xmlns:p14="http://schemas.microsoft.com/office/powerpoint/2010/main" val="30015442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Title 1">
            <a:extLst>
              <a:ext uri="{FF2B5EF4-FFF2-40B4-BE49-F238E27FC236}">
                <a16:creationId xmlns:a16="http://schemas.microsoft.com/office/drawing/2014/main" id="{AD23EB99-6747-5A9C-9FE9-3B62E6DC7506}"/>
              </a:ext>
            </a:extLst>
          </p:cNvPr>
          <p:cNvSpPr>
            <a:spLocks noGrp="1" noChangeArrowheads="1"/>
          </p:cNvSpPr>
          <p:nvPr>
            <p:ph type="title"/>
          </p:nvPr>
        </p:nvSpPr>
        <p:spPr/>
        <p:txBody>
          <a:bodyPr/>
          <a:lstStyle/>
          <a:p>
            <a:r>
              <a:rPr lang="en-US" altLang="en-US"/>
              <a:t>Gateway Filter</a:t>
            </a:r>
            <a:endParaRPr lang="en-IN" altLang="en-US"/>
          </a:p>
        </p:txBody>
      </p:sp>
      <p:sp>
        <p:nvSpPr>
          <p:cNvPr id="117762" name="Content Placeholder 2">
            <a:extLst>
              <a:ext uri="{FF2B5EF4-FFF2-40B4-BE49-F238E27FC236}">
                <a16:creationId xmlns:a16="http://schemas.microsoft.com/office/drawing/2014/main" id="{BAD5E025-EC8D-1DCA-A6D2-FADBDB762AD9}"/>
              </a:ext>
            </a:extLst>
          </p:cNvPr>
          <p:cNvSpPr>
            <a:spLocks noGrp="1" noChangeArrowheads="1"/>
          </p:cNvSpPr>
          <p:nvPr>
            <p:ph idx="1"/>
          </p:nvPr>
        </p:nvSpPr>
        <p:spPr/>
        <p:txBody>
          <a:bodyPr/>
          <a:lstStyle/>
          <a:p>
            <a:pPr marL="400050" lvl="1" indent="0">
              <a:buFontTx/>
              <a:buNone/>
            </a:pPr>
            <a:r>
              <a:rPr lang="en-IN" altLang="en-US" sz="2000">
                <a:solidFill>
                  <a:srgbClr val="646464"/>
                </a:solidFill>
                <a:latin typeface="Consolas" panose="020B0609020204030204" pitchFamily="49" charset="0"/>
              </a:rPr>
              <a:t>@Component</a:t>
            </a:r>
          </a:p>
          <a:p>
            <a:pPr marL="400050" lvl="1" indent="0">
              <a:buFontTx/>
              <a:buNone/>
            </a:pPr>
            <a:r>
              <a:rPr lang="en-US" altLang="en-US" sz="2000" b="1">
                <a:solidFill>
                  <a:srgbClr val="7F0055"/>
                </a:solidFill>
                <a:latin typeface="Consolas" panose="020B0609020204030204" pitchFamily="49" charset="0"/>
              </a:rPr>
              <a:t>public</a:t>
            </a:r>
            <a:r>
              <a:rPr lang="en-US" altLang="en-US" sz="2000" b="1">
                <a:solidFill>
                  <a:srgbClr val="000000"/>
                </a:solidFill>
                <a:latin typeface="Consolas" panose="020B0609020204030204" pitchFamily="49" charset="0"/>
              </a:rPr>
              <a:t> </a:t>
            </a:r>
            <a:r>
              <a:rPr lang="en-US" altLang="en-US" sz="2000" b="1">
                <a:solidFill>
                  <a:srgbClr val="7F0055"/>
                </a:solidFill>
                <a:latin typeface="Consolas" panose="020B0609020204030204" pitchFamily="49" charset="0"/>
              </a:rPr>
              <a:t>class</a:t>
            </a:r>
            <a:r>
              <a:rPr lang="en-US" altLang="en-US" sz="2000" b="1">
                <a:solidFill>
                  <a:srgbClr val="000000"/>
                </a:solidFill>
                <a:latin typeface="Consolas" panose="020B0609020204030204" pitchFamily="49" charset="0"/>
              </a:rPr>
              <a:t> LoggingFilter </a:t>
            </a:r>
            <a:r>
              <a:rPr lang="en-US" altLang="en-US" sz="2000" b="1">
                <a:solidFill>
                  <a:srgbClr val="7F0055"/>
                </a:solidFill>
                <a:latin typeface="Consolas" panose="020B0609020204030204" pitchFamily="49" charset="0"/>
              </a:rPr>
              <a:t>implements</a:t>
            </a:r>
            <a:r>
              <a:rPr lang="en-US" altLang="en-US" sz="2000" b="1">
                <a:solidFill>
                  <a:srgbClr val="000000"/>
                </a:solidFill>
                <a:latin typeface="Consolas" panose="020B0609020204030204" pitchFamily="49" charset="0"/>
              </a:rPr>
              <a:t> GatewayFilter {</a:t>
            </a:r>
          </a:p>
          <a:p>
            <a:pPr marL="400050" lvl="1" indent="0">
              <a:buFontTx/>
              <a:buNone/>
            </a:pPr>
            <a:endParaRPr lang="en-IN" altLang="en-US" sz="2000">
              <a:latin typeface="Consolas" panose="020B0609020204030204" pitchFamily="49" charset="0"/>
            </a:endParaRPr>
          </a:p>
          <a:p>
            <a:pPr marL="400050" lvl="1" indent="0">
              <a:buFontTx/>
              <a:buNone/>
            </a:pPr>
            <a:r>
              <a:rPr lang="en-IN" altLang="en-US" sz="2000">
                <a:solidFill>
                  <a:srgbClr val="646464"/>
                </a:solidFill>
                <a:latin typeface="Consolas" panose="020B0609020204030204" pitchFamily="49" charset="0"/>
              </a:rPr>
              <a:t>@Override</a:t>
            </a:r>
          </a:p>
          <a:p>
            <a:pPr marL="400050" lvl="1" indent="0">
              <a:buFontTx/>
              <a:buNone/>
            </a:pPr>
            <a:r>
              <a:rPr lang="en-IN" altLang="en-US" sz="2000" b="1">
                <a:solidFill>
                  <a:srgbClr val="7F0055"/>
                </a:solidFill>
                <a:latin typeface="Consolas" panose="020B0609020204030204" pitchFamily="49" charset="0"/>
              </a:rPr>
              <a:t>public</a:t>
            </a:r>
            <a:r>
              <a:rPr lang="en-IN" altLang="en-US" sz="2000" b="1">
                <a:solidFill>
                  <a:srgbClr val="000000"/>
                </a:solidFill>
                <a:latin typeface="Consolas" panose="020B0609020204030204" pitchFamily="49" charset="0"/>
              </a:rPr>
              <a:t> Mono&lt;Void&gt; filter(ServerWebExchange </a:t>
            </a:r>
            <a:r>
              <a:rPr lang="en-IN" altLang="en-US" sz="2000" b="1">
                <a:solidFill>
                  <a:srgbClr val="6A3E3E"/>
                </a:solidFill>
                <a:latin typeface="Consolas" panose="020B0609020204030204" pitchFamily="49" charset="0"/>
              </a:rPr>
              <a:t>exchange</a:t>
            </a:r>
            <a:r>
              <a:rPr lang="en-IN" altLang="en-US" sz="2000" b="1">
                <a:solidFill>
                  <a:srgbClr val="000000"/>
                </a:solidFill>
                <a:latin typeface="Consolas" panose="020B0609020204030204" pitchFamily="49" charset="0"/>
              </a:rPr>
              <a:t>, GatewayFilterChain </a:t>
            </a:r>
            <a:r>
              <a:rPr lang="en-IN" altLang="en-US" sz="2000" b="1">
                <a:solidFill>
                  <a:srgbClr val="6A3E3E"/>
                </a:solidFill>
                <a:latin typeface="Consolas" panose="020B0609020204030204" pitchFamily="49" charset="0"/>
              </a:rPr>
              <a:t>chain</a:t>
            </a:r>
            <a:r>
              <a:rPr lang="en-IN" altLang="en-US" sz="2000" b="1">
                <a:solidFill>
                  <a:srgbClr val="000000"/>
                </a:solidFill>
                <a:latin typeface="Consolas" panose="020B0609020204030204" pitchFamily="49" charset="0"/>
              </a:rPr>
              <a:t>) {</a:t>
            </a:r>
          </a:p>
          <a:p>
            <a:pPr marL="400050" lvl="1" indent="0">
              <a:buFontTx/>
              <a:buNone/>
            </a:pPr>
            <a:endParaRPr lang="en-IN" altLang="en-US" sz="2000">
              <a:latin typeface="Consolas" panose="020B0609020204030204" pitchFamily="49" charset="0"/>
            </a:endParaRPr>
          </a:p>
          <a:p>
            <a:pPr marL="400050" lvl="1" indent="0">
              <a:buFontTx/>
              <a:buNone/>
            </a:pPr>
            <a:r>
              <a:rPr lang="en-IN" altLang="en-US" sz="2000">
                <a:solidFill>
                  <a:srgbClr val="000000"/>
                </a:solidFill>
                <a:latin typeface="Consolas" panose="020B0609020204030204" pitchFamily="49" charset="0"/>
              </a:rPr>
              <a:t>ServerHttpRequest </a:t>
            </a:r>
            <a:r>
              <a:rPr lang="en-IN" altLang="en-US" sz="2000">
                <a:solidFill>
                  <a:srgbClr val="6A3E3E"/>
                </a:solidFill>
                <a:latin typeface="Consolas" panose="020B0609020204030204" pitchFamily="49" charset="0"/>
              </a:rPr>
              <a:t>request</a:t>
            </a:r>
            <a:r>
              <a:rPr lang="en-IN" altLang="en-US" sz="2000">
                <a:solidFill>
                  <a:srgbClr val="000000"/>
                </a:solidFill>
                <a:latin typeface="Consolas" panose="020B0609020204030204" pitchFamily="49" charset="0"/>
              </a:rPr>
              <a:t> = </a:t>
            </a:r>
            <a:r>
              <a:rPr lang="en-IN" altLang="en-US" sz="2000">
                <a:solidFill>
                  <a:srgbClr val="6A3E3E"/>
                </a:solidFill>
                <a:latin typeface="Consolas" panose="020B0609020204030204" pitchFamily="49" charset="0"/>
              </a:rPr>
              <a:t>exchange</a:t>
            </a:r>
            <a:r>
              <a:rPr lang="en-IN" altLang="en-US" sz="2000">
                <a:solidFill>
                  <a:srgbClr val="000000"/>
                </a:solidFill>
                <a:latin typeface="Consolas" panose="020B0609020204030204" pitchFamily="49" charset="0"/>
              </a:rPr>
              <a:t>.getRequest();</a:t>
            </a:r>
          </a:p>
          <a:p>
            <a:pPr marL="400050" lvl="1" indent="0">
              <a:buFontTx/>
              <a:buNone/>
            </a:pPr>
            <a:endParaRPr lang="en-IN" altLang="en-US" sz="2000">
              <a:latin typeface="Consolas" panose="020B0609020204030204" pitchFamily="49" charset="0"/>
            </a:endParaRPr>
          </a:p>
          <a:p>
            <a:pPr marL="400050" lvl="1" indent="0">
              <a:buFontTx/>
              <a:buNone/>
            </a:pPr>
            <a:r>
              <a:rPr lang="en-US" altLang="en-US" sz="2000" b="1" i="1" u="sng">
                <a:solidFill>
                  <a:srgbClr val="000000"/>
                </a:solidFill>
                <a:latin typeface="Consolas" panose="020B0609020204030204" pitchFamily="49" charset="0"/>
              </a:rPr>
              <a:t>Log.info(r</a:t>
            </a:r>
            <a:r>
              <a:rPr lang="en-US" altLang="en-US" sz="2000" b="1" i="1" u="sng">
                <a:solidFill>
                  <a:srgbClr val="6A3E3E"/>
                </a:solidFill>
                <a:latin typeface="Consolas" panose="020B0609020204030204" pitchFamily="49" charset="0"/>
              </a:rPr>
              <a:t>equest</a:t>
            </a:r>
            <a:r>
              <a:rPr lang="en-US" altLang="en-US" sz="2000" b="1" i="1" u="sng">
                <a:solidFill>
                  <a:srgbClr val="000000"/>
                </a:solidFill>
                <a:latin typeface="Consolas" panose="020B0609020204030204" pitchFamily="49" charset="0"/>
              </a:rPr>
              <a:t>.getPath().toString());</a:t>
            </a:r>
          </a:p>
          <a:p>
            <a:pPr marL="400050" lvl="1" indent="0">
              <a:buFontTx/>
              <a:buNone/>
            </a:pPr>
            <a:r>
              <a:rPr lang="en-IN" altLang="en-US" sz="2000">
                <a:solidFill>
                  <a:srgbClr val="000000"/>
                </a:solidFill>
                <a:latin typeface="Consolas" panose="020B0609020204030204" pitchFamily="49" charset="0"/>
              </a:rPr>
              <a:t>        </a:t>
            </a:r>
          </a:p>
          <a:p>
            <a:pPr marL="400050" lvl="1" indent="0">
              <a:buFontTx/>
              <a:buNone/>
            </a:pPr>
            <a:r>
              <a:rPr lang="en-IN" altLang="en-US" sz="2000" b="1">
                <a:solidFill>
                  <a:srgbClr val="000000"/>
                </a:solidFill>
                <a:latin typeface="Consolas" panose="020B0609020204030204" pitchFamily="49" charset="0"/>
              </a:rPr>
              <a:t>      </a:t>
            </a:r>
            <a:r>
              <a:rPr lang="en-IN" altLang="en-US" sz="2000" b="1">
                <a:solidFill>
                  <a:srgbClr val="7F0055"/>
                </a:solidFill>
                <a:latin typeface="Consolas" panose="020B0609020204030204" pitchFamily="49" charset="0"/>
              </a:rPr>
              <a:t>return</a:t>
            </a:r>
            <a:r>
              <a:rPr lang="en-IN" altLang="en-US" sz="2000" b="1">
                <a:solidFill>
                  <a:srgbClr val="000000"/>
                </a:solidFill>
                <a:latin typeface="Consolas" panose="020B0609020204030204" pitchFamily="49" charset="0"/>
              </a:rPr>
              <a:t> </a:t>
            </a:r>
            <a:r>
              <a:rPr lang="en-IN" altLang="en-US" sz="2000" b="1">
                <a:solidFill>
                  <a:srgbClr val="6A3E3E"/>
                </a:solidFill>
                <a:latin typeface="Consolas" panose="020B0609020204030204" pitchFamily="49" charset="0"/>
              </a:rPr>
              <a:t>chain</a:t>
            </a:r>
            <a:r>
              <a:rPr lang="en-IN" altLang="en-US" sz="2000" b="1">
                <a:solidFill>
                  <a:srgbClr val="000000"/>
                </a:solidFill>
                <a:latin typeface="Consolas" panose="020B0609020204030204" pitchFamily="49" charset="0"/>
              </a:rPr>
              <a:t>.filter(</a:t>
            </a:r>
            <a:r>
              <a:rPr lang="en-IN" altLang="en-US" sz="2000" b="1">
                <a:solidFill>
                  <a:srgbClr val="6A3E3E"/>
                </a:solidFill>
                <a:latin typeface="Consolas" panose="020B0609020204030204" pitchFamily="49" charset="0"/>
              </a:rPr>
              <a:t>exchange</a:t>
            </a:r>
            <a:r>
              <a:rPr lang="en-IN" altLang="en-US" sz="2000" b="1">
                <a:solidFill>
                  <a:srgbClr val="000000"/>
                </a:solidFill>
                <a:latin typeface="Consolas" panose="020B0609020204030204" pitchFamily="49" charset="0"/>
              </a:rPr>
              <a:t>);}</a:t>
            </a:r>
          </a:p>
          <a:p>
            <a:pPr marL="400050" lvl="1" indent="0">
              <a:buFontTx/>
              <a:buNone/>
            </a:pPr>
            <a:r>
              <a:rPr lang="en-IN" altLang="en-US" sz="2000">
                <a:solidFill>
                  <a:srgbClr val="000000"/>
                </a:solidFill>
                <a:latin typeface="Consolas" panose="020B0609020204030204" pitchFamily="49" charset="0"/>
              </a:rPr>
              <a:t>}</a:t>
            </a:r>
          </a:p>
          <a:p>
            <a:pPr marL="400050" lvl="1" indent="0">
              <a:buFontTx/>
              <a:buNone/>
            </a:pPr>
            <a:endParaRPr lang="en-IN" altLang="en-US" sz="2000"/>
          </a:p>
        </p:txBody>
      </p:sp>
    </p:spTree>
    <p:extLst>
      <p:ext uri="{BB962C8B-B14F-4D97-AF65-F5344CB8AC3E}">
        <p14:creationId xmlns:p14="http://schemas.microsoft.com/office/powerpoint/2010/main" val="3656316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a:extLst>
              <a:ext uri="{FF2B5EF4-FFF2-40B4-BE49-F238E27FC236}">
                <a16:creationId xmlns:a16="http://schemas.microsoft.com/office/drawing/2014/main" id="{834205C0-FFC9-673A-109C-E844410E0EC1}"/>
              </a:ext>
            </a:extLst>
          </p:cNvPr>
          <p:cNvSpPr>
            <a:spLocks noGrp="1" noChangeArrowheads="1"/>
          </p:cNvSpPr>
          <p:nvPr>
            <p:ph type="title"/>
          </p:nvPr>
        </p:nvSpPr>
        <p:spPr/>
        <p:txBody>
          <a:bodyPr/>
          <a:lstStyle/>
          <a:p>
            <a:r>
              <a:rPr lang="en-US" altLang="en-US"/>
              <a:t>Global Filter</a:t>
            </a:r>
            <a:endParaRPr lang="en-IN" altLang="en-US"/>
          </a:p>
        </p:txBody>
      </p:sp>
      <p:sp>
        <p:nvSpPr>
          <p:cNvPr id="122882" name="Content Placeholder 2">
            <a:extLst>
              <a:ext uri="{FF2B5EF4-FFF2-40B4-BE49-F238E27FC236}">
                <a16:creationId xmlns:a16="http://schemas.microsoft.com/office/drawing/2014/main" id="{DABA3F17-5898-0ADE-8E76-9A07CEB8D7A2}"/>
              </a:ext>
            </a:extLst>
          </p:cNvPr>
          <p:cNvSpPr>
            <a:spLocks noGrp="1" noChangeArrowheads="1"/>
          </p:cNvSpPr>
          <p:nvPr>
            <p:ph idx="1"/>
          </p:nvPr>
        </p:nvSpPr>
        <p:spPr>
          <a:xfrm>
            <a:off x="457200" y="868363"/>
            <a:ext cx="8229600" cy="5257800"/>
          </a:xfrm>
        </p:spPr>
        <p:txBody>
          <a:bodyPr/>
          <a:lstStyle/>
          <a:p>
            <a:pPr marL="0" indent="0">
              <a:buFontTx/>
              <a:buNone/>
            </a:pPr>
            <a:r>
              <a:rPr lang="en-IN" altLang="en-US" sz="1800">
                <a:solidFill>
                  <a:srgbClr val="646464"/>
                </a:solidFill>
              </a:rPr>
              <a:t>@Component</a:t>
            </a:r>
          </a:p>
          <a:p>
            <a:pPr marL="0" indent="0">
              <a:buFontTx/>
              <a:buNone/>
            </a:pPr>
            <a:r>
              <a:rPr lang="en-US" altLang="en-US" sz="1800" b="1">
                <a:solidFill>
                  <a:srgbClr val="7F0055"/>
                </a:solidFill>
              </a:rPr>
              <a:t>public</a:t>
            </a:r>
            <a:r>
              <a:rPr lang="en-US" altLang="en-US" sz="1800" b="1">
                <a:solidFill>
                  <a:srgbClr val="000000"/>
                </a:solidFill>
              </a:rPr>
              <a:t> </a:t>
            </a:r>
            <a:r>
              <a:rPr lang="en-US" altLang="en-US" sz="1800" b="1">
                <a:solidFill>
                  <a:srgbClr val="7F0055"/>
                </a:solidFill>
              </a:rPr>
              <a:t>class</a:t>
            </a:r>
            <a:r>
              <a:rPr lang="en-US" altLang="en-US" sz="1800" b="1">
                <a:solidFill>
                  <a:srgbClr val="000000"/>
                </a:solidFill>
              </a:rPr>
              <a:t> AuthFilter </a:t>
            </a:r>
            <a:r>
              <a:rPr lang="en-US" altLang="en-US" sz="1800" b="1">
                <a:solidFill>
                  <a:srgbClr val="7F0055"/>
                </a:solidFill>
              </a:rPr>
              <a:t>implements</a:t>
            </a:r>
            <a:r>
              <a:rPr lang="en-US" altLang="en-US" sz="1800" b="1">
                <a:solidFill>
                  <a:srgbClr val="000000"/>
                </a:solidFill>
              </a:rPr>
              <a:t> GlobalFilter {</a:t>
            </a:r>
          </a:p>
          <a:p>
            <a:pPr marL="0" indent="0">
              <a:buFontTx/>
              <a:buNone/>
            </a:pPr>
            <a:endParaRPr lang="en-IN" altLang="en-US" sz="1800">
              <a:solidFill>
                <a:srgbClr val="646464"/>
              </a:solidFill>
            </a:endParaRPr>
          </a:p>
          <a:p>
            <a:pPr marL="0" indent="0">
              <a:buFontTx/>
              <a:buNone/>
            </a:pPr>
            <a:r>
              <a:rPr lang="en-IN" altLang="en-US" sz="1800">
                <a:solidFill>
                  <a:srgbClr val="646464"/>
                </a:solidFill>
              </a:rPr>
              <a:t>@Override</a:t>
            </a:r>
          </a:p>
          <a:p>
            <a:pPr marL="0" indent="0">
              <a:buFontTx/>
              <a:buNone/>
            </a:pPr>
            <a:r>
              <a:rPr lang="en-IN" altLang="en-US" sz="1800" b="1">
                <a:solidFill>
                  <a:srgbClr val="7F0055"/>
                </a:solidFill>
              </a:rPr>
              <a:t>public</a:t>
            </a:r>
            <a:r>
              <a:rPr lang="en-IN" altLang="en-US" sz="1800" b="1">
                <a:solidFill>
                  <a:srgbClr val="000000"/>
                </a:solidFill>
              </a:rPr>
              <a:t> Mono&lt;Void&gt; filter(ServerWebExchange </a:t>
            </a:r>
            <a:r>
              <a:rPr lang="en-IN" altLang="en-US" sz="1800" b="1">
                <a:solidFill>
                  <a:srgbClr val="6A3E3E"/>
                </a:solidFill>
              </a:rPr>
              <a:t>exchange</a:t>
            </a:r>
            <a:r>
              <a:rPr lang="en-IN" altLang="en-US" sz="1800" b="1">
                <a:solidFill>
                  <a:srgbClr val="000000"/>
                </a:solidFill>
              </a:rPr>
              <a:t>, GatewayFilterChain </a:t>
            </a:r>
            <a:r>
              <a:rPr lang="en-IN" altLang="en-US" sz="1800" b="1">
                <a:solidFill>
                  <a:srgbClr val="6A3E3E"/>
                </a:solidFill>
              </a:rPr>
              <a:t>chain</a:t>
            </a:r>
            <a:r>
              <a:rPr lang="en-IN" altLang="en-US" sz="1800" b="1">
                <a:solidFill>
                  <a:srgbClr val="000000"/>
                </a:solidFill>
              </a:rPr>
              <a:t>) {</a:t>
            </a:r>
          </a:p>
          <a:p>
            <a:pPr marL="0" indent="0">
              <a:buFontTx/>
              <a:buNone/>
            </a:pPr>
            <a:r>
              <a:rPr lang="en-US" altLang="en-US" sz="1800">
                <a:solidFill>
                  <a:srgbClr val="000000"/>
                </a:solidFill>
              </a:rPr>
              <a:t>        </a:t>
            </a:r>
            <a:r>
              <a:rPr lang="en-US" altLang="en-US" sz="1800" b="1">
                <a:solidFill>
                  <a:srgbClr val="7F0055"/>
                </a:solidFill>
              </a:rPr>
              <a:t>if</a:t>
            </a:r>
            <a:r>
              <a:rPr lang="en-US" altLang="en-US" sz="1800" b="1">
                <a:solidFill>
                  <a:srgbClr val="000000"/>
                </a:solidFill>
              </a:rPr>
              <a:t> (!</a:t>
            </a:r>
            <a:r>
              <a:rPr lang="en-US" altLang="en-US" sz="1800" b="1">
                <a:solidFill>
                  <a:srgbClr val="6A3E3E"/>
                </a:solidFill>
              </a:rPr>
              <a:t>exchange</a:t>
            </a:r>
            <a:r>
              <a:rPr lang="en-US" altLang="en-US" sz="1800" b="1">
                <a:solidFill>
                  <a:srgbClr val="000000"/>
                </a:solidFill>
              </a:rPr>
              <a:t>.getRequest().getHeaders().containsKey(HttpHeaders.</a:t>
            </a:r>
            <a:r>
              <a:rPr lang="en-US" altLang="en-US" sz="1800" b="1" i="1">
                <a:solidFill>
                  <a:srgbClr val="0000C0"/>
                </a:solidFill>
              </a:rPr>
              <a:t>AUTHORIZATION</a:t>
            </a:r>
            <a:r>
              <a:rPr lang="en-US" altLang="en-US" sz="1800" b="1" i="1">
                <a:solidFill>
                  <a:srgbClr val="000000"/>
                </a:solidFill>
              </a:rPr>
              <a:t>)) {</a:t>
            </a:r>
          </a:p>
          <a:p>
            <a:pPr marL="0" indent="0">
              <a:buFontTx/>
              <a:buNone/>
            </a:pPr>
            <a:r>
              <a:rPr lang="en-US" altLang="en-US" sz="1800">
                <a:solidFill>
                  <a:srgbClr val="000000"/>
                </a:solidFill>
              </a:rPr>
              <a:t>            </a:t>
            </a:r>
            <a:r>
              <a:rPr lang="en-US" altLang="en-US" sz="1800" b="1">
                <a:solidFill>
                  <a:srgbClr val="7F0055"/>
                </a:solidFill>
              </a:rPr>
              <a:t>throw</a:t>
            </a:r>
            <a:r>
              <a:rPr lang="en-US" altLang="en-US" sz="1800" b="1">
                <a:solidFill>
                  <a:srgbClr val="000000"/>
                </a:solidFill>
              </a:rPr>
              <a:t> </a:t>
            </a:r>
            <a:r>
              <a:rPr lang="en-US" altLang="en-US" sz="1800" b="1">
                <a:solidFill>
                  <a:srgbClr val="7F0055"/>
                </a:solidFill>
              </a:rPr>
              <a:t>new</a:t>
            </a:r>
            <a:r>
              <a:rPr lang="en-US" altLang="en-US" sz="1800" b="1">
                <a:solidFill>
                  <a:srgbClr val="000000"/>
                </a:solidFill>
              </a:rPr>
              <a:t> </a:t>
            </a:r>
            <a:r>
              <a:rPr lang="en-US" altLang="en-US" sz="1800" b="1" u="sng">
                <a:solidFill>
                  <a:srgbClr val="000000"/>
                </a:solidFill>
              </a:rPr>
              <a:t>RuntimeException(</a:t>
            </a:r>
            <a:r>
              <a:rPr lang="en-US" altLang="en-US" sz="1800" b="1" u="sng">
                <a:solidFill>
                  <a:srgbClr val="2A00FF"/>
                </a:solidFill>
              </a:rPr>
              <a:t>"Missing authorization information"</a:t>
            </a:r>
            <a:r>
              <a:rPr lang="en-US" altLang="en-US" sz="1800" b="1" u="sng">
                <a:solidFill>
                  <a:srgbClr val="000000"/>
                </a:solidFill>
              </a:rPr>
              <a:t>);</a:t>
            </a:r>
          </a:p>
          <a:p>
            <a:pPr marL="0" indent="0">
              <a:buFontTx/>
              <a:buNone/>
            </a:pPr>
            <a:r>
              <a:rPr lang="en-IN" altLang="en-US" sz="1800">
                <a:solidFill>
                  <a:srgbClr val="000000"/>
                </a:solidFill>
              </a:rPr>
              <a:t>        }</a:t>
            </a:r>
          </a:p>
        </p:txBody>
      </p:sp>
    </p:spTree>
    <p:extLst>
      <p:ext uri="{BB962C8B-B14F-4D97-AF65-F5344CB8AC3E}">
        <p14:creationId xmlns:p14="http://schemas.microsoft.com/office/powerpoint/2010/main" val="40136203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a:extLst>
              <a:ext uri="{FF2B5EF4-FFF2-40B4-BE49-F238E27FC236}">
                <a16:creationId xmlns:a16="http://schemas.microsoft.com/office/drawing/2014/main" id="{136B1956-F9AC-F806-F0AE-24C2CF756C45}"/>
              </a:ext>
            </a:extLst>
          </p:cNvPr>
          <p:cNvSpPr>
            <a:spLocks noGrp="1" noChangeArrowheads="1"/>
          </p:cNvSpPr>
          <p:nvPr>
            <p:ph type="title"/>
          </p:nvPr>
        </p:nvSpPr>
        <p:spPr/>
        <p:txBody>
          <a:bodyPr/>
          <a:lstStyle/>
          <a:p>
            <a:r>
              <a:rPr lang="en-US" altLang="en-US"/>
              <a:t>Global Filter</a:t>
            </a:r>
            <a:endParaRPr lang="en-IN" altLang="en-US"/>
          </a:p>
        </p:txBody>
      </p:sp>
      <p:sp>
        <p:nvSpPr>
          <p:cNvPr id="123906" name="Content Placeholder 2">
            <a:extLst>
              <a:ext uri="{FF2B5EF4-FFF2-40B4-BE49-F238E27FC236}">
                <a16:creationId xmlns:a16="http://schemas.microsoft.com/office/drawing/2014/main" id="{1A94851E-36CB-E22E-2B4F-9DB3AEFA4521}"/>
              </a:ext>
            </a:extLst>
          </p:cNvPr>
          <p:cNvSpPr>
            <a:spLocks noGrp="1" noChangeArrowheads="1"/>
          </p:cNvSpPr>
          <p:nvPr>
            <p:ph idx="1"/>
          </p:nvPr>
        </p:nvSpPr>
        <p:spPr/>
        <p:txBody>
          <a:bodyPr/>
          <a:lstStyle/>
          <a:p>
            <a:pPr marL="0" indent="0">
              <a:buFontTx/>
              <a:buNone/>
            </a:pPr>
            <a:endParaRPr lang="en-IN" altLang="en-US" sz="1800">
              <a:solidFill>
                <a:srgbClr val="000000"/>
              </a:solidFill>
            </a:endParaRPr>
          </a:p>
          <a:p>
            <a:pPr marL="0" indent="0">
              <a:buFontTx/>
              <a:buNone/>
            </a:pPr>
            <a:endParaRPr lang="en-IN" altLang="en-US" sz="1800"/>
          </a:p>
          <a:p>
            <a:pPr marL="0" indent="0">
              <a:buFontTx/>
              <a:buNone/>
            </a:pPr>
            <a:r>
              <a:rPr lang="en-US" altLang="en-US" sz="1800">
                <a:solidFill>
                  <a:srgbClr val="000000"/>
                </a:solidFill>
              </a:rPr>
              <a:t>        List&lt;String&gt; </a:t>
            </a:r>
            <a:r>
              <a:rPr lang="en-US" altLang="en-US" sz="1800">
                <a:solidFill>
                  <a:srgbClr val="6A3E3E"/>
                </a:solidFill>
              </a:rPr>
              <a:t>authorization</a:t>
            </a:r>
            <a:r>
              <a:rPr lang="en-US" altLang="en-US" sz="1800">
                <a:solidFill>
                  <a:srgbClr val="000000"/>
                </a:solidFill>
              </a:rPr>
              <a:t> = </a:t>
            </a:r>
            <a:r>
              <a:rPr lang="en-US" altLang="en-US" sz="1800">
                <a:solidFill>
                  <a:srgbClr val="6A3E3E"/>
                </a:solidFill>
              </a:rPr>
              <a:t>exchange</a:t>
            </a:r>
            <a:r>
              <a:rPr lang="en-US" altLang="en-US" sz="1800">
                <a:solidFill>
                  <a:srgbClr val="000000"/>
                </a:solidFill>
              </a:rPr>
              <a:t>.getRequest().getHeaders().get(</a:t>
            </a:r>
            <a:r>
              <a:rPr lang="en-US" altLang="en-US" sz="1800">
                <a:solidFill>
                  <a:srgbClr val="2A00FF"/>
                </a:solidFill>
              </a:rPr>
              <a:t>"Authorization"</a:t>
            </a:r>
            <a:r>
              <a:rPr lang="en-US" altLang="en-US" sz="1800">
                <a:solidFill>
                  <a:srgbClr val="000000"/>
                </a:solidFill>
              </a:rPr>
              <a:t>);</a:t>
            </a:r>
          </a:p>
          <a:p>
            <a:pPr marL="0" indent="0">
              <a:buFontTx/>
              <a:buNone/>
            </a:pPr>
            <a:endParaRPr lang="en-IN" altLang="en-US" sz="1800"/>
          </a:p>
          <a:p>
            <a:pPr marL="0" indent="0">
              <a:buFontTx/>
              <a:buNone/>
            </a:pPr>
            <a:r>
              <a:rPr lang="en-IN" altLang="en-US" sz="1800">
                <a:solidFill>
                  <a:srgbClr val="000000"/>
                </a:solidFill>
              </a:rPr>
              <a:t>        </a:t>
            </a:r>
            <a:r>
              <a:rPr lang="en-US" altLang="en-US" sz="1800">
                <a:solidFill>
                  <a:srgbClr val="000000"/>
                </a:solidFill>
              </a:rPr>
              <a:t>         </a:t>
            </a:r>
            <a:r>
              <a:rPr lang="en-US" altLang="en-US" sz="1800" b="1">
                <a:solidFill>
                  <a:srgbClr val="7F0055"/>
                </a:solidFill>
              </a:rPr>
              <a:t>if</a:t>
            </a:r>
            <a:r>
              <a:rPr lang="en-US" altLang="en-US" sz="1800" b="1">
                <a:solidFill>
                  <a:srgbClr val="000000"/>
                </a:solidFill>
              </a:rPr>
              <a:t>(</a:t>
            </a:r>
            <a:r>
              <a:rPr lang="en-US" altLang="en-US" sz="1800" b="1" u="sng">
                <a:solidFill>
                  <a:srgbClr val="6A3E3E"/>
                </a:solidFill>
              </a:rPr>
              <a:t>exchange</a:t>
            </a:r>
            <a:r>
              <a:rPr lang="en-US" altLang="en-US" sz="1800" b="1" u="sng">
                <a:solidFill>
                  <a:srgbClr val="000000"/>
                </a:solidFill>
              </a:rPr>
              <a:t>.getRequest().getHeaders().get(HttpHeaders.</a:t>
            </a:r>
            <a:r>
              <a:rPr lang="en-US" altLang="en-US" sz="1800" b="1" i="1" u="sng">
                <a:solidFill>
                  <a:srgbClr val="0000C0"/>
                </a:solidFill>
              </a:rPr>
              <a:t>AUTHORIZATION</a:t>
            </a:r>
            <a:r>
              <a:rPr lang="en-US" altLang="en-US" sz="1800" b="1" i="1" u="sng">
                <a:solidFill>
                  <a:srgbClr val="000000"/>
                </a:solidFill>
              </a:rPr>
              <a:t>).get(0)!=</a:t>
            </a:r>
            <a:r>
              <a:rPr lang="en-US" altLang="en-US" sz="1800" b="1" i="1" u="sng">
                <a:solidFill>
                  <a:srgbClr val="7F0055"/>
                </a:solidFill>
              </a:rPr>
              <a:t>null</a:t>
            </a:r>
            <a:r>
              <a:rPr lang="en-US" altLang="en-US" sz="1800" b="1" i="1" u="sng">
                <a:solidFill>
                  <a:srgbClr val="000000"/>
                </a:solidFill>
              </a:rPr>
              <a:t>) {</a:t>
            </a:r>
          </a:p>
          <a:p>
            <a:pPr marL="0" indent="0">
              <a:buFontTx/>
              <a:buNone/>
            </a:pPr>
            <a:r>
              <a:rPr lang="en-IN" altLang="en-US" sz="1800">
                <a:solidFill>
                  <a:srgbClr val="000000"/>
                </a:solidFill>
              </a:rPr>
              <a:t>         </a:t>
            </a:r>
          </a:p>
          <a:p>
            <a:pPr marL="0" indent="0">
              <a:buFontTx/>
              <a:buNone/>
            </a:pPr>
            <a:endParaRPr lang="en-IN" altLang="en-US" sz="1800"/>
          </a:p>
          <a:p>
            <a:pPr marL="0" indent="0">
              <a:buFontTx/>
              <a:buNone/>
            </a:pPr>
            <a:r>
              <a:rPr lang="en-IN" altLang="en-US" sz="1800">
                <a:solidFill>
                  <a:srgbClr val="000000"/>
                </a:solidFill>
              </a:rPr>
              <a:t>        </a:t>
            </a:r>
            <a:endParaRPr lang="en-IN" altLang="en-US"/>
          </a:p>
        </p:txBody>
      </p:sp>
    </p:spTree>
    <p:extLst>
      <p:ext uri="{BB962C8B-B14F-4D97-AF65-F5344CB8AC3E}">
        <p14:creationId xmlns:p14="http://schemas.microsoft.com/office/powerpoint/2010/main" val="4109657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a:extLst>
              <a:ext uri="{FF2B5EF4-FFF2-40B4-BE49-F238E27FC236}">
                <a16:creationId xmlns:a16="http://schemas.microsoft.com/office/drawing/2014/main" id="{EA286E0F-3254-68D5-9164-A3F4119C0E67}"/>
              </a:ext>
            </a:extLst>
          </p:cNvPr>
          <p:cNvSpPr>
            <a:spLocks noGrp="1" noChangeArrowheads="1"/>
          </p:cNvSpPr>
          <p:nvPr>
            <p:ph type="title"/>
          </p:nvPr>
        </p:nvSpPr>
        <p:spPr/>
        <p:txBody>
          <a:bodyPr/>
          <a:lstStyle/>
          <a:p>
            <a:r>
              <a:rPr lang="en-US" altLang="en-US"/>
              <a:t>Global Filter</a:t>
            </a:r>
            <a:endParaRPr lang="en-IN" altLang="en-US"/>
          </a:p>
        </p:txBody>
      </p:sp>
      <p:sp>
        <p:nvSpPr>
          <p:cNvPr id="124930" name="Content Placeholder 2">
            <a:extLst>
              <a:ext uri="{FF2B5EF4-FFF2-40B4-BE49-F238E27FC236}">
                <a16:creationId xmlns:a16="http://schemas.microsoft.com/office/drawing/2014/main" id="{626A3E49-7A2D-CBA9-0611-9C81708336BD}"/>
              </a:ext>
            </a:extLst>
          </p:cNvPr>
          <p:cNvSpPr>
            <a:spLocks noGrp="1" noChangeArrowheads="1"/>
          </p:cNvSpPr>
          <p:nvPr>
            <p:ph idx="1"/>
          </p:nvPr>
        </p:nvSpPr>
        <p:spPr/>
        <p:txBody>
          <a:bodyPr/>
          <a:lstStyle/>
          <a:p>
            <a:pPr marL="0" indent="0">
              <a:buFontTx/>
              <a:buNone/>
            </a:pPr>
            <a:r>
              <a:rPr lang="en-IN" altLang="en-US" sz="1800">
                <a:solidFill>
                  <a:srgbClr val="000000"/>
                </a:solidFill>
              </a:rPr>
              <a:t>ServerHttpRequest </a:t>
            </a:r>
            <a:r>
              <a:rPr lang="en-IN" altLang="en-US" sz="1800">
                <a:solidFill>
                  <a:srgbClr val="6A3E3E"/>
                </a:solidFill>
              </a:rPr>
              <a:t>modifiedRequest</a:t>
            </a:r>
            <a:r>
              <a:rPr lang="en-IN" altLang="en-US" sz="1800">
                <a:solidFill>
                  <a:srgbClr val="000000"/>
                </a:solidFill>
              </a:rPr>
              <a:t> = </a:t>
            </a:r>
            <a:r>
              <a:rPr lang="en-IN" altLang="en-US" sz="1800">
                <a:solidFill>
                  <a:srgbClr val="6A3E3E"/>
                </a:solidFill>
              </a:rPr>
              <a:t>exchange</a:t>
            </a:r>
            <a:r>
              <a:rPr lang="en-IN" altLang="en-US" sz="1800">
                <a:solidFill>
                  <a:srgbClr val="000000"/>
                </a:solidFill>
              </a:rPr>
              <a:t>.getRequest().mutate().</a:t>
            </a:r>
          </a:p>
          <a:p>
            <a:pPr marL="0" indent="0">
              <a:buFontTx/>
              <a:buNone/>
            </a:pPr>
            <a:r>
              <a:rPr lang="en-US" altLang="en-US" sz="1800">
                <a:solidFill>
                  <a:srgbClr val="000000"/>
                </a:solidFill>
              </a:rPr>
              <a:t>              header(</a:t>
            </a:r>
            <a:r>
              <a:rPr lang="en-US" altLang="en-US" sz="1800">
                <a:solidFill>
                  <a:srgbClr val="2A00FF"/>
                </a:solidFill>
              </a:rPr>
              <a:t>"Authorization"</a:t>
            </a:r>
            <a:r>
              <a:rPr lang="en-US" altLang="en-US" sz="1800">
                <a:solidFill>
                  <a:srgbClr val="000000"/>
                </a:solidFill>
              </a:rPr>
              <a:t>, </a:t>
            </a:r>
            <a:r>
              <a:rPr lang="en-US" altLang="en-US" sz="1800" u="sng">
                <a:solidFill>
                  <a:srgbClr val="6A3E3E"/>
                </a:solidFill>
              </a:rPr>
              <a:t>authorization</a:t>
            </a:r>
            <a:r>
              <a:rPr lang="en-US" altLang="en-US" sz="1800" u="sng">
                <a:solidFill>
                  <a:srgbClr val="000000"/>
                </a:solidFill>
              </a:rPr>
              <a:t>.get(0)).build();</a:t>
            </a:r>
          </a:p>
          <a:p>
            <a:pPr marL="0" indent="0">
              <a:buFontTx/>
              <a:buNone/>
            </a:pPr>
            <a:r>
              <a:rPr lang="en-IN" altLang="en-US" sz="1800">
                <a:solidFill>
                  <a:srgbClr val="000000"/>
                </a:solidFill>
              </a:rPr>
              <a:t>           </a:t>
            </a:r>
          </a:p>
          <a:p>
            <a:pPr marL="0" indent="0">
              <a:buFontTx/>
              <a:buNone/>
            </a:pPr>
            <a:r>
              <a:rPr lang="en-US" altLang="en-US" sz="1800">
                <a:solidFill>
                  <a:srgbClr val="000000"/>
                </a:solidFill>
              </a:rPr>
              <a:t>             </a:t>
            </a:r>
            <a:r>
              <a:rPr lang="en-US" altLang="en-US" sz="1800" b="1">
                <a:solidFill>
                  <a:srgbClr val="7F0055"/>
                </a:solidFill>
              </a:rPr>
              <a:t>return</a:t>
            </a:r>
            <a:r>
              <a:rPr lang="en-US" altLang="en-US" sz="1800" b="1">
                <a:solidFill>
                  <a:srgbClr val="000000"/>
                </a:solidFill>
              </a:rPr>
              <a:t> </a:t>
            </a:r>
            <a:r>
              <a:rPr lang="en-US" altLang="en-US" sz="1800" b="1">
                <a:solidFill>
                  <a:srgbClr val="6A3E3E"/>
                </a:solidFill>
              </a:rPr>
              <a:t>chain</a:t>
            </a:r>
            <a:r>
              <a:rPr lang="en-US" altLang="en-US" sz="1800" b="1">
                <a:solidFill>
                  <a:srgbClr val="000000"/>
                </a:solidFill>
              </a:rPr>
              <a:t>.filter(</a:t>
            </a:r>
            <a:r>
              <a:rPr lang="en-US" altLang="en-US" sz="1800" b="1">
                <a:solidFill>
                  <a:srgbClr val="6A3E3E"/>
                </a:solidFill>
              </a:rPr>
              <a:t>exchange</a:t>
            </a:r>
            <a:r>
              <a:rPr lang="en-US" altLang="en-US" sz="1800" b="1">
                <a:solidFill>
                  <a:srgbClr val="000000"/>
                </a:solidFill>
              </a:rPr>
              <a:t>.mutate().request(</a:t>
            </a:r>
            <a:r>
              <a:rPr lang="en-US" altLang="en-US" sz="1800" b="1">
                <a:solidFill>
                  <a:srgbClr val="6A3E3E"/>
                </a:solidFill>
              </a:rPr>
              <a:t>modifiedRequest</a:t>
            </a:r>
            <a:r>
              <a:rPr lang="en-US" altLang="en-US" sz="1800" b="1">
                <a:solidFill>
                  <a:srgbClr val="000000"/>
                </a:solidFill>
              </a:rPr>
              <a:t>).build());</a:t>
            </a:r>
          </a:p>
          <a:p>
            <a:pPr marL="0" indent="0">
              <a:buFontTx/>
              <a:buNone/>
            </a:pPr>
            <a:r>
              <a:rPr lang="en-IN" altLang="en-US" sz="1800">
                <a:solidFill>
                  <a:srgbClr val="000000"/>
                </a:solidFill>
              </a:rPr>
              <a:t>         } </a:t>
            </a:r>
            <a:r>
              <a:rPr lang="en-IN" altLang="en-US" sz="1800" b="1">
                <a:solidFill>
                  <a:srgbClr val="7F0055"/>
                </a:solidFill>
              </a:rPr>
              <a:t>else</a:t>
            </a:r>
            <a:r>
              <a:rPr lang="en-IN" altLang="en-US" sz="1800" b="1">
                <a:solidFill>
                  <a:srgbClr val="000000"/>
                </a:solidFill>
              </a:rPr>
              <a:t> {</a:t>
            </a:r>
          </a:p>
          <a:p>
            <a:pPr marL="0" indent="0">
              <a:buFontTx/>
              <a:buNone/>
            </a:pPr>
            <a:r>
              <a:rPr lang="en-IN" altLang="en-US" sz="1800">
                <a:solidFill>
                  <a:srgbClr val="000000"/>
                </a:solidFill>
              </a:rPr>
              <a:t>         </a:t>
            </a:r>
          </a:p>
          <a:p>
            <a:pPr marL="0" indent="0">
              <a:buFontTx/>
              <a:buNone/>
            </a:pPr>
            <a:r>
              <a:rPr lang="en-IN" altLang="en-US" sz="1800">
                <a:solidFill>
                  <a:srgbClr val="000000"/>
                </a:solidFill>
              </a:rPr>
              <a:t>         </a:t>
            </a:r>
            <a:r>
              <a:rPr lang="en-IN" altLang="en-US" sz="1800" b="1">
                <a:solidFill>
                  <a:srgbClr val="7F0055"/>
                </a:solidFill>
              </a:rPr>
              <a:t>return</a:t>
            </a:r>
            <a:r>
              <a:rPr lang="en-IN" altLang="en-US" sz="1800" b="1">
                <a:solidFill>
                  <a:srgbClr val="000000"/>
                </a:solidFill>
              </a:rPr>
              <a:t> </a:t>
            </a:r>
            <a:r>
              <a:rPr lang="en-IN" altLang="en-US" sz="1800" b="1">
                <a:solidFill>
                  <a:srgbClr val="6A3E3E"/>
                </a:solidFill>
              </a:rPr>
              <a:t>chain</a:t>
            </a:r>
            <a:r>
              <a:rPr lang="en-IN" altLang="en-US" sz="1800" b="1">
                <a:solidFill>
                  <a:srgbClr val="000000"/>
                </a:solidFill>
              </a:rPr>
              <a:t>.filter(</a:t>
            </a:r>
            <a:r>
              <a:rPr lang="en-IN" altLang="en-US" sz="1800" b="1">
                <a:solidFill>
                  <a:srgbClr val="6A3E3E"/>
                </a:solidFill>
              </a:rPr>
              <a:t>exchange</a:t>
            </a:r>
            <a:r>
              <a:rPr lang="en-IN" altLang="en-US" sz="1800" b="1">
                <a:solidFill>
                  <a:srgbClr val="000000"/>
                </a:solidFill>
              </a:rPr>
              <a:t>);</a:t>
            </a:r>
          </a:p>
          <a:p>
            <a:pPr marL="0" indent="0">
              <a:buFontTx/>
              <a:buNone/>
            </a:pPr>
            <a:r>
              <a:rPr lang="en-IN" altLang="en-US" sz="1800">
                <a:solidFill>
                  <a:srgbClr val="000000"/>
                </a:solidFill>
              </a:rPr>
              <a:t>         }</a:t>
            </a:r>
          </a:p>
          <a:p>
            <a:pPr marL="0" indent="0">
              <a:buFontTx/>
              <a:buNone/>
            </a:pPr>
            <a:r>
              <a:rPr lang="en-IN" altLang="en-US" sz="1800">
                <a:solidFill>
                  <a:srgbClr val="000000"/>
                </a:solidFill>
              </a:rPr>
              <a:t>  </a:t>
            </a:r>
          </a:p>
          <a:p>
            <a:pPr marL="0" indent="0">
              <a:buFontTx/>
              <a:buNone/>
            </a:pPr>
            <a:r>
              <a:rPr lang="en-IN" altLang="en-US" sz="1800">
                <a:solidFill>
                  <a:srgbClr val="000000"/>
                </a:solidFill>
              </a:rPr>
              <a:t>}</a:t>
            </a:r>
          </a:p>
          <a:p>
            <a:pPr marL="0" indent="0">
              <a:buFontTx/>
              <a:buNone/>
            </a:pPr>
            <a:r>
              <a:rPr lang="en-IN" altLang="en-US" sz="1800">
                <a:solidFill>
                  <a:srgbClr val="000000"/>
                </a:solidFill>
              </a:rPr>
              <a:t>}</a:t>
            </a:r>
          </a:p>
          <a:p>
            <a:pPr marL="0" indent="0">
              <a:buFontTx/>
              <a:buNone/>
            </a:pPr>
            <a:endParaRPr lang="en-IN" altLang="en-US" sz="1800">
              <a:solidFill>
                <a:srgbClr val="000000"/>
              </a:solidFill>
            </a:endParaRPr>
          </a:p>
          <a:p>
            <a:pPr marL="0" indent="0">
              <a:buFontTx/>
              <a:buNone/>
            </a:pPr>
            <a:r>
              <a:rPr lang="es-ES" altLang="en-US" sz="1800">
                <a:solidFill>
                  <a:srgbClr val="000000"/>
                </a:solidFill>
                <a:latin typeface="Consolas" panose="020B0609020204030204" pitchFamily="49" charset="0"/>
              </a:rPr>
              <a:t>curl </a:t>
            </a:r>
            <a:r>
              <a:rPr lang="es-ES" altLang="en-US" sz="1800" u="sng">
                <a:solidFill>
                  <a:srgbClr val="000000"/>
                </a:solidFill>
                <a:latin typeface="Consolas" panose="020B0609020204030204" pitchFamily="49" charset="0"/>
              </a:rPr>
              <a:t>-u india:india http:</a:t>
            </a:r>
            <a:r>
              <a:rPr lang="es-ES" altLang="en-US" sz="1800" u="sng">
                <a:solidFill>
                  <a:srgbClr val="3F7F5F"/>
                </a:solidFill>
                <a:latin typeface="Consolas" panose="020B0609020204030204" pitchFamily="49" charset="0"/>
              </a:rPr>
              <a:t>//localhost:8080/driver-service/api/v1/drivers</a:t>
            </a:r>
          </a:p>
          <a:p>
            <a:pPr marL="0" indent="0">
              <a:buFontTx/>
              <a:buNone/>
            </a:pPr>
            <a:endParaRPr lang="en-IN" altLang="en-US" sz="1800">
              <a:solidFill>
                <a:srgbClr val="000000"/>
              </a:solidFill>
            </a:endParaRPr>
          </a:p>
          <a:p>
            <a:pPr marL="457200" lvl="1" indent="0">
              <a:buFontTx/>
              <a:buNone/>
            </a:pPr>
            <a:endParaRPr lang="en-IN" altLang="en-US"/>
          </a:p>
          <a:p>
            <a:pPr marL="0" indent="0">
              <a:buFontTx/>
              <a:buNone/>
            </a:pPr>
            <a:endParaRPr lang="en-IN" altLang="en-US"/>
          </a:p>
        </p:txBody>
      </p:sp>
    </p:spTree>
    <p:extLst>
      <p:ext uri="{BB962C8B-B14F-4D97-AF65-F5344CB8AC3E}">
        <p14:creationId xmlns:p14="http://schemas.microsoft.com/office/powerpoint/2010/main" val="37518544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77BBCF-6B0E-076D-51BA-C883E46B8C0E}"/>
              </a:ext>
            </a:extLst>
          </p:cNvPr>
          <p:cNvSpPr>
            <a:spLocks noGrp="1"/>
          </p:cNvSpPr>
          <p:nvPr>
            <p:ph type="title"/>
          </p:nvPr>
        </p:nvSpPr>
        <p:spPr>
          <a:xfrm>
            <a:off x="722313" y="4406900"/>
            <a:ext cx="7772400" cy="1362075"/>
          </a:xfrm>
        </p:spPr>
        <p:txBody>
          <a:bodyPr/>
          <a:lstStyle/>
          <a:p>
            <a:pPr>
              <a:defRPr/>
            </a:pPr>
            <a:r>
              <a:rPr lang="en-US" dirty="0"/>
              <a:t>Spring </a:t>
            </a:r>
            <a:r>
              <a:rPr lang="en-US" dirty="0" err="1"/>
              <a:t>webclient</a:t>
            </a:r>
            <a:endParaRPr lang="en-IN" dirty="0"/>
          </a:p>
        </p:txBody>
      </p:sp>
      <p:sp>
        <p:nvSpPr>
          <p:cNvPr id="52226" name="Text Placeholder 4">
            <a:extLst>
              <a:ext uri="{FF2B5EF4-FFF2-40B4-BE49-F238E27FC236}">
                <a16:creationId xmlns:a16="http://schemas.microsoft.com/office/drawing/2014/main" id="{BE6523F8-D4BB-D0DF-3118-FE71B7F5E872}"/>
              </a:ext>
            </a:extLst>
          </p:cNvPr>
          <p:cNvSpPr>
            <a:spLocks noGrp="1" noChangeArrowheads="1"/>
          </p:cNvSpPr>
          <p:nvPr>
            <p:ph type="body" idx="1"/>
          </p:nvPr>
        </p:nvSpPr>
        <p:spPr/>
        <p:txBody>
          <a:bodyPr/>
          <a:lstStyle/>
          <a:p>
            <a:endParaRPr lang="en-IN" altLang="en-US"/>
          </a:p>
        </p:txBody>
      </p:sp>
    </p:spTree>
    <p:extLst>
      <p:ext uri="{BB962C8B-B14F-4D97-AF65-F5344CB8AC3E}">
        <p14:creationId xmlns:p14="http://schemas.microsoft.com/office/powerpoint/2010/main" val="1985545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41B3A9AF-DB81-3606-A7CB-E1D57C371119}"/>
              </a:ext>
            </a:extLst>
          </p:cNvPr>
          <p:cNvSpPr>
            <a:spLocks noGrp="1" noChangeArrowheads="1"/>
          </p:cNvSpPr>
          <p:nvPr>
            <p:ph type="title"/>
          </p:nvPr>
        </p:nvSpPr>
        <p:spPr/>
        <p:txBody>
          <a:bodyPr/>
          <a:lstStyle/>
          <a:p>
            <a:r>
              <a:rPr lang="en-US" altLang="en-US"/>
              <a:t>WebClient</a:t>
            </a:r>
          </a:p>
        </p:txBody>
      </p:sp>
      <p:sp>
        <p:nvSpPr>
          <p:cNvPr id="53250" name="Content Placeholder 2">
            <a:extLst>
              <a:ext uri="{FF2B5EF4-FFF2-40B4-BE49-F238E27FC236}">
                <a16:creationId xmlns:a16="http://schemas.microsoft.com/office/drawing/2014/main" id="{8664F278-4FD0-F9A2-6553-779FBF888516}"/>
              </a:ext>
            </a:extLst>
          </p:cNvPr>
          <p:cNvSpPr>
            <a:spLocks noGrp="1" noChangeArrowheads="1"/>
          </p:cNvSpPr>
          <p:nvPr>
            <p:ph idx="1"/>
          </p:nvPr>
        </p:nvSpPr>
        <p:spPr/>
        <p:txBody>
          <a:bodyPr/>
          <a:lstStyle/>
          <a:p>
            <a:r>
              <a:rPr lang="en-US" altLang="en-US" sz="2000"/>
              <a:t>Introduced from Spring 5 </a:t>
            </a:r>
          </a:p>
          <a:p>
            <a:pPr lvl="1">
              <a:lnSpc>
                <a:spcPct val="150000"/>
              </a:lnSpc>
            </a:pPr>
            <a:r>
              <a:rPr lang="en-US" altLang="en-US" sz="2000"/>
              <a:t>Its a non-blocking client with support for Reactive Streams.</a:t>
            </a:r>
          </a:p>
          <a:p>
            <a:pPr lvl="1">
              <a:lnSpc>
                <a:spcPct val="150000"/>
              </a:lnSpc>
            </a:pPr>
            <a:r>
              <a:rPr lang="en-US" altLang="en-US" sz="2000"/>
              <a:t>It’s a replacement for </a:t>
            </a:r>
            <a:r>
              <a:rPr lang="en-US" altLang="en-US" sz="2000" i="1"/>
              <a:t>RestTemplate</a:t>
            </a:r>
            <a:r>
              <a:rPr lang="en-US" altLang="en-US" sz="2000"/>
              <a:t> .</a:t>
            </a:r>
          </a:p>
          <a:p>
            <a:pPr lvl="1">
              <a:lnSpc>
                <a:spcPct val="150000"/>
              </a:lnSpc>
            </a:pPr>
            <a:r>
              <a:rPr lang="en-US" altLang="en-US" sz="2000"/>
              <a:t>Its  more functional and is fully reactive. </a:t>
            </a:r>
          </a:p>
          <a:p>
            <a:pPr lvl="1">
              <a:lnSpc>
                <a:spcPct val="150000"/>
              </a:lnSpc>
            </a:pPr>
            <a:r>
              <a:rPr lang="en-US" altLang="en-US" sz="2000"/>
              <a:t>It's included in the spring-boot-starter-weblux dependency </a:t>
            </a:r>
          </a:p>
          <a:p>
            <a:pPr>
              <a:lnSpc>
                <a:spcPct val="150000"/>
              </a:lnSpc>
            </a:pPr>
            <a:endParaRPr lang="en-US" altLang="en-US" sz="2000"/>
          </a:p>
        </p:txBody>
      </p:sp>
    </p:spTree>
    <p:extLst>
      <p:ext uri="{BB962C8B-B14F-4D97-AF65-F5344CB8AC3E}">
        <p14:creationId xmlns:p14="http://schemas.microsoft.com/office/powerpoint/2010/main" val="3165467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a:extLst>
              <a:ext uri="{FF2B5EF4-FFF2-40B4-BE49-F238E27FC236}">
                <a16:creationId xmlns:a16="http://schemas.microsoft.com/office/drawing/2014/main" id="{D0BBAFF0-3B32-2D45-5B2F-A5B4FB087137}"/>
              </a:ext>
            </a:extLst>
          </p:cNvPr>
          <p:cNvSpPr>
            <a:spLocks noGrp="1" noChangeArrowheads="1"/>
          </p:cNvSpPr>
          <p:nvPr>
            <p:ph type="title"/>
          </p:nvPr>
        </p:nvSpPr>
        <p:spPr/>
        <p:txBody>
          <a:bodyPr/>
          <a:lstStyle/>
          <a:p>
            <a:r>
              <a:rPr lang="en-US" altLang="en-US"/>
              <a:t>Reactive Load Balancer</a:t>
            </a:r>
            <a:endParaRPr lang="en-IN" altLang="en-US"/>
          </a:p>
        </p:txBody>
      </p:sp>
      <p:sp>
        <p:nvSpPr>
          <p:cNvPr id="106499" name="Content Placeholder 2">
            <a:extLst>
              <a:ext uri="{FF2B5EF4-FFF2-40B4-BE49-F238E27FC236}">
                <a16:creationId xmlns:a16="http://schemas.microsoft.com/office/drawing/2014/main" id="{FA15F29E-DF3B-A99D-0FB2-EF69705EF517}"/>
              </a:ext>
            </a:extLst>
          </p:cNvPr>
          <p:cNvSpPr>
            <a:spLocks noGrp="1" noChangeArrowheads="1"/>
          </p:cNvSpPr>
          <p:nvPr>
            <p:ph idx="1"/>
          </p:nvPr>
        </p:nvSpPr>
        <p:spPr/>
        <p:txBody>
          <a:bodyPr/>
          <a:lstStyle/>
          <a:p>
            <a:pPr>
              <a:lnSpc>
                <a:spcPct val="150000"/>
              </a:lnSpc>
              <a:defRPr/>
            </a:pPr>
            <a:r>
              <a:rPr lang="en-US" altLang="en-US" sz="2000" b="1" dirty="0" err="1"/>
              <a:t>ReactiveLoadBalancer</a:t>
            </a:r>
            <a:r>
              <a:rPr lang="en-US" altLang="en-US" sz="2000" b="1" dirty="0"/>
              <a:t> </a:t>
            </a:r>
          </a:p>
          <a:p>
            <a:pPr lvl="1">
              <a:lnSpc>
                <a:spcPct val="150000"/>
              </a:lnSpc>
              <a:defRPr/>
            </a:pPr>
            <a:r>
              <a:rPr lang="en-US" altLang="en-US" sz="2000" dirty="0"/>
              <a:t>The Implementation of the interface  uses a Round-Robin</a:t>
            </a:r>
          </a:p>
          <a:p>
            <a:pPr lvl="1">
              <a:lnSpc>
                <a:spcPct val="150000"/>
              </a:lnSpc>
              <a:defRPr/>
            </a:pPr>
            <a:r>
              <a:rPr lang="en-US" altLang="en-US" sz="2000" dirty="0"/>
              <a:t>It gets instance from reactive </a:t>
            </a:r>
            <a:r>
              <a:rPr lang="en-US" altLang="en-US" sz="2000" dirty="0" err="1"/>
              <a:t>ServiceInstanceListSupplier</a:t>
            </a:r>
            <a:r>
              <a:rPr lang="en-US" altLang="en-US" sz="2000" dirty="0"/>
              <a:t> </a:t>
            </a:r>
          </a:p>
          <a:p>
            <a:pPr lvl="1">
              <a:lnSpc>
                <a:spcPct val="150000"/>
              </a:lnSpc>
              <a:defRPr/>
            </a:pPr>
            <a:r>
              <a:rPr lang="en-US" altLang="en-US" sz="2000" dirty="0"/>
              <a:t>It retrieves available instances from Service Discovery using a Discovery Client available in the </a:t>
            </a:r>
            <a:r>
              <a:rPr lang="en-US" altLang="en-US" sz="2000" dirty="0" err="1"/>
              <a:t>classpath</a:t>
            </a:r>
            <a:r>
              <a:rPr lang="en-US" altLang="en-US" sz="2000" dirty="0"/>
              <a:t>.</a:t>
            </a:r>
          </a:p>
          <a:p>
            <a:pPr>
              <a:lnSpc>
                <a:spcPct val="150000"/>
              </a:lnSpc>
              <a:defRPr/>
            </a:pPr>
            <a:r>
              <a:rPr lang="en-US" altLang="en-US" sz="2000" b="1" dirty="0"/>
              <a:t>@LoadBalanced </a:t>
            </a:r>
          </a:p>
          <a:p>
            <a:pPr lvl="1">
              <a:lnSpc>
                <a:spcPct val="150000"/>
              </a:lnSpc>
              <a:defRPr/>
            </a:pPr>
            <a:r>
              <a:rPr lang="en-US" altLang="en-US" sz="2000" dirty="0"/>
              <a:t>Need to have a load balancer implementation in the </a:t>
            </a:r>
            <a:r>
              <a:rPr lang="en-US" altLang="en-US" sz="2000" dirty="0" err="1"/>
              <a:t>classpath</a:t>
            </a:r>
            <a:r>
              <a:rPr lang="en-US" altLang="en-US" sz="2000" dirty="0"/>
              <a:t>. </a:t>
            </a:r>
          </a:p>
          <a:p>
            <a:pPr lvl="1">
              <a:lnSpc>
                <a:spcPct val="150000"/>
              </a:lnSpc>
              <a:defRPr/>
            </a:pPr>
            <a:r>
              <a:rPr lang="en-US" altLang="en-US" sz="2000" dirty="0"/>
              <a:t>If the Spring Cloud </a:t>
            </a:r>
            <a:r>
              <a:rPr lang="en-US" altLang="en-US" sz="2000" dirty="0" err="1"/>
              <a:t>LoadBalancer</a:t>
            </a:r>
            <a:r>
              <a:rPr lang="en-US" altLang="en-US" sz="2000" dirty="0"/>
              <a:t> is in the class path Then, </a:t>
            </a:r>
            <a:r>
              <a:rPr lang="en-US" altLang="en-US" sz="2000" dirty="0" err="1"/>
              <a:t>ReactiveLoadBalancer</a:t>
            </a:r>
            <a:r>
              <a:rPr lang="en-US" altLang="en-US" sz="2000" dirty="0"/>
              <a:t> is used </a:t>
            </a:r>
          </a:p>
          <a:p>
            <a:pPr lvl="2">
              <a:lnSpc>
                <a:spcPct val="150000"/>
              </a:lnSpc>
              <a:defRPr/>
            </a:pPr>
            <a:r>
              <a:rPr lang="en-US" sz="1800" dirty="0"/>
              <a:t>Helps to </a:t>
            </a:r>
            <a:r>
              <a:rPr lang="en-US" sz="1800" b="1" dirty="0">
                <a:solidFill>
                  <a:srgbClr val="C00000"/>
                </a:solidFill>
              </a:rPr>
              <a:t>use "logical identifiers"</a:t>
            </a:r>
            <a:r>
              <a:rPr lang="en-US" sz="1800" dirty="0"/>
              <a:t> for the URLs  passed</a:t>
            </a:r>
            <a:r>
              <a:rPr lang="en-US" altLang="en-US" sz="1800" dirty="0"/>
              <a:t> </a:t>
            </a:r>
          </a:p>
          <a:p>
            <a:pPr marL="457200" lvl="1" indent="0">
              <a:buFontTx/>
              <a:buNone/>
              <a:defRPr/>
            </a:pPr>
            <a:endParaRPr lang="en-IN" sz="2000" dirty="0">
              <a:solidFill>
                <a:srgbClr val="000000"/>
              </a:solidFill>
              <a:latin typeface="Consolas" panose="020B0609020204030204" pitchFamily="49" charset="0"/>
            </a:endParaRPr>
          </a:p>
          <a:p>
            <a:pPr lvl="1">
              <a:lnSpc>
                <a:spcPct val="150000"/>
              </a:lnSpc>
              <a:defRPr/>
            </a:pPr>
            <a:endParaRPr lang="en-US" altLang="en-US" sz="2000" dirty="0"/>
          </a:p>
          <a:p>
            <a:pPr>
              <a:lnSpc>
                <a:spcPct val="150000"/>
              </a:lnSpc>
              <a:defRPr/>
            </a:pPr>
            <a:endParaRPr lang="en-US" altLang="en-US" sz="2000" dirty="0"/>
          </a:p>
          <a:p>
            <a:pPr>
              <a:lnSpc>
                <a:spcPct val="150000"/>
              </a:lnSpc>
              <a:defRPr/>
            </a:pPr>
            <a:endParaRPr lang="en-US" altLang="en-US" sz="2000" dirty="0"/>
          </a:p>
          <a:p>
            <a:pPr>
              <a:lnSpc>
                <a:spcPct val="150000"/>
              </a:lnSpc>
              <a:defRPr/>
            </a:pPr>
            <a:endParaRPr lang="en-IN" alt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a:extLst>
              <a:ext uri="{FF2B5EF4-FFF2-40B4-BE49-F238E27FC236}">
                <a16:creationId xmlns:a16="http://schemas.microsoft.com/office/drawing/2014/main" id="{11A93EBF-B8A8-A714-66FB-681F971195CE}"/>
              </a:ext>
            </a:extLst>
          </p:cNvPr>
          <p:cNvSpPr>
            <a:spLocks noGrp="1" noChangeArrowheads="1"/>
          </p:cNvSpPr>
          <p:nvPr>
            <p:ph type="title"/>
          </p:nvPr>
        </p:nvSpPr>
        <p:spPr/>
        <p:txBody>
          <a:bodyPr/>
          <a:lstStyle/>
          <a:p>
            <a:r>
              <a:rPr lang="en-US" altLang="en-US"/>
              <a:t>Http Methods</a:t>
            </a:r>
          </a:p>
        </p:txBody>
      </p:sp>
      <p:sp>
        <p:nvSpPr>
          <p:cNvPr id="65538" name="Content Placeholder 2">
            <a:extLst>
              <a:ext uri="{FF2B5EF4-FFF2-40B4-BE49-F238E27FC236}">
                <a16:creationId xmlns:a16="http://schemas.microsoft.com/office/drawing/2014/main" id="{6DCFF600-2BA3-AE18-D4D4-379539567B2D}"/>
              </a:ext>
            </a:extLst>
          </p:cNvPr>
          <p:cNvSpPr>
            <a:spLocks noGrp="1" noChangeArrowheads="1"/>
          </p:cNvSpPr>
          <p:nvPr>
            <p:ph idx="1"/>
          </p:nvPr>
        </p:nvSpPr>
        <p:spPr/>
        <p:txBody>
          <a:bodyPr/>
          <a:lstStyle/>
          <a:p>
            <a:r>
              <a:rPr lang="en-US" altLang="en-US" sz="2000" b="1"/>
              <a:t>get()</a:t>
            </a:r>
          </a:p>
          <a:p>
            <a:pPr lvl="1">
              <a:lnSpc>
                <a:spcPct val="150000"/>
              </a:lnSpc>
            </a:pPr>
            <a:r>
              <a:rPr lang="en-US" altLang="en-US" sz="2000"/>
              <a:t> indicates that we are making a </a:t>
            </a:r>
            <a:r>
              <a:rPr lang="en-US" altLang="en-US" sz="2000" i="1"/>
              <a:t>GET</a:t>
            </a:r>
            <a:r>
              <a:rPr lang="en-US" altLang="en-US" sz="2000"/>
              <a:t> request. </a:t>
            </a:r>
          </a:p>
          <a:p>
            <a:pPr lvl="1">
              <a:lnSpc>
                <a:spcPct val="150000"/>
              </a:lnSpc>
            </a:pPr>
            <a:r>
              <a:rPr lang="en-US" altLang="en-US" sz="2000"/>
              <a:t>We know that the response will be a single object, so we're using a Mono as explained before.</a:t>
            </a:r>
          </a:p>
          <a:p>
            <a:pPr lvl="1">
              <a:lnSpc>
                <a:spcPct val="150000"/>
              </a:lnSpc>
            </a:pPr>
            <a:endParaRPr lang="en-US" altLang="en-US" sz="2000"/>
          </a:p>
          <a:p>
            <a:pPr lvl="1">
              <a:lnSpc>
                <a:spcPct val="150000"/>
              </a:lnSpc>
            </a:pPr>
            <a:r>
              <a:rPr lang="en-IN" altLang="en-US" sz="2000">
                <a:solidFill>
                  <a:srgbClr val="000000"/>
                </a:solidFill>
                <a:latin typeface="Consolas" panose="020B0609020204030204" pitchFamily="49" charset="0"/>
              </a:rPr>
              <a:t>client.get()</a:t>
            </a:r>
            <a:endParaRPr lang="en-US" altLang="en-US" sz="2000">
              <a:solidFill>
                <a:srgbClr val="000000"/>
              </a:solidFill>
              <a:latin typeface="Consolas" panose="020B0609020204030204" pitchFamily="49" charset="0"/>
            </a:endParaRPr>
          </a:p>
          <a:p>
            <a:pPr lvl="1">
              <a:lnSpc>
                <a:spcPct val="150000"/>
              </a:lnSpc>
            </a:pPr>
            <a:r>
              <a:rPr lang="en-US" altLang="en-US" sz="2000">
                <a:solidFill>
                  <a:srgbClr val="000000"/>
                </a:solidFill>
                <a:latin typeface="Consolas" panose="020B0609020204030204" pitchFamily="49" charset="0"/>
              </a:rPr>
              <a:t>Client.post()</a:t>
            </a:r>
            <a:endParaRPr lang="en-US" altLang="en-US" sz="2000"/>
          </a:p>
          <a:p>
            <a:endParaRPr lang="en-US" altLang="en-US"/>
          </a:p>
          <a:p>
            <a:endParaRPr lang="en-US" altLang="en-US"/>
          </a:p>
          <a:p>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a:extLst>
              <a:ext uri="{FF2B5EF4-FFF2-40B4-BE49-F238E27FC236}">
                <a16:creationId xmlns:a16="http://schemas.microsoft.com/office/drawing/2014/main" id="{5B3EB764-BD3C-731F-3B49-71C1DA259098}"/>
              </a:ext>
            </a:extLst>
          </p:cNvPr>
          <p:cNvSpPr>
            <a:spLocks noGrp="1" noChangeArrowheads="1"/>
          </p:cNvSpPr>
          <p:nvPr>
            <p:ph type="title"/>
          </p:nvPr>
        </p:nvSpPr>
        <p:spPr/>
        <p:txBody>
          <a:bodyPr/>
          <a:lstStyle/>
          <a:p>
            <a:r>
              <a:rPr lang="en-US" altLang="en-US"/>
              <a:t>WebClient</a:t>
            </a:r>
            <a:endParaRPr lang="en-IN" altLang="en-US"/>
          </a:p>
        </p:txBody>
      </p:sp>
      <p:sp>
        <p:nvSpPr>
          <p:cNvPr id="66562" name="Content Placeholder 2">
            <a:extLst>
              <a:ext uri="{FF2B5EF4-FFF2-40B4-BE49-F238E27FC236}">
                <a16:creationId xmlns:a16="http://schemas.microsoft.com/office/drawing/2014/main" id="{36B591F9-018F-D810-1323-D94A2990291A}"/>
              </a:ext>
            </a:extLst>
          </p:cNvPr>
          <p:cNvSpPr>
            <a:spLocks noGrp="1" noChangeArrowheads="1"/>
          </p:cNvSpPr>
          <p:nvPr>
            <p:ph idx="1"/>
          </p:nvPr>
        </p:nvSpPr>
        <p:spPr/>
        <p:txBody>
          <a:bodyPr/>
          <a:lstStyle/>
          <a:p>
            <a:r>
              <a:rPr lang="en-IN" altLang="en-US" sz="2000">
                <a:solidFill>
                  <a:srgbClr val="000000"/>
                </a:solidFill>
                <a:latin typeface="Consolas" panose="020B0609020204030204" pitchFamily="49" charset="0"/>
              </a:rPr>
              <a:t>client.get().</a:t>
            </a:r>
            <a:r>
              <a:rPr lang="en-US" altLang="en-US" sz="2000">
                <a:solidFill>
                  <a:srgbClr val="000000"/>
                </a:solidFill>
                <a:latin typeface="Consolas" panose="020B0609020204030204" pitchFamily="49" charset="0"/>
              </a:rPr>
              <a:t>uri(</a:t>
            </a:r>
            <a:r>
              <a:rPr lang="en-US" altLang="en-US" sz="2000">
                <a:solidFill>
                  <a:srgbClr val="2A00FF"/>
                </a:solidFill>
                <a:latin typeface="Consolas" panose="020B0609020204030204" pitchFamily="49" charset="0"/>
              </a:rPr>
              <a:t>"lb://PRODUCT-SERVICE/api/v1/items"</a:t>
            </a:r>
            <a:r>
              <a:rPr lang="en-US" altLang="en-US" sz="2000">
                <a:solidFill>
                  <a:srgbClr val="000000"/>
                </a:solidFill>
                <a:latin typeface="Consolas" panose="020B0609020204030204" pitchFamily="49" charset="0"/>
              </a:rPr>
              <a:t>)</a:t>
            </a:r>
          </a:p>
          <a:p>
            <a:endParaRPr lang="en-US" altLang="en-US" sz="1800"/>
          </a:p>
          <a:p>
            <a:r>
              <a:rPr lang="en-US" altLang="en-US" sz="1800" b="1"/>
              <a:t>URI </a:t>
            </a:r>
          </a:p>
          <a:p>
            <a:pPr lvl="1"/>
            <a:r>
              <a:rPr lang="en-US" altLang="en-US" sz="1800"/>
              <a:t>Takes a service name =&gt; </a:t>
            </a:r>
            <a:r>
              <a:rPr lang="en-US" altLang="en-US" sz="2000" b="1"/>
              <a:t>lb://</a:t>
            </a:r>
            <a:r>
              <a:rPr lang="en-US" altLang="en-US" sz="2000">
                <a:solidFill>
                  <a:srgbClr val="2A00FF"/>
                </a:solidFill>
                <a:latin typeface="Consolas" panose="020B0609020204030204" pitchFamily="49" charset="0"/>
              </a:rPr>
              <a:t>PRODUCT-SERVICE</a:t>
            </a:r>
            <a:endParaRPr lang="en-US" altLang="en-US" sz="2000" b="1"/>
          </a:p>
          <a:p>
            <a:endParaRPr lang="en-US" altLang="en-US" sz="2000"/>
          </a:p>
          <a:p>
            <a:r>
              <a:rPr lang="en-US" altLang="en-US" sz="2000"/>
              <a:t>The  “lb“ in the “uri”  will use the  LoadBalancerClient </a:t>
            </a:r>
          </a:p>
          <a:p>
            <a:pPr lvl="1">
              <a:lnSpc>
                <a:spcPct val="150000"/>
              </a:lnSpc>
            </a:pPr>
            <a:r>
              <a:rPr lang="en-US" altLang="en-US" sz="2000"/>
              <a:t>Load Balancer Client will resolve to an actual host and port </a:t>
            </a:r>
          </a:p>
          <a:p>
            <a:pPr lvl="1">
              <a:lnSpc>
                <a:spcPct val="150000"/>
              </a:lnSpc>
            </a:pPr>
            <a:r>
              <a:rPr lang="en-US" altLang="en-US" sz="2000"/>
              <a:t>Replaces the URI </a:t>
            </a:r>
          </a:p>
          <a:p>
            <a:pPr lvl="1"/>
            <a:endParaRPr lang="en-US" altLang="en-US" sz="2000"/>
          </a:p>
          <a:p>
            <a:pPr lvl="1"/>
            <a:endParaRPr lang="en-US" altLang="en-US" sz="2000"/>
          </a:p>
          <a:p>
            <a:endParaRPr lang="en-US" altLang="en-US" sz="2000"/>
          </a:p>
          <a:p>
            <a:endParaRPr lang="en-US" altLang="en-US" sz="2000"/>
          </a:p>
          <a:p>
            <a:endParaRPr lang="en-IN" alt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C4A5E69C-D6BB-D5A7-4D51-5CEC46F2BA3E}"/>
              </a:ext>
            </a:extLst>
          </p:cNvPr>
          <p:cNvSpPr>
            <a:spLocks noGrp="1" noChangeArrowheads="1"/>
          </p:cNvSpPr>
          <p:nvPr>
            <p:ph type="title"/>
          </p:nvPr>
        </p:nvSpPr>
        <p:spPr/>
        <p:txBody>
          <a:bodyPr/>
          <a:lstStyle/>
          <a:p>
            <a:r>
              <a:rPr lang="en-US" altLang="en-US"/>
              <a:t>Rest Client - Controller</a:t>
            </a:r>
          </a:p>
        </p:txBody>
      </p:sp>
      <p:sp>
        <p:nvSpPr>
          <p:cNvPr id="61442" name="Content Placeholder 2">
            <a:extLst>
              <a:ext uri="{FF2B5EF4-FFF2-40B4-BE49-F238E27FC236}">
                <a16:creationId xmlns:a16="http://schemas.microsoft.com/office/drawing/2014/main" id="{1613007C-513E-8103-3685-EFD8F01E697A}"/>
              </a:ext>
            </a:extLst>
          </p:cNvPr>
          <p:cNvSpPr>
            <a:spLocks noGrp="1" noChangeArrowheads="1"/>
          </p:cNvSpPr>
          <p:nvPr>
            <p:ph idx="1"/>
          </p:nvPr>
        </p:nvSpPr>
        <p:spPr>
          <a:xfrm>
            <a:off x="457200" y="838200"/>
            <a:ext cx="8228013" cy="5286375"/>
          </a:xfrm>
        </p:spPr>
        <p:txBody>
          <a:bodyPr/>
          <a:lstStyle/>
          <a:p>
            <a:pPr marL="457200" lvl="1" indent="0">
              <a:buFontTx/>
              <a:buNone/>
              <a:defRPr/>
            </a:pPr>
            <a:r>
              <a:rPr lang="en-IN" altLang="en-US" sz="1800" dirty="0">
                <a:solidFill>
                  <a:srgbClr val="646464"/>
                </a:solidFill>
              </a:rPr>
              <a:t>@</a:t>
            </a:r>
            <a:r>
              <a:rPr lang="en-IN" altLang="en-US" sz="1800" dirty="0" err="1">
                <a:solidFill>
                  <a:srgbClr val="000000"/>
                </a:solidFill>
              </a:rPr>
              <a:t>RestController</a:t>
            </a:r>
            <a:endParaRPr lang="en-IN" altLang="en-US" sz="1800" dirty="0">
              <a:solidFill>
                <a:srgbClr val="000000"/>
              </a:solidFill>
            </a:endParaRPr>
          </a:p>
          <a:p>
            <a:pPr marL="457200" lvl="1" indent="0">
              <a:buFontTx/>
              <a:buNone/>
              <a:defRPr/>
            </a:pPr>
            <a:r>
              <a:rPr lang="en-IN" altLang="en-US" sz="1800" b="1" dirty="0">
                <a:solidFill>
                  <a:srgbClr val="7F0055"/>
                </a:solidFill>
              </a:rPr>
              <a:t>public</a:t>
            </a:r>
            <a:r>
              <a:rPr lang="en-IN" altLang="en-US" sz="1800" b="1" dirty="0">
                <a:solidFill>
                  <a:srgbClr val="000000"/>
                </a:solidFill>
              </a:rPr>
              <a:t> </a:t>
            </a:r>
            <a:r>
              <a:rPr lang="en-IN" altLang="en-US" sz="1800" b="1" dirty="0">
                <a:solidFill>
                  <a:srgbClr val="7F0055"/>
                </a:solidFill>
              </a:rPr>
              <a:t>class</a:t>
            </a:r>
            <a:r>
              <a:rPr lang="en-IN" altLang="en-US" sz="1800" b="1" dirty="0">
                <a:solidFill>
                  <a:srgbClr val="000000"/>
                </a:solidFill>
              </a:rPr>
              <a:t> </a:t>
            </a:r>
            <a:r>
              <a:rPr lang="en-IN" altLang="en-US" sz="1800" b="1" dirty="0" err="1">
                <a:solidFill>
                  <a:srgbClr val="000000"/>
                </a:solidFill>
              </a:rPr>
              <a:t>ClientController</a:t>
            </a:r>
            <a:r>
              <a:rPr lang="en-IN" altLang="en-US" sz="1800" b="1" dirty="0">
                <a:solidFill>
                  <a:srgbClr val="000000"/>
                </a:solidFill>
              </a:rPr>
              <a:t> {</a:t>
            </a:r>
          </a:p>
          <a:p>
            <a:pPr marL="457200" lvl="1" indent="0">
              <a:buFontTx/>
              <a:buNone/>
              <a:defRPr/>
            </a:pPr>
            <a:r>
              <a:rPr lang="en-IN" altLang="en-US" sz="2000" dirty="0">
                <a:solidFill>
                  <a:srgbClr val="646464"/>
                </a:solidFill>
              </a:rPr>
              <a:t>@</a:t>
            </a:r>
            <a:r>
              <a:rPr lang="en-IN" altLang="en-US" sz="2000" dirty="0" err="1">
                <a:solidFill>
                  <a:srgbClr val="000000"/>
                </a:solidFill>
              </a:rPr>
              <a:t>Autowired</a:t>
            </a:r>
            <a:endParaRPr lang="en-IN" altLang="en-US" sz="2000" dirty="0">
              <a:solidFill>
                <a:srgbClr val="000000"/>
              </a:solidFill>
            </a:endParaRPr>
          </a:p>
          <a:p>
            <a:pPr marL="457200" lvl="1" indent="0">
              <a:buFontTx/>
              <a:buNone/>
              <a:defRPr/>
            </a:pPr>
            <a:r>
              <a:rPr lang="en-IN" altLang="en-US" sz="2000" b="1" dirty="0">
                <a:solidFill>
                  <a:srgbClr val="7F0055"/>
                </a:solidFill>
              </a:rPr>
              <a:t>private</a:t>
            </a:r>
            <a:r>
              <a:rPr lang="en-IN" altLang="en-US" sz="2000" b="1" dirty="0">
                <a:solidFill>
                  <a:srgbClr val="000000"/>
                </a:solidFill>
              </a:rPr>
              <a:t> </a:t>
            </a:r>
            <a:r>
              <a:rPr lang="en-IN" altLang="en-US" sz="2000" b="1" dirty="0" err="1">
                <a:solidFill>
                  <a:srgbClr val="000000"/>
                </a:solidFill>
              </a:rPr>
              <a:t>WebClient</a:t>
            </a:r>
            <a:r>
              <a:rPr lang="en-IN" altLang="en-US" sz="2000" b="1" dirty="0">
                <a:solidFill>
                  <a:srgbClr val="000000"/>
                </a:solidFill>
              </a:rPr>
              <a:t> client;</a:t>
            </a:r>
          </a:p>
          <a:p>
            <a:pPr marL="457200" lvl="1" indent="0">
              <a:buFontTx/>
              <a:buNone/>
              <a:defRPr/>
            </a:pPr>
            <a:endParaRPr lang="en-IN" altLang="en-US" sz="2000" dirty="0">
              <a:solidFill>
                <a:srgbClr val="646464"/>
              </a:solidFill>
            </a:endParaRPr>
          </a:p>
          <a:p>
            <a:pPr marL="457200" lvl="1" indent="0">
              <a:buFontTx/>
              <a:buNone/>
              <a:defRPr/>
            </a:pPr>
            <a:r>
              <a:rPr lang="en-IN" altLang="en-US" sz="2000" dirty="0">
                <a:solidFill>
                  <a:srgbClr val="646464"/>
                </a:solidFill>
              </a:rPr>
              <a:t>@</a:t>
            </a:r>
            <a:r>
              <a:rPr lang="en-IN" altLang="en-US" sz="2000" dirty="0" err="1">
                <a:solidFill>
                  <a:srgbClr val="646464"/>
                </a:solidFill>
              </a:rPr>
              <a:t>GetMapping</a:t>
            </a:r>
            <a:r>
              <a:rPr lang="en-IN" altLang="en-US" sz="2000" dirty="0">
                <a:solidFill>
                  <a:srgbClr val="000000"/>
                </a:solidFill>
              </a:rPr>
              <a:t>(path = </a:t>
            </a:r>
            <a:r>
              <a:rPr lang="en-IN" altLang="en-US" sz="2000" dirty="0">
                <a:solidFill>
                  <a:srgbClr val="2A00FF"/>
                </a:solidFill>
              </a:rPr>
              <a:t>"/hotels"</a:t>
            </a:r>
            <a:r>
              <a:rPr lang="en-IN" altLang="en-US" sz="2000" dirty="0">
                <a:solidFill>
                  <a:srgbClr val="000000"/>
                </a:solidFill>
              </a:rPr>
              <a:t>)</a:t>
            </a:r>
          </a:p>
          <a:p>
            <a:pPr marL="457200" lvl="1" indent="0">
              <a:buFontTx/>
              <a:buNone/>
              <a:defRPr/>
            </a:pPr>
            <a:r>
              <a:rPr lang="en-IN" altLang="en-US" sz="2000" b="1" dirty="0">
                <a:solidFill>
                  <a:srgbClr val="7F0055"/>
                </a:solidFill>
              </a:rPr>
              <a:t>public</a:t>
            </a:r>
            <a:r>
              <a:rPr lang="en-IN" altLang="en-US" sz="2000" b="1" dirty="0">
                <a:solidFill>
                  <a:srgbClr val="000000"/>
                </a:solidFill>
              </a:rPr>
              <a:t> </a:t>
            </a:r>
            <a:r>
              <a:rPr lang="en-IN" altLang="en-US" sz="2000" b="1" dirty="0">
                <a:solidFill>
                  <a:srgbClr val="0070C0"/>
                </a:solidFill>
              </a:rPr>
              <a:t>Flux</a:t>
            </a:r>
            <a:r>
              <a:rPr lang="en-IN" altLang="en-US" sz="2000" b="1" dirty="0">
                <a:solidFill>
                  <a:srgbClr val="000000"/>
                </a:solidFill>
              </a:rPr>
              <a:t>&lt;String&gt; </a:t>
            </a:r>
            <a:r>
              <a:rPr lang="en-IN" altLang="en-US" sz="2000" dirty="0" err="1">
                <a:solidFill>
                  <a:srgbClr val="000000"/>
                </a:solidFill>
              </a:rPr>
              <a:t>getAllHotels</a:t>
            </a:r>
            <a:r>
              <a:rPr lang="en-IN" altLang="en-US" sz="2000" b="1" dirty="0">
                <a:solidFill>
                  <a:srgbClr val="000000"/>
                </a:solidFill>
              </a:rPr>
              <a:t>(){</a:t>
            </a:r>
          </a:p>
          <a:p>
            <a:pPr marL="457200" lvl="1" indent="0">
              <a:buFontTx/>
              <a:buNone/>
              <a:defRPr/>
            </a:pPr>
            <a:endParaRPr lang="en-IN" altLang="en-US" sz="2000" b="1" dirty="0">
              <a:solidFill>
                <a:srgbClr val="7F0055"/>
              </a:solidFill>
            </a:endParaRPr>
          </a:p>
          <a:p>
            <a:pPr marL="457200" lvl="1" indent="0">
              <a:buFontTx/>
              <a:buNone/>
              <a:defRPr/>
            </a:pPr>
            <a:r>
              <a:rPr lang="en-IN" altLang="en-US" sz="2000" b="1" dirty="0">
                <a:solidFill>
                  <a:srgbClr val="7F0055"/>
                </a:solidFill>
              </a:rPr>
              <a:t>return</a:t>
            </a:r>
            <a:r>
              <a:rPr lang="en-IN" altLang="en-US" sz="2000" b="1" dirty="0">
                <a:solidFill>
                  <a:srgbClr val="000000"/>
                </a:solidFill>
              </a:rPr>
              <a:t> </a:t>
            </a:r>
            <a:r>
              <a:rPr lang="en-IN" altLang="en-US" sz="2000" b="1" dirty="0" err="1">
                <a:solidFill>
                  <a:srgbClr val="0000C0"/>
                </a:solidFill>
              </a:rPr>
              <a:t>client</a:t>
            </a:r>
            <a:r>
              <a:rPr lang="en-IN" altLang="en-US" sz="2000" b="1" dirty="0" err="1">
                <a:solidFill>
                  <a:srgbClr val="000000"/>
                </a:solidFill>
              </a:rPr>
              <a:t>.get</a:t>
            </a:r>
            <a:r>
              <a:rPr lang="en-IN" altLang="en-US" sz="2000" b="1" dirty="0">
                <a:solidFill>
                  <a:srgbClr val="000000"/>
                </a:solidFill>
              </a:rPr>
              <a:t>()</a:t>
            </a:r>
          </a:p>
          <a:p>
            <a:pPr marL="457200" lvl="1" indent="0">
              <a:buFontTx/>
              <a:buNone/>
              <a:defRPr/>
            </a:pPr>
            <a:r>
              <a:rPr lang="en-US" altLang="en-US" sz="2000" dirty="0">
                <a:solidFill>
                  <a:srgbClr val="000000"/>
                </a:solidFill>
              </a:rPr>
              <a:t>   .</a:t>
            </a:r>
            <a:r>
              <a:rPr lang="en-US" altLang="en-US" sz="2000" dirty="0" err="1">
                <a:solidFill>
                  <a:srgbClr val="000000"/>
                </a:solidFill>
              </a:rPr>
              <a:t>uri</a:t>
            </a:r>
            <a:r>
              <a:rPr lang="en-US" altLang="en-US" sz="2000" dirty="0">
                <a:solidFill>
                  <a:srgbClr val="000000"/>
                </a:solidFill>
              </a:rPr>
              <a:t>(</a:t>
            </a:r>
            <a:r>
              <a:rPr lang="en-US" altLang="en-US" sz="2000" dirty="0">
                <a:solidFill>
                  <a:srgbClr val="2A00FF"/>
                </a:solidFill>
              </a:rPr>
              <a:t>"</a:t>
            </a:r>
            <a:r>
              <a:rPr lang="en-US" altLang="en-US" sz="2000" dirty="0" err="1">
                <a:solidFill>
                  <a:srgbClr val="FF0000"/>
                </a:solidFill>
              </a:rPr>
              <a:t>lb</a:t>
            </a:r>
            <a:r>
              <a:rPr lang="en-US" altLang="en-US" sz="2000" dirty="0">
                <a:solidFill>
                  <a:srgbClr val="2A00FF"/>
                </a:solidFill>
              </a:rPr>
              <a:t>://HOTEL-SERVICE/</a:t>
            </a:r>
            <a:r>
              <a:rPr lang="en-US" altLang="en-US" sz="2000" dirty="0" err="1">
                <a:solidFill>
                  <a:srgbClr val="2A00FF"/>
                </a:solidFill>
              </a:rPr>
              <a:t>api</a:t>
            </a:r>
            <a:r>
              <a:rPr lang="en-US" altLang="en-US" sz="2000" dirty="0">
                <a:solidFill>
                  <a:srgbClr val="2A00FF"/>
                </a:solidFill>
              </a:rPr>
              <a:t>/v1/hotels"</a:t>
            </a:r>
            <a:r>
              <a:rPr lang="en-US" altLang="en-US" sz="2000" dirty="0">
                <a:solidFill>
                  <a:srgbClr val="000000"/>
                </a:solidFill>
              </a:rPr>
              <a:t>)</a:t>
            </a:r>
          </a:p>
          <a:p>
            <a:pPr marL="457200" lvl="1" indent="0">
              <a:buFontTx/>
              <a:buNone/>
              <a:defRPr/>
            </a:pPr>
            <a:r>
              <a:rPr lang="en-IN" altLang="en-US" sz="2000" dirty="0">
                <a:solidFill>
                  <a:srgbClr val="000000"/>
                </a:solidFill>
              </a:rPr>
              <a:t>    .retrieve()</a:t>
            </a:r>
          </a:p>
          <a:p>
            <a:pPr marL="457200" lvl="1" indent="0">
              <a:buFontTx/>
              <a:buNone/>
              <a:defRPr/>
            </a:pPr>
            <a:r>
              <a:rPr lang="en-IN" altLang="en-US" sz="2000" dirty="0">
                <a:solidFill>
                  <a:srgbClr val="000000"/>
                </a:solidFill>
              </a:rPr>
              <a:t>     </a:t>
            </a:r>
            <a:r>
              <a:rPr lang="en-IN" altLang="en-US" sz="2000" dirty="0">
                <a:solidFill>
                  <a:schemeClr val="bg1">
                    <a:lumMod val="50000"/>
                  </a:schemeClr>
                </a:solidFill>
              </a:rPr>
              <a:t>.</a:t>
            </a:r>
            <a:r>
              <a:rPr lang="en-IN" altLang="en-US" sz="2000" dirty="0" err="1">
                <a:solidFill>
                  <a:schemeClr val="bg1">
                    <a:lumMod val="50000"/>
                  </a:schemeClr>
                </a:solidFill>
              </a:rPr>
              <a:t>bodyToFlux</a:t>
            </a:r>
            <a:r>
              <a:rPr lang="en-IN" altLang="en-US" sz="2000" dirty="0">
                <a:solidFill>
                  <a:srgbClr val="000000"/>
                </a:solidFill>
              </a:rPr>
              <a:t>(</a:t>
            </a:r>
            <a:r>
              <a:rPr lang="en-IN" altLang="en-US" sz="2000" dirty="0" err="1">
                <a:solidFill>
                  <a:srgbClr val="000000"/>
                </a:solidFill>
              </a:rPr>
              <a:t>String.</a:t>
            </a:r>
            <a:r>
              <a:rPr lang="en-IN" altLang="en-US" sz="2000" b="1" dirty="0" err="1">
                <a:solidFill>
                  <a:srgbClr val="7F0055"/>
                </a:solidFill>
              </a:rPr>
              <a:t>class</a:t>
            </a:r>
            <a:r>
              <a:rPr lang="en-IN" altLang="en-US" sz="2000" b="1" dirty="0">
                <a:solidFill>
                  <a:srgbClr val="000000"/>
                </a:solidFill>
              </a:rPr>
              <a:t>);</a:t>
            </a:r>
          </a:p>
          <a:p>
            <a:pPr marL="457200" lvl="1" indent="0">
              <a:buFontTx/>
              <a:buNone/>
              <a:defRPr/>
            </a:pPr>
            <a:r>
              <a:rPr lang="en-IN" altLang="en-US" sz="2000" dirty="0">
                <a:solidFill>
                  <a:srgbClr val="000000"/>
                </a:solidFill>
              </a:rPr>
              <a:t>     } </a:t>
            </a:r>
          </a:p>
          <a:p>
            <a:pPr marL="457200" lvl="1" indent="0">
              <a:buFontTx/>
              <a:buNone/>
              <a:defRPr/>
            </a:pPr>
            <a:r>
              <a:rPr lang="en-IN" altLang="en-US" sz="2000" dirty="0">
                <a:solidFill>
                  <a:srgbClr val="000000"/>
                </a:solidFill>
              </a:rPr>
              <a:t> }</a:t>
            </a:r>
          </a:p>
          <a:p>
            <a:pPr marL="857250" lvl="2" indent="0">
              <a:buFontTx/>
              <a:buNone/>
              <a:defRPr/>
            </a:pPr>
            <a:endParaRPr lang="en-IN" altLang="en-US" sz="1800" dirty="0">
              <a:latin typeface="Consolas" panose="020B0609020204030204" pitchFamily="49" charset="0"/>
            </a:endParaRPr>
          </a:p>
          <a:p>
            <a:pPr marL="1371600" lvl="3" indent="0">
              <a:buFontTx/>
              <a:buNone/>
              <a:defRPr/>
            </a:pPr>
            <a:endParaRPr lang="en-US" alt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Title 1">
            <a:extLst>
              <a:ext uri="{FF2B5EF4-FFF2-40B4-BE49-F238E27FC236}">
                <a16:creationId xmlns:a16="http://schemas.microsoft.com/office/drawing/2014/main" id="{CA59776A-4906-07F3-06C2-839007D33480}"/>
              </a:ext>
            </a:extLst>
          </p:cNvPr>
          <p:cNvSpPr>
            <a:spLocks noGrp="1" noChangeArrowheads="1"/>
          </p:cNvSpPr>
          <p:nvPr>
            <p:ph type="title"/>
          </p:nvPr>
        </p:nvSpPr>
        <p:spPr/>
        <p:txBody>
          <a:bodyPr/>
          <a:lstStyle/>
          <a:p>
            <a:r>
              <a:rPr lang="en-US" altLang="en-US"/>
              <a:t>Rest Client - Controller</a:t>
            </a:r>
            <a:endParaRPr lang="en-IN" altLang="en-US"/>
          </a:p>
        </p:txBody>
      </p:sp>
      <p:sp>
        <p:nvSpPr>
          <p:cNvPr id="68610" name="Content Placeholder 2">
            <a:extLst>
              <a:ext uri="{FF2B5EF4-FFF2-40B4-BE49-F238E27FC236}">
                <a16:creationId xmlns:a16="http://schemas.microsoft.com/office/drawing/2014/main" id="{247E26C6-FE56-5839-472F-83696EF7AE8D}"/>
              </a:ext>
            </a:extLst>
          </p:cNvPr>
          <p:cNvSpPr>
            <a:spLocks noGrp="1" noChangeArrowheads="1"/>
          </p:cNvSpPr>
          <p:nvPr>
            <p:ph idx="1"/>
          </p:nvPr>
        </p:nvSpPr>
        <p:spPr/>
        <p:txBody>
          <a:bodyPr/>
          <a:lstStyle/>
          <a:p>
            <a:pPr marL="457200" lvl="1" indent="0">
              <a:lnSpc>
                <a:spcPct val="150000"/>
              </a:lnSpc>
              <a:buFontTx/>
              <a:buNone/>
            </a:pPr>
            <a:r>
              <a:rPr lang="en-IN" altLang="en-US" sz="2000">
                <a:solidFill>
                  <a:srgbClr val="646464"/>
                </a:solidFill>
              </a:rPr>
              <a:t>@PostMapping</a:t>
            </a:r>
            <a:r>
              <a:rPr lang="en-IN" altLang="en-US" sz="2000">
                <a:solidFill>
                  <a:srgbClr val="000000"/>
                </a:solidFill>
              </a:rPr>
              <a:t>(path = </a:t>
            </a:r>
            <a:r>
              <a:rPr lang="en-IN" altLang="en-US" sz="2000">
                <a:solidFill>
                  <a:srgbClr val="2A00FF"/>
                </a:solidFill>
              </a:rPr>
              <a:t>"/hotels"</a:t>
            </a:r>
            <a:r>
              <a:rPr lang="en-IN" altLang="en-US" sz="2000">
                <a:solidFill>
                  <a:srgbClr val="000000"/>
                </a:solidFill>
              </a:rPr>
              <a:t>)</a:t>
            </a:r>
          </a:p>
          <a:p>
            <a:pPr marL="457200" lvl="1" indent="0">
              <a:lnSpc>
                <a:spcPct val="150000"/>
              </a:lnSpc>
              <a:buFontTx/>
              <a:buNone/>
            </a:pPr>
            <a:r>
              <a:rPr lang="en-IN" altLang="en-US" sz="2000" b="1">
                <a:solidFill>
                  <a:srgbClr val="7F0055"/>
                </a:solidFill>
              </a:rPr>
              <a:t>public</a:t>
            </a:r>
            <a:r>
              <a:rPr lang="en-IN" altLang="en-US" sz="2000" b="1">
                <a:solidFill>
                  <a:srgbClr val="000000"/>
                </a:solidFill>
              </a:rPr>
              <a:t> </a:t>
            </a:r>
            <a:r>
              <a:rPr lang="en-IN" altLang="en-US" sz="2000" b="1">
                <a:solidFill>
                  <a:srgbClr val="FF0000"/>
                </a:solidFill>
              </a:rPr>
              <a:t>Mono</a:t>
            </a:r>
            <a:r>
              <a:rPr lang="en-IN" altLang="en-US" sz="2000" b="1">
                <a:solidFill>
                  <a:srgbClr val="000000"/>
                </a:solidFill>
              </a:rPr>
              <a:t>&lt;HotelDto&gt; create(</a:t>
            </a:r>
            <a:r>
              <a:rPr lang="en-IN" altLang="en-US" sz="2000" b="1">
                <a:solidFill>
                  <a:srgbClr val="646464"/>
                </a:solidFill>
              </a:rPr>
              <a:t>@RequestBody</a:t>
            </a:r>
            <a:r>
              <a:rPr lang="en-IN" altLang="en-US" sz="2000" b="1">
                <a:solidFill>
                  <a:srgbClr val="000000"/>
                </a:solidFill>
              </a:rPr>
              <a:t> HotelDto </a:t>
            </a:r>
            <a:r>
              <a:rPr lang="en-IN" altLang="en-US" sz="2000" b="1">
                <a:solidFill>
                  <a:srgbClr val="6A3E3E"/>
                </a:solidFill>
              </a:rPr>
              <a:t>dto</a:t>
            </a:r>
            <a:r>
              <a:rPr lang="en-IN" altLang="en-US" sz="2000" b="1">
                <a:solidFill>
                  <a:srgbClr val="000000"/>
                </a:solidFill>
              </a:rPr>
              <a:t>)</a:t>
            </a:r>
          </a:p>
          <a:p>
            <a:pPr marL="457200" lvl="1" indent="0">
              <a:lnSpc>
                <a:spcPct val="150000"/>
              </a:lnSpc>
              <a:buFontTx/>
              <a:buNone/>
            </a:pPr>
            <a:r>
              <a:rPr lang="en-IN" altLang="en-US" sz="2000">
                <a:solidFill>
                  <a:srgbClr val="000000"/>
                </a:solidFill>
              </a:rPr>
              <a:t>{</a:t>
            </a:r>
          </a:p>
          <a:p>
            <a:pPr marL="457200" lvl="1" indent="0">
              <a:lnSpc>
                <a:spcPct val="150000"/>
              </a:lnSpc>
              <a:buFontTx/>
              <a:buNone/>
            </a:pPr>
            <a:r>
              <a:rPr lang="en-IN" altLang="en-US" sz="2000">
                <a:solidFill>
                  <a:srgbClr val="000000"/>
                </a:solidFill>
              </a:rPr>
              <a:t>    </a:t>
            </a:r>
            <a:r>
              <a:rPr lang="en-IN" altLang="en-US" sz="2000" b="1">
                <a:solidFill>
                  <a:srgbClr val="7F0055"/>
                </a:solidFill>
              </a:rPr>
              <a:t>return</a:t>
            </a:r>
            <a:r>
              <a:rPr lang="en-IN" altLang="en-US" sz="2000" b="1">
                <a:solidFill>
                  <a:srgbClr val="000000"/>
                </a:solidFill>
              </a:rPr>
              <a:t> </a:t>
            </a:r>
            <a:r>
              <a:rPr lang="en-IN" altLang="en-US" sz="2000" b="1">
                <a:solidFill>
                  <a:srgbClr val="0000C0"/>
                </a:solidFill>
              </a:rPr>
              <a:t>client</a:t>
            </a:r>
            <a:r>
              <a:rPr lang="en-IN" altLang="en-US" sz="2000" b="1">
                <a:solidFill>
                  <a:srgbClr val="000000"/>
                </a:solidFill>
              </a:rPr>
              <a:t>.post()</a:t>
            </a:r>
          </a:p>
          <a:p>
            <a:pPr marL="457200" lvl="1" indent="0">
              <a:lnSpc>
                <a:spcPct val="150000"/>
              </a:lnSpc>
              <a:buFontTx/>
              <a:buNone/>
            </a:pPr>
            <a:r>
              <a:rPr lang="en-US" altLang="en-US" sz="2000">
                <a:solidFill>
                  <a:srgbClr val="000000"/>
                </a:solidFill>
              </a:rPr>
              <a:t>        .uri(</a:t>
            </a:r>
            <a:r>
              <a:rPr lang="en-US" altLang="en-US" sz="2000">
                <a:solidFill>
                  <a:srgbClr val="2A00FF"/>
                </a:solidFill>
              </a:rPr>
              <a:t>"lb://HOTEL-SERVICE/api/v1/hotels/{id}"</a:t>
            </a:r>
            <a:r>
              <a:rPr lang="en-US" altLang="en-US" sz="2000">
                <a:solidFill>
                  <a:srgbClr val="000000"/>
                </a:solidFill>
              </a:rPr>
              <a:t>)</a:t>
            </a:r>
          </a:p>
          <a:p>
            <a:pPr marL="457200" lvl="1" indent="0">
              <a:lnSpc>
                <a:spcPct val="150000"/>
              </a:lnSpc>
              <a:buFontTx/>
              <a:buNone/>
            </a:pPr>
            <a:r>
              <a:rPr lang="en-US" altLang="en-US" sz="2000">
                <a:solidFill>
                  <a:srgbClr val="000000"/>
                </a:solidFill>
              </a:rPr>
              <a:t>        .body(Mono.</a:t>
            </a:r>
            <a:r>
              <a:rPr lang="en-US" altLang="en-US" sz="2000" i="1">
                <a:solidFill>
                  <a:srgbClr val="000000"/>
                </a:solidFill>
              </a:rPr>
              <a:t>just(</a:t>
            </a:r>
            <a:r>
              <a:rPr lang="en-US" altLang="en-US" sz="2000" i="1">
                <a:solidFill>
                  <a:srgbClr val="6A3E3E"/>
                </a:solidFill>
              </a:rPr>
              <a:t>dto</a:t>
            </a:r>
            <a:r>
              <a:rPr lang="en-US" altLang="en-US" sz="2000" i="1">
                <a:solidFill>
                  <a:srgbClr val="000000"/>
                </a:solidFill>
              </a:rPr>
              <a:t>), HotelDto.</a:t>
            </a:r>
            <a:r>
              <a:rPr lang="en-US" altLang="en-US" sz="2000" b="1" i="1">
                <a:solidFill>
                  <a:srgbClr val="7F0055"/>
                </a:solidFill>
              </a:rPr>
              <a:t>class</a:t>
            </a:r>
            <a:r>
              <a:rPr lang="en-US" altLang="en-US" sz="2000" b="1" i="1">
                <a:solidFill>
                  <a:srgbClr val="000000"/>
                </a:solidFill>
              </a:rPr>
              <a:t>)</a:t>
            </a:r>
          </a:p>
          <a:p>
            <a:pPr marL="457200" lvl="1" indent="0">
              <a:lnSpc>
                <a:spcPct val="150000"/>
              </a:lnSpc>
              <a:buFontTx/>
              <a:buNone/>
            </a:pPr>
            <a:r>
              <a:rPr lang="en-IN" altLang="en-US" sz="2000">
                <a:solidFill>
                  <a:srgbClr val="000000"/>
                </a:solidFill>
              </a:rPr>
              <a:t>        .retrieve()</a:t>
            </a:r>
          </a:p>
          <a:p>
            <a:pPr marL="457200" lvl="1" indent="0">
              <a:lnSpc>
                <a:spcPct val="150000"/>
              </a:lnSpc>
              <a:buFontTx/>
              <a:buNone/>
            </a:pPr>
            <a:r>
              <a:rPr lang="en-IN" altLang="en-US" sz="2000">
                <a:solidFill>
                  <a:srgbClr val="000000"/>
                </a:solidFill>
              </a:rPr>
              <a:t>        .bodyToMono(HotelDto.</a:t>
            </a:r>
            <a:r>
              <a:rPr lang="en-IN" altLang="en-US" sz="2000" b="1">
                <a:solidFill>
                  <a:srgbClr val="7F0055"/>
                </a:solidFill>
              </a:rPr>
              <a:t>class</a:t>
            </a:r>
            <a:r>
              <a:rPr lang="en-IN" altLang="en-US" sz="2000" b="1">
                <a:solidFill>
                  <a:srgbClr val="000000"/>
                </a:solidFill>
              </a:rPr>
              <a:t>);</a:t>
            </a:r>
          </a:p>
          <a:p>
            <a:pPr marL="457200" lvl="1" indent="0">
              <a:lnSpc>
                <a:spcPct val="150000"/>
              </a:lnSpc>
              <a:buFontTx/>
              <a:buNone/>
            </a:pPr>
            <a:r>
              <a:rPr lang="en-IN" altLang="en-US" sz="2000">
                <a:solidFill>
                  <a:srgbClr val="000000"/>
                </a:solidFill>
              </a:rPr>
              <a:t>}</a:t>
            </a:r>
            <a:endParaRPr lang="en-IN" altLang="en-US"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0D57FCAF-572A-0885-63BC-B0EAF3F08906}"/>
              </a:ext>
            </a:extLst>
          </p:cNvPr>
          <p:cNvSpPr>
            <a:spLocks noGrp="1" noChangeArrowheads="1"/>
          </p:cNvSpPr>
          <p:nvPr>
            <p:ph type="title"/>
          </p:nvPr>
        </p:nvSpPr>
        <p:spPr/>
        <p:txBody>
          <a:bodyPr/>
          <a:lstStyle/>
          <a:p>
            <a:r>
              <a:rPr lang="en-US" altLang="en-US"/>
              <a:t>Rest Client - Controller</a:t>
            </a:r>
            <a:endParaRPr lang="en-IN" altLang="en-US"/>
          </a:p>
        </p:txBody>
      </p:sp>
      <p:sp>
        <p:nvSpPr>
          <p:cNvPr id="69634" name="Content Placeholder 2">
            <a:extLst>
              <a:ext uri="{FF2B5EF4-FFF2-40B4-BE49-F238E27FC236}">
                <a16:creationId xmlns:a16="http://schemas.microsoft.com/office/drawing/2014/main" id="{DEF0EA3B-513C-10D7-B49A-F923247685F3}"/>
              </a:ext>
            </a:extLst>
          </p:cNvPr>
          <p:cNvSpPr>
            <a:spLocks noGrp="1" noChangeArrowheads="1"/>
          </p:cNvSpPr>
          <p:nvPr>
            <p:ph idx="1"/>
          </p:nvPr>
        </p:nvSpPr>
        <p:spPr/>
        <p:txBody>
          <a:bodyPr/>
          <a:lstStyle/>
          <a:p>
            <a:pPr marL="457200" lvl="1" indent="0">
              <a:buFontTx/>
              <a:buNone/>
            </a:pPr>
            <a:r>
              <a:rPr lang="en-IN" altLang="en-US" sz="2000">
                <a:solidFill>
                  <a:srgbClr val="646464"/>
                </a:solidFill>
              </a:rPr>
              <a:t>@DeleteMapping</a:t>
            </a:r>
            <a:r>
              <a:rPr lang="en-IN" altLang="en-US" sz="2000">
                <a:solidFill>
                  <a:srgbClr val="000000"/>
                </a:solidFill>
              </a:rPr>
              <a:t>(path = </a:t>
            </a:r>
            <a:r>
              <a:rPr lang="en-IN" altLang="en-US" sz="2000">
                <a:solidFill>
                  <a:srgbClr val="2A00FF"/>
                </a:solidFill>
              </a:rPr>
              <a:t>"/hotels/{id}"</a:t>
            </a:r>
            <a:r>
              <a:rPr lang="en-IN" altLang="en-US" sz="2000">
                <a:solidFill>
                  <a:srgbClr val="000000"/>
                </a:solidFill>
              </a:rPr>
              <a:t>)</a:t>
            </a:r>
          </a:p>
          <a:p>
            <a:pPr marL="457200" lvl="1" indent="0">
              <a:buFontTx/>
              <a:buNone/>
            </a:pPr>
            <a:r>
              <a:rPr lang="en-US" altLang="en-US" sz="2000" b="1">
                <a:solidFill>
                  <a:srgbClr val="7F0055"/>
                </a:solidFill>
              </a:rPr>
              <a:t>public</a:t>
            </a:r>
            <a:r>
              <a:rPr lang="en-US" altLang="en-US" sz="2000" b="1">
                <a:solidFill>
                  <a:srgbClr val="000000"/>
                </a:solidFill>
              </a:rPr>
              <a:t> </a:t>
            </a:r>
            <a:r>
              <a:rPr lang="en-US" altLang="en-US" sz="2000" b="1">
                <a:solidFill>
                  <a:srgbClr val="FF0000"/>
                </a:solidFill>
              </a:rPr>
              <a:t>Mono</a:t>
            </a:r>
            <a:r>
              <a:rPr lang="en-US" altLang="en-US" sz="2000" b="1">
                <a:solidFill>
                  <a:srgbClr val="000000"/>
                </a:solidFill>
              </a:rPr>
              <a:t>&lt;Void&gt; </a:t>
            </a:r>
            <a:r>
              <a:rPr lang="en-US" altLang="en-US" sz="2000">
                <a:solidFill>
                  <a:srgbClr val="000000"/>
                </a:solidFill>
              </a:rPr>
              <a:t>removeHotelById</a:t>
            </a:r>
            <a:r>
              <a:rPr lang="en-US" altLang="en-US" sz="2000" b="1">
                <a:solidFill>
                  <a:srgbClr val="000000"/>
                </a:solidFill>
              </a:rPr>
              <a:t>(</a:t>
            </a:r>
            <a:r>
              <a:rPr lang="en-US" altLang="en-US" sz="2000" b="1">
                <a:solidFill>
                  <a:srgbClr val="646464"/>
                </a:solidFill>
              </a:rPr>
              <a:t>@PathVariable</a:t>
            </a:r>
            <a:r>
              <a:rPr lang="en-US" altLang="en-US" sz="2000" b="1">
                <a:solidFill>
                  <a:srgbClr val="000000"/>
                </a:solidFill>
              </a:rPr>
              <a:t>(</a:t>
            </a:r>
            <a:r>
              <a:rPr lang="en-US" altLang="en-US" sz="2000" b="1">
                <a:solidFill>
                  <a:srgbClr val="2A00FF"/>
                </a:solidFill>
              </a:rPr>
              <a:t>"id"</a:t>
            </a:r>
            <a:r>
              <a:rPr lang="en-US" altLang="en-US" sz="2000" b="1">
                <a:solidFill>
                  <a:srgbClr val="000000"/>
                </a:solidFill>
              </a:rPr>
              <a:t>) </a:t>
            </a:r>
            <a:r>
              <a:rPr lang="en-US" altLang="en-US" sz="2000" b="1">
                <a:solidFill>
                  <a:srgbClr val="7F0055"/>
                </a:solidFill>
              </a:rPr>
              <a:t>int</a:t>
            </a:r>
            <a:r>
              <a:rPr lang="en-US" altLang="en-US" sz="2000" b="1">
                <a:solidFill>
                  <a:srgbClr val="000000"/>
                </a:solidFill>
              </a:rPr>
              <a:t> </a:t>
            </a:r>
            <a:r>
              <a:rPr lang="en-US" altLang="en-US" sz="2000" b="1">
                <a:solidFill>
                  <a:srgbClr val="6A3E3E"/>
                </a:solidFill>
              </a:rPr>
              <a:t>id</a:t>
            </a:r>
            <a:r>
              <a:rPr lang="en-US" altLang="en-US" sz="2000" b="1">
                <a:solidFill>
                  <a:srgbClr val="000000"/>
                </a:solidFill>
              </a:rPr>
              <a:t>){</a:t>
            </a:r>
          </a:p>
          <a:p>
            <a:pPr marL="457200" lvl="1" indent="0">
              <a:buFontTx/>
              <a:buNone/>
            </a:pPr>
            <a:endParaRPr lang="en-IN" altLang="en-US" sz="2000"/>
          </a:p>
          <a:p>
            <a:pPr marL="457200" lvl="1" indent="0">
              <a:buFontTx/>
              <a:buNone/>
            </a:pPr>
            <a:endParaRPr lang="en-IN" altLang="en-US" sz="2000"/>
          </a:p>
          <a:p>
            <a:pPr marL="457200" lvl="1" indent="0">
              <a:buFontTx/>
              <a:buNone/>
            </a:pPr>
            <a:r>
              <a:rPr lang="en-IN" altLang="en-US" sz="2000">
                <a:solidFill>
                  <a:srgbClr val="000000"/>
                </a:solidFill>
              </a:rPr>
              <a:t>  </a:t>
            </a:r>
            <a:r>
              <a:rPr lang="en-IN" altLang="en-US" sz="2000" b="1">
                <a:solidFill>
                  <a:srgbClr val="7F0055"/>
                </a:solidFill>
              </a:rPr>
              <a:t>return</a:t>
            </a:r>
            <a:r>
              <a:rPr lang="en-IN" altLang="en-US" sz="2000" b="1">
                <a:solidFill>
                  <a:srgbClr val="000000"/>
                </a:solidFill>
              </a:rPr>
              <a:t> </a:t>
            </a:r>
            <a:r>
              <a:rPr lang="en-IN" altLang="en-US" sz="2000" b="1">
                <a:solidFill>
                  <a:srgbClr val="0000C0"/>
                </a:solidFill>
              </a:rPr>
              <a:t>client</a:t>
            </a:r>
            <a:r>
              <a:rPr lang="en-IN" altLang="en-US" sz="2000" b="1">
                <a:solidFill>
                  <a:srgbClr val="000000"/>
                </a:solidFill>
              </a:rPr>
              <a:t>.delete()</a:t>
            </a:r>
          </a:p>
          <a:p>
            <a:pPr marL="457200" lvl="1" indent="0">
              <a:buFontTx/>
              <a:buNone/>
            </a:pPr>
            <a:r>
              <a:rPr lang="en-US" altLang="en-US" sz="2000">
                <a:solidFill>
                  <a:srgbClr val="000000"/>
                </a:solidFill>
              </a:rPr>
              <a:t>     .uri(</a:t>
            </a:r>
            <a:r>
              <a:rPr lang="en-US" altLang="en-US" sz="2000">
                <a:solidFill>
                  <a:srgbClr val="2A00FF"/>
                </a:solidFill>
              </a:rPr>
              <a:t>"lb://HOTEL-SERVICE/api/v1/hotels/{id}"</a:t>
            </a:r>
            <a:r>
              <a:rPr lang="en-US" altLang="en-US" sz="2000">
                <a:solidFill>
                  <a:srgbClr val="000000"/>
                </a:solidFill>
              </a:rPr>
              <a:t> ,</a:t>
            </a:r>
            <a:r>
              <a:rPr lang="en-US" altLang="en-US" sz="2000">
                <a:solidFill>
                  <a:srgbClr val="6A3E3E"/>
                </a:solidFill>
              </a:rPr>
              <a:t>id</a:t>
            </a:r>
            <a:r>
              <a:rPr lang="en-US" altLang="en-US" sz="2000">
                <a:solidFill>
                  <a:srgbClr val="000000"/>
                </a:solidFill>
              </a:rPr>
              <a:t>)</a:t>
            </a:r>
          </a:p>
          <a:p>
            <a:pPr marL="457200" lvl="1" indent="0">
              <a:buFontTx/>
              <a:buNone/>
            </a:pPr>
            <a:r>
              <a:rPr lang="en-IN" altLang="en-US" sz="2000">
                <a:solidFill>
                  <a:srgbClr val="000000"/>
                </a:solidFill>
              </a:rPr>
              <a:t>        .retrieve()</a:t>
            </a:r>
          </a:p>
          <a:p>
            <a:pPr marL="457200" lvl="1" indent="0">
              <a:buFontTx/>
              <a:buNone/>
            </a:pPr>
            <a:r>
              <a:rPr lang="en-IN" altLang="en-US" sz="2000">
                <a:solidFill>
                  <a:srgbClr val="000000"/>
                </a:solidFill>
              </a:rPr>
              <a:t>        .bodyToMono(Void.</a:t>
            </a:r>
            <a:r>
              <a:rPr lang="en-IN" altLang="en-US" sz="2000" b="1">
                <a:solidFill>
                  <a:srgbClr val="7F0055"/>
                </a:solidFill>
              </a:rPr>
              <a:t>class</a:t>
            </a:r>
            <a:r>
              <a:rPr lang="en-IN" altLang="en-US" sz="2000" b="1">
                <a:solidFill>
                  <a:srgbClr val="000000"/>
                </a:solidFill>
              </a:rPr>
              <a:t>);</a:t>
            </a:r>
          </a:p>
          <a:p>
            <a:pPr marL="457200" lvl="1" indent="0">
              <a:buFontTx/>
              <a:buNone/>
            </a:pPr>
            <a:r>
              <a:rPr lang="en-IN" altLang="en-US" sz="2000">
                <a:solidFill>
                  <a:srgbClr val="000000"/>
                </a:solidFill>
              </a:rPr>
              <a:t>}     </a:t>
            </a:r>
          </a:p>
          <a:p>
            <a:pPr marL="457200" lvl="1" indent="0">
              <a:buFontTx/>
              <a:buNone/>
            </a:pPr>
            <a:r>
              <a:rPr lang="en-IN" altLang="en-US" sz="2000">
                <a:solidFill>
                  <a:srgbClr val="000000"/>
                </a:solidFill>
              </a:rPr>
              <a:t>}</a:t>
            </a:r>
            <a:endParaRPr lang="en-IN" altLang="en-US" sz="2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C533DD94-8A17-9D4B-3C54-CB1651ACFACA}"/>
              </a:ext>
            </a:extLst>
          </p:cNvPr>
          <p:cNvSpPr>
            <a:spLocks noGrp="1" noChangeArrowheads="1"/>
          </p:cNvSpPr>
          <p:nvPr>
            <p:ph type="title"/>
          </p:nvPr>
        </p:nvSpPr>
        <p:spPr/>
        <p:txBody>
          <a:bodyPr/>
          <a:lstStyle/>
          <a:p>
            <a:r>
              <a:rPr lang="en-US" altLang="en-US"/>
              <a:t>Rest Client - Controller</a:t>
            </a:r>
            <a:endParaRPr lang="en-IN" altLang="en-US"/>
          </a:p>
        </p:txBody>
      </p:sp>
      <p:sp>
        <p:nvSpPr>
          <p:cNvPr id="70658" name="Content Placeholder 2">
            <a:extLst>
              <a:ext uri="{FF2B5EF4-FFF2-40B4-BE49-F238E27FC236}">
                <a16:creationId xmlns:a16="http://schemas.microsoft.com/office/drawing/2014/main" id="{9E058618-5E39-98FA-2F62-619120FA8D6D}"/>
              </a:ext>
            </a:extLst>
          </p:cNvPr>
          <p:cNvSpPr>
            <a:spLocks noGrp="1" noChangeArrowheads="1"/>
          </p:cNvSpPr>
          <p:nvPr>
            <p:ph idx="1"/>
          </p:nvPr>
        </p:nvSpPr>
        <p:spPr/>
        <p:txBody>
          <a:bodyPr/>
          <a:lstStyle/>
          <a:p>
            <a:pPr marL="457200" lvl="1" indent="0">
              <a:lnSpc>
                <a:spcPct val="150000"/>
              </a:lnSpc>
              <a:buFontTx/>
              <a:buNone/>
            </a:pPr>
            <a:r>
              <a:rPr lang="en-IN" altLang="en-US" sz="2000">
                <a:solidFill>
                  <a:srgbClr val="646464"/>
                </a:solidFill>
              </a:rPr>
              <a:t>@GetMapping</a:t>
            </a:r>
            <a:r>
              <a:rPr lang="en-IN" altLang="en-US" sz="2000">
                <a:solidFill>
                  <a:srgbClr val="000000"/>
                </a:solidFill>
              </a:rPr>
              <a:t>(path = </a:t>
            </a:r>
            <a:r>
              <a:rPr lang="en-IN" altLang="en-US" sz="2000">
                <a:solidFill>
                  <a:srgbClr val="2A00FF"/>
                </a:solidFill>
              </a:rPr>
              <a:t>"/hotels/{id}"</a:t>
            </a:r>
            <a:r>
              <a:rPr lang="en-IN" altLang="en-US" sz="2000">
                <a:solidFill>
                  <a:srgbClr val="000000"/>
                </a:solidFill>
              </a:rPr>
              <a:t>)</a:t>
            </a:r>
          </a:p>
          <a:p>
            <a:pPr marL="457200" lvl="1" indent="0">
              <a:lnSpc>
                <a:spcPct val="150000"/>
              </a:lnSpc>
              <a:buFontTx/>
              <a:buNone/>
            </a:pPr>
            <a:r>
              <a:rPr lang="en-US" altLang="en-US" sz="2000" b="1">
                <a:solidFill>
                  <a:srgbClr val="7F0055"/>
                </a:solidFill>
              </a:rPr>
              <a:t>public</a:t>
            </a:r>
            <a:r>
              <a:rPr lang="en-US" altLang="en-US" sz="2000" b="1">
                <a:solidFill>
                  <a:srgbClr val="000000"/>
                </a:solidFill>
              </a:rPr>
              <a:t> Mono&lt;String&gt; getHotelById(</a:t>
            </a:r>
            <a:r>
              <a:rPr lang="en-US" altLang="en-US" sz="2000" b="1">
                <a:solidFill>
                  <a:srgbClr val="646464"/>
                </a:solidFill>
              </a:rPr>
              <a:t>@PathVariable</a:t>
            </a:r>
            <a:r>
              <a:rPr lang="en-US" altLang="en-US" sz="2000" b="1">
                <a:solidFill>
                  <a:srgbClr val="000000"/>
                </a:solidFill>
              </a:rPr>
              <a:t>(</a:t>
            </a:r>
            <a:r>
              <a:rPr lang="en-US" altLang="en-US" sz="2000" b="1">
                <a:solidFill>
                  <a:srgbClr val="2A00FF"/>
                </a:solidFill>
              </a:rPr>
              <a:t>"id"</a:t>
            </a:r>
            <a:r>
              <a:rPr lang="en-US" altLang="en-US" sz="2000" b="1">
                <a:solidFill>
                  <a:srgbClr val="000000"/>
                </a:solidFill>
              </a:rPr>
              <a:t>) </a:t>
            </a:r>
            <a:r>
              <a:rPr lang="en-US" altLang="en-US" sz="2000" b="1">
                <a:solidFill>
                  <a:srgbClr val="7F0055"/>
                </a:solidFill>
              </a:rPr>
              <a:t>int</a:t>
            </a:r>
            <a:r>
              <a:rPr lang="en-US" altLang="en-US" sz="2000" b="1">
                <a:solidFill>
                  <a:srgbClr val="000000"/>
                </a:solidFill>
              </a:rPr>
              <a:t> </a:t>
            </a:r>
            <a:r>
              <a:rPr lang="en-US" altLang="en-US" sz="2000" b="1">
                <a:solidFill>
                  <a:srgbClr val="6A3E3E"/>
                </a:solidFill>
              </a:rPr>
              <a:t>id</a:t>
            </a:r>
            <a:r>
              <a:rPr lang="en-US" altLang="en-US" sz="2000" b="1">
                <a:solidFill>
                  <a:srgbClr val="000000"/>
                </a:solidFill>
              </a:rPr>
              <a:t>){</a:t>
            </a:r>
          </a:p>
          <a:p>
            <a:pPr marL="457200" lvl="1" indent="0">
              <a:lnSpc>
                <a:spcPct val="150000"/>
              </a:lnSpc>
              <a:buFontTx/>
              <a:buNone/>
            </a:pPr>
            <a:endParaRPr lang="en-IN" altLang="en-US" sz="2000"/>
          </a:p>
          <a:p>
            <a:pPr marL="457200" lvl="1" indent="0">
              <a:lnSpc>
                <a:spcPct val="150000"/>
              </a:lnSpc>
              <a:buFontTx/>
              <a:buNone/>
            </a:pPr>
            <a:r>
              <a:rPr lang="en-IN" altLang="en-US" sz="2000" b="1">
                <a:solidFill>
                  <a:srgbClr val="7F0055"/>
                </a:solidFill>
              </a:rPr>
              <a:t>return</a:t>
            </a:r>
            <a:r>
              <a:rPr lang="en-IN" altLang="en-US" sz="2000" b="1">
                <a:solidFill>
                  <a:srgbClr val="000000"/>
                </a:solidFill>
              </a:rPr>
              <a:t> </a:t>
            </a:r>
            <a:r>
              <a:rPr lang="en-IN" altLang="en-US" sz="2000" b="1">
                <a:solidFill>
                  <a:srgbClr val="0000C0"/>
                </a:solidFill>
              </a:rPr>
              <a:t>client</a:t>
            </a:r>
            <a:r>
              <a:rPr lang="en-IN" altLang="en-US" sz="2000" b="1">
                <a:solidFill>
                  <a:srgbClr val="000000"/>
                </a:solidFill>
              </a:rPr>
              <a:t>.get()</a:t>
            </a:r>
          </a:p>
          <a:p>
            <a:pPr marL="457200" lvl="1" indent="0">
              <a:lnSpc>
                <a:spcPct val="150000"/>
              </a:lnSpc>
              <a:buFontTx/>
              <a:buNone/>
            </a:pPr>
            <a:r>
              <a:rPr lang="en-US" altLang="en-US" sz="2000">
                <a:solidFill>
                  <a:srgbClr val="000000"/>
                </a:solidFill>
              </a:rPr>
              <a:t>   .uri(</a:t>
            </a:r>
            <a:r>
              <a:rPr lang="en-US" altLang="en-US" sz="2000" u="sng">
                <a:solidFill>
                  <a:srgbClr val="2A00FF"/>
                </a:solidFill>
              </a:rPr>
              <a:t>"lb://HOTEL-SERVICE/api/v1/hotels/{id}"</a:t>
            </a:r>
            <a:r>
              <a:rPr lang="en-US" altLang="en-US" sz="2000" u="sng">
                <a:solidFill>
                  <a:srgbClr val="000000"/>
                </a:solidFill>
              </a:rPr>
              <a:t>,</a:t>
            </a:r>
            <a:r>
              <a:rPr lang="en-US" altLang="en-US" sz="2000" u="sng">
                <a:solidFill>
                  <a:srgbClr val="6A3E3E"/>
                </a:solidFill>
              </a:rPr>
              <a:t>id</a:t>
            </a:r>
            <a:r>
              <a:rPr lang="en-US" altLang="en-US" sz="2000" u="sng">
                <a:solidFill>
                  <a:srgbClr val="000000"/>
                </a:solidFill>
              </a:rPr>
              <a:t>)</a:t>
            </a:r>
          </a:p>
          <a:p>
            <a:pPr marL="457200" lvl="1" indent="0">
              <a:lnSpc>
                <a:spcPct val="150000"/>
              </a:lnSpc>
              <a:buFontTx/>
              <a:buNone/>
            </a:pPr>
            <a:r>
              <a:rPr lang="en-IN" altLang="en-US" sz="2000">
                <a:solidFill>
                  <a:srgbClr val="000000"/>
                </a:solidFill>
              </a:rPr>
              <a:t>    .retrieve()</a:t>
            </a:r>
          </a:p>
          <a:p>
            <a:pPr marL="457200" lvl="1" indent="0">
              <a:lnSpc>
                <a:spcPct val="150000"/>
              </a:lnSpc>
              <a:buFontTx/>
              <a:buNone/>
            </a:pPr>
            <a:r>
              <a:rPr lang="en-IN" altLang="en-US" sz="2000">
                <a:solidFill>
                  <a:srgbClr val="000000"/>
                </a:solidFill>
              </a:rPr>
              <a:t>     .bodyToMono(String.</a:t>
            </a:r>
            <a:r>
              <a:rPr lang="en-IN" altLang="en-US" sz="2000" b="1">
                <a:solidFill>
                  <a:srgbClr val="7F0055"/>
                </a:solidFill>
              </a:rPr>
              <a:t>class</a:t>
            </a:r>
            <a:r>
              <a:rPr lang="en-IN" altLang="en-US" sz="2000" b="1">
                <a:solidFill>
                  <a:srgbClr val="000000"/>
                </a:solidFill>
              </a:rPr>
              <a:t>);</a:t>
            </a:r>
          </a:p>
          <a:p>
            <a:pPr marL="457200" lvl="1" indent="0">
              <a:lnSpc>
                <a:spcPct val="150000"/>
              </a:lnSpc>
              <a:buFontTx/>
              <a:buNone/>
            </a:pPr>
            <a:r>
              <a:rPr lang="en-IN" altLang="en-US" sz="2000">
                <a:solidFill>
                  <a:srgbClr val="000000"/>
                </a:solidFill>
              </a:rPr>
              <a:t>     </a:t>
            </a:r>
          </a:p>
          <a:p>
            <a:pPr marL="457200" lvl="1" indent="0">
              <a:lnSpc>
                <a:spcPct val="150000"/>
              </a:lnSpc>
              <a:buFontTx/>
              <a:buNone/>
            </a:pPr>
            <a:r>
              <a:rPr lang="en-IN" altLang="en-US" sz="2000">
                <a:solidFill>
                  <a:srgbClr val="000000"/>
                </a:solidFill>
              </a:rPr>
              <a:t>}</a:t>
            </a:r>
          </a:p>
          <a:p>
            <a:pPr marL="457200" lvl="1" indent="0">
              <a:buFontTx/>
              <a:buNone/>
            </a:pPr>
            <a:endParaRPr lang="en-IN" altLang="en-US"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FAC04CA1-FA80-FFBE-EE30-E75A42D0990B}"/>
              </a:ext>
            </a:extLst>
          </p:cNvPr>
          <p:cNvSpPr>
            <a:spLocks noGrp="1" noChangeArrowheads="1"/>
          </p:cNvSpPr>
          <p:nvPr>
            <p:ph type="title"/>
          </p:nvPr>
        </p:nvSpPr>
        <p:spPr/>
        <p:txBody>
          <a:bodyPr/>
          <a:lstStyle/>
          <a:p>
            <a:r>
              <a:rPr lang="en-US" altLang="en-US"/>
              <a:t>Zipwhen</a:t>
            </a:r>
            <a:endParaRPr lang="en-IN" altLang="en-US"/>
          </a:p>
        </p:txBody>
      </p:sp>
      <p:sp>
        <p:nvSpPr>
          <p:cNvPr id="122883" name="Content Placeholder 2">
            <a:extLst>
              <a:ext uri="{FF2B5EF4-FFF2-40B4-BE49-F238E27FC236}">
                <a16:creationId xmlns:a16="http://schemas.microsoft.com/office/drawing/2014/main" id="{6817B37D-6A73-036A-784B-D92B6CAC0E22}"/>
              </a:ext>
            </a:extLst>
          </p:cNvPr>
          <p:cNvSpPr>
            <a:spLocks noGrp="1" noChangeArrowheads="1"/>
          </p:cNvSpPr>
          <p:nvPr>
            <p:ph idx="1"/>
          </p:nvPr>
        </p:nvSpPr>
        <p:spPr/>
        <p:txBody>
          <a:bodyPr/>
          <a:lstStyle/>
          <a:p>
            <a:pPr>
              <a:defRPr/>
            </a:pPr>
            <a:r>
              <a:rPr lang="en-US" altLang="en-US" sz="2000" dirty="0"/>
              <a:t>Used to Wait for the result from first mono, </a:t>
            </a:r>
          </a:p>
          <a:p>
            <a:pPr lvl="1">
              <a:lnSpc>
                <a:spcPct val="150000"/>
              </a:lnSpc>
              <a:defRPr/>
            </a:pPr>
            <a:r>
              <a:rPr lang="en-US" altLang="en-US" sz="1800" dirty="0"/>
              <a:t>uses it to create a second mono provided by </a:t>
            </a:r>
            <a:r>
              <a:rPr lang="en-US" altLang="en-US" sz="1800" dirty="0" err="1"/>
              <a:t>rightGenerator</a:t>
            </a:r>
            <a:endParaRPr lang="en-US" altLang="en-US" sz="1800" dirty="0"/>
          </a:p>
          <a:p>
            <a:pPr lvl="1">
              <a:lnSpc>
                <a:spcPct val="150000"/>
              </a:lnSpc>
              <a:defRPr/>
            </a:pPr>
            <a:r>
              <a:rPr lang="en-US" altLang="en-US" sz="1800" dirty="0"/>
              <a:t>when both sources complete Returns a new combined Mono</a:t>
            </a:r>
            <a:endParaRPr lang="en-IN" altLang="en-US" sz="1800" dirty="0"/>
          </a:p>
          <a:p>
            <a:pPr lvl="1">
              <a:lnSpc>
                <a:spcPct val="150000"/>
              </a:lnSpc>
              <a:defRPr/>
            </a:pPr>
            <a:r>
              <a:rPr lang="en-US" altLang="en-US" sz="1800" dirty="0"/>
              <a:t>Combine both results into defined by the provided combinator function. </a:t>
            </a:r>
          </a:p>
          <a:p>
            <a:pPr>
              <a:defRPr/>
            </a:pPr>
            <a:endParaRPr lang="en-US" altLang="en-US" sz="1400" dirty="0"/>
          </a:p>
          <a:p>
            <a:pPr>
              <a:defRPr/>
            </a:pPr>
            <a:endParaRPr lang="en-US" altLang="en-US" sz="1400" dirty="0"/>
          </a:p>
          <a:p>
            <a:pPr marL="0" indent="0">
              <a:buFontTx/>
              <a:buNone/>
              <a:defRPr/>
            </a:pPr>
            <a:r>
              <a:rPr lang="en-US" altLang="en-US" sz="2000" dirty="0" err="1"/>
              <a:t>Mono.zipWhen</a:t>
            </a:r>
            <a:r>
              <a:rPr lang="en-US" altLang="en-US" sz="2000" dirty="0"/>
              <a:t>(</a:t>
            </a:r>
          </a:p>
          <a:p>
            <a:pPr marL="0" indent="0">
              <a:buFontTx/>
              <a:buNone/>
              <a:defRPr/>
            </a:pPr>
            <a:r>
              <a:rPr lang="en-US" altLang="en-US" sz="2000" dirty="0"/>
              <a:t> Function&lt;First, Mono&lt;? extends Second&gt;&gt; </a:t>
            </a:r>
            <a:r>
              <a:rPr lang="en-US" altLang="en-US" sz="2000" dirty="0" err="1"/>
              <a:t>rightGenerator</a:t>
            </a:r>
            <a:r>
              <a:rPr lang="en-US" altLang="en-US" sz="2000" dirty="0"/>
              <a:t>, </a:t>
            </a:r>
          </a:p>
          <a:p>
            <a:pPr marL="0" indent="0">
              <a:buFontTx/>
              <a:buNone/>
              <a:defRPr/>
            </a:pPr>
            <a:r>
              <a:rPr lang="en-US" altLang="en-US" sz="2000" dirty="0"/>
              <a:t> </a:t>
            </a:r>
            <a:r>
              <a:rPr lang="en-US" altLang="en-US" sz="2000" dirty="0" err="1"/>
              <a:t>BiFunction</a:t>
            </a:r>
            <a:r>
              <a:rPr lang="en-US" altLang="en-US" sz="2000" dirty="0"/>
              <a:t>&lt;</a:t>
            </a:r>
            <a:r>
              <a:rPr lang="en-US" altLang="en-US" sz="2000" dirty="0" err="1"/>
              <a:t>First,Second</a:t>
            </a:r>
            <a:r>
              <a:rPr lang="en-US" altLang="en-US" sz="2000" dirty="0"/>
              <a:t>, </a:t>
            </a:r>
            <a:r>
              <a:rPr lang="en-US" altLang="en-US" sz="2000" dirty="0" err="1"/>
              <a:t>ResponseDto</a:t>
            </a:r>
            <a:r>
              <a:rPr lang="en-US" altLang="en-US" sz="2000" dirty="0"/>
              <a:t>&gt; combinator)</a:t>
            </a:r>
          </a:p>
          <a:p>
            <a:pPr>
              <a:defRPr/>
            </a:pPr>
            <a:endParaRPr lang="en-US" altLang="en-US" sz="1400" dirty="0"/>
          </a:p>
          <a:p>
            <a:pPr>
              <a:defRPr/>
            </a:pPr>
            <a:endParaRPr lang="en-US" altLang="en-US" sz="1400" dirty="0"/>
          </a:p>
          <a:p>
            <a:pPr>
              <a:defRPr/>
            </a:pPr>
            <a:endParaRPr lang="en-US" alt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DF382FFB-E935-B5BA-C487-84CD3FC1DD9E}"/>
              </a:ext>
            </a:extLst>
          </p:cNvPr>
          <p:cNvSpPr>
            <a:spLocks noGrp="1" noChangeArrowheads="1"/>
          </p:cNvSpPr>
          <p:nvPr>
            <p:ph type="title"/>
          </p:nvPr>
        </p:nvSpPr>
        <p:spPr>
          <a:xfrm>
            <a:off x="457200" y="381000"/>
            <a:ext cx="8229600" cy="350838"/>
          </a:xfrm>
        </p:spPr>
        <p:txBody>
          <a:bodyPr/>
          <a:lstStyle/>
          <a:p>
            <a:r>
              <a:rPr lang="en-US" altLang="en-US"/>
              <a:t>ZipWhen</a:t>
            </a:r>
            <a:endParaRPr lang="en-IN" altLang="en-US"/>
          </a:p>
        </p:txBody>
      </p:sp>
      <p:sp>
        <p:nvSpPr>
          <p:cNvPr id="72706" name="Content Placeholder 2">
            <a:extLst>
              <a:ext uri="{FF2B5EF4-FFF2-40B4-BE49-F238E27FC236}">
                <a16:creationId xmlns:a16="http://schemas.microsoft.com/office/drawing/2014/main" id="{FB621353-F2FA-3015-23BA-76F1F45D6BEC}"/>
              </a:ext>
            </a:extLst>
          </p:cNvPr>
          <p:cNvSpPr>
            <a:spLocks noGrp="1" noChangeArrowheads="1"/>
          </p:cNvSpPr>
          <p:nvPr>
            <p:ph idx="1"/>
          </p:nvPr>
        </p:nvSpPr>
        <p:spPr/>
        <p:txBody>
          <a:bodyPr/>
          <a:lstStyle/>
          <a:p>
            <a:pPr marL="457200" lvl="1" indent="0">
              <a:buFontTx/>
              <a:buNone/>
            </a:pPr>
            <a:r>
              <a:rPr lang="en-IN" altLang="en-US">
                <a:solidFill>
                  <a:srgbClr val="646464"/>
                </a:solidFill>
                <a:latin typeface="Consolas" panose="020B0609020204030204" pitchFamily="49" charset="0"/>
              </a:rPr>
              <a:t>@GetMapping</a:t>
            </a:r>
            <a:r>
              <a:rPr lang="en-IN" altLang="en-US">
                <a:solidFill>
                  <a:srgbClr val="000000"/>
                </a:solidFill>
                <a:latin typeface="Consolas" panose="020B0609020204030204" pitchFamily="49" charset="0"/>
              </a:rPr>
              <a:t>(path = </a:t>
            </a:r>
            <a:r>
              <a:rPr lang="en-IN" altLang="en-US">
                <a:solidFill>
                  <a:srgbClr val="2A00FF"/>
                </a:solidFill>
                <a:latin typeface="Consolas" panose="020B0609020204030204" pitchFamily="49" charset="0"/>
              </a:rPr>
              <a:t>"/srch/{id}"</a:t>
            </a:r>
            <a:r>
              <a:rPr lang="en-IN" altLang="en-US">
                <a:solidFill>
                  <a:srgbClr val="000000"/>
                </a:solidFill>
                <a:latin typeface="Consolas" panose="020B0609020204030204" pitchFamily="49" charset="0"/>
              </a:rPr>
              <a:t>)</a:t>
            </a:r>
          </a:p>
          <a:p>
            <a:pPr marL="457200" lvl="1" indent="0">
              <a:buFontTx/>
              <a:buNone/>
            </a:pPr>
            <a:r>
              <a:rPr lang="en-US" altLang="en-US" b="1">
                <a:solidFill>
                  <a:srgbClr val="7F0055"/>
                </a:solidFill>
                <a:latin typeface="Consolas" panose="020B0609020204030204" pitchFamily="49" charset="0"/>
              </a:rPr>
              <a:t>public</a:t>
            </a:r>
            <a:r>
              <a:rPr lang="en-US" altLang="en-US" b="1">
                <a:solidFill>
                  <a:srgbClr val="000000"/>
                </a:solidFill>
                <a:latin typeface="Consolas" panose="020B0609020204030204" pitchFamily="49" charset="0"/>
              </a:rPr>
              <a:t> Mono&lt;ResponseDto&gt; getDetails(</a:t>
            </a:r>
            <a:r>
              <a:rPr lang="en-US" altLang="en-US" b="1">
                <a:solidFill>
                  <a:srgbClr val="646464"/>
                </a:solidFill>
                <a:latin typeface="Consolas" panose="020B0609020204030204" pitchFamily="49" charset="0"/>
              </a:rPr>
              <a:t>@PathVariable</a:t>
            </a:r>
            <a:r>
              <a:rPr lang="en-US" altLang="en-US" b="1">
                <a:solidFill>
                  <a:srgbClr val="000000"/>
                </a:solidFill>
                <a:latin typeface="Consolas" panose="020B0609020204030204" pitchFamily="49" charset="0"/>
              </a:rPr>
              <a:t>(</a:t>
            </a:r>
            <a:r>
              <a:rPr lang="en-US" altLang="en-US" b="1">
                <a:solidFill>
                  <a:srgbClr val="2A00FF"/>
                </a:solidFill>
                <a:latin typeface="Consolas" panose="020B0609020204030204" pitchFamily="49" charset="0"/>
              </a:rPr>
              <a:t>"id"</a:t>
            </a:r>
            <a:r>
              <a:rPr lang="en-US" altLang="en-US" b="1">
                <a:solidFill>
                  <a:srgbClr val="000000"/>
                </a:solidFill>
                <a:latin typeface="Consolas" panose="020B0609020204030204" pitchFamily="49" charset="0"/>
              </a:rPr>
              <a:t>) </a:t>
            </a:r>
            <a:r>
              <a:rPr lang="en-US" altLang="en-US" b="1">
                <a:solidFill>
                  <a:srgbClr val="7F0055"/>
                </a:solidFill>
                <a:latin typeface="Consolas" panose="020B0609020204030204" pitchFamily="49" charset="0"/>
              </a:rPr>
              <a:t>int</a:t>
            </a:r>
            <a:r>
              <a:rPr lang="en-US" altLang="en-US" b="1">
                <a:solidFill>
                  <a:srgbClr val="000000"/>
                </a:solidFill>
                <a:latin typeface="Consolas" panose="020B0609020204030204" pitchFamily="49" charset="0"/>
              </a:rPr>
              <a:t> </a:t>
            </a:r>
            <a:r>
              <a:rPr lang="en-US" altLang="en-US" b="1">
                <a:solidFill>
                  <a:srgbClr val="6A3E3E"/>
                </a:solidFill>
                <a:latin typeface="Consolas" panose="020B0609020204030204" pitchFamily="49" charset="0"/>
              </a:rPr>
              <a:t>id</a:t>
            </a:r>
            <a:r>
              <a:rPr lang="en-US" altLang="en-US" b="1">
                <a:solidFill>
                  <a:srgbClr val="000000"/>
                </a:solidFill>
                <a:latin typeface="Consolas" panose="020B0609020204030204" pitchFamily="49" charset="0"/>
              </a:rPr>
              <a:t>){</a:t>
            </a:r>
          </a:p>
          <a:p>
            <a:pPr marL="457200" lvl="1" indent="0">
              <a:buFontTx/>
              <a:buNone/>
            </a:pPr>
            <a:r>
              <a:rPr lang="en-IN" altLang="en-US" sz="1800" b="1">
                <a:solidFill>
                  <a:srgbClr val="7F0055"/>
                </a:solidFill>
                <a:latin typeface="Consolas" panose="020B0609020204030204" pitchFamily="49" charset="0"/>
              </a:rPr>
              <a:t>return</a:t>
            </a:r>
            <a:r>
              <a:rPr lang="en-IN" altLang="en-US" sz="1800" b="1">
                <a:solidFill>
                  <a:srgbClr val="000000"/>
                </a:solidFill>
                <a:latin typeface="Consolas" panose="020B0609020204030204" pitchFamily="49" charset="0"/>
              </a:rPr>
              <a:t> </a:t>
            </a:r>
            <a:r>
              <a:rPr lang="en-IN" altLang="en-US" sz="1800" b="1">
                <a:solidFill>
                  <a:srgbClr val="0000C0"/>
                </a:solidFill>
                <a:latin typeface="Consolas" panose="020B0609020204030204" pitchFamily="49" charset="0"/>
              </a:rPr>
              <a:t>client</a:t>
            </a:r>
            <a:r>
              <a:rPr lang="en-IN" altLang="en-US" sz="1800" b="1">
                <a:solidFill>
                  <a:srgbClr val="000000"/>
                </a:solidFill>
                <a:latin typeface="Consolas" panose="020B0609020204030204" pitchFamily="49" charset="0"/>
              </a:rPr>
              <a:t>.get()</a:t>
            </a:r>
          </a:p>
          <a:p>
            <a:pPr marL="457200" lvl="1" indent="0">
              <a:buFontTx/>
              <a:buNone/>
            </a:pPr>
            <a:r>
              <a:rPr lang="en-US" altLang="en-US" sz="1800">
                <a:solidFill>
                  <a:srgbClr val="000000"/>
                </a:solidFill>
                <a:latin typeface="Consolas" panose="020B0609020204030204" pitchFamily="49" charset="0"/>
              </a:rPr>
              <a:t> .uri(</a:t>
            </a:r>
            <a:r>
              <a:rPr lang="en-US" altLang="en-US" sz="1800">
                <a:solidFill>
                  <a:srgbClr val="2A00FF"/>
                </a:solidFill>
                <a:latin typeface="Consolas" panose="020B0609020204030204" pitchFamily="49" charset="0"/>
              </a:rPr>
              <a:t>"http://localhost:4042"</a:t>
            </a:r>
            <a:r>
              <a:rPr lang="en-US" altLang="en-US" sz="1800">
                <a:solidFill>
                  <a:srgbClr val="000000"/>
                </a:solidFill>
                <a:latin typeface="Consolas" panose="020B0609020204030204" pitchFamily="49" charset="0"/>
              </a:rPr>
              <a:t>,</a:t>
            </a:r>
            <a:r>
              <a:rPr lang="en-US" altLang="en-US" sz="1800">
                <a:solidFill>
                  <a:srgbClr val="6A3E3E"/>
                </a:solidFill>
                <a:latin typeface="Consolas" panose="020B0609020204030204" pitchFamily="49" charset="0"/>
              </a:rPr>
              <a:t>uriBuilder</a:t>
            </a:r>
            <a:r>
              <a:rPr lang="en-US" altLang="en-US" sz="1800">
                <a:solidFill>
                  <a:srgbClr val="000000"/>
                </a:solidFill>
                <a:latin typeface="Consolas" panose="020B0609020204030204" pitchFamily="49" charset="0"/>
              </a:rPr>
              <a:t> -&gt; </a:t>
            </a:r>
            <a:r>
              <a:rPr lang="en-US" altLang="en-US" sz="1800">
                <a:solidFill>
                  <a:srgbClr val="6A3E3E"/>
                </a:solidFill>
                <a:latin typeface="Consolas" panose="020B0609020204030204" pitchFamily="49" charset="0"/>
              </a:rPr>
              <a:t>uriBuilder</a:t>
            </a:r>
            <a:r>
              <a:rPr lang="en-US" altLang="en-US" sz="1800">
                <a:solidFill>
                  <a:srgbClr val="000000"/>
                </a:solidFill>
                <a:latin typeface="Consolas" panose="020B0609020204030204" pitchFamily="49" charset="0"/>
              </a:rPr>
              <a:t>.path(</a:t>
            </a:r>
            <a:r>
              <a:rPr lang="en-US" altLang="en-US" sz="1800">
                <a:solidFill>
                  <a:srgbClr val="2A00FF"/>
                </a:solidFill>
                <a:latin typeface="Consolas" panose="020B0609020204030204" pitchFamily="49" charset="0"/>
              </a:rPr>
              <a:t>"/api/v1/customers/{id}"</a:t>
            </a:r>
            <a:r>
              <a:rPr lang="en-US" altLang="en-US" sz="1800">
                <a:solidFill>
                  <a:srgbClr val="000000"/>
                </a:solidFill>
                <a:latin typeface="Consolas" panose="020B0609020204030204" pitchFamily="49" charset="0"/>
              </a:rPr>
              <a:t>)</a:t>
            </a:r>
          </a:p>
          <a:p>
            <a:pPr marL="457200" lvl="1" indent="0">
              <a:buFontTx/>
              <a:buNone/>
            </a:pPr>
            <a:r>
              <a:rPr lang="en-IN" altLang="en-US" sz="1800">
                <a:solidFill>
                  <a:srgbClr val="000000"/>
                </a:solidFill>
                <a:latin typeface="Consolas" panose="020B0609020204030204" pitchFamily="49" charset="0"/>
              </a:rPr>
              <a:t> .build(</a:t>
            </a:r>
            <a:r>
              <a:rPr lang="en-IN" altLang="en-US" sz="1800">
                <a:solidFill>
                  <a:srgbClr val="6A3E3E"/>
                </a:solidFill>
                <a:latin typeface="Consolas" panose="020B0609020204030204" pitchFamily="49" charset="0"/>
              </a:rPr>
              <a:t>id</a:t>
            </a:r>
            <a:r>
              <a:rPr lang="en-IN" altLang="en-US" sz="1800">
                <a:solidFill>
                  <a:srgbClr val="000000"/>
                </a:solidFill>
                <a:latin typeface="Consolas" panose="020B0609020204030204" pitchFamily="49" charset="0"/>
              </a:rPr>
              <a:t>)).retrieve().bodyToMono(Customer.</a:t>
            </a:r>
            <a:r>
              <a:rPr lang="en-IN" altLang="en-US" sz="1800" b="1">
                <a:solidFill>
                  <a:srgbClr val="7F0055"/>
                </a:solidFill>
                <a:latin typeface="Consolas" panose="020B0609020204030204" pitchFamily="49" charset="0"/>
              </a:rPr>
              <a:t>class</a:t>
            </a:r>
            <a:r>
              <a:rPr lang="en-IN" altLang="en-US" sz="1800" b="1">
                <a:solidFill>
                  <a:srgbClr val="000000"/>
                </a:solidFill>
                <a:latin typeface="Consolas" panose="020B0609020204030204" pitchFamily="49" charset="0"/>
              </a:rPr>
              <a:t>)</a:t>
            </a:r>
          </a:p>
          <a:p>
            <a:pPr marL="457200" lvl="1" indent="0">
              <a:buFontTx/>
              <a:buNone/>
            </a:pPr>
            <a:r>
              <a:rPr lang="en-IN" altLang="en-US" sz="1800">
                <a:solidFill>
                  <a:srgbClr val="000000"/>
                </a:solidFill>
                <a:latin typeface="Consolas" panose="020B0609020204030204" pitchFamily="49" charset="0"/>
              </a:rPr>
              <a:t>    .zipWhen(</a:t>
            </a:r>
            <a:r>
              <a:rPr lang="en-IN" altLang="en-US" sz="1800">
                <a:solidFill>
                  <a:srgbClr val="6A3E3E"/>
                </a:solidFill>
                <a:latin typeface="Consolas" panose="020B0609020204030204" pitchFamily="49" charset="0"/>
              </a:rPr>
              <a:t>custResp</a:t>
            </a:r>
            <a:r>
              <a:rPr lang="en-IN" altLang="en-US" sz="1800">
                <a:solidFill>
                  <a:srgbClr val="000000"/>
                </a:solidFill>
                <a:latin typeface="Consolas" panose="020B0609020204030204" pitchFamily="49" charset="0"/>
              </a:rPr>
              <a:t> -&gt; </a:t>
            </a:r>
            <a:r>
              <a:rPr lang="en-IN" altLang="en-US" sz="1800">
                <a:solidFill>
                  <a:srgbClr val="0000C0"/>
                </a:solidFill>
                <a:latin typeface="Consolas" panose="020B0609020204030204" pitchFamily="49" charset="0"/>
              </a:rPr>
              <a:t>client</a:t>
            </a:r>
            <a:r>
              <a:rPr lang="en-IN" altLang="en-US" sz="1800">
                <a:solidFill>
                  <a:srgbClr val="000000"/>
                </a:solidFill>
                <a:latin typeface="Consolas" panose="020B0609020204030204" pitchFamily="49" charset="0"/>
              </a:rPr>
              <a:t>.get()</a:t>
            </a:r>
          </a:p>
          <a:p>
            <a:pPr marL="457200" lvl="1" indent="0">
              <a:buFontTx/>
              <a:buNone/>
            </a:pPr>
            <a:r>
              <a:rPr lang="en-US" altLang="en-US" sz="1800">
                <a:solidFill>
                  <a:srgbClr val="000000"/>
                </a:solidFill>
                <a:latin typeface="Consolas" panose="020B0609020204030204" pitchFamily="49" charset="0"/>
              </a:rPr>
              <a:t>      .uri(</a:t>
            </a:r>
            <a:r>
              <a:rPr lang="en-US" altLang="en-US" sz="1800">
                <a:solidFill>
                  <a:srgbClr val="2A00FF"/>
                </a:solidFill>
                <a:latin typeface="Consolas" panose="020B0609020204030204" pitchFamily="49" charset="0"/>
              </a:rPr>
              <a:t>"http://localhost:3042"</a:t>
            </a:r>
            <a:r>
              <a:rPr lang="en-US" altLang="en-US" sz="1800">
                <a:solidFill>
                  <a:srgbClr val="000000"/>
                </a:solidFill>
                <a:latin typeface="Consolas" panose="020B0609020204030204" pitchFamily="49" charset="0"/>
              </a:rPr>
              <a:t> ,</a:t>
            </a:r>
            <a:r>
              <a:rPr lang="en-US" altLang="en-US" sz="1800">
                <a:solidFill>
                  <a:srgbClr val="6A3E3E"/>
                </a:solidFill>
                <a:latin typeface="Consolas" panose="020B0609020204030204" pitchFamily="49" charset="0"/>
              </a:rPr>
              <a:t>uriBuilder</a:t>
            </a:r>
            <a:r>
              <a:rPr lang="en-US" altLang="en-US" sz="1800">
                <a:solidFill>
                  <a:srgbClr val="000000"/>
                </a:solidFill>
                <a:latin typeface="Consolas" panose="020B0609020204030204" pitchFamily="49" charset="0"/>
              </a:rPr>
              <a:t> -&gt; </a:t>
            </a:r>
            <a:r>
              <a:rPr lang="en-US" altLang="en-US" sz="1800">
                <a:solidFill>
                  <a:srgbClr val="6A3E3E"/>
                </a:solidFill>
                <a:latin typeface="Consolas" panose="020B0609020204030204" pitchFamily="49" charset="0"/>
              </a:rPr>
              <a:t>uriBuilder</a:t>
            </a:r>
            <a:r>
              <a:rPr lang="en-US" altLang="en-US" sz="1800">
                <a:solidFill>
                  <a:srgbClr val="000000"/>
                </a:solidFill>
                <a:latin typeface="Consolas" panose="020B0609020204030204" pitchFamily="49" charset="0"/>
              </a:rPr>
              <a:t>.path(</a:t>
            </a:r>
            <a:r>
              <a:rPr lang="en-US" altLang="en-US" sz="1800">
                <a:solidFill>
                  <a:srgbClr val="2A00FF"/>
                </a:solidFill>
                <a:latin typeface="Consolas" panose="020B0609020204030204" pitchFamily="49" charset="0"/>
              </a:rPr>
              <a:t>"/api/v1/payments/{name}"</a:t>
            </a:r>
            <a:r>
              <a:rPr lang="en-US" altLang="en-US" sz="1800">
                <a:solidFill>
                  <a:srgbClr val="000000"/>
                </a:solidFill>
                <a:latin typeface="Consolas" panose="020B0609020204030204" pitchFamily="49" charset="0"/>
              </a:rPr>
              <a:t>)</a:t>
            </a:r>
          </a:p>
          <a:p>
            <a:pPr marL="457200" lvl="1" indent="0">
              <a:buFontTx/>
              <a:buNone/>
            </a:pPr>
            <a:r>
              <a:rPr lang="en-US" altLang="en-US" sz="1800">
                <a:solidFill>
                  <a:srgbClr val="000000"/>
                </a:solidFill>
                <a:latin typeface="Consolas" panose="020B0609020204030204" pitchFamily="49" charset="0"/>
              </a:rPr>
              <a:t>               .build(</a:t>
            </a:r>
            <a:r>
              <a:rPr lang="en-US" altLang="en-US" sz="1800">
                <a:solidFill>
                  <a:srgbClr val="6A3E3E"/>
                </a:solidFill>
                <a:latin typeface="Consolas" panose="020B0609020204030204" pitchFamily="49" charset="0"/>
              </a:rPr>
              <a:t>custResp</a:t>
            </a:r>
            <a:r>
              <a:rPr lang="en-US" altLang="en-US" sz="1800">
                <a:solidFill>
                  <a:srgbClr val="000000"/>
                </a:solidFill>
                <a:latin typeface="Consolas" panose="020B0609020204030204" pitchFamily="49" charset="0"/>
              </a:rPr>
              <a:t>.getCustomerName())).retrieve().bodyToMono(Payment.</a:t>
            </a:r>
            <a:r>
              <a:rPr lang="en-US" altLang="en-US" sz="1800" b="1">
                <a:solidFill>
                  <a:srgbClr val="7F0055"/>
                </a:solidFill>
                <a:latin typeface="Consolas" panose="020B0609020204030204" pitchFamily="49" charset="0"/>
              </a:rPr>
              <a:t>class</a:t>
            </a:r>
            <a:r>
              <a:rPr lang="en-US" altLang="en-US" sz="1800" b="1">
                <a:solidFill>
                  <a:srgbClr val="000000"/>
                </a:solidFill>
                <a:latin typeface="Consolas" panose="020B0609020204030204" pitchFamily="49" charset="0"/>
              </a:rPr>
              <a:t>), </a:t>
            </a:r>
            <a:r>
              <a:rPr lang="en-IN" altLang="en-US" sz="1800">
                <a:solidFill>
                  <a:srgbClr val="000000"/>
                </a:solidFill>
                <a:latin typeface="Consolas" panose="020B0609020204030204" pitchFamily="49" charset="0"/>
              </a:rPr>
              <a:t>(</a:t>
            </a:r>
            <a:r>
              <a:rPr lang="en-IN" altLang="en-US" sz="1800">
                <a:solidFill>
                  <a:srgbClr val="6A3E3E"/>
                </a:solidFill>
                <a:latin typeface="Consolas" panose="020B0609020204030204" pitchFamily="49" charset="0"/>
              </a:rPr>
              <a:t>custResp</a:t>
            </a:r>
            <a:r>
              <a:rPr lang="en-IN" altLang="en-US" sz="1800">
                <a:solidFill>
                  <a:srgbClr val="000000"/>
                </a:solidFill>
                <a:latin typeface="Consolas" panose="020B0609020204030204" pitchFamily="49" charset="0"/>
              </a:rPr>
              <a:t>,</a:t>
            </a:r>
            <a:r>
              <a:rPr lang="en-IN" altLang="en-US" sz="1800">
                <a:solidFill>
                  <a:srgbClr val="6A3E3E"/>
                </a:solidFill>
                <a:latin typeface="Consolas" panose="020B0609020204030204" pitchFamily="49" charset="0"/>
              </a:rPr>
              <a:t>payResp</a:t>
            </a:r>
            <a:r>
              <a:rPr lang="en-IN" altLang="en-US" sz="1800">
                <a:solidFill>
                  <a:srgbClr val="000000"/>
                </a:solidFill>
                <a:latin typeface="Consolas" panose="020B0609020204030204" pitchFamily="49" charset="0"/>
              </a:rPr>
              <a:t>) -&gt; {</a:t>
            </a:r>
          </a:p>
          <a:p>
            <a:pPr marL="457200" lvl="1" indent="0">
              <a:buFontTx/>
              <a:buNone/>
            </a:pPr>
            <a:r>
              <a:rPr lang="en-IN" altLang="en-US" sz="1800">
                <a:solidFill>
                  <a:srgbClr val="000000"/>
                </a:solidFill>
                <a:latin typeface="Consolas" panose="020B0609020204030204" pitchFamily="49" charset="0"/>
              </a:rPr>
              <a:t>               </a:t>
            </a:r>
            <a:r>
              <a:rPr lang="en-IN" altLang="en-US" sz="1800">
                <a:solidFill>
                  <a:srgbClr val="0000C0"/>
                </a:solidFill>
                <a:latin typeface="Consolas" panose="020B0609020204030204" pitchFamily="49" charset="0"/>
              </a:rPr>
              <a:t>dto</a:t>
            </a:r>
            <a:r>
              <a:rPr lang="en-IN" altLang="en-US" sz="1800">
                <a:solidFill>
                  <a:srgbClr val="000000"/>
                </a:solidFill>
                <a:latin typeface="Consolas" panose="020B0609020204030204" pitchFamily="49" charset="0"/>
              </a:rPr>
              <a:t>.setCustomer(</a:t>
            </a:r>
            <a:r>
              <a:rPr lang="en-IN" altLang="en-US" sz="1800">
                <a:solidFill>
                  <a:srgbClr val="6A3E3E"/>
                </a:solidFill>
                <a:latin typeface="Consolas" panose="020B0609020204030204" pitchFamily="49" charset="0"/>
              </a:rPr>
              <a:t>custResp</a:t>
            </a:r>
            <a:r>
              <a:rPr lang="en-IN" altLang="en-US" sz="1800">
                <a:solidFill>
                  <a:srgbClr val="000000"/>
                </a:solidFill>
                <a:latin typeface="Consolas" panose="020B0609020204030204" pitchFamily="49" charset="0"/>
              </a:rPr>
              <a:t>);</a:t>
            </a:r>
          </a:p>
          <a:p>
            <a:pPr marL="457200" lvl="1" indent="0">
              <a:buFontTx/>
              <a:buNone/>
            </a:pPr>
            <a:r>
              <a:rPr lang="en-IN" altLang="en-US" sz="1800">
                <a:solidFill>
                  <a:srgbClr val="000000"/>
                </a:solidFill>
                <a:latin typeface="Consolas" panose="020B0609020204030204" pitchFamily="49" charset="0"/>
              </a:rPr>
              <a:t>               </a:t>
            </a:r>
            <a:r>
              <a:rPr lang="en-IN" altLang="en-US" sz="1800">
                <a:solidFill>
                  <a:srgbClr val="0000C0"/>
                </a:solidFill>
                <a:latin typeface="Consolas" panose="020B0609020204030204" pitchFamily="49" charset="0"/>
              </a:rPr>
              <a:t>dto</a:t>
            </a:r>
            <a:r>
              <a:rPr lang="en-IN" altLang="en-US" sz="1800">
                <a:solidFill>
                  <a:srgbClr val="000000"/>
                </a:solidFill>
                <a:latin typeface="Consolas" panose="020B0609020204030204" pitchFamily="49" charset="0"/>
              </a:rPr>
              <a:t>.setPayment(</a:t>
            </a:r>
            <a:r>
              <a:rPr lang="en-IN" altLang="en-US" sz="1800">
                <a:solidFill>
                  <a:srgbClr val="6A3E3E"/>
                </a:solidFill>
                <a:latin typeface="Consolas" panose="020B0609020204030204" pitchFamily="49" charset="0"/>
              </a:rPr>
              <a:t>payResp</a:t>
            </a:r>
            <a:r>
              <a:rPr lang="en-IN" altLang="en-US" sz="1800">
                <a:solidFill>
                  <a:srgbClr val="000000"/>
                </a:solidFill>
                <a:latin typeface="Consolas" panose="020B0609020204030204" pitchFamily="49" charset="0"/>
              </a:rPr>
              <a:t>);</a:t>
            </a:r>
          </a:p>
          <a:p>
            <a:pPr marL="457200" lvl="1" indent="0">
              <a:buFontTx/>
              <a:buNone/>
            </a:pPr>
            <a:r>
              <a:rPr lang="en-IN" altLang="en-US" sz="1800">
                <a:solidFill>
                  <a:srgbClr val="000000"/>
                </a:solidFill>
                <a:latin typeface="Consolas" panose="020B0609020204030204" pitchFamily="49" charset="0"/>
              </a:rPr>
              <a:t>               </a:t>
            </a:r>
            <a:r>
              <a:rPr lang="en-IN" altLang="en-US" sz="1800" b="1">
                <a:solidFill>
                  <a:srgbClr val="7F0055"/>
                </a:solidFill>
                <a:latin typeface="Consolas" panose="020B0609020204030204" pitchFamily="49" charset="0"/>
              </a:rPr>
              <a:t>return</a:t>
            </a:r>
            <a:r>
              <a:rPr lang="en-IN" altLang="en-US" sz="1800" b="1">
                <a:solidFill>
                  <a:srgbClr val="000000"/>
                </a:solidFill>
                <a:latin typeface="Consolas" panose="020B0609020204030204" pitchFamily="49" charset="0"/>
              </a:rPr>
              <a:t> </a:t>
            </a:r>
            <a:r>
              <a:rPr lang="en-IN" altLang="en-US" sz="1800" b="1">
                <a:solidFill>
                  <a:srgbClr val="0000C0"/>
                </a:solidFill>
                <a:latin typeface="Consolas" panose="020B0609020204030204" pitchFamily="49" charset="0"/>
              </a:rPr>
              <a:t>dto</a:t>
            </a:r>
            <a:r>
              <a:rPr lang="en-IN" altLang="en-US" sz="1800" b="1">
                <a:solidFill>
                  <a:srgbClr val="000000"/>
                </a:solidFill>
                <a:latin typeface="Consolas" panose="020B0609020204030204" pitchFamily="49" charset="0"/>
              </a:rPr>
              <a:t>;</a:t>
            </a:r>
          </a:p>
          <a:p>
            <a:pPr marL="457200" lvl="1" indent="0">
              <a:buFontTx/>
              <a:buNone/>
            </a:pPr>
            <a:r>
              <a:rPr lang="en-IN" altLang="en-US" sz="1800">
                <a:solidFill>
                  <a:srgbClr val="000000"/>
                </a:solidFill>
                <a:latin typeface="Consolas" panose="020B0609020204030204" pitchFamily="49" charset="0"/>
              </a:rPr>
              <a:t>});}</a:t>
            </a:r>
          </a:p>
          <a:p>
            <a:endParaRPr lang="en-I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27681D-BE8F-29B0-50D7-9AF4F9192EB9}"/>
              </a:ext>
            </a:extLst>
          </p:cNvPr>
          <p:cNvSpPr>
            <a:spLocks noGrp="1"/>
          </p:cNvSpPr>
          <p:nvPr>
            <p:ph type="title"/>
          </p:nvPr>
        </p:nvSpPr>
        <p:spPr>
          <a:xfrm>
            <a:off x="722313" y="4406900"/>
            <a:ext cx="7772400" cy="1362075"/>
          </a:xfrm>
        </p:spPr>
        <p:txBody>
          <a:bodyPr/>
          <a:lstStyle/>
          <a:p>
            <a:pPr>
              <a:defRPr/>
            </a:pPr>
            <a:r>
              <a:rPr lang="en-US" dirty="0"/>
              <a:t>Spring cloud circuit breaker</a:t>
            </a:r>
            <a:endParaRPr lang="en-IN" dirty="0"/>
          </a:p>
        </p:txBody>
      </p:sp>
      <p:sp>
        <p:nvSpPr>
          <p:cNvPr id="73730" name="Text Placeholder 4">
            <a:extLst>
              <a:ext uri="{FF2B5EF4-FFF2-40B4-BE49-F238E27FC236}">
                <a16:creationId xmlns:a16="http://schemas.microsoft.com/office/drawing/2014/main" id="{4BCD44D9-D205-A8A2-2DDB-13A6CBAFABC0}"/>
              </a:ext>
            </a:extLst>
          </p:cNvPr>
          <p:cNvSpPr>
            <a:spLocks noGrp="1" noChangeArrowheads="1"/>
          </p:cNvSpPr>
          <p:nvPr>
            <p:ph type="body" idx="1"/>
          </p:nvPr>
        </p:nvSpPr>
        <p:spPr/>
        <p:txBody>
          <a:bodyPr/>
          <a:lstStyle/>
          <a:p>
            <a:endParaRPr lang="en-I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3">
            <a:extLst>
              <a:ext uri="{FF2B5EF4-FFF2-40B4-BE49-F238E27FC236}">
                <a16:creationId xmlns:a16="http://schemas.microsoft.com/office/drawing/2014/main" id="{B7FF64DB-5D37-C5EF-5CCB-8328B2B6D9A6}"/>
              </a:ext>
            </a:extLst>
          </p:cNvPr>
          <p:cNvSpPr>
            <a:spLocks noGrp="1" noChangeArrowheads="1"/>
          </p:cNvSpPr>
          <p:nvPr>
            <p:ph type="title"/>
          </p:nvPr>
        </p:nvSpPr>
        <p:spPr/>
        <p:txBody>
          <a:bodyPr/>
          <a:lstStyle/>
          <a:p>
            <a:r>
              <a:rPr lang="en-US" altLang="en-US"/>
              <a:t>Circuit Breaker</a:t>
            </a:r>
            <a:endParaRPr lang="en-IN" altLang="en-US"/>
          </a:p>
        </p:txBody>
      </p:sp>
      <p:sp>
        <p:nvSpPr>
          <p:cNvPr id="74754" name="Content Placeholder 4">
            <a:extLst>
              <a:ext uri="{FF2B5EF4-FFF2-40B4-BE49-F238E27FC236}">
                <a16:creationId xmlns:a16="http://schemas.microsoft.com/office/drawing/2014/main" id="{D959C6BA-155D-E867-6738-43411D264B60}"/>
              </a:ext>
            </a:extLst>
          </p:cNvPr>
          <p:cNvSpPr>
            <a:spLocks noGrp="1" noChangeArrowheads="1"/>
          </p:cNvSpPr>
          <p:nvPr>
            <p:ph idx="1"/>
          </p:nvPr>
        </p:nvSpPr>
        <p:spPr/>
        <p:txBody>
          <a:bodyPr/>
          <a:lstStyle/>
          <a:p>
            <a:r>
              <a:rPr lang="en-US" altLang="en-US" sz="2000" dirty="0"/>
              <a:t>Used to stop the communication to the application that may slow down or fail </a:t>
            </a:r>
          </a:p>
          <a:p>
            <a:pPr lvl="1"/>
            <a:r>
              <a:rPr lang="en-US" altLang="en-US" sz="2000" dirty="0"/>
              <a:t>It interrupts the current flow after a fault is detected</a:t>
            </a:r>
          </a:p>
          <a:p>
            <a:pPr lvl="1"/>
            <a:r>
              <a:rPr lang="en-US" altLang="en-US" sz="2000" dirty="0"/>
              <a:t>When it is is reset (manually or automatically), it can resume its normal operation.</a:t>
            </a:r>
          </a:p>
          <a:p>
            <a:endParaRPr lang="en-US" altLang="en-US" sz="2000" dirty="0"/>
          </a:p>
          <a:p>
            <a:r>
              <a:rPr lang="en-US" altLang="en-US" sz="2000" dirty="0"/>
              <a:t>Services will fail fast and have some fallback functionality.</a:t>
            </a:r>
          </a:p>
          <a:p>
            <a:endParaRPr lang="en-US" altLang="en-US" sz="2000" dirty="0"/>
          </a:p>
          <a:p>
            <a:r>
              <a:rPr lang="en-US" altLang="en-US" sz="2000" b="1" i="1" dirty="0"/>
              <a:t>It prevents the failure from cascading and giving the failing service time to recover.</a:t>
            </a:r>
          </a:p>
          <a:p>
            <a:endParaRPr lang="en-US" altLang="en-US" sz="2000" dirty="0"/>
          </a:p>
          <a:p>
            <a:endParaRPr lang="en-IN" alt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6A28A960-79B4-E9FC-D869-9F2CDCE830B1}"/>
              </a:ext>
            </a:extLst>
          </p:cNvPr>
          <p:cNvSpPr>
            <a:spLocks noGrp="1" noChangeArrowheads="1"/>
          </p:cNvSpPr>
          <p:nvPr>
            <p:ph type="title"/>
          </p:nvPr>
        </p:nvSpPr>
        <p:spPr/>
        <p:txBody>
          <a:bodyPr/>
          <a:lstStyle/>
          <a:p>
            <a:r>
              <a:rPr lang="en-US" altLang="en-US"/>
              <a:t>Spring Cloud Circuit Breaker</a:t>
            </a:r>
            <a:endParaRPr lang="en-IN" altLang="en-US"/>
          </a:p>
        </p:txBody>
      </p:sp>
      <p:sp>
        <p:nvSpPr>
          <p:cNvPr id="75778" name="Content Placeholder 2">
            <a:extLst>
              <a:ext uri="{FF2B5EF4-FFF2-40B4-BE49-F238E27FC236}">
                <a16:creationId xmlns:a16="http://schemas.microsoft.com/office/drawing/2014/main" id="{3ACFD22C-2184-F3D4-3F95-9BA2251B62BD}"/>
              </a:ext>
            </a:extLst>
          </p:cNvPr>
          <p:cNvSpPr>
            <a:spLocks noGrp="1" noChangeArrowheads="1"/>
          </p:cNvSpPr>
          <p:nvPr>
            <p:ph idx="1"/>
          </p:nvPr>
        </p:nvSpPr>
        <p:spPr/>
        <p:txBody>
          <a:bodyPr/>
          <a:lstStyle/>
          <a:p>
            <a:pPr>
              <a:lnSpc>
                <a:spcPct val="150000"/>
              </a:lnSpc>
            </a:pPr>
            <a:r>
              <a:rPr lang="en-US" altLang="en-US" sz="2000"/>
              <a:t>Spring Cloud Circuit Breaker </a:t>
            </a:r>
          </a:p>
          <a:p>
            <a:pPr lvl="1">
              <a:lnSpc>
                <a:spcPct val="150000"/>
              </a:lnSpc>
            </a:pPr>
            <a:r>
              <a:rPr lang="en-US" altLang="en-US" sz="2000"/>
              <a:t>An abstraction API for adding circuit breakers to your application. </a:t>
            </a:r>
          </a:p>
          <a:p>
            <a:pPr lvl="1">
              <a:lnSpc>
                <a:spcPct val="150000"/>
              </a:lnSpc>
            </a:pPr>
            <a:r>
              <a:rPr lang="en-US" altLang="en-US" sz="2000"/>
              <a:t>There are few  supported implementations:</a:t>
            </a:r>
          </a:p>
          <a:p>
            <a:pPr>
              <a:lnSpc>
                <a:spcPct val="150000"/>
              </a:lnSpc>
            </a:pPr>
            <a:r>
              <a:rPr lang="en-US" altLang="en-US" sz="2000"/>
              <a:t>Resilience4J</a:t>
            </a:r>
          </a:p>
          <a:p>
            <a:pPr>
              <a:lnSpc>
                <a:spcPct val="150000"/>
              </a:lnSpc>
            </a:pPr>
            <a:r>
              <a:rPr lang="en-US" altLang="en-US" sz="2000"/>
              <a:t>Resilience4J Reactive</a:t>
            </a:r>
          </a:p>
          <a:p>
            <a:pPr>
              <a:lnSpc>
                <a:spcPct val="150000"/>
              </a:lnSpc>
            </a:pPr>
            <a:r>
              <a:rPr lang="en-US" altLang="en-US" sz="2000"/>
              <a:t>Spring Retry</a:t>
            </a:r>
          </a:p>
          <a:p>
            <a:pPr>
              <a:lnSpc>
                <a:spcPct val="150000"/>
              </a:lnSpc>
            </a:pPr>
            <a:endParaRPr lang="en-IN" altLang="en-US" sz="2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4277DA16-7EC2-32A8-11BC-BB20BDB20F14}"/>
              </a:ext>
            </a:extLst>
          </p:cNvPr>
          <p:cNvSpPr>
            <a:spLocks noGrp="1" noChangeArrowheads="1"/>
          </p:cNvSpPr>
          <p:nvPr>
            <p:ph type="title"/>
          </p:nvPr>
        </p:nvSpPr>
        <p:spPr/>
        <p:txBody>
          <a:bodyPr/>
          <a:lstStyle/>
          <a:p>
            <a:r>
              <a:rPr lang="en-US" altLang="en-US">
                <a:solidFill>
                  <a:schemeClr val="tx1"/>
                </a:solidFill>
                <a:latin typeface="Cambria" panose="02040503050406030204" pitchFamily="18" charset="0"/>
              </a:rPr>
              <a:t>Resilience4j</a:t>
            </a:r>
            <a:endParaRPr lang="en-IN" altLang="en-US">
              <a:solidFill>
                <a:schemeClr val="tx1"/>
              </a:solidFill>
            </a:endParaRPr>
          </a:p>
        </p:txBody>
      </p:sp>
      <p:sp>
        <p:nvSpPr>
          <p:cNvPr id="76802" name="Content Placeholder 2">
            <a:extLst>
              <a:ext uri="{FF2B5EF4-FFF2-40B4-BE49-F238E27FC236}">
                <a16:creationId xmlns:a16="http://schemas.microsoft.com/office/drawing/2014/main" id="{4543B8FA-8506-C131-3FC7-4D51809A98B2}"/>
              </a:ext>
            </a:extLst>
          </p:cNvPr>
          <p:cNvSpPr>
            <a:spLocks noGrp="1" noChangeArrowheads="1"/>
          </p:cNvSpPr>
          <p:nvPr>
            <p:ph idx="1"/>
          </p:nvPr>
        </p:nvSpPr>
        <p:spPr/>
        <p:txBody>
          <a:bodyPr/>
          <a:lstStyle/>
          <a:p>
            <a:pPr algn="just"/>
            <a:r>
              <a:rPr lang="en-US" altLang="en-US" sz="2000">
                <a:solidFill>
                  <a:srgbClr val="222635"/>
                </a:solidFill>
              </a:rPr>
              <a:t>Fault tolerance library designed for Java 8 and functional programming. </a:t>
            </a:r>
          </a:p>
          <a:p>
            <a:pPr algn="just"/>
            <a:r>
              <a:rPr lang="en-US" altLang="en-US" sz="2000">
                <a:solidFill>
                  <a:srgbClr val="222635"/>
                </a:solidFill>
              </a:rPr>
              <a:t>It is lightweight, modular and fast. </a:t>
            </a:r>
          </a:p>
          <a:p>
            <a:pPr lvl="1"/>
            <a:r>
              <a:rPr lang="en-US" altLang="en-US" sz="2000">
                <a:solidFill>
                  <a:srgbClr val="222635"/>
                </a:solidFill>
              </a:rPr>
              <a:t>resilience4j-circuitbreaker</a:t>
            </a:r>
          </a:p>
          <a:p>
            <a:pPr lvl="1">
              <a:buFont typeface="Arial" panose="020B0604020202020204" pitchFamily="34" charset="0"/>
              <a:buChar char="•"/>
            </a:pPr>
            <a:r>
              <a:rPr lang="en-US" altLang="en-US" sz="2000">
                <a:solidFill>
                  <a:srgbClr val="222635"/>
                </a:solidFill>
              </a:rPr>
              <a:t>resilience4j-ratelimiter</a:t>
            </a:r>
          </a:p>
          <a:p>
            <a:pPr lvl="1">
              <a:buFont typeface="Arial" panose="020B0604020202020204" pitchFamily="34" charset="0"/>
              <a:buChar char="•"/>
            </a:pPr>
            <a:r>
              <a:rPr lang="en-US" altLang="en-US" sz="2000">
                <a:solidFill>
                  <a:srgbClr val="222635"/>
                </a:solidFill>
              </a:rPr>
              <a:t>resilience4j-bulkhead</a:t>
            </a:r>
          </a:p>
          <a:p>
            <a:pPr lvl="1">
              <a:buFont typeface="Arial" panose="020B0604020202020204" pitchFamily="34" charset="0"/>
              <a:buChar char="•"/>
            </a:pPr>
            <a:r>
              <a:rPr lang="en-US" altLang="en-US" sz="2000">
                <a:solidFill>
                  <a:srgbClr val="222635"/>
                </a:solidFill>
              </a:rPr>
              <a:t>resilience4j-retry</a:t>
            </a:r>
          </a:p>
          <a:p>
            <a:pPr lvl="1">
              <a:buFont typeface="Arial" panose="020B0604020202020204" pitchFamily="34" charset="0"/>
              <a:buChar char="•"/>
            </a:pPr>
            <a:r>
              <a:rPr lang="en-US" altLang="en-US" sz="2000">
                <a:solidFill>
                  <a:srgbClr val="222635"/>
                </a:solidFill>
              </a:rPr>
              <a:t>resilience4j-cache</a:t>
            </a:r>
          </a:p>
          <a:p>
            <a:pPr algn="just"/>
            <a:endParaRPr lang="en-US" altLang="en-US" sz="2000" b="1">
              <a:solidFill>
                <a:srgbClr val="222635"/>
              </a:solidFill>
            </a:endParaRPr>
          </a:p>
          <a:p>
            <a:pPr algn="just"/>
            <a:r>
              <a:rPr lang="en-US" altLang="en-US" sz="2000" b="1">
                <a:solidFill>
                  <a:srgbClr val="222635"/>
                </a:solidFill>
              </a:rPr>
              <a:t>Fault Tolerance</a:t>
            </a:r>
          </a:p>
          <a:p>
            <a:pPr lvl="1" algn="just"/>
            <a:r>
              <a:rPr lang="en-US" altLang="en-US" sz="2000">
                <a:solidFill>
                  <a:srgbClr val="222635"/>
                </a:solidFill>
              </a:rPr>
              <a:t>The ability of a system to operate properly in case of the failure of some of its components. </a:t>
            </a:r>
          </a:p>
          <a:p>
            <a:pPr lvl="1" algn="just"/>
            <a:r>
              <a:rPr lang="en-US" altLang="en-US" sz="2000">
                <a:solidFill>
                  <a:srgbClr val="222635"/>
                </a:solidFill>
              </a:rPr>
              <a:t>Done at all levels and also in subsystems as a part of the design. </a:t>
            </a:r>
          </a:p>
          <a:p>
            <a:pPr algn="just"/>
            <a:endParaRPr lang="en-US" altLang="en-US" sz="2000">
              <a:solidFill>
                <a:srgbClr val="222635"/>
              </a:solidFill>
            </a:endParaRPr>
          </a:p>
          <a:p>
            <a:pPr algn="just"/>
            <a:endParaRPr lang="en-US" altLang="en-US" sz="2000">
              <a:solidFill>
                <a:srgbClr val="222635"/>
              </a:solidFill>
            </a:endParaRPr>
          </a:p>
          <a:p>
            <a:pPr algn="just"/>
            <a:endParaRPr lang="en-US" altLang="en-US" sz="2000">
              <a:solidFill>
                <a:srgbClr val="222635"/>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983BFFAA-56B2-4028-AB86-06102713F10F}"/>
              </a:ext>
            </a:extLst>
          </p:cNvPr>
          <p:cNvSpPr>
            <a:spLocks noGrp="1" noChangeArrowheads="1"/>
          </p:cNvSpPr>
          <p:nvPr>
            <p:ph type="title"/>
          </p:nvPr>
        </p:nvSpPr>
        <p:spPr/>
        <p:txBody>
          <a:bodyPr/>
          <a:lstStyle/>
          <a:p>
            <a:r>
              <a:rPr lang="en-US" altLang="en-US"/>
              <a:t>Circuit Breaker</a:t>
            </a:r>
            <a:endParaRPr lang="en-IN" altLang="en-US"/>
          </a:p>
        </p:txBody>
      </p:sp>
      <p:sp>
        <p:nvSpPr>
          <p:cNvPr id="77826" name="Content Placeholder 2">
            <a:extLst>
              <a:ext uri="{FF2B5EF4-FFF2-40B4-BE49-F238E27FC236}">
                <a16:creationId xmlns:a16="http://schemas.microsoft.com/office/drawing/2014/main" id="{641281DA-B204-D192-8338-F3CE4DE3EB54}"/>
              </a:ext>
            </a:extLst>
          </p:cNvPr>
          <p:cNvSpPr>
            <a:spLocks noGrp="1" noChangeArrowheads="1"/>
          </p:cNvSpPr>
          <p:nvPr>
            <p:ph idx="1"/>
          </p:nvPr>
        </p:nvSpPr>
        <p:spPr/>
        <p:txBody>
          <a:bodyPr/>
          <a:lstStyle/>
          <a:p>
            <a:pPr>
              <a:lnSpc>
                <a:spcPct val="150000"/>
              </a:lnSpc>
            </a:pPr>
            <a:r>
              <a:rPr lang="en-US" altLang="en-US" sz="2000">
                <a:solidFill>
                  <a:srgbClr val="292929"/>
                </a:solidFill>
              </a:rPr>
              <a:t>Wrap a protected function call in a circuit breaker object</a:t>
            </a:r>
          </a:p>
          <a:p>
            <a:pPr lvl="1">
              <a:lnSpc>
                <a:spcPct val="150000"/>
              </a:lnSpc>
            </a:pPr>
            <a:r>
              <a:rPr lang="en-US" altLang="en-US" sz="1800">
                <a:solidFill>
                  <a:srgbClr val="292929"/>
                </a:solidFill>
              </a:rPr>
              <a:t>Circuit Breaker will monitor for failures.</a:t>
            </a:r>
          </a:p>
          <a:p>
            <a:pPr>
              <a:lnSpc>
                <a:spcPct val="150000"/>
              </a:lnSpc>
            </a:pPr>
            <a:endParaRPr lang="en-US" altLang="en-US" sz="2000">
              <a:solidFill>
                <a:srgbClr val="292929"/>
              </a:solidFill>
            </a:endParaRPr>
          </a:p>
          <a:p>
            <a:pPr>
              <a:lnSpc>
                <a:spcPct val="150000"/>
              </a:lnSpc>
            </a:pPr>
            <a:r>
              <a:rPr lang="en-US" altLang="en-US" sz="2000">
                <a:solidFill>
                  <a:srgbClr val="292929"/>
                </a:solidFill>
              </a:rPr>
              <a:t> Once the failures reach a certain threshold, the circuit breaker trips, </a:t>
            </a:r>
          </a:p>
          <a:p>
            <a:pPr>
              <a:lnSpc>
                <a:spcPct val="150000"/>
              </a:lnSpc>
            </a:pPr>
            <a:endParaRPr lang="en-US" altLang="en-US" sz="2000">
              <a:solidFill>
                <a:srgbClr val="292929"/>
              </a:solidFill>
            </a:endParaRPr>
          </a:p>
          <a:p>
            <a:pPr>
              <a:lnSpc>
                <a:spcPct val="150000"/>
              </a:lnSpc>
            </a:pPr>
            <a:r>
              <a:rPr lang="en-US" altLang="en-US" sz="2000" b="1" i="1">
                <a:solidFill>
                  <a:srgbClr val="292929"/>
                </a:solidFill>
              </a:rPr>
              <a:t>All further calls to the circuit breaker return with an error, without the protected call being made at all. </a:t>
            </a:r>
            <a:endParaRPr lang="en-IN" altLang="en-US" sz="2000" b="1" i="1"/>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a:extLst>
              <a:ext uri="{FF2B5EF4-FFF2-40B4-BE49-F238E27FC236}">
                <a16:creationId xmlns:a16="http://schemas.microsoft.com/office/drawing/2014/main" id="{C020021C-EA18-A5C4-8254-DF02B10F951D}"/>
              </a:ext>
            </a:extLst>
          </p:cNvPr>
          <p:cNvSpPr>
            <a:spLocks noGrp="1" noChangeArrowheads="1"/>
          </p:cNvSpPr>
          <p:nvPr>
            <p:ph type="title"/>
          </p:nvPr>
        </p:nvSpPr>
        <p:spPr/>
        <p:txBody>
          <a:bodyPr/>
          <a:lstStyle/>
          <a:p>
            <a:r>
              <a:rPr lang="en-US" altLang="en-US"/>
              <a:t>Need For Circuit Breaker</a:t>
            </a:r>
            <a:endParaRPr lang="en-IN" altLang="en-US"/>
          </a:p>
        </p:txBody>
      </p:sp>
      <p:sp>
        <p:nvSpPr>
          <p:cNvPr id="78850" name="Content Placeholder 2">
            <a:extLst>
              <a:ext uri="{FF2B5EF4-FFF2-40B4-BE49-F238E27FC236}">
                <a16:creationId xmlns:a16="http://schemas.microsoft.com/office/drawing/2014/main" id="{9091873E-974C-FD7F-F6FC-14E803A255D5}"/>
              </a:ext>
            </a:extLst>
          </p:cNvPr>
          <p:cNvSpPr>
            <a:spLocks noGrp="1" noChangeArrowheads="1"/>
          </p:cNvSpPr>
          <p:nvPr>
            <p:ph idx="1"/>
          </p:nvPr>
        </p:nvSpPr>
        <p:spPr/>
        <p:txBody>
          <a:bodyPr/>
          <a:lstStyle/>
          <a:p>
            <a:r>
              <a:rPr lang="en-US" altLang="en-US" sz="1800"/>
              <a:t>In case we have serviceB down, serviceA should still try to recover from this and try to do one of the followings:</a:t>
            </a:r>
          </a:p>
          <a:p>
            <a:r>
              <a:rPr lang="en-US" altLang="en-US" sz="1800" b="1"/>
              <a:t>Custom fallback: </a:t>
            </a:r>
          </a:p>
          <a:p>
            <a:pPr lvl="1"/>
            <a:r>
              <a:rPr lang="en-US" altLang="en-US" sz="1800"/>
              <a:t>Try to get the same data from some other source. If not possible, use its own cache value.</a:t>
            </a:r>
          </a:p>
          <a:p>
            <a:r>
              <a:rPr lang="en-US" altLang="en-US" sz="1800" b="1"/>
              <a:t>Fail fast: </a:t>
            </a:r>
          </a:p>
          <a:p>
            <a:pPr lvl="1"/>
            <a:r>
              <a:rPr lang="en-US" altLang="en-US" sz="1800"/>
              <a:t>If serviceA knows that serviceB is down, there is no point waiting for the timeout and consuming its own resources. It should return ASAP “knowing” that serviceB is down</a:t>
            </a:r>
          </a:p>
          <a:p>
            <a:r>
              <a:rPr lang="en-US" altLang="en-US" sz="1800" b="1"/>
              <a:t>Don’t crash: </a:t>
            </a:r>
          </a:p>
          <a:p>
            <a:pPr lvl="1"/>
            <a:r>
              <a:rPr lang="en-US" altLang="en-US" sz="1800"/>
              <a:t>As we saw in this case, serviceA should not have crashed.</a:t>
            </a:r>
          </a:p>
          <a:p>
            <a:r>
              <a:rPr lang="en-US" altLang="en-US" sz="1800" b="1"/>
              <a:t>Heal automatic: </a:t>
            </a:r>
          </a:p>
          <a:p>
            <a:pPr lvl="1"/>
            <a:r>
              <a:rPr lang="en-US" altLang="en-US" sz="1800"/>
              <a:t>Periodically check if serviceB is working again.</a:t>
            </a:r>
          </a:p>
          <a:p>
            <a:r>
              <a:rPr lang="en-US" altLang="en-US" sz="1800" b="1"/>
              <a:t>Other APIs should work: </a:t>
            </a:r>
          </a:p>
          <a:p>
            <a:pPr lvl="1"/>
            <a:r>
              <a:rPr lang="en-US" altLang="en-US" sz="1800"/>
              <a:t>All other APIs should continue to work.</a:t>
            </a:r>
          </a:p>
          <a:p>
            <a:endParaRPr lang="en-IN" altLang="en-US" sz="1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9F2B2865-2D33-F7D2-E060-E94DF7355A37}"/>
              </a:ext>
            </a:extLst>
          </p:cNvPr>
          <p:cNvSpPr>
            <a:spLocks noGrp="1" noChangeArrowheads="1"/>
          </p:cNvSpPr>
          <p:nvPr>
            <p:ph type="title"/>
          </p:nvPr>
        </p:nvSpPr>
        <p:spPr/>
        <p:txBody>
          <a:bodyPr/>
          <a:lstStyle/>
          <a:p>
            <a:r>
              <a:rPr lang="en-US" altLang="en-US"/>
              <a:t>Configuring With Web Client</a:t>
            </a:r>
            <a:endParaRPr lang="en-IN" altLang="en-US"/>
          </a:p>
        </p:txBody>
      </p:sp>
      <p:sp>
        <p:nvSpPr>
          <p:cNvPr id="81922" name="Content Placeholder 2">
            <a:extLst>
              <a:ext uri="{FF2B5EF4-FFF2-40B4-BE49-F238E27FC236}">
                <a16:creationId xmlns:a16="http://schemas.microsoft.com/office/drawing/2014/main" id="{39C55AF1-DC6C-BA58-23F0-F65AB9410E19}"/>
              </a:ext>
            </a:extLst>
          </p:cNvPr>
          <p:cNvSpPr>
            <a:spLocks noGrp="1" noChangeArrowheads="1"/>
          </p:cNvSpPr>
          <p:nvPr>
            <p:ph idx="1"/>
          </p:nvPr>
        </p:nvSpPr>
        <p:spPr/>
        <p:txBody>
          <a:bodyPr/>
          <a:lstStyle/>
          <a:p>
            <a:pPr marL="457200" lvl="1" indent="0">
              <a:buFontTx/>
              <a:buNone/>
            </a:pPr>
            <a:r>
              <a:rPr lang="en-IN" altLang="en-US" b="1" dirty="0">
                <a:solidFill>
                  <a:srgbClr val="7F0055"/>
                </a:solidFill>
                <a:latin typeface="Consolas" panose="020B0609020204030204" pitchFamily="49" charset="0"/>
              </a:rPr>
              <a:t>import </a:t>
            </a:r>
            <a:r>
              <a:rPr lang="en-IN" altLang="en-US" b="1" dirty="0">
                <a:solidFill>
                  <a:srgbClr val="000000"/>
                </a:solidFill>
                <a:latin typeface="Consolas" panose="020B0609020204030204" pitchFamily="49" charset="0"/>
              </a:rPr>
              <a:t>org.springframework.cloud.circuitbreaker.resilience4j.*;</a:t>
            </a:r>
          </a:p>
          <a:p>
            <a:pPr marL="457200" lvl="1" indent="0">
              <a:buFontTx/>
              <a:buNone/>
            </a:pPr>
            <a:endParaRPr lang="en-IN" altLang="en-US" sz="1800" dirty="0">
              <a:solidFill>
                <a:srgbClr val="646464"/>
              </a:solidFill>
            </a:endParaRPr>
          </a:p>
          <a:p>
            <a:pPr marL="457200" lvl="1" indent="0">
              <a:buFontTx/>
              <a:buNone/>
            </a:pPr>
            <a:r>
              <a:rPr lang="en-IN" altLang="en-US" sz="1800" dirty="0">
                <a:solidFill>
                  <a:srgbClr val="646464"/>
                </a:solidFill>
              </a:rPr>
              <a:t>@Bean</a:t>
            </a:r>
          </a:p>
          <a:p>
            <a:pPr marL="457200" lvl="1" indent="0">
              <a:buFontTx/>
              <a:buNone/>
            </a:pPr>
            <a:r>
              <a:rPr lang="en-IN" altLang="en-US" sz="1800" b="1" dirty="0">
                <a:solidFill>
                  <a:srgbClr val="7F0055"/>
                </a:solidFill>
              </a:rPr>
              <a:t>public</a:t>
            </a:r>
            <a:r>
              <a:rPr lang="en-IN" altLang="en-US" sz="1800" b="1" dirty="0">
                <a:solidFill>
                  <a:srgbClr val="000000"/>
                </a:solidFill>
              </a:rPr>
              <a:t> Customizer&lt;ReactiveResilience4JCircuitBreakerFactory&gt; </a:t>
            </a:r>
            <a:r>
              <a:rPr lang="en-IN" altLang="en-US" sz="1800" b="1" dirty="0" err="1">
                <a:solidFill>
                  <a:srgbClr val="000000"/>
                </a:solidFill>
              </a:rPr>
              <a:t>defaultCustomizer</a:t>
            </a:r>
            <a:r>
              <a:rPr lang="en-IN" altLang="en-US" sz="1800" b="1" dirty="0">
                <a:solidFill>
                  <a:srgbClr val="000000"/>
                </a:solidFill>
              </a:rPr>
              <a:t>(){</a:t>
            </a:r>
          </a:p>
          <a:p>
            <a:pPr marL="457200" lvl="1" indent="0">
              <a:buFontTx/>
              <a:buNone/>
            </a:pPr>
            <a:endParaRPr lang="en-IN" altLang="en-US" sz="1800" dirty="0"/>
          </a:p>
          <a:p>
            <a:pPr marL="457200" lvl="1" indent="0">
              <a:buFontTx/>
              <a:buNone/>
            </a:pPr>
            <a:r>
              <a:rPr lang="en-US" altLang="en-US" sz="1800" b="1" dirty="0">
                <a:solidFill>
                  <a:srgbClr val="7F0055"/>
                </a:solidFill>
              </a:rPr>
              <a:t>return</a:t>
            </a:r>
            <a:r>
              <a:rPr lang="en-US" altLang="en-US" sz="1800" b="1" dirty="0">
                <a:solidFill>
                  <a:srgbClr val="000000"/>
                </a:solidFill>
              </a:rPr>
              <a:t> </a:t>
            </a:r>
            <a:r>
              <a:rPr lang="en-US" altLang="en-US" sz="1800" b="1" dirty="0">
                <a:solidFill>
                  <a:srgbClr val="6A3E3E"/>
                </a:solidFill>
              </a:rPr>
              <a:t>factory</a:t>
            </a:r>
            <a:r>
              <a:rPr lang="en-US" altLang="en-US" sz="1800" b="1" dirty="0">
                <a:solidFill>
                  <a:srgbClr val="000000"/>
                </a:solidFill>
              </a:rPr>
              <a:t> -&gt; </a:t>
            </a:r>
            <a:r>
              <a:rPr lang="en-US" altLang="en-US" sz="1800" b="1" dirty="0" err="1">
                <a:solidFill>
                  <a:srgbClr val="6A3E3E"/>
                </a:solidFill>
              </a:rPr>
              <a:t>factory</a:t>
            </a:r>
            <a:r>
              <a:rPr lang="en-US" altLang="en-US" sz="1800" b="1" dirty="0" err="1">
                <a:solidFill>
                  <a:srgbClr val="000000"/>
                </a:solidFill>
              </a:rPr>
              <a:t>.configureDefault</a:t>
            </a:r>
            <a:r>
              <a:rPr lang="en-US" altLang="en-US" sz="1800" b="1" dirty="0">
                <a:solidFill>
                  <a:srgbClr val="000000"/>
                </a:solidFill>
              </a:rPr>
              <a:t>(</a:t>
            </a:r>
            <a:r>
              <a:rPr lang="en-US" altLang="en-US" sz="1800" b="1" dirty="0">
                <a:solidFill>
                  <a:srgbClr val="6A3E3E"/>
                </a:solidFill>
              </a:rPr>
              <a:t>id</a:t>
            </a:r>
            <a:r>
              <a:rPr lang="en-US" altLang="en-US" sz="1800" b="1" dirty="0">
                <a:solidFill>
                  <a:srgbClr val="000000"/>
                </a:solidFill>
              </a:rPr>
              <a:t> -&gt; </a:t>
            </a:r>
            <a:r>
              <a:rPr lang="en-US" altLang="en-US" sz="1800" b="1" dirty="0">
                <a:solidFill>
                  <a:srgbClr val="7F0055"/>
                </a:solidFill>
              </a:rPr>
              <a:t>new</a:t>
            </a:r>
            <a:r>
              <a:rPr lang="en-US" altLang="en-US" sz="1800" b="1" dirty="0">
                <a:solidFill>
                  <a:srgbClr val="000000"/>
                </a:solidFill>
              </a:rPr>
              <a:t> Resilience4JConfigBuilder(</a:t>
            </a:r>
            <a:r>
              <a:rPr lang="en-US" altLang="en-US" sz="1800" b="1" dirty="0">
                <a:solidFill>
                  <a:srgbClr val="6A3E3E"/>
                </a:solidFill>
              </a:rPr>
              <a:t>id</a:t>
            </a:r>
            <a:r>
              <a:rPr lang="en-US" altLang="en-US" sz="1800" b="1" dirty="0">
                <a:solidFill>
                  <a:srgbClr val="000000"/>
                </a:solidFill>
              </a:rPr>
              <a:t>)</a:t>
            </a:r>
          </a:p>
          <a:p>
            <a:pPr marL="457200" lvl="1" indent="0">
              <a:buFontTx/>
              <a:buNone/>
            </a:pPr>
            <a:r>
              <a:rPr lang="en-IN" altLang="en-US" sz="1800" dirty="0">
                <a:solidFill>
                  <a:srgbClr val="000000"/>
                </a:solidFill>
              </a:rPr>
              <a:t>.</a:t>
            </a:r>
            <a:r>
              <a:rPr lang="en-IN" altLang="en-US" sz="1800" dirty="0" err="1">
                <a:solidFill>
                  <a:srgbClr val="000000"/>
                </a:solidFill>
              </a:rPr>
              <a:t>circuitBreakerConfig</a:t>
            </a:r>
            <a:r>
              <a:rPr lang="en-IN" altLang="en-US" sz="1800" dirty="0">
                <a:solidFill>
                  <a:srgbClr val="000000"/>
                </a:solidFill>
              </a:rPr>
              <a:t>(</a:t>
            </a:r>
            <a:r>
              <a:rPr lang="en-IN" altLang="en-US" sz="1800" dirty="0" err="1">
                <a:solidFill>
                  <a:srgbClr val="000000"/>
                </a:solidFill>
              </a:rPr>
              <a:t>CircuitBreakerConfig.</a:t>
            </a:r>
            <a:r>
              <a:rPr lang="en-IN" altLang="en-US" sz="1800" i="1" dirty="0" err="1">
                <a:solidFill>
                  <a:srgbClr val="000000"/>
                </a:solidFill>
              </a:rPr>
              <a:t>ofDefaults</a:t>
            </a:r>
            <a:r>
              <a:rPr lang="en-IN" altLang="en-US" sz="1800" i="1" dirty="0">
                <a:solidFill>
                  <a:srgbClr val="000000"/>
                </a:solidFill>
              </a:rPr>
              <a:t>()).build());</a:t>
            </a:r>
          </a:p>
          <a:p>
            <a:pPr marL="457200" lvl="1" indent="0">
              <a:buFontTx/>
              <a:buNone/>
            </a:pPr>
            <a:endParaRPr lang="en-IN" altLang="en-US" sz="1800" dirty="0"/>
          </a:p>
          <a:p>
            <a:pPr marL="457200" lvl="1" indent="0">
              <a:buFontTx/>
              <a:buNone/>
            </a:pPr>
            <a:r>
              <a:rPr lang="en-IN" altLang="en-US" sz="1800" dirty="0">
                <a:solidFill>
                  <a:srgbClr val="000000"/>
                </a:solidFill>
              </a:rPr>
              <a:t>}</a:t>
            </a:r>
          </a:p>
          <a:p>
            <a:pPr marL="457200" lvl="1" indent="0">
              <a:buFontTx/>
              <a:buNone/>
            </a:pPr>
            <a:endParaRPr lang="en-IN" altLang="en-US" sz="1800" dirty="0">
              <a:solidFill>
                <a:srgbClr val="000000"/>
              </a:solidFill>
            </a:endParaRPr>
          </a:p>
        </p:txBody>
      </p:sp>
    </p:spTree>
    <p:extLst>
      <p:ext uri="{BB962C8B-B14F-4D97-AF65-F5344CB8AC3E}">
        <p14:creationId xmlns:p14="http://schemas.microsoft.com/office/powerpoint/2010/main" val="19595016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88A02447-3F07-0542-C4B5-81C85072C1C7}"/>
              </a:ext>
            </a:extLst>
          </p:cNvPr>
          <p:cNvSpPr>
            <a:spLocks noGrp="1" noChangeArrowheads="1"/>
          </p:cNvSpPr>
          <p:nvPr>
            <p:ph type="title"/>
          </p:nvPr>
        </p:nvSpPr>
        <p:spPr>
          <a:xfrm>
            <a:off x="457200" y="304800"/>
            <a:ext cx="8229600" cy="609600"/>
          </a:xfrm>
        </p:spPr>
        <p:txBody>
          <a:bodyPr/>
          <a:lstStyle/>
          <a:p>
            <a:r>
              <a:rPr lang="en-US" altLang="en-US"/>
              <a:t>Configuring Circuit Breaker</a:t>
            </a:r>
            <a:endParaRPr lang="en-IN" altLang="en-US"/>
          </a:p>
        </p:txBody>
      </p:sp>
      <p:sp>
        <p:nvSpPr>
          <p:cNvPr id="155651" name="Content Placeholder 2">
            <a:extLst>
              <a:ext uri="{FF2B5EF4-FFF2-40B4-BE49-F238E27FC236}">
                <a16:creationId xmlns:a16="http://schemas.microsoft.com/office/drawing/2014/main" id="{B1F8E5C9-96BE-404E-A0CD-D7417B48C459}"/>
              </a:ext>
            </a:extLst>
          </p:cNvPr>
          <p:cNvSpPr>
            <a:spLocks noGrp="1" noChangeArrowheads="1"/>
          </p:cNvSpPr>
          <p:nvPr>
            <p:ph idx="1"/>
          </p:nvPr>
        </p:nvSpPr>
        <p:spPr>
          <a:xfrm>
            <a:off x="457200" y="838200"/>
            <a:ext cx="8229600" cy="5287963"/>
          </a:xfrm>
        </p:spPr>
        <p:txBody>
          <a:bodyPr/>
          <a:lstStyle/>
          <a:p>
            <a:pPr marL="457200" lvl="1" indent="0">
              <a:buFontTx/>
              <a:buNone/>
              <a:defRPr/>
            </a:pPr>
            <a:r>
              <a:rPr lang="en-IN" altLang="en-US" sz="2000" dirty="0">
                <a:solidFill>
                  <a:srgbClr val="000000"/>
                </a:solidFill>
              </a:rPr>
              <a:t> p</a:t>
            </a:r>
            <a:r>
              <a:rPr lang="en-IN" altLang="en-US" sz="2000" dirty="0">
                <a:solidFill>
                  <a:srgbClr val="7F0055"/>
                </a:solidFill>
              </a:rPr>
              <a:t>ublic</a:t>
            </a:r>
            <a:r>
              <a:rPr lang="en-IN" altLang="en-US" sz="2000" dirty="0">
                <a:solidFill>
                  <a:srgbClr val="000000"/>
                </a:solidFill>
              </a:rPr>
              <a:t> </a:t>
            </a:r>
            <a:r>
              <a:rPr lang="en-IN" altLang="en-US" sz="2000" dirty="0">
                <a:solidFill>
                  <a:srgbClr val="7F0055"/>
                </a:solidFill>
              </a:rPr>
              <a:t>class</a:t>
            </a:r>
            <a:r>
              <a:rPr lang="en-IN" altLang="en-US" sz="2000" dirty="0">
                <a:solidFill>
                  <a:srgbClr val="000000"/>
                </a:solidFill>
              </a:rPr>
              <a:t> </a:t>
            </a:r>
            <a:r>
              <a:rPr lang="en-IN" altLang="en-US" sz="2000" dirty="0" err="1">
                <a:solidFill>
                  <a:srgbClr val="000000"/>
                </a:solidFill>
              </a:rPr>
              <a:t>OrderController</a:t>
            </a:r>
            <a:r>
              <a:rPr lang="en-IN" altLang="en-US" sz="2000" dirty="0">
                <a:solidFill>
                  <a:srgbClr val="000000"/>
                </a:solidFill>
              </a:rPr>
              <a:t> {</a:t>
            </a:r>
          </a:p>
          <a:p>
            <a:pPr marL="457200" lvl="1" indent="0">
              <a:buFontTx/>
              <a:buNone/>
              <a:defRPr/>
            </a:pPr>
            <a:endParaRPr lang="en-IN" altLang="en-US" sz="2000" dirty="0"/>
          </a:p>
          <a:p>
            <a:pPr marL="457200" lvl="1" indent="0">
              <a:buFontTx/>
              <a:buNone/>
              <a:defRPr/>
            </a:pPr>
            <a:r>
              <a:rPr lang="en-IN" altLang="en-US" sz="2000" dirty="0">
                <a:solidFill>
                  <a:srgbClr val="7F0055"/>
                </a:solidFill>
              </a:rPr>
              <a:t>private</a:t>
            </a:r>
            <a:r>
              <a:rPr lang="en-IN" altLang="en-US" sz="2000" dirty="0">
                <a:solidFill>
                  <a:srgbClr val="000000"/>
                </a:solidFill>
              </a:rPr>
              <a:t> </a:t>
            </a:r>
            <a:r>
              <a:rPr lang="en-IN" altLang="en-US" sz="2000" b="1" dirty="0" err="1">
                <a:solidFill>
                  <a:srgbClr val="FF0000"/>
                </a:solidFill>
              </a:rPr>
              <a:t>WebClient</a:t>
            </a:r>
            <a:r>
              <a:rPr lang="en-IN" altLang="en-US" sz="2000" dirty="0">
                <a:solidFill>
                  <a:srgbClr val="000000"/>
                </a:solidFill>
              </a:rPr>
              <a:t> </a:t>
            </a:r>
            <a:r>
              <a:rPr lang="en-IN" altLang="en-US" sz="2000" dirty="0">
                <a:solidFill>
                  <a:srgbClr val="0000C0"/>
                </a:solidFill>
              </a:rPr>
              <a:t>client</a:t>
            </a:r>
            <a:r>
              <a:rPr lang="en-IN" altLang="en-US" sz="2000" dirty="0">
                <a:solidFill>
                  <a:srgbClr val="000000"/>
                </a:solidFill>
              </a:rPr>
              <a:t>;</a:t>
            </a:r>
          </a:p>
          <a:p>
            <a:pPr marL="457200" lvl="1" indent="0">
              <a:buFontTx/>
              <a:buNone/>
              <a:defRPr/>
            </a:pPr>
            <a:r>
              <a:rPr lang="en-IN" altLang="en-US" sz="2000" dirty="0">
                <a:solidFill>
                  <a:srgbClr val="7F0055"/>
                </a:solidFill>
              </a:rPr>
              <a:t>private</a:t>
            </a:r>
            <a:r>
              <a:rPr lang="en-IN" altLang="en-US" sz="2000" dirty="0">
                <a:solidFill>
                  <a:srgbClr val="000000"/>
                </a:solidFill>
              </a:rPr>
              <a:t> </a:t>
            </a:r>
            <a:r>
              <a:rPr lang="en-IN" altLang="en-US" sz="2000" b="1" dirty="0">
                <a:solidFill>
                  <a:schemeClr val="accent6">
                    <a:lumMod val="75000"/>
                  </a:schemeClr>
                </a:solidFill>
              </a:rPr>
              <a:t>ReactiveResilience4JCircuitBreakerFactory</a:t>
            </a:r>
            <a:r>
              <a:rPr lang="en-IN" altLang="en-US" sz="2000" dirty="0">
                <a:solidFill>
                  <a:srgbClr val="000000"/>
                </a:solidFill>
              </a:rPr>
              <a:t> </a:t>
            </a:r>
            <a:r>
              <a:rPr lang="en-IN" altLang="en-US" sz="2000" u="sng" dirty="0" err="1">
                <a:solidFill>
                  <a:srgbClr val="0000C0"/>
                </a:solidFill>
              </a:rPr>
              <a:t>cbFactory</a:t>
            </a:r>
            <a:r>
              <a:rPr lang="en-IN" altLang="en-US" sz="2000" u="sng" dirty="0">
                <a:solidFill>
                  <a:srgbClr val="000000"/>
                </a:solidFill>
              </a:rPr>
              <a:t>;</a:t>
            </a:r>
          </a:p>
          <a:p>
            <a:pPr marL="457200" lvl="1" indent="0">
              <a:buFontTx/>
              <a:buNone/>
              <a:defRPr/>
            </a:pPr>
            <a:r>
              <a:rPr lang="en-IN" altLang="en-US" sz="2000" dirty="0">
                <a:solidFill>
                  <a:srgbClr val="7F0055"/>
                </a:solidFill>
              </a:rPr>
              <a:t>private</a:t>
            </a:r>
            <a:r>
              <a:rPr lang="en-IN" altLang="en-US" sz="2000" dirty="0">
                <a:solidFill>
                  <a:srgbClr val="000000"/>
                </a:solidFill>
              </a:rPr>
              <a:t> </a:t>
            </a:r>
            <a:r>
              <a:rPr lang="en-IN" altLang="en-US" sz="2000" b="1" dirty="0" err="1">
                <a:solidFill>
                  <a:srgbClr val="00B0F0"/>
                </a:solidFill>
              </a:rPr>
              <a:t>ReactiveCircuitBreaker</a:t>
            </a:r>
            <a:r>
              <a:rPr lang="en-IN" altLang="en-US" sz="2000" dirty="0">
                <a:solidFill>
                  <a:srgbClr val="000000"/>
                </a:solidFill>
              </a:rPr>
              <a:t> </a:t>
            </a:r>
            <a:r>
              <a:rPr lang="en-IN" altLang="en-US" sz="2000" dirty="0" err="1">
                <a:solidFill>
                  <a:srgbClr val="0000C0"/>
                </a:solidFill>
              </a:rPr>
              <a:t>circuitBreaker</a:t>
            </a:r>
            <a:r>
              <a:rPr lang="en-IN" altLang="en-US" sz="2000" dirty="0">
                <a:solidFill>
                  <a:srgbClr val="000000"/>
                </a:solidFill>
              </a:rPr>
              <a:t>;</a:t>
            </a:r>
          </a:p>
          <a:p>
            <a:pPr marL="457200" lvl="1" indent="0">
              <a:buFontTx/>
              <a:buNone/>
              <a:defRPr/>
            </a:pPr>
            <a:r>
              <a:rPr lang="en-IN" altLang="en-US" sz="1400" b="1" i="1" dirty="0"/>
              <a:t>// Two </a:t>
            </a:r>
            <a:r>
              <a:rPr lang="en-IN" altLang="en-US" sz="1400" b="1" i="1" dirty="0" err="1"/>
              <a:t>Args</a:t>
            </a:r>
            <a:r>
              <a:rPr lang="en-IN" altLang="en-US" sz="1400" b="1" i="1" dirty="0"/>
              <a:t> Constructor</a:t>
            </a:r>
          </a:p>
          <a:p>
            <a:pPr marL="457200" lvl="1" indent="0">
              <a:buFontTx/>
              <a:buNone/>
              <a:defRPr/>
            </a:pPr>
            <a:r>
              <a:rPr lang="en-US" altLang="en-US" sz="2000" dirty="0">
                <a:solidFill>
                  <a:srgbClr val="7F0055"/>
                </a:solidFill>
              </a:rPr>
              <a:t>public</a:t>
            </a:r>
            <a:r>
              <a:rPr lang="en-US" altLang="en-US" sz="2000" dirty="0">
                <a:solidFill>
                  <a:srgbClr val="000000"/>
                </a:solidFill>
              </a:rPr>
              <a:t> </a:t>
            </a:r>
            <a:r>
              <a:rPr lang="en-US" altLang="en-US" sz="2000" dirty="0" err="1">
                <a:solidFill>
                  <a:srgbClr val="000000"/>
                </a:solidFill>
              </a:rPr>
              <a:t>OrderController</a:t>
            </a:r>
            <a:r>
              <a:rPr lang="en-US" altLang="en-US" sz="2000" dirty="0">
                <a:solidFill>
                  <a:srgbClr val="000000"/>
                </a:solidFill>
              </a:rPr>
              <a:t>(</a:t>
            </a:r>
          </a:p>
          <a:p>
            <a:pPr marL="457200" lvl="1" indent="0">
              <a:buFontTx/>
              <a:buNone/>
              <a:defRPr/>
            </a:pPr>
            <a:r>
              <a:rPr lang="en-US" altLang="en-US" sz="2000" dirty="0">
                <a:solidFill>
                  <a:srgbClr val="000000"/>
                </a:solidFill>
              </a:rPr>
              <a:t>         </a:t>
            </a:r>
            <a:r>
              <a:rPr lang="en-US" altLang="en-US" sz="2000" b="1" dirty="0" err="1">
                <a:solidFill>
                  <a:srgbClr val="FF0000"/>
                </a:solidFill>
              </a:rPr>
              <a:t>WebClient</a:t>
            </a:r>
            <a:r>
              <a:rPr lang="en-US" altLang="en-US" sz="1800" dirty="0">
                <a:solidFill>
                  <a:srgbClr val="000000"/>
                </a:solidFill>
              </a:rPr>
              <a:t> </a:t>
            </a:r>
            <a:r>
              <a:rPr lang="en-US" altLang="en-US" sz="1800" u="sng" dirty="0">
                <a:solidFill>
                  <a:srgbClr val="6A3E3E"/>
                </a:solidFill>
              </a:rPr>
              <a:t>client</a:t>
            </a:r>
            <a:r>
              <a:rPr lang="en-US" altLang="en-US" sz="1800" u="sng" dirty="0">
                <a:solidFill>
                  <a:srgbClr val="000000"/>
                </a:solidFill>
              </a:rPr>
              <a:t>, </a:t>
            </a:r>
          </a:p>
          <a:p>
            <a:pPr marL="457200" lvl="1" indent="0">
              <a:buFontTx/>
              <a:buNone/>
              <a:defRPr/>
            </a:pPr>
            <a:r>
              <a:rPr lang="en-US" altLang="en-US" sz="1800" dirty="0">
                <a:solidFill>
                  <a:srgbClr val="000000"/>
                </a:solidFill>
              </a:rPr>
              <a:t>        </a:t>
            </a:r>
            <a:r>
              <a:rPr lang="en-US" altLang="en-US" sz="2000" b="1" dirty="0">
                <a:solidFill>
                  <a:schemeClr val="accent6">
                    <a:lumMod val="75000"/>
                  </a:schemeClr>
                </a:solidFill>
              </a:rPr>
              <a:t>ReactiveResilience4JCircuitBreakerFactory</a:t>
            </a:r>
            <a:r>
              <a:rPr lang="en-US" altLang="en-US" sz="1800" dirty="0">
                <a:solidFill>
                  <a:srgbClr val="000000"/>
                </a:solidFill>
              </a:rPr>
              <a:t> </a:t>
            </a:r>
            <a:r>
              <a:rPr lang="en-US" altLang="en-US" sz="1800" dirty="0" err="1">
                <a:solidFill>
                  <a:srgbClr val="6A3E3E"/>
                </a:solidFill>
              </a:rPr>
              <a:t>cbFactory</a:t>
            </a:r>
            <a:r>
              <a:rPr lang="en-US" altLang="en-US" sz="1800" dirty="0">
                <a:solidFill>
                  <a:srgbClr val="000000"/>
                </a:solidFill>
              </a:rPr>
              <a:t>)</a:t>
            </a:r>
            <a:r>
              <a:rPr lang="en-US" altLang="en-US" sz="2000" u="sng" dirty="0">
                <a:solidFill>
                  <a:srgbClr val="000000"/>
                </a:solidFill>
              </a:rPr>
              <a:t> {</a:t>
            </a:r>
          </a:p>
          <a:p>
            <a:pPr marL="457200" lvl="1" indent="0">
              <a:buFontTx/>
              <a:buNone/>
              <a:defRPr/>
            </a:pPr>
            <a:r>
              <a:rPr lang="en-US" altLang="en-US" sz="2000" dirty="0">
                <a:solidFill>
                  <a:srgbClr val="7F0055"/>
                </a:solidFill>
              </a:rPr>
              <a:t>      </a:t>
            </a:r>
          </a:p>
          <a:p>
            <a:pPr marL="457200" lvl="1" indent="0">
              <a:buFontTx/>
              <a:buNone/>
              <a:defRPr/>
            </a:pPr>
            <a:r>
              <a:rPr lang="en-US" altLang="en-US" sz="2000" dirty="0">
                <a:solidFill>
                  <a:srgbClr val="7F0055"/>
                </a:solidFill>
              </a:rPr>
              <a:t>        </a:t>
            </a:r>
            <a:r>
              <a:rPr lang="en-US" altLang="en-US" sz="2000" dirty="0" err="1">
                <a:solidFill>
                  <a:srgbClr val="7F0055"/>
                </a:solidFill>
              </a:rPr>
              <a:t>this</a:t>
            </a:r>
            <a:r>
              <a:rPr lang="en-US" altLang="en-US" sz="2000" dirty="0" err="1">
                <a:solidFill>
                  <a:srgbClr val="000000"/>
                </a:solidFill>
              </a:rPr>
              <a:t>.</a:t>
            </a:r>
            <a:r>
              <a:rPr lang="en-US" altLang="en-US" sz="2000" dirty="0" err="1">
                <a:solidFill>
                  <a:srgbClr val="0000C0"/>
                </a:solidFill>
              </a:rPr>
              <a:t>client</a:t>
            </a:r>
            <a:r>
              <a:rPr lang="en-US" altLang="en-US" sz="2000" dirty="0">
                <a:solidFill>
                  <a:srgbClr val="000000"/>
                </a:solidFill>
              </a:rPr>
              <a:t> = </a:t>
            </a:r>
            <a:r>
              <a:rPr lang="en-US" altLang="en-US" sz="2000" b="1" dirty="0">
                <a:solidFill>
                  <a:srgbClr val="FF0000"/>
                </a:solidFill>
              </a:rPr>
              <a:t>client</a:t>
            </a:r>
          </a:p>
          <a:p>
            <a:pPr marL="457200" lvl="1" indent="0">
              <a:buFontTx/>
              <a:buNone/>
              <a:defRPr/>
            </a:pPr>
            <a:r>
              <a:rPr lang="en-IN" altLang="en-US" sz="2000" dirty="0">
                <a:solidFill>
                  <a:srgbClr val="7F0055"/>
                </a:solidFill>
              </a:rPr>
              <a:t>      </a:t>
            </a:r>
            <a:r>
              <a:rPr lang="en-IN" altLang="en-US" sz="2000" dirty="0" err="1">
                <a:solidFill>
                  <a:srgbClr val="7F0055"/>
                </a:solidFill>
              </a:rPr>
              <a:t>this</a:t>
            </a:r>
            <a:r>
              <a:rPr lang="en-IN" altLang="en-US" sz="2000" dirty="0" err="1">
                <a:solidFill>
                  <a:srgbClr val="000000"/>
                </a:solidFill>
              </a:rPr>
              <a:t>.</a:t>
            </a:r>
            <a:r>
              <a:rPr lang="en-IN" altLang="en-US" sz="2000" dirty="0" err="1">
                <a:solidFill>
                  <a:srgbClr val="0000C0"/>
                </a:solidFill>
              </a:rPr>
              <a:t>cbFactory</a:t>
            </a:r>
            <a:r>
              <a:rPr lang="en-IN" altLang="en-US" sz="2000" dirty="0">
                <a:solidFill>
                  <a:srgbClr val="000000"/>
                </a:solidFill>
              </a:rPr>
              <a:t> = </a:t>
            </a:r>
            <a:r>
              <a:rPr lang="en-IN" altLang="en-US" sz="2000" b="1" dirty="0" err="1">
                <a:solidFill>
                  <a:schemeClr val="accent6">
                    <a:lumMod val="75000"/>
                  </a:schemeClr>
                </a:solidFill>
              </a:rPr>
              <a:t>cbFactory</a:t>
            </a:r>
            <a:r>
              <a:rPr lang="en-IN" altLang="en-US" sz="2000" dirty="0">
                <a:solidFill>
                  <a:srgbClr val="000000"/>
                </a:solidFill>
              </a:rPr>
              <a:t>;</a:t>
            </a:r>
          </a:p>
          <a:p>
            <a:pPr marL="457200" lvl="1" indent="0">
              <a:buFontTx/>
              <a:buNone/>
              <a:defRPr/>
            </a:pPr>
            <a:r>
              <a:rPr lang="en-US" altLang="en-US" sz="2000" dirty="0">
                <a:solidFill>
                  <a:srgbClr val="000000"/>
                </a:solidFill>
              </a:rPr>
              <a:t> </a:t>
            </a:r>
            <a:r>
              <a:rPr lang="en-US" altLang="en-US" sz="2000" dirty="0" err="1">
                <a:solidFill>
                  <a:srgbClr val="7F0055"/>
                </a:solidFill>
              </a:rPr>
              <a:t>this</a:t>
            </a:r>
            <a:r>
              <a:rPr lang="en-US" altLang="en-US" sz="2000" dirty="0" err="1">
                <a:solidFill>
                  <a:srgbClr val="000000"/>
                </a:solidFill>
              </a:rPr>
              <a:t>.</a:t>
            </a:r>
            <a:r>
              <a:rPr lang="en-US" altLang="en-US" sz="2000" b="1" dirty="0" err="1">
                <a:solidFill>
                  <a:srgbClr val="00B0F0"/>
                </a:solidFill>
              </a:rPr>
              <a:t>circuitBreaker</a:t>
            </a:r>
            <a:r>
              <a:rPr lang="en-US" altLang="en-US" sz="2000" dirty="0">
                <a:solidFill>
                  <a:srgbClr val="000000"/>
                </a:solidFill>
              </a:rPr>
              <a:t> = </a:t>
            </a:r>
            <a:r>
              <a:rPr lang="en-US" altLang="en-US" sz="2000" dirty="0" err="1">
                <a:solidFill>
                  <a:srgbClr val="000000"/>
                </a:solidFill>
              </a:rPr>
              <a:t>c</a:t>
            </a:r>
            <a:r>
              <a:rPr lang="en-US" altLang="en-US" sz="2000" dirty="0" err="1">
                <a:solidFill>
                  <a:srgbClr val="6A3E3E"/>
                </a:solidFill>
              </a:rPr>
              <a:t>bFactory</a:t>
            </a:r>
            <a:r>
              <a:rPr lang="en-US" altLang="en-US" sz="2000" dirty="0" err="1">
                <a:solidFill>
                  <a:srgbClr val="000000"/>
                </a:solidFill>
              </a:rPr>
              <a:t>.create</a:t>
            </a:r>
            <a:r>
              <a:rPr lang="en-US" altLang="en-US" sz="2000" dirty="0">
                <a:solidFill>
                  <a:srgbClr val="000000"/>
                </a:solidFill>
              </a:rPr>
              <a:t>(</a:t>
            </a:r>
            <a:r>
              <a:rPr lang="en-US" altLang="en-US" sz="2000" dirty="0">
                <a:solidFill>
                  <a:srgbClr val="2A00FF"/>
                </a:solidFill>
              </a:rPr>
              <a:t>“</a:t>
            </a:r>
            <a:r>
              <a:rPr lang="en-US" altLang="en-US" sz="2000" dirty="0" err="1">
                <a:solidFill>
                  <a:srgbClr val="2A00FF"/>
                </a:solidFill>
              </a:rPr>
              <a:t>orderService</a:t>
            </a:r>
            <a:r>
              <a:rPr lang="en-US" altLang="en-US" sz="2000" dirty="0">
                <a:solidFill>
                  <a:srgbClr val="2A00FF"/>
                </a:solidFill>
              </a:rPr>
              <a:t>"</a:t>
            </a:r>
            <a:r>
              <a:rPr lang="en-US" altLang="en-US" sz="2000" dirty="0">
                <a:solidFill>
                  <a:srgbClr val="000000"/>
                </a:solidFill>
              </a:rPr>
              <a:t>);</a:t>
            </a:r>
          </a:p>
          <a:p>
            <a:pPr marL="457200" lvl="1" indent="0">
              <a:buFontTx/>
              <a:buNone/>
              <a:defRPr/>
            </a:pPr>
            <a:r>
              <a:rPr lang="en-IN" altLang="en-US" sz="2000" dirty="0">
                <a:solidFill>
                  <a:srgbClr val="000000"/>
                </a:solidFill>
              </a:rPr>
              <a:t>}</a:t>
            </a:r>
          </a:p>
          <a:p>
            <a:pPr marL="800100" lvl="2" indent="0">
              <a:buFontTx/>
              <a:buNone/>
              <a:defRPr/>
            </a:pPr>
            <a:endParaRPr lang="en-IN" altLang="en-US" sz="2000" dirty="0">
              <a:solidFill>
                <a:srgbClr val="000000"/>
              </a:solidFill>
              <a:latin typeface="Consolas" panose="020B0609020204030204" pitchFamily="49"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A0E947B6-B0A7-FAB6-72BA-B33BBCCD1AB2}"/>
              </a:ext>
            </a:extLst>
          </p:cNvPr>
          <p:cNvSpPr>
            <a:spLocks noGrp="1" noChangeArrowheads="1"/>
          </p:cNvSpPr>
          <p:nvPr>
            <p:ph type="title"/>
          </p:nvPr>
        </p:nvSpPr>
        <p:spPr/>
        <p:txBody>
          <a:bodyPr/>
          <a:lstStyle/>
          <a:p>
            <a:r>
              <a:rPr lang="en-US" altLang="en-US"/>
              <a:t>Configuring With Web Client</a:t>
            </a:r>
            <a:endParaRPr lang="en-IN" altLang="en-US"/>
          </a:p>
        </p:txBody>
      </p:sp>
      <p:sp>
        <p:nvSpPr>
          <p:cNvPr id="80898" name="Content Placeholder 2">
            <a:extLst>
              <a:ext uri="{FF2B5EF4-FFF2-40B4-BE49-F238E27FC236}">
                <a16:creationId xmlns:a16="http://schemas.microsoft.com/office/drawing/2014/main" id="{B7337AC7-2C16-24FE-AE55-D092DB7CEF3D}"/>
              </a:ext>
            </a:extLst>
          </p:cNvPr>
          <p:cNvSpPr>
            <a:spLocks noGrp="1" noChangeArrowheads="1"/>
          </p:cNvSpPr>
          <p:nvPr>
            <p:ph idx="1"/>
          </p:nvPr>
        </p:nvSpPr>
        <p:spPr>
          <a:xfrm>
            <a:off x="457200" y="868363"/>
            <a:ext cx="8229600" cy="5257800"/>
          </a:xfrm>
        </p:spPr>
        <p:txBody>
          <a:bodyPr/>
          <a:lstStyle/>
          <a:p>
            <a:pPr marL="400050" lvl="1" indent="0">
              <a:lnSpc>
                <a:spcPct val="150000"/>
              </a:lnSpc>
              <a:buFontTx/>
              <a:buNone/>
            </a:pPr>
            <a:r>
              <a:rPr lang="en-IN" altLang="en-US" sz="2000" dirty="0">
                <a:solidFill>
                  <a:srgbClr val="646464"/>
                </a:solidFill>
              </a:rPr>
              <a:t>@</a:t>
            </a:r>
            <a:r>
              <a:rPr lang="en-IN" altLang="en-US" sz="2000" dirty="0" err="1">
                <a:solidFill>
                  <a:srgbClr val="646464"/>
                </a:solidFill>
              </a:rPr>
              <a:t>GetMapping</a:t>
            </a:r>
            <a:r>
              <a:rPr lang="en-IN" altLang="en-US" sz="2000" dirty="0">
                <a:solidFill>
                  <a:srgbClr val="000000"/>
                </a:solidFill>
              </a:rPr>
              <a:t>(path = </a:t>
            </a:r>
            <a:r>
              <a:rPr lang="en-IN" altLang="en-US" sz="2000" dirty="0">
                <a:solidFill>
                  <a:srgbClr val="2A00FF"/>
                </a:solidFill>
              </a:rPr>
              <a:t>"/order"</a:t>
            </a:r>
            <a:r>
              <a:rPr lang="en-IN" altLang="en-US" sz="2000" dirty="0">
                <a:solidFill>
                  <a:srgbClr val="000000"/>
                </a:solidFill>
              </a:rPr>
              <a:t>)</a:t>
            </a:r>
          </a:p>
          <a:p>
            <a:pPr marL="400050" lvl="1" indent="0">
              <a:lnSpc>
                <a:spcPct val="150000"/>
              </a:lnSpc>
              <a:buFontTx/>
              <a:buNone/>
            </a:pPr>
            <a:r>
              <a:rPr lang="en-IN" altLang="en-US" sz="2000" b="1" dirty="0">
                <a:solidFill>
                  <a:srgbClr val="7F0055"/>
                </a:solidFill>
              </a:rPr>
              <a:t>public</a:t>
            </a:r>
            <a:r>
              <a:rPr lang="en-IN" altLang="en-US" sz="2000" b="1" dirty="0">
                <a:solidFill>
                  <a:srgbClr val="000000"/>
                </a:solidFill>
              </a:rPr>
              <a:t> Mono&lt;String&gt; slow() {</a:t>
            </a:r>
          </a:p>
          <a:p>
            <a:pPr marL="400050" lvl="1" indent="0">
              <a:lnSpc>
                <a:spcPct val="150000"/>
              </a:lnSpc>
              <a:buFontTx/>
              <a:buNone/>
            </a:pPr>
            <a:r>
              <a:rPr lang="en-IN" altLang="en-US" sz="2000" dirty="0">
                <a:solidFill>
                  <a:srgbClr val="000000"/>
                </a:solidFill>
              </a:rPr>
              <a:t>      </a:t>
            </a:r>
            <a:r>
              <a:rPr lang="en-IN" altLang="en-US" sz="2000" b="1" dirty="0">
                <a:solidFill>
                  <a:srgbClr val="7F0055"/>
                </a:solidFill>
              </a:rPr>
              <a:t>return</a:t>
            </a:r>
            <a:r>
              <a:rPr lang="en-IN" altLang="en-US" sz="2000" b="1" dirty="0">
                <a:solidFill>
                  <a:srgbClr val="000000"/>
                </a:solidFill>
              </a:rPr>
              <a:t> </a:t>
            </a:r>
            <a:r>
              <a:rPr lang="en-IN" altLang="en-US" sz="2000" b="1" dirty="0" err="1">
                <a:solidFill>
                  <a:srgbClr val="00B0F0"/>
                </a:solidFill>
              </a:rPr>
              <a:t>circuitBreaker</a:t>
            </a:r>
            <a:r>
              <a:rPr lang="en-IN" altLang="en-US" sz="2000" b="1" dirty="0" err="1">
                <a:solidFill>
                  <a:srgbClr val="000000"/>
                </a:solidFill>
              </a:rPr>
              <a:t>.run</a:t>
            </a:r>
            <a:r>
              <a:rPr lang="en-IN" altLang="en-US" sz="2000" b="1" dirty="0">
                <a:solidFill>
                  <a:srgbClr val="000000"/>
                </a:solidFill>
              </a:rPr>
              <a:t>(</a:t>
            </a:r>
          </a:p>
          <a:p>
            <a:pPr marL="400050" lvl="1" indent="0">
              <a:lnSpc>
                <a:spcPct val="150000"/>
              </a:lnSpc>
              <a:buFontTx/>
              <a:buNone/>
            </a:pPr>
            <a:r>
              <a:rPr lang="en-IN" altLang="en-US" sz="2000" b="1" dirty="0">
                <a:solidFill>
                  <a:srgbClr val="000000"/>
                </a:solidFill>
              </a:rPr>
              <a:t>    </a:t>
            </a:r>
            <a:r>
              <a:rPr lang="en-IN" altLang="en-US" sz="2000" b="1" dirty="0" err="1">
                <a:solidFill>
                  <a:srgbClr val="FF0000"/>
                </a:solidFill>
              </a:rPr>
              <a:t>client</a:t>
            </a:r>
            <a:r>
              <a:rPr lang="en-IN" altLang="en-US" sz="2000" b="1" dirty="0" err="1">
                <a:solidFill>
                  <a:srgbClr val="000000"/>
                </a:solidFill>
              </a:rPr>
              <a:t>.get</a:t>
            </a:r>
            <a:r>
              <a:rPr lang="en-IN" altLang="en-US" sz="2000" b="1" dirty="0">
                <a:solidFill>
                  <a:srgbClr val="000000"/>
                </a:solidFill>
              </a:rPr>
              <a:t>()</a:t>
            </a:r>
          </a:p>
          <a:p>
            <a:pPr marL="400050" lvl="1" indent="0">
              <a:lnSpc>
                <a:spcPct val="150000"/>
              </a:lnSpc>
              <a:buFontTx/>
              <a:buNone/>
            </a:pPr>
            <a:r>
              <a:rPr lang="en-IN" altLang="en-US" sz="2000" b="1" dirty="0">
                <a:solidFill>
                  <a:srgbClr val="000000"/>
                </a:solidFill>
              </a:rPr>
              <a:t>	 .</a:t>
            </a:r>
            <a:r>
              <a:rPr lang="en-IN" altLang="en-US" sz="2000" b="1" dirty="0" err="1">
                <a:solidFill>
                  <a:srgbClr val="000000"/>
                </a:solidFill>
              </a:rPr>
              <a:t>uri</a:t>
            </a:r>
            <a:r>
              <a:rPr lang="en-IN" altLang="en-US" sz="2000" b="1" dirty="0">
                <a:solidFill>
                  <a:srgbClr val="000000"/>
                </a:solidFill>
              </a:rPr>
              <a:t>(</a:t>
            </a:r>
            <a:r>
              <a:rPr lang="en-IN" altLang="en-US" sz="2000" b="1" dirty="0">
                <a:solidFill>
                  <a:srgbClr val="2A00FF"/>
                </a:solidFill>
              </a:rPr>
              <a:t>"</a:t>
            </a:r>
            <a:r>
              <a:rPr lang="en-IN" altLang="en-US" sz="2000" dirty="0">
                <a:solidFill>
                  <a:srgbClr val="2A00FF"/>
                </a:solidFill>
              </a:rPr>
              <a:t>lb://ORDER-SERVICE/orders</a:t>
            </a:r>
            <a:r>
              <a:rPr lang="en-IN" altLang="en-US" sz="2000" b="1" dirty="0">
                <a:solidFill>
                  <a:srgbClr val="2A00FF"/>
                </a:solidFill>
              </a:rPr>
              <a:t>"</a:t>
            </a:r>
            <a:r>
              <a:rPr lang="en-IN" altLang="en-US" sz="2000" b="1" dirty="0">
                <a:solidFill>
                  <a:srgbClr val="000000"/>
                </a:solidFill>
              </a:rPr>
              <a:t>)</a:t>
            </a:r>
          </a:p>
          <a:p>
            <a:pPr marL="400050" lvl="1" indent="0">
              <a:lnSpc>
                <a:spcPct val="150000"/>
              </a:lnSpc>
              <a:buFontTx/>
              <a:buNone/>
            </a:pPr>
            <a:r>
              <a:rPr lang="en-IN" altLang="en-US" sz="2000" b="1" dirty="0">
                <a:solidFill>
                  <a:srgbClr val="000000"/>
                </a:solidFill>
              </a:rPr>
              <a:t>		.retrieve()</a:t>
            </a:r>
          </a:p>
          <a:p>
            <a:pPr marL="400050" lvl="1" indent="0">
              <a:lnSpc>
                <a:spcPct val="150000"/>
              </a:lnSpc>
              <a:buFontTx/>
              <a:buNone/>
            </a:pPr>
            <a:r>
              <a:rPr lang="en-IN" altLang="en-US" sz="2000" b="1" dirty="0">
                <a:solidFill>
                  <a:srgbClr val="000000"/>
                </a:solidFill>
              </a:rPr>
              <a:t>		  .</a:t>
            </a:r>
            <a:r>
              <a:rPr lang="en-IN" altLang="en-US" sz="2000" b="1" dirty="0" err="1">
                <a:solidFill>
                  <a:srgbClr val="000000"/>
                </a:solidFill>
              </a:rPr>
              <a:t>bodyToMono</a:t>
            </a:r>
            <a:r>
              <a:rPr lang="en-IN" altLang="en-US" sz="2000" b="1" dirty="0">
                <a:solidFill>
                  <a:srgbClr val="000000"/>
                </a:solidFill>
              </a:rPr>
              <a:t>(</a:t>
            </a:r>
            <a:r>
              <a:rPr lang="en-IN" altLang="en-US" sz="2000" b="1" dirty="0" err="1">
                <a:solidFill>
                  <a:srgbClr val="000000"/>
                </a:solidFill>
              </a:rPr>
              <a:t>String.</a:t>
            </a:r>
            <a:r>
              <a:rPr lang="en-IN" altLang="en-US" sz="2000" b="1" dirty="0" err="1">
                <a:solidFill>
                  <a:srgbClr val="7F0055"/>
                </a:solidFill>
              </a:rPr>
              <a:t>class</a:t>
            </a:r>
            <a:r>
              <a:rPr lang="en-IN" altLang="en-US" sz="2000" b="1" dirty="0">
                <a:solidFill>
                  <a:srgbClr val="000000"/>
                </a:solidFill>
              </a:rPr>
              <a:t>),</a:t>
            </a:r>
          </a:p>
          <a:p>
            <a:pPr marL="400050" lvl="1" indent="0">
              <a:lnSpc>
                <a:spcPct val="150000"/>
              </a:lnSpc>
              <a:buFontTx/>
              <a:buNone/>
            </a:pPr>
            <a:r>
              <a:rPr lang="en-IN" altLang="en-US" sz="2000" dirty="0">
                <a:solidFill>
                  <a:srgbClr val="000000"/>
                </a:solidFill>
              </a:rPr>
              <a:t>      </a:t>
            </a:r>
            <a:r>
              <a:rPr lang="en-IN" altLang="en-US" sz="2000" b="1" dirty="0">
                <a:solidFill>
                  <a:srgbClr val="00B050"/>
                </a:solidFill>
              </a:rPr>
              <a:t>throwable</a:t>
            </a:r>
            <a:r>
              <a:rPr lang="en-IN" altLang="en-US" sz="2000" dirty="0">
                <a:solidFill>
                  <a:srgbClr val="000000"/>
                </a:solidFill>
              </a:rPr>
              <a:t> -&gt;  </a:t>
            </a:r>
            <a:r>
              <a:rPr lang="en-IN" altLang="en-US" sz="2000" dirty="0" err="1">
                <a:solidFill>
                  <a:srgbClr val="000000"/>
                </a:solidFill>
              </a:rPr>
              <a:t>Mono.</a:t>
            </a:r>
            <a:r>
              <a:rPr lang="en-IN" altLang="en-US" sz="2000" i="1" dirty="0" err="1">
                <a:solidFill>
                  <a:srgbClr val="000000"/>
                </a:solidFill>
              </a:rPr>
              <a:t>just</a:t>
            </a:r>
            <a:r>
              <a:rPr lang="en-IN" altLang="en-US" sz="2000" i="1" dirty="0">
                <a:solidFill>
                  <a:srgbClr val="000000"/>
                </a:solidFill>
              </a:rPr>
              <a:t>(</a:t>
            </a:r>
            <a:r>
              <a:rPr lang="en-IN" altLang="en-US" sz="2000" i="1" dirty="0">
                <a:solidFill>
                  <a:srgbClr val="2A00FF"/>
                </a:solidFill>
              </a:rPr>
              <a:t>"fallback"</a:t>
            </a:r>
            <a:r>
              <a:rPr lang="en-IN" altLang="en-US" sz="2000" i="1" dirty="0">
                <a:solidFill>
                  <a:srgbClr val="000000"/>
                </a:solidFill>
              </a:rPr>
              <a:t>));</a:t>
            </a:r>
          </a:p>
          <a:p>
            <a:pPr marL="400050" lvl="1" indent="0">
              <a:lnSpc>
                <a:spcPct val="150000"/>
              </a:lnSpc>
              <a:buFontTx/>
              <a:buNone/>
            </a:pPr>
            <a:r>
              <a:rPr lang="en-IN" altLang="en-US" sz="2000" dirty="0">
                <a:solidFill>
                  <a:srgbClr val="000000"/>
                </a:solidFill>
              </a:rPr>
              <a:t>} }</a:t>
            </a:r>
          </a:p>
          <a:p>
            <a:pPr marL="400050" lvl="1" indent="0">
              <a:lnSpc>
                <a:spcPct val="150000"/>
              </a:lnSpc>
              <a:buFontTx/>
              <a:buNone/>
            </a:pPr>
            <a:r>
              <a:rPr lang="en-IN" altLang="en-US" sz="2000" dirty="0">
                <a:solidFill>
                  <a:srgbClr val="000000"/>
                </a:solidFill>
              </a:rPr>
              <a:t>Can also add timeout : </a:t>
            </a:r>
            <a:r>
              <a:rPr lang="en-IN" altLang="en-US" sz="1800" dirty="0">
                <a:solidFill>
                  <a:srgbClr val="000000"/>
                </a:solidFill>
                <a:latin typeface="Consolas" panose="020B0609020204030204" pitchFamily="49" charset="0"/>
              </a:rPr>
              <a:t>timeout(</a:t>
            </a:r>
            <a:r>
              <a:rPr lang="en-IN" altLang="en-US" sz="1800" dirty="0" err="1">
                <a:solidFill>
                  <a:srgbClr val="000000"/>
                </a:solidFill>
                <a:latin typeface="Consolas" panose="020B0609020204030204" pitchFamily="49" charset="0"/>
              </a:rPr>
              <a:t>Duration.</a:t>
            </a:r>
            <a:r>
              <a:rPr lang="en-IN" altLang="en-US" sz="1800" i="1" dirty="0" err="1">
                <a:solidFill>
                  <a:srgbClr val="000000"/>
                </a:solidFill>
                <a:latin typeface="Consolas" panose="020B0609020204030204" pitchFamily="49" charset="0"/>
              </a:rPr>
              <a:t>ofMinutes</a:t>
            </a:r>
            <a:r>
              <a:rPr lang="en-IN" altLang="en-US" sz="1800" i="1" dirty="0">
                <a:solidFill>
                  <a:srgbClr val="000000"/>
                </a:solidFill>
                <a:latin typeface="Consolas" panose="020B0609020204030204" pitchFamily="49" charset="0"/>
              </a:rPr>
              <a:t>(5));</a:t>
            </a:r>
            <a:endParaRPr lang="en-IN" alt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4B7B39EA-071C-23C1-1DF4-9F59008B1258}"/>
              </a:ext>
            </a:extLst>
          </p:cNvPr>
          <p:cNvSpPr>
            <a:spLocks noGrp="1" noChangeArrowheads="1"/>
          </p:cNvSpPr>
          <p:nvPr>
            <p:ph type="title"/>
          </p:nvPr>
        </p:nvSpPr>
        <p:spPr/>
        <p:txBody>
          <a:bodyPr/>
          <a:lstStyle/>
          <a:p>
            <a:r>
              <a:rPr lang="en-US" altLang="en-US"/>
              <a:t>Stages of Circuit Breaker</a:t>
            </a:r>
            <a:endParaRPr lang="en-IN" altLang="en-US"/>
          </a:p>
        </p:txBody>
      </p:sp>
      <p:sp>
        <p:nvSpPr>
          <p:cNvPr id="3" name="Content Placeholder 2">
            <a:extLst>
              <a:ext uri="{FF2B5EF4-FFF2-40B4-BE49-F238E27FC236}">
                <a16:creationId xmlns:a16="http://schemas.microsoft.com/office/drawing/2014/main" id="{E136D771-4DEE-2B44-9F62-46949C15F9EC}"/>
              </a:ext>
            </a:extLst>
          </p:cNvPr>
          <p:cNvSpPr>
            <a:spLocks noGrp="1"/>
          </p:cNvSpPr>
          <p:nvPr>
            <p:ph idx="1"/>
          </p:nvPr>
        </p:nvSpPr>
        <p:spPr/>
        <p:txBody>
          <a:bodyPr/>
          <a:lstStyle/>
          <a:p>
            <a:pPr>
              <a:lnSpc>
                <a:spcPct val="150000"/>
              </a:lnSpc>
              <a:defRPr/>
            </a:pPr>
            <a:r>
              <a:rPr lang="en-US" sz="2000" dirty="0">
                <a:solidFill>
                  <a:srgbClr val="292929"/>
                </a:solidFill>
              </a:rPr>
              <a:t>Circuit Breaker has the following three stages:</a:t>
            </a:r>
          </a:p>
          <a:p>
            <a:pPr lvl="1">
              <a:lnSpc>
                <a:spcPct val="150000"/>
              </a:lnSpc>
              <a:buFont typeface="Arial" panose="020B0604020202020204" pitchFamily="34" charset="0"/>
              <a:buChar char="•"/>
              <a:defRPr/>
            </a:pPr>
            <a:r>
              <a:rPr lang="en-US" sz="2000" dirty="0">
                <a:solidFill>
                  <a:srgbClr val="292929"/>
                </a:solidFill>
              </a:rPr>
              <a:t>Closed</a:t>
            </a:r>
          </a:p>
          <a:p>
            <a:pPr lvl="1">
              <a:lnSpc>
                <a:spcPct val="150000"/>
              </a:lnSpc>
              <a:buFont typeface="Arial" panose="020B0604020202020204" pitchFamily="34" charset="0"/>
              <a:buChar char="•"/>
              <a:defRPr/>
            </a:pPr>
            <a:r>
              <a:rPr lang="en-US" sz="2000" dirty="0">
                <a:solidFill>
                  <a:srgbClr val="292929"/>
                </a:solidFill>
              </a:rPr>
              <a:t>Open</a:t>
            </a:r>
          </a:p>
          <a:p>
            <a:pPr lvl="1">
              <a:lnSpc>
                <a:spcPct val="150000"/>
              </a:lnSpc>
              <a:buFont typeface="Arial" panose="020B0604020202020204" pitchFamily="34" charset="0"/>
              <a:buChar char="•"/>
              <a:defRPr/>
            </a:pPr>
            <a:r>
              <a:rPr lang="en-US" sz="2000" dirty="0">
                <a:solidFill>
                  <a:srgbClr val="292929"/>
                </a:solidFill>
              </a:rPr>
              <a:t>Half-Open</a:t>
            </a:r>
          </a:p>
          <a:p>
            <a:pPr marL="0" indent="0">
              <a:lnSpc>
                <a:spcPct val="150000"/>
              </a:lnSpc>
              <a:buFontTx/>
              <a:buNone/>
              <a:defRPr/>
            </a:pPr>
            <a:br>
              <a:rPr lang="en-US" sz="2000" dirty="0"/>
            </a:br>
            <a:endParaRPr lang="en-IN"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itle 1">
            <a:extLst>
              <a:ext uri="{FF2B5EF4-FFF2-40B4-BE49-F238E27FC236}">
                <a16:creationId xmlns:a16="http://schemas.microsoft.com/office/drawing/2014/main" id="{CE24A399-CDDF-4AE6-A59B-77F7EEC2C9EB}"/>
              </a:ext>
            </a:extLst>
          </p:cNvPr>
          <p:cNvSpPr>
            <a:spLocks noGrp="1" noChangeArrowheads="1"/>
          </p:cNvSpPr>
          <p:nvPr>
            <p:ph type="title"/>
          </p:nvPr>
        </p:nvSpPr>
        <p:spPr/>
        <p:txBody>
          <a:bodyPr/>
          <a:lstStyle/>
          <a:p>
            <a:r>
              <a:rPr lang="en-US" altLang="en-US"/>
              <a:t>Circuit Breaker Working</a:t>
            </a:r>
            <a:endParaRPr lang="en-IN" altLang="en-US"/>
          </a:p>
        </p:txBody>
      </p:sp>
      <p:pic>
        <p:nvPicPr>
          <p:cNvPr id="83970" name="Picture 2">
            <a:extLst>
              <a:ext uri="{FF2B5EF4-FFF2-40B4-BE49-F238E27FC236}">
                <a16:creationId xmlns:a16="http://schemas.microsoft.com/office/drawing/2014/main" id="{EAC8F41F-6529-EC4F-85A8-18A2FE90A08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457200" y="1281113"/>
            <a:ext cx="8229600" cy="4629150"/>
          </a:xfr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17F20CFF-8E77-F516-C813-9D8A4D4090CA}"/>
              </a:ext>
            </a:extLst>
          </p:cNvPr>
          <p:cNvSpPr>
            <a:spLocks noGrp="1" noChangeArrowheads="1"/>
          </p:cNvSpPr>
          <p:nvPr>
            <p:ph type="title"/>
          </p:nvPr>
        </p:nvSpPr>
        <p:spPr/>
        <p:txBody>
          <a:bodyPr/>
          <a:lstStyle/>
          <a:p>
            <a:r>
              <a:rPr lang="en-US" altLang="en-US"/>
              <a:t>Closed State</a:t>
            </a:r>
            <a:endParaRPr lang="en-IN" altLang="en-US"/>
          </a:p>
        </p:txBody>
      </p:sp>
      <p:sp>
        <p:nvSpPr>
          <p:cNvPr id="3" name="Content Placeholder 2">
            <a:extLst>
              <a:ext uri="{FF2B5EF4-FFF2-40B4-BE49-F238E27FC236}">
                <a16:creationId xmlns:a16="http://schemas.microsoft.com/office/drawing/2014/main" id="{13E2B41D-6D65-A845-37F5-836607AE2D17}"/>
              </a:ext>
            </a:extLst>
          </p:cNvPr>
          <p:cNvSpPr>
            <a:spLocks noGrp="1"/>
          </p:cNvSpPr>
          <p:nvPr>
            <p:ph idx="1"/>
          </p:nvPr>
        </p:nvSpPr>
        <p:spPr>
          <a:xfrm>
            <a:off x="457200" y="990600"/>
            <a:ext cx="8229600" cy="5135563"/>
          </a:xfrm>
        </p:spPr>
        <p:txBody>
          <a:bodyPr/>
          <a:lstStyle/>
          <a:p>
            <a:pPr>
              <a:defRPr/>
            </a:pPr>
            <a:r>
              <a:rPr lang="en-US" sz="2000" dirty="0">
                <a:solidFill>
                  <a:srgbClr val="292929"/>
                </a:solidFill>
              </a:rPr>
              <a:t>The Circuit Breaker enters a CLOSED state and waits for Client Requests. </a:t>
            </a:r>
          </a:p>
          <a:p>
            <a:pPr>
              <a:defRPr/>
            </a:pPr>
            <a:r>
              <a:rPr lang="en-US" sz="2000" dirty="0">
                <a:solidFill>
                  <a:srgbClr val="292929"/>
                </a:solidFill>
              </a:rPr>
              <a:t>In the CLOSED state, it does the following things:</a:t>
            </a:r>
          </a:p>
          <a:p>
            <a:pPr lvl="1">
              <a:lnSpc>
                <a:spcPct val="150000"/>
              </a:lnSpc>
              <a:defRPr/>
            </a:pPr>
            <a:r>
              <a:rPr lang="en-US" sz="1800" dirty="0">
                <a:solidFill>
                  <a:srgbClr val="292929"/>
                </a:solidFill>
              </a:rPr>
              <a:t>It receives Client Requests and makes a call to the Service</a:t>
            </a:r>
          </a:p>
          <a:p>
            <a:pPr lvl="1">
              <a:lnSpc>
                <a:spcPct val="150000"/>
              </a:lnSpc>
              <a:defRPr/>
            </a:pPr>
            <a:r>
              <a:rPr lang="en-US" sz="1800" dirty="0">
                <a:solidFill>
                  <a:srgbClr val="292929"/>
                </a:solidFill>
              </a:rPr>
              <a:t>If it succeeds and receives the response from that Service, it will reset the failure count to 0 and send that response back to the end user.</a:t>
            </a:r>
          </a:p>
          <a:p>
            <a:pPr lvl="1">
              <a:lnSpc>
                <a:spcPct val="150000"/>
              </a:lnSpc>
              <a:defRPr/>
            </a:pPr>
            <a:r>
              <a:rPr lang="en-US" sz="1800" dirty="0">
                <a:solidFill>
                  <a:srgbClr val="292929"/>
                </a:solidFill>
              </a:rPr>
              <a:t>If it fails to receive the response from that Service, it will increment the failure count by one and check whether that count is greater than the predefined failure threshold</a:t>
            </a:r>
          </a:p>
          <a:p>
            <a:pPr lvl="1">
              <a:lnSpc>
                <a:spcPct val="150000"/>
              </a:lnSpc>
              <a:defRPr/>
            </a:pPr>
            <a:r>
              <a:rPr lang="en-US" sz="1800" dirty="0">
                <a:solidFill>
                  <a:srgbClr val="292929"/>
                </a:solidFill>
              </a:rPr>
              <a:t>If the failure count is greater than the failure threshold, then that Circuit Breaker component trips or enters into the OPEN state</a:t>
            </a:r>
          </a:p>
          <a:p>
            <a:pPr lvl="1">
              <a:lnSpc>
                <a:spcPct val="150000"/>
              </a:lnSpc>
              <a:defRPr/>
            </a:pPr>
            <a:r>
              <a:rPr lang="en-US" sz="1800" b="1" i="1" dirty="0">
                <a:solidFill>
                  <a:srgbClr val="C00000"/>
                </a:solidFill>
                <a:latin typeface="Lato"/>
              </a:rPr>
              <a:t>CLOSED state means flow goes as expected, </a:t>
            </a:r>
          </a:p>
          <a:p>
            <a:pPr lvl="1">
              <a:lnSpc>
                <a:spcPct val="150000"/>
              </a:lnSpc>
              <a:defRPr/>
            </a:pPr>
            <a:endParaRPr lang="en-US" sz="1800" dirty="0">
              <a:solidFill>
                <a:srgbClr val="292929"/>
              </a:solidFill>
            </a:endParaRPr>
          </a:p>
          <a:p>
            <a:pPr marL="0" indent="0">
              <a:buFontTx/>
              <a:buNone/>
              <a:defRPr/>
            </a:pPr>
            <a:br>
              <a:rPr lang="en-US" sz="2000" dirty="0"/>
            </a:br>
            <a:endParaRPr lang="en-IN"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
            <a:extLst>
              <a:ext uri="{FF2B5EF4-FFF2-40B4-BE49-F238E27FC236}">
                <a16:creationId xmlns:a16="http://schemas.microsoft.com/office/drawing/2014/main" id="{12AC2491-F385-0377-CCC9-0FE4F2547A76}"/>
              </a:ext>
            </a:extLst>
          </p:cNvPr>
          <p:cNvSpPr>
            <a:spLocks noGrp="1" noChangeArrowheads="1"/>
          </p:cNvSpPr>
          <p:nvPr>
            <p:ph type="title"/>
          </p:nvPr>
        </p:nvSpPr>
        <p:spPr/>
        <p:txBody>
          <a:bodyPr/>
          <a:lstStyle/>
          <a:p>
            <a:r>
              <a:rPr lang="en-US" altLang="en-US"/>
              <a:t>Closed State</a:t>
            </a:r>
            <a:endParaRPr lang="en-IN" altLang="en-US"/>
          </a:p>
        </p:txBody>
      </p:sp>
      <p:pic>
        <p:nvPicPr>
          <p:cNvPr id="86018" name="Picture 2" descr="Circut Breaker Closed State - When the circuit breaker is in the CLOSED state, all calls go through to the Supplier Microservice, which responds without any latency.">
            <a:extLst>
              <a:ext uri="{FF2B5EF4-FFF2-40B4-BE49-F238E27FC236}">
                <a16:creationId xmlns:a16="http://schemas.microsoft.com/office/drawing/2014/main" id="{D457BD37-8A5A-4B75-3C46-7171A9FB321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165225"/>
            <a:ext cx="7239000" cy="4914900"/>
          </a:xfr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itle 1">
            <a:extLst>
              <a:ext uri="{FF2B5EF4-FFF2-40B4-BE49-F238E27FC236}">
                <a16:creationId xmlns:a16="http://schemas.microsoft.com/office/drawing/2014/main" id="{C34D445E-1E18-3B6B-A86F-F57EAEF1943C}"/>
              </a:ext>
            </a:extLst>
          </p:cNvPr>
          <p:cNvSpPr>
            <a:spLocks noGrp="1" noChangeArrowheads="1"/>
          </p:cNvSpPr>
          <p:nvPr>
            <p:ph type="title"/>
          </p:nvPr>
        </p:nvSpPr>
        <p:spPr/>
        <p:txBody>
          <a:bodyPr/>
          <a:lstStyle/>
          <a:p>
            <a:br>
              <a:rPr lang="en-US" altLang="en-US">
                <a:solidFill>
                  <a:srgbClr val="292929"/>
                </a:solidFill>
                <a:latin typeface="sohne"/>
              </a:rPr>
            </a:br>
            <a:r>
              <a:rPr lang="en-US" altLang="en-US">
                <a:solidFill>
                  <a:srgbClr val="292929"/>
                </a:solidFill>
                <a:latin typeface="sohne"/>
              </a:rPr>
              <a:t>OPEN state</a:t>
            </a:r>
            <a:br>
              <a:rPr lang="en-US" altLang="en-US">
                <a:solidFill>
                  <a:srgbClr val="292929"/>
                </a:solidFill>
                <a:latin typeface="sohne"/>
              </a:rPr>
            </a:br>
            <a:endParaRPr lang="en-IN" altLang="en-US"/>
          </a:p>
        </p:txBody>
      </p:sp>
      <p:sp>
        <p:nvSpPr>
          <p:cNvPr id="87042" name="Content Placeholder 2">
            <a:extLst>
              <a:ext uri="{FF2B5EF4-FFF2-40B4-BE49-F238E27FC236}">
                <a16:creationId xmlns:a16="http://schemas.microsoft.com/office/drawing/2014/main" id="{86B7F7E9-B5E7-3C3E-63E9-889C756CF71B}"/>
              </a:ext>
            </a:extLst>
          </p:cNvPr>
          <p:cNvSpPr>
            <a:spLocks noGrp="1" noChangeArrowheads="1"/>
          </p:cNvSpPr>
          <p:nvPr>
            <p:ph idx="1"/>
          </p:nvPr>
        </p:nvSpPr>
        <p:spPr>
          <a:xfrm>
            <a:off x="457200" y="1000125"/>
            <a:ext cx="8229600" cy="5126038"/>
          </a:xfrm>
        </p:spPr>
        <p:txBody>
          <a:bodyPr/>
          <a:lstStyle/>
          <a:p>
            <a:r>
              <a:rPr lang="en-US" altLang="en-US" sz="1800">
                <a:solidFill>
                  <a:srgbClr val="292929"/>
                </a:solidFill>
              </a:rPr>
              <a:t>In the OPEN state, it does the following things:</a:t>
            </a:r>
          </a:p>
          <a:p>
            <a:pPr lvl="1">
              <a:lnSpc>
                <a:spcPct val="150000"/>
              </a:lnSpc>
            </a:pPr>
            <a:r>
              <a:rPr lang="en-US" altLang="en-US" sz="2000">
                <a:solidFill>
                  <a:srgbClr val="292929"/>
                </a:solidFill>
              </a:rPr>
              <a:t>Enters into this state when the failure count is greater than the failure threshold</a:t>
            </a:r>
          </a:p>
          <a:p>
            <a:pPr lvl="1">
              <a:lnSpc>
                <a:spcPct val="150000"/>
              </a:lnSpc>
            </a:pPr>
            <a:r>
              <a:rPr lang="en-US" altLang="en-US" sz="2000">
                <a:solidFill>
                  <a:srgbClr val="292929"/>
                </a:solidFill>
              </a:rPr>
              <a:t>It does not make a call to the Service</a:t>
            </a:r>
          </a:p>
          <a:p>
            <a:pPr lvl="1">
              <a:lnSpc>
                <a:spcPct val="150000"/>
              </a:lnSpc>
            </a:pPr>
            <a:r>
              <a:rPr lang="en-US" altLang="en-US" sz="2000">
                <a:solidFill>
                  <a:srgbClr val="292929"/>
                </a:solidFill>
              </a:rPr>
              <a:t>If the Client sends any requests to it, it won’t make a call to the Service; it just sends an Exception and waits for some time </a:t>
            </a:r>
          </a:p>
          <a:p>
            <a:pPr lvl="1">
              <a:lnSpc>
                <a:spcPct val="150000"/>
              </a:lnSpc>
            </a:pPr>
            <a:r>
              <a:rPr lang="en-US" altLang="en-US" sz="2000">
                <a:solidFill>
                  <a:srgbClr val="292929"/>
                </a:solidFill>
              </a:rPr>
              <a:t>i.e. the Timeout value specified</a:t>
            </a:r>
          </a:p>
          <a:p>
            <a:pPr lvl="1">
              <a:lnSpc>
                <a:spcPct val="150000"/>
              </a:lnSpc>
            </a:pPr>
            <a:r>
              <a:rPr lang="en-US" altLang="en-US" sz="2000">
                <a:solidFill>
                  <a:srgbClr val="292929"/>
                </a:solidFill>
              </a:rPr>
              <a:t>Once the Timeout value expires, it will enter into the HALF-OPEN state</a:t>
            </a:r>
          </a:p>
          <a:p>
            <a:pPr algn="just"/>
            <a:endParaRPr lang="en-US" altLang="en-US" sz="1600" b="1" i="1">
              <a:solidFill>
                <a:srgbClr val="C00000"/>
              </a:solidFill>
              <a:latin typeface="Lato" panose="020F0502020204030203" pitchFamily="34" charset="0"/>
            </a:endParaRPr>
          </a:p>
          <a:p>
            <a:pPr algn="just"/>
            <a:r>
              <a:rPr lang="en-US" altLang="en-US" sz="1600" b="1" i="1">
                <a:solidFill>
                  <a:srgbClr val="C00000"/>
                </a:solidFill>
                <a:latin typeface="Lato" panose="020F0502020204030203" pitchFamily="34" charset="0"/>
              </a:rPr>
              <a:t>OPEN means situation is not good and moving to fallback mode</a:t>
            </a:r>
            <a:endParaRPr lang="en-IN" altLang="en-US" sz="1800" b="1" i="1">
              <a:solidFill>
                <a:srgbClr val="C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a:extLst>
              <a:ext uri="{FF2B5EF4-FFF2-40B4-BE49-F238E27FC236}">
                <a16:creationId xmlns:a16="http://schemas.microsoft.com/office/drawing/2014/main" id="{555A2755-898C-F16E-6DE3-B3AD35013BA1}"/>
              </a:ext>
            </a:extLst>
          </p:cNvPr>
          <p:cNvSpPr>
            <a:spLocks noGrp="1" noChangeArrowheads="1"/>
          </p:cNvSpPr>
          <p:nvPr>
            <p:ph type="title"/>
          </p:nvPr>
        </p:nvSpPr>
        <p:spPr/>
        <p:txBody>
          <a:bodyPr/>
          <a:lstStyle/>
          <a:p>
            <a:r>
              <a:rPr lang="en-US" altLang="en-US"/>
              <a:t>Open State</a:t>
            </a:r>
            <a:endParaRPr lang="en-IN" altLang="en-US"/>
          </a:p>
        </p:txBody>
      </p:sp>
      <p:pic>
        <p:nvPicPr>
          <p:cNvPr id="88066" name="Picture 2" descr="If the Supplier Microservice is experiencing slowness, the circuit breaker receives timeouts for its requests to the it. Once number of timeouts reaches the predetermined threshold, it trips the circuit breaker to the OPEN state. In theOPEN state, all calls are returned with an error by the circuit breaker, without making calls to the Supplier Microservice. This behavior helps the Supplier Microservice recover by reducing its load.">
            <a:extLst>
              <a:ext uri="{FF2B5EF4-FFF2-40B4-BE49-F238E27FC236}">
                <a16:creationId xmlns:a16="http://schemas.microsoft.com/office/drawing/2014/main" id="{E9D902C4-6CDD-6894-AD4F-DA9AC0ADDEB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917575"/>
            <a:ext cx="7391400" cy="5413375"/>
          </a:xfr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Title 1">
            <a:extLst>
              <a:ext uri="{FF2B5EF4-FFF2-40B4-BE49-F238E27FC236}">
                <a16:creationId xmlns:a16="http://schemas.microsoft.com/office/drawing/2014/main" id="{89A0F886-40C9-CD53-21A6-BD815CED9D71}"/>
              </a:ext>
            </a:extLst>
          </p:cNvPr>
          <p:cNvSpPr>
            <a:spLocks noGrp="1" noChangeArrowheads="1"/>
          </p:cNvSpPr>
          <p:nvPr>
            <p:ph type="title"/>
          </p:nvPr>
        </p:nvSpPr>
        <p:spPr/>
        <p:txBody>
          <a:bodyPr/>
          <a:lstStyle/>
          <a:p>
            <a:r>
              <a:rPr lang="en-US" altLang="en-US">
                <a:solidFill>
                  <a:srgbClr val="292929"/>
                </a:solidFill>
              </a:rPr>
              <a:t>HALF-OPEN state</a:t>
            </a:r>
            <a:br>
              <a:rPr lang="en-US" altLang="en-US">
                <a:solidFill>
                  <a:srgbClr val="292929"/>
                </a:solidFill>
              </a:rPr>
            </a:br>
            <a:endParaRPr lang="en-IN" altLang="en-US"/>
          </a:p>
        </p:txBody>
      </p:sp>
      <p:sp>
        <p:nvSpPr>
          <p:cNvPr id="3" name="Content Placeholder 2">
            <a:extLst>
              <a:ext uri="{FF2B5EF4-FFF2-40B4-BE49-F238E27FC236}">
                <a16:creationId xmlns:a16="http://schemas.microsoft.com/office/drawing/2014/main" id="{5691803C-17A2-8F2A-075B-0B53CB4FAC66}"/>
              </a:ext>
            </a:extLst>
          </p:cNvPr>
          <p:cNvSpPr>
            <a:spLocks noGrp="1"/>
          </p:cNvSpPr>
          <p:nvPr>
            <p:ph idx="1"/>
          </p:nvPr>
        </p:nvSpPr>
        <p:spPr/>
        <p:txBody>
          <a:bodyPr/>
          <a:lstStyle/>
          <a:p>
            <a:pPr>
              <a:defRPr/>
            </a:pPr>
            <a:r>
              <a:rPr lang="en-US" sz="2000" dirty="0">
                <a:solidFill>
                  <a:srgbClr val="292929"/>
                </a:solidFill>
              </a:rPr>
              <a:t>In the HALF-OPEN state, it does the following things:</a:t>
            </a:r>
          </a:p>
          <a:p>
            <a:pPr lvl="1">
              <a:lnSpc>
                <a:spcPct val="150000"/>
              </a:lnSpc>
              <a:defRPr/>
            </a:pPr>
            <a:r>
              <a:rPr lang="en-US" sz="2000" dirty="0">
                <a:solidFill>
                  <a:srgbClr val="292929"/>
                </a:solidFill>
              </a:rPr>
              <a:t>Enters into this state when it finishes the predefined waiting time.</a:t>
            </a:r>
          </a:p>
          <a:p>
            <a:pPr lvl="1">
              <a:lnSpc>
                <a:spcPct val="150000"/>
              </a:lnSpc>
              <a:defRPr/>
            </a:pPr>
            <a:r>
              <a:rPr lang="en-US" sz="2000" dirty="0">
                <a:solidFill>
                  <a:srgbClr val="292929"/>
                </a:solidFill>
              </a:rPr>
              <a:t>It sends the first request to the Service.</a:t>
            </a:r>
          </a:p>
          <a:p>
            <a:pPr lvl="1">
              <a:lnSpc>
                <a:spcPct val="150000"/>
              </a:lnSpc>
              <a:defRPr/>
            </a:pPr>
            <a:r>
              <a:rPr lang="en-US" sz="2000" dirty="0">
                <a:solidFill>
                  <a:srgbClr val="292929"/>
                </a:solidFill>
              </a:rPr>
              <a:t>If it receives a success response, then it will enter into the CLOSED state to process further Client Requests. Before picking up the first client request, it will reset the failure count to 0 again.</a:t>
            </a:r>
          </a:p>
          <a:p>
            <a:pPr lvl="1">
              <a:lnSpc>
                <a:spcPct val="150000"/>
              </a:lnSpc>
              <a:defRPr/>
            </a:pPr>
            <a:r>
              <a:rPr lang="en-US" sz="2000" dirty="0">
                <a:solidFill>
                  <a:srgbClr val="292929"/>
                </a:solidFill>
              </a:rPr>
              <a:t>If it receives a failure response, then it will re-trip to the OPEN state and wait for a predefined Timeout value to expire.</a:t>
            </a:r>
          </a:p>
          <a:p>
            <a:pPr marL="0" indent="0">
              <a:buFontTx/>
              <a:buNone/>
              <a:defRPr/>
            </a:pPr>
            <a:br>
              <a:rPr lang="en-US" sz="2000" dirty="0"/>
            </a:br>
            <a:endParaRPr lang="en-IN"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a:extLst>
              <a:ext uri="{FF2B5EF4-FFF2-40B4-BE49-F238E27FC236}">
                <a16:creationId xmlns:a16="http://schemas.microsoft.com/office/drawing/2014/main" id="{E9FC6FA1-FEE3-52AD-3FFB-04C1106F78CF}"/>
              </a:ext>
            </a:extLst>
          </p:cNvPr>
          <p:cNvSpPr>
            <a:spLocks noGrp="1" noChangeArrowheads="1"/>
          </p:cNvSpPr>
          <p:nvPr>
            <p:ph type="title"/>
          </p:nvPr>
        </p:nvSpPr>
        <p:spPr/>
        <p:txBody>
          <a:bodyPr/>
          <a:lstStyle/>
          <a:p>
            <a:r>
              <a:rPr lang="en-US" altLang="en-US"/>
              <a:t>Half Open State</a:t>
            </a:r>
            <a:endParaRPr lang="en-IN" altLang="en-US"/>
          </a:p>
        </p:txBody>
      </p:sp>
      <p:pic>
        <p:nvPicPr>
          <p:cNvPr id="90114" name="Picture 2" descr="In order for the circuit breaker to know if the Supplier Microservice has recovered, it needs a monitoring and feedback mechanism. It uses this mechanism to make a trial call to the supplier microservice periodically to check if it has recovered. This is called the HALF-OPEN state. If the call to the supplier microservice times out, the circuit breaker remains in the OPEN state. If the call returns success, then the circuit will be switched to CLOSED state.">
            <a:extLst>
              <a:ext uri="{FF2B5EF4-FFF2-40B4-BE49-F238E27FC236}">
                <a16:creationId xmlns:a16="http://schemas.microsoft.com/office/drawing/2014/main" id="{2E07CB6F-3851-8B24-C101-A86E0DA783A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4400" y="1219200"/>
            <a:ext cx="7239000" cy="4906963"/>
          </a:xfr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a:extLst>
              <a:ext uri="{FF2B5EF4-FFF2-40B4-BE49-F238E27FC236}">
                <a16:creationId xmlns:a16="http://schemas.microsoft.com/office/drawing/2014/main" id="{94C6EDD6-DD04-8F10-B853-8C947A2CE29C}"/>
              </a:ext>
            </a:extLst>
          </p:cNvPr>
          <p:cNvSpPr>
            <a:spLocks noGrp="1" noChangeArrowheads="1"/>
          </p:cNvSpPr>
          <p:nvPr>
            <p:ph type="title"/>
          </p:nvPr>
        </p:nvSpPr>
        <p:spPr/>
        <p:txBody>
          <a:bodyPr/>
          <a:lstStyle/>
          <a:p>
            <a:r>
              <a:rPr lang="en-US" altLang="en-US"/>
              <a:t>Configuring Circuit Breaker</a:t>
            </a:r>
            <a:endParaRPr lang="en-IN" altLang="en-US"/>
          </a:p>
        </p:txBody>
      </p:sp>
      <p:sp>
        <p:nvSpPr>
          <p:cNvPr id="91138" name="Content Placeholder 2">
            <a:extLst>
              <a:ext uri="{FF2B5EF4-FFF2-40B4-BE49-F238E27FC236}">
                <a16:creationId xmlns:a16="http://schemas.microsoft.com/office/drawing/2014/main" id="{58B483E8-16D5-D05D-6B59-15B86B9DF890}"/>
              </a:ext>
            </a:extLst>
          </p:cNvPr>
          <p:cNvSpPr>
            <a:spLocks noGrp="1" noChangeArrowheads="1"/>
          </p:cNvSpPr>
          <p:nvPr>
            <p:ph idx="1"/>
          </p:nvPr>
        </p:nvSpPr>
        <p:spPr/>
        <p:txBody>
          <a:bodyPr/>
          <a:lstStyle/>
          <a:p>
            <a:pPr>
              <a:lnSpc>
                <a:spcPct val="150000"/>
              </a:lnSpc>
            </a:pPr>
            <a:r>
              <a:rPr lang="en-US" altLang="en-US" sz="2000" b="1"/>
              <a:t>failureRateThreshold:</a:t>
            </a:r>
          </a:p>
          <a:p>
            <a:pPr lvl="1">
              <a:lnSpc>
                <a:spcPct val="150000"/>
              </a:lnSpc>
            </a:pPr>
            <a:r>
              <a:rPr lang="en-US" altLang="en-US" sz="2000"/>
              <a:t>Failure threshold value of 50 which means if the 50 requests are failing in the 100 requests, keep the circuit breaker in CLOSED state.</a:t>
            </a:r>
          </a:p>
          <a:p>
            <a:pPr>
              <a:lnSpc>
                <a:spcPct val="150000"/>
              </a:lnSpc>
            </a:pPr>
            <a:r>
              <a:rPr lang="en-US" altLang="en-US" sz="2000" b="1"/>
              <a:t>permittedNumberOfCallsInHalfOpenState	</a:t>
            </a:r>
          </a:p>
          <a:p>
            <a:pPr lvl="1">
              <a:lnSpc>
                <a:spcPct val="150000"/>
              </a:lnSpc>
            </a:pPr>
            <a:r>
              <a:rPr lang="en-US" altLang="en-US" sz="2000"/>
              <a:t>Default Value : 10	</a:t>
            </a:r>
          </a:p>
          <a:p>
            <a:pPr lvl="1">
              <a:lnSpc>
                <a:spcPct val="150000"/>
              </a:lnSpc>
            </a:pPr>
            <a:r>
              <a:rPr lang="en-US" altLang="en-US" sz="2000"/>
              <a:t>Configures the number of permitted calls when the CircuitBreaker is half open.</a:t>
            </a:r>
          </a:p>
          <a:p>
            <a:pPr>
              <a:lnSpc>
                <a:spcPct val="150000"/>
              </a:lnSpc>
            </a:pPr>
            <a:endParaRPr lang="en-US" altLang="en-US" sz="2000"/>
          </a:p>
          <a:p>
            <a:pPr>
              <a:lnSpc>
                <a:spcPct val="150000"/>
              </a:lnSpc>
            </a:pPr>
            <a:endParaRPr lang="en-IN" altLang="en-US" sz="2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0A865A92-B917-6F8E-EDF0-A25E1E506FAD}"/>
              </a:ext>
            </a:extLst>
          </p:cNvPr>
          <p:cNvSpPr>
            <a:spLocks noGrp="1" noChangeArrowheads="1"/>
          </p:cNvSpPr>
          <p:nvPr>
            <p:ph type="title"/>
          </p:nvPr>
        </p:nvSpPr>
        <p:spPr/>
        <p:txBody>
          <a:bodyPr/>
          <a:lstStyle/>
          <a:p>
            <a:r>
              <a:rPr lang="en-US" altLang="en-US"/>
              <a:t>Configuring Circuit Breaker</a:t>
            </a:r>
            <a:endParaRPr lang="en-IN" altLang="en-US"/>
          </a:p>
        </p:txBody>
      </p:sp>
      <p:sp>
        <p:nvSpPr>
          <p:cNvPr id="92162" name="Content Placeholder 2">
            <a:extLst>
              <a:ext uri="{FF2B5EF4-FFF2-40B4-BE49-F238E27FC236}">
                <a16:creationId xmlns:a16="http://schemas.microsoft.com/office/drawing/2014/main" id="{DB10FCCD-28EA-0BE7-CD52-A8F90545BF51}"/>
              </a:ext>
            </a:extLst>
          </p:cNvPr>
          <p:cNvSpPr>
            <a:spLocks noGrp="1" noChangeArrowheads="1"/>
          </p:cNvSpPr>
          <p:nvPr>
            <p:ph idx="1"/>
          </p:nvPr>
        </p:nvSpPr>
        <p:spPr>
          <a:xfrm>
            <a:off x="457200" y="868363"/>
            <a:ext cx="8229600" cy="5257800"/>
          </a:xfrm>
        </p:spPr>
        <p:txBody>
          <a:bodyPr/>
          <a:lstStyle/>
          <a:p>
            <a:r>
              <a:rPr lang="en-US" altLang="en-US" sz="1800" b="1"/>
              <a:t>slidingWindowType</a:t>
            </a:r>
            <a:r>
              <a:rPr lang="en-US" altLang="en-US" sz="1800"/>
              <a:t>  : COUNT_BASED	</a:t>
            </a:r>
          </a:p>
          <a:p>
            <a:pPr lvl="1"/>
            <a:r>
              <a:rPr lang="en-US" altLang="en-US" sz="1800"/>
              <a:t>Used to store and count the results of calls</a:t>
            </a:r>
          </a:p>
          <a:p>
            <a:pPr lvl="1"/>
            <a:r>
              <a:rPr lang="en-US" altLang="en-US" sz="1800"/>
              <a:t>Circuit breaker always keeps the total number of invoke equals to slidingWindowSize.</a:t>
            </a:r>
          </a:p>
          <a:p>
            <a:pPr lvl="1"/>
            <a:r>
              <a:rPr lang="en-US" altLang="en-US" sz="1800" b="1"/>
              <a:t>COUNT_BASED:</a:t>
            </a:r>
          </a:p>
          <a:p>
            <a:pPr lvl="2"/>
            <a:r>
              <a:rPr lang="en-US" altLang="en-US" sz="1800"/>
              <a:t>The last slidingWindowSize calls are recorded and aggregated.</a:t>
            </a:r>
          </a:p>
          <a:p>
            <a:pPr lvl="1"/>
            <a:r>
              <a:rPr lang="en-US" altLang="en-US" sz="1800" b="1"/>
              <a:t>TIME_BASED:</a:t>
            </a:r>
          </a:p>
          <a:p>
            <a:pPr lvl="2"/>
            <a:r>
              <a:rPr lang="en-US" altLang="en-US" sz="1800"/>
              <a:t>The calls of the last slidingWindowSize seconds recorded and aggregated</a:t>
            </a:r>
          </a:p>
          <a:p>
            <a:endParaRPr lang="en-US" altLang="en-US" sz="1800" b="1"/>
          </a:p>
          <a:p>
            <a:r>
              <a:rPr lang="en-US" altLang="en-US" sz="1800" b="1"/>
              <a:t>slidingWindowSize </a:t>
            </a:r>
          </a:p>
          <a:p>
            <a:pPr lvl="1"/>
            <a:r>
              <a:rPr lang="en-US" altLang="en-US" sz="1800"/>
              <a:t>Default value is100	</a:t>
            </a:r>
          </a:p>
          <a:p>
            <a:pPr lvl="1"/>
            <a:r>
              <a:rPr lang="en-US" altLang="en-US" sz="1800"/>
              <a:t>Deciding the number of calls to decide when closing a circuit breaker.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4A4C5D51-874A-2275-0B5E-8FD6AC669E9F}"/>
              </a:ext>
            </a:extLst>
          </p:cNvPr>
          <p:cNvSpPr>
            <a:spLocks noGrp="1" noChangeArrowheads="1"/>
          </p:cNvSpPr>
          <p:nvPr>
            <p:ph type="title"/>
          </p:nvPr>
        </p:nvSpPr>
        <p:spPr/>
        <p:txBody>
          <a:bodyPr/>
          <a:lstStyle/>
          <a:p>
            <a:r>
              <a:rPr lang="en-US" altLang="en-US"/>
              <a:t>Failure rate formula</a:t>
            </a:r>
            <a:br>
              <a:rPr lang="en-US" altLang="en-US"/>
            </a:br>
            <a:endParaRPr lang="en-IN" altLang="en-US"/>
          </a:p>
        </p:txBody>
      </p:sp>
      <p:sp>
        <p:nvSpPr>
          <p:cNvPr id="94210" name="Content Placeholder 2">
            <a:extLst>
              <a:ext uri="{FF2B5EF4-FFF2-40B4-BE49-F238E27FC236}">
                <a16:creationId xmlns:a16="http://schemas.microsoft.com/office/drawing/2014/main" id="{9676631E-FA9A-0239-D5EE-B13D06333615}"/>
              </a:ext>
            </a:extLst>
          </p:cNvPr>
          <p:cNvSpPr>
            <a:spLocks noGrp="1" noChangeArrowheads="1"/>
          </p:cNvSpPr>
          <p:nvPr>
            <p:ph idx="1"/>
          </p:nvPr>
        </p:nvSpPr>
        <p:spPr>
          <a:xfrm>
            <a:off x="457200" y="762000"/>
            <a:ext cx="8229600" cy="5364163"/>
          </a:xfrm>
        </p:spPr>
        <p:txBody>
          <a:bodyPr/>
          <a:lstStyle/>
          <a:p>
            <a:r>
              <a:rPr lang="en-US" altLang="en-US" sz="1800"/>
              <a:t>Count based sliding window</a:t>
            </a:r>
          </a:p>
          <a:p>
            <a:endParaRPr lang="en-US" altLang="en-US" sz="1800"/>
          </a:p>
          <a:p>
            <a:r>
              <a:rPr lang="en-US" altLang="en-US" sz="1800"/>
              <a:t>FailureRate = numberOfFailureInvoke / totalNumber X 100%. </a:t>
            </a:r>
          </a:p>
          <a:p>
            <a:endParaRPr lang="en-US" altLang="en-US" sz="1800"/>
          </a:p>
          <a:p>
            <a:r>
              <a:rPr lang="en-US" altLang="en-US" sz="1800"/>
              <a:t>Total number =Number of failures invoke + number of successes invoke.</a:t>
            </a:r>
          </a:p>
          <a:p>
            <a:endParaRPr lang="en-US" altLang="en-US" sz="1800"/>
          </a:p>
          <a:p>
            <a:r>
              <a:rPr lang="en-US" altLang="en-US" sz="1800"/>
              <a:t>The total number of invoke never exceed the slidingWindowSize . </a:t>
            </a:r>
          </a:p>
          <a:p>
            <a:endParaRPr lang="en-US" altLang="en-US" sz="1800"/>
          </a:p>
          <a:p>
            <a:r>
              <a:rPr lang="en-US" altLang="en-US" sz="1600" b="1"/>
              <a:t>If the slidingWindowSize is 10  and the number of successes invoke is Nine. </a:t>
            </a:r>
          </a:p>
          <a:p>
            <a:endParaRPr lang="en-US" altLang="en-US" sz="1800"/>
          </a:p>
          <a:p>
            <a:r>
              <a:rPr lang="en-US" altLang="en-US" sz="1800"/>
              <a:t>If the 10th invoke is a failure invoke, then circuit breaker will decrease the number of successes invoke by one, and increases the number of failures invoke by one. </a:t>
            </a:r>
          </a:p>
          <a:p>
            <a:endParaRPr lang="en-US" altLang="en-US" sz="1800"/>
          </a:p>
          <a:p>
            <a:r>
              <a:rPr lang="en-US" altLang="en-US" sz="1800"/>
              <a:t>Circuit breaker always keeps the total number of invoke equals to slidingWindowSize.</a:t>
            </a:r>
          </a:p>
          <a:p>
            <a:endParaRPr lang="en-US" altLang="en-US" sz="1800"/>
          </a:p>
          <a:p>
            <a:endParaRPr lang="en-IN" altLang="en-US" sz="18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F6DE5C08-1BF9-90AC-92C2-B804852E638C}"/>
              </a:ext>
            </a:extLst>
          </p:cNvPr>
          <p:cNvSpPr>
            <a:spLocks noGrp="1" noChangeArrowheads="1"/>
          </p:cNvSpPr>
          <p:nvPr>
            <p:ph type="title"/>
          </p:nvPr>
        </p:nvSpPr>
        <p:spPr/>
        <p:txBody>
          <a:bodyPr/>
          <a:lstStyle/>
          <a:p>
            <a:r>
              <a:rPr lang="en-US" altLang="en-US"/>
              <a:t>Configuring Circuit Breaker</a:t>
            </a:r>
            <a:endParaRPr lang="en-IN" altLang="en-US"/>
          </a:p>
        </p:txBody>
      </p:sp>
      <p:sp>
        <p:nvSpPr>
          <p:cNvPr id="95234" name="Content Placeholder 2">
            <a:extLst>
              <a:ext uri="{FF2B5EF4-FFF2-40B4-BE49-F238E27FC236}">
                <a16:creationId xmlns:a16="http://schemas.microsoft.com/office/drawing/2014/main" id="{8CCF3AF5-E467-79A2-78D1-009E069DA1AA}"/>
              </a:ext>
            </a:extLst>
          </p:cNvPr>
          <p:cNvSpPr>
            <a:spLocks noGrp="1" noChangeArrowheads="1"/>
          </p:cNvSpPr>
          <p:nvPr>
            <p:ph idx="1"/>
          </p:nvPr>
        </p:nvSpPr>
        <p:spPr/>
        <p:txBody>
          <a:bodyPr/>
          <a:lstStyle/>
          <a:p>
            <a:r>
              <a:rPr lang="en-US" altLang="en-US" sz="1800" b="1"/>
              <a:t>waitDurationInOpenState: </a:t>
            </a:r>
          </a:p>
          <a:p>
            <a:pPr lvl="1"/>
            <a:r>
              <a:rPr lang="en-US" altLang="en-US" sz="1800"/>
              <a:t>The time in millisecond that breaker should wait before transitioning from open to half-open </a:t>
            </a:r>
          </a:p>
          <a:p>
            <a:pPr lvl="1"/>
            <a:r>
              <a:rPr lang="en-US" altLang="en-US" sz="1800"/>
              <a:t>Default value is 60000  (1 Minute)</a:t>
            </a:r>
          </a:p>
          <a:p>
            <a:pPr lvl="1"/>
            <a:endParaRPr lang="en-US" altLang="en-US" sz="1800"/>
          </a:p>
          <a:p>
            <a:r>
              <a:rPr lang="en-US" altLang="en-US" sz="1800" b="1"/>
              <a:t>automaticTransitionFromOpenToHalfOpenEnabled	</a:t>
            </a:r>
          </a:p>
          <a:p>
            <a:pPr lvl="1"/>
            <a:r>
              <a:rPr lang="en-US" altLang="en-US" sz="1800" b="1"/>
              <a:t>True: </a:t>
            </a:r>
            <a:r>
              <a:rPr lang="en-US" altLang="en-US" sz="1800"/>
              <a:t>CircuitBreaker will automatically transition from open to half-open state and no call is needed to trigger the transition. </a:t>
            </a:r>
          </a:p>
          <a:p>
            <a:pPr lvl="1"/>
            <a:r>
              <a:rPr lang="en-US" altLang="en-US" sz="1800"/>
              <a:t>A thread is created to monitor all the instances of CircuitBreakers to transition them to HALF_OPEN once waitDurationInOpenState passes. </a:t>
            </a:r>
          </a:p>
          <a:p>
            <a:pPr lvl="1"/>
            <a:r>
              <a:rPr lang="en-US" altLang="en-US" sz="1800" b="1"/>
              <a:t>False : </a:t>
            </a:r>
            <a:r>
              <a:rPr lang="en-US" altLang="en-US" sz="1800"/>
              <a:t> the transition to HALF_OPEN only happens if a call is made, even after waitDurationInOpenState is passed. </a:t>
            </a:r>
          </a:p>
          <a:p>
            <a:pPr lvl="1"/>
            <a:r>
              <a:rPr lang="en-US" altLang="en-US" sz="1800"/>
              <a:t>The advantage here is no thread monitors the state of all CircuitBreakers</a:t>
            </a:r>
          </a:p>
          <a:p>
            <a:endParaRPr lang="en-US" altLang="en-US" sz="1800"/>
          </a:p>
          <a:p>
            <a:endParaRPr lang="en-IN" altLang="en-US" sz="1800"/>
          </a:p>
          <a:p>
            <a:pPr lvl="1"/>
            <a:endParaRPr lang="en-US" altLang="en-US" sz="1800"/>
          </a:p>
          <a:p>
            <a:endParaRPr lang="en-US" altLang="en-US" sz="1800"/>
          </a:p>
          <a:p>
            <a:endParaRPr lang="en-IN" altLang="en-US" sz="1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0550A5FF-E787-2FBB-C05C-37FC8E1B7474}"/>
              </a:ext>
            </a:extLst>
          </p:cNvPr>
          <p:cNvSpPr>
            <a:spLocks noGrp="1" noChangeArrowheads="1"/>
          </p:cNvSpPr>
          <p:nvPr>
            <p:ph type="title"/>
          </p:nvPr>
        </p:nvSpPr>
        <p:spPr/>
        <p:txBody>
          <a:bodyPr/>
          <a:lstStyle/>
          <a:p>
            <a:r>
              <a:rPr lang="en-US" altLang="en-US"/>
              <a:t>Configuring Circuit Breaker</a:t>
            </a:r>
            <a:endParaRPr lang="en-IN" altLang="en-US"/>
          </a:p>
        </p:txBody>
      </p:sp>
      <p:sp>
        <p:nvSpPr>
          <p:cNvPr id="96258" name="Content Placeholder 2">
            <a:extLst>
              <a:ext uri="{FF2B5EF4-FFF2-40B4-BE49-F238E27FC236}">
                <a16:creationId xmlns:a16="http://schemas.microsoft.com/office/drawing/2014/main" id="{A3E54469-BD7A-A760-CABD-6D1EE3A80ABF}"/>
              </a:ext>
            </a:extLst>
          </p:cNvPr>
          <p:cNvSpPr>
            <a:spLocks noGrp="1" noChangeArrowheads="1"/>
          </p:cNvSpPr>
          <p:nvPr>
            <p:ph idx="1"/>
          </p:nvPr>
        </p:nvSpPr>
        <p:spPr/>
        <p:txBody>
          <a:bodyPr/>
          <a:lstStyle/>
          <a:p>
            <a:r>
              <a:rPr lang="en-US" altLang="en-US" sz="2000"/>
              <a:t>minimumNumberOfCalls Default :100</a:t>
            </a:r>
          </a:p>
          <a:p>
            <a:r>
              <a:rPr lang="en-US" altLang="en-US" sz="2000"/>
              <a:t>Used for failure rate calculation. </a:t>
            </a:r>
          </a:p>
          <a:p>
            <a:pPr lvl="1"/>
            <a:endParaRPr lang="en-US" altLang="en-US" sz="2000"/>
          </a:p>
          <a:p>
            <a:pPr lvl="1"/>
            <a:r>
              <a:rPr lang="en-US" altLang="en-US" sz="2000"/>
              <a:t>If minimumNumberOfCalls is 10, then at least 10 calls must be recorded, before the failure rate can be calculated.</a:t>
            </a:r>
          </a:p>
          <a:p>
            <a:pPr lvl="1"/>
            <a:endParaRPr lang="en-US" altLang="en-US" sz="2000"/>
          </a:p>
          <a:p>
            <a:pPr lvl="1"/>
            <a:r>
              <a:rPr lang="en-US" altLang="en-US" sz="2000"/>
              <a:t>If only 9 calls have been recorded the CircuitBreaker will not transition to open even if all 9 calls have failed.</a:t>
            </a:r>
          </a:p>
          <a:p>
            <a:pPr lvl="1"/>
            <a:endParaRPr lang="en-US" altLang="en-US" sz="2000"/>
          </a:p>
          <a:p>
            <a:pPr lvl="1"/>
            <a:endParaRPr lang="en-US" altLang="en-US" sz="2000"/>
          </a:p>
          <a:p>
            <a:pPr lvl="1"/>
            <a:endParaRPr lang="en-US" altLang="en-US" sz="2000"/>
          </a:p>
          <a:p>
            <a:pPr lvl="1"/>
            <a:endParaRPr lang="en-US" altLang="en-US" sz="20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E52FD1E1-061A-8C00-B1DD-309DB7B0B8EF}"/>
              </a:ext>
            </a:extLst>
          </p:cNvPr>
          <p:cNvSpPr>
            <a:spLocks noGrp="1" noChangeArrowheads="1"/>
          </p:cNvSpPr>
          <p:nvPr>
            <p:ph type="title"/>
          </p:nvPr>
        </p:nvSpPr>
        <p:spPr/>
        <p:txBody>
          <a:bodyPr/>
          <a:lstStyle/>
          <a:p>
            <a:r>
              <a:rPr lang="en-IN" altLang="en-US">
                <a:solidFill>
                  <a:srgbClr val="000000"/>
                </a:solidFill>
                <a:latin typeface="Consolas" panose="020B0609020204030204" pitchFamily="49" charset="0"/>
              </a:rPr>
              <a:t> </a:t>
            </a:r>
            <a:br>
              <a:rPr lang="en-IN" altLang="en-US">
                <a:solidFill>
                  <a:srgbClr val="000000"/>
                </a:solidFill>
                <a:latin typeface="Consolas" panose="020B0609020204030204" pitchFamily="49" charset="0"/>
              </a:rPr>
            </a:br>
            <a:r>
              <a:rPr lang="en-IN" altLang="en-US">
                <a:solidFill>
                  <a:srgbClr val="268BD2"/>
                </a:solidFill>
                <a:latin typeface="Consolas" panose="020B0609020204030204" pitchFamily="49" charset="0"/>
              </a:rPr>
              <a:t>circuitbreaker</a:t>
            </a:r>
            <a:br>
              <a:rPr lang="en-IN" altLang="en-US">
                <a:solidFill>
                  <a:srgbClr val="000000"/>
                </a:solidFill>
                <a:latin typeface="Consolas" panose="020B0609020204030204" pitchFamily="49" charset="0"/>
              </a:rPr>
            </a:br>
            <a:r>
              <a:rPr lang="en-IN" altLang="en-US">
                <a:solidFill>
                  <a:srgbClr val="000000"/>
                </a:solidFill>
                <a:latin typeface="Consolas" panose="020B0609020204030204" pitchFamily="49" charset="0"/>
              </a:rPr>
              <a:t> </a:t>
            </a:r>
            <a:endParaRPr lang="en-IN" altLang="en-US"/>
          </a:p>
        </p:txBody>
      </p:sp>
      <p:sp>
        <p:nvSpPr>
          <p:cNvPr id="97282" name="Content Placeholder 2">
            <a:extLst>
              <a:ext uri="{FF2B5EF4-FFF2-40B4-BE49-F238E27FC236}">
                <a16:creationId xmlns:a16="http://schemas.microsoft.com/office/drawing/2014/main" id="{41DC5C06-3979-8989-8372-1BEEF0C3E539}"/>
              </a:ext>
            </a:extLst>
          </p:cNvPr>
          <p:cNvSpPr>
            <a:spLocks noGrp="1" noChangeArrowheads="1"/>
          </p:cNvSpPr>
          <p:nvPr>
            <p:ph idx="1"/>
          </p:nvPr>
        </p:nvSpPr>
        <p:spPr/>
        <p:txBody>
          <a:bodyPr/>
          <a:lstStyle/>
          <a:p>
            <a:pPr marL="0" indent="0">
              <a:buFontTx/>
              <a:buNone/>
            </a:pPr>
            <a:r>
              <a:rPr lang="en-IN" altLang="en-US" sz="1800">
                <a:solidFill>
                  <a:srgbClr val="268BD2"/>
                </a:solidFill>
                <a:latin typeface="Consolas" panose="020B0609020204030204" pitchFamily="49" charset="0"/>
              </a:rPr>
              <a:t>resilience4j</a:t>
            </a:r>
            <a:r>
              <a:rPr lang="en-IN" altLang="en-US" sz="1800">
                <a:solidFill>
                  <a:srgbClr val="000000"/>
                </a:solidFill>
                <a:latin typeface="Consolas" panose="020B0609020204030204" pitchFamily="49" charset="0"/>
              </a:rPr>
              <a:t>:</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circuitbreaker</a:t>
            </a:r>
            <a:r>
              <a:rPr lang="en-IN" altLang="en-US" sz="1800">
                <a:solidFill>
                  <a:srgbClr val="000000"/>
                </a:solidFill>
                <a:latin typeface="Consolas" panose="020B0609020204030204" pitchFamily="49" charset="0"/>
              </a:rPr>
              <a:t>:</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instances</a:t>
            </a:r>
            <a:r>
              <a:rPr lang="en-IN" altLang="en-US" sz="1800">
                <a:solidFill>
                  <a:srgbClr val="000000"/>
                </a:solidFill>
                <a:latin typeface="Consolas" panose="020B0609020204030204" pitchFamily="49" charset="0"/>
              </a:rPr>
              <a:t>:</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orderService</a:t>
            </a:r>
            <a:r>
              <a:rPr lang="en-IN" altLang="en-US" sz="1800">
                <a:solidFill>
                  <a:srgbClr val="000000"/>
                </a:solidFill>
                <a:latin typeface="Consolas" panose="020B0609020204030204" pitchFamily="49" charset="0"/>
              </a:rPr>
              <a:t>:</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registerHealthIndicator</a:t>
            </a:r>
            <a:r>
              <a:rPr lang="en-IN" altLang="en-US" sz="1800">
                <a:solidFill>
                  <a:srgbClr val="000000"/>
                </a:solidFill>
                <a:latin typeface="Consolas" panose="020B0609020204030204" pitchFamily="49" charset="0"/>
              </a:rPr>
              <a:t>: </a:t>
            </a:r>
            <a:r>
              <a:rPr lang="en-IN" altLang="en-US" sz="1800">
                <a:solidFill>
                  <a:srgbClr val="B58900"/>
                </a:solidFill>
                <a:latin typeface="Consolas" panose="020B0609020204030204" pitchFamily="49" charset="0"/>
              </a:rPr>
              <a:t>true</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automaticTransitionFromOpenToHalfOpenEnabled</a:t>
            </a:r>
            <a:r>
              <a:rPr lang="en-IN" altLang="en-US" sz="1800">
                <a:solidFill>
                  <a:srgbClr val="000000"/>
                </a:solidFill>
                <a:latin typeface="Consolas" panose="020B0609020204030204" pitchFamily="49" charset="0"/>
              </a:rPr>
              <a:t>: </a:t>
            </a:r>
            <a:r>
              <a:rPr lang="en-IN" altLang="en-US" sz="1800">
                <a:solidFill>
                  <a:srgbClr val="B58900"/>
                </a:solidFill>
                <a:latin typeface="Consolas" panose="020B0609020204030204" pitchFamily="49" charset="0"/>
              </a:rPr>
              <a:t>false</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failureRateThreshold</a:t>
            </a:r>
            <a:r>
              <a:rPr lang="en-IN" altLang="en-US" sz="1800">
                <a:solidFill>
                  <a:srgbClr val="000000"/>
                </a:solidFill>
                <a:latin typeface="Consolas" panose="020B0609020204030204" pitchFamily="49" charset="0"/>
              </a:rPr>
              <a:t>: </a:t>
            </a:r>
            <a:r>
              <a:rPr lang="en-IN" altLang="en-US" sz="1800">
                <a:solidFill>
                  <a:srgbClr val="D33682"/>
                </a:solidFill>
                <a:latin typeface="Consolas" panose="020B0609020204030204" pitchFamily="49" charset="0"/>
              </a:rPr>
              <a:t>50</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minimumNumberOfCalls</a:t>
            </a:r>
            <a:r>
              <a:rPr lang="en-IN" altLang="en-US" sz="1800">
                <a:solidFill>
                  <a:srgbClr val="000000"/>
                </a:solidFill>
                <a:latin typeface="Consolas" panose="020B0609020204030204" pitchFamily="49" charset="0"/>
              </a:rPr>
              <a:t>: </a:t>
            </a:r>
            <a:r>
              <a:rPr lang="en-IN" altLang="en-US" sz="1800">
                <a:solidFill>
                  <a:srgbClr val="D33682"/>
                </a:solidFill>
                <a:latin typeface="Consolas" panose="020B0609020204030204" pitchFamily="49" charset="0"/>
              </a:rPr>
              <a:t>3</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permittedNumberOfCallsInHalfOpenState</a:t>
            </a:r>
            <a:r>
              <a:rPr lang="en-IN" altLang="en-US" sz="1800">
                <a:solidFill>
                  <a:srgbClr val="000000"/>
                </a:solidFill>
                <a:latin typeface="Consolas" panose="020B0609020204030204" pitchFamily="49" charset="0"/>
              </a:rPr>
              <a:t>: </a:t>
            </a:r>
            <a:r>
              <a:rPr lang="en-IN" altLang="en-US" sz="1800">
                <a:solidFill>
                  <a:srgbClr val="D33682"/>
                </a:solidFill>
                <a:latin typeface="Consolas" panose="020B0609020204030204" pitchFamily="49" charset="0"/>
              </a:rPr>
              <a:t>2</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slidingWindowSize</a:t>
            </a:r>
            <a:r>
              <a:rPr lang="en-IN" altLang="en-US" sz="1800">
                <a:solidFill>
                  <a:srgbClr val="000000"/>
                </a:solidFill>
                <a:latin typeface="Consolas" panose="020B0609020204030204" pitchFamily="49" charset="0"/>
              </a:rPr>
              <a:t>: </a:t>
            </a:r>
            <a:r>
              <a:rPr lang="en-IN" altLang="en-US" sz="1800">
                <a:solidFill>
                  <a:srgbClr val="D33682"/>
                </a:solidFill>
                <a:latin typeface="Consolas" panose="020B0609020204030204" pitchFamily="49" charset="0"/>
              </a:rPr>
              <a:t>10</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waitDurationInOpenState</a:t>
            </a:r>
            <a:r>
              <a:rPr lang="en-IN" altLang="en-US" sz="1800">
                <a:solidFill>
                  <a:srgbClr val="000000"/>
                </a:solidFill>
                <a:latin typeface="Consolas" panose="020B0609020204030204" pitchFamily="49" charset="0"/>
              </a:rPr>
              <a:t>: </a:t>
            </a:r>
            <a:r>
              <a:rPr lang="en-IN" altLang="en-US" sz="1800">
                <a:solidFill>
                  <a:srgbClr val="2AA198"/>
                </a:solidFill>
                <a:latin typeface="Consolas" panose="020B0609020204030204" pitchFamily="49" charset="0"/>
              </a:rPr>
              <a:t>5s</a:t>
            </a:r>
          </a:p>
          <a:p>
            <a:pPr marL="0" indent="0">
              <a:buFontTx/>
              <a:buNone/>
            </a:pPr>
            <a:r>
              <a:rPr lang="en-IN" altLang="en-US" sz="1800">
                <a:solidFill>
                  <a:srgbClr val="000000"/>
                </a:solidFill>
                <a:latin typeface="Consolas" panose="020B0609020204030204" pitchFamily="49" charset="0"/>
              </a:rPr>
              <a:t>        </a:t>
            </a:r>
            <a:r>
              <a:rPr lang="en-IN" altLang="en-US" sz="1800">
                <a:solidFill>
                  <a:srgbClr val="268BD2"/>
                </a:solidFill>
                <a:latin typeface="Consolas" panose="020B0609020204030204" pitchFamily="49" charset="0"/>
              </a:rPr>
              <a:t>slidingWindowType</a:t>
            </a:r>
            <a:r>
              <a:rPr lang="en-IN" altLang="en-US" sz="1800">
                <a:solidFill>
                  <a:srgbClr val="000000"/>
                </a:solidFill>
                <a:latin typeface="Consolas" panose="020B0609020204030204" pitchFamily="49" charset="0"/>
              </a:rPr>
              <a:t>: </a:t>
            </a:r>
            <a:r>
              <a:rPr lang="en-IN" altLang="en-US" sz="1800">
                <a:solidFill>
                  <a:srgbClr val="2AA198"/>
                </a:solidFill>
                <a:latin typeface="Consolas" panose="020B0609020204030204" pitchFamily="49" charset="0"/>
              </a:rPr>
              <a:t>COUNT_BASED</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788C8699-B26A-15A6-ED4E-3C89865CA5B3}"/>
              </a:ext>
            </a:extLst>
          </p:cNvPr>
          <p:cNvSpPr>
            <a:spLocks noGrp="1" noChangeArrowheads="1"/>
          </p:cNvSpPr>
          <p:nvPr>
            <p:ph type="title"/>
          </p:nvPr>
        </p:nvSpPr>
        <p:spPr/>
        <p:txBody>
          <a:bodyPr/>
          <a:lstStyle/>
          <a:p>
            <a:r>
              <a:rPr lang="en-IN" altLang="en-US">
                <a:solidFill>
                  <a:srgbClr val="268BD2"/>
                </a:solidFill>
                <a:latin typeface="Consolas" panose="020B0609020204030204" pitchFamily="49" charset="0"/>
              </a:rPr>
              <a:t>circuitbreaker</a:t>
            </a:r>
            <a:br>
              <a:rPr lang="en-IN" altLang="en-US">
                <a:solidFill>
                  <a:srgbClr val="000000"/>
                </a:solidFill>
                <a:latin typeface="Consolas" panose="020B0609020204030204" pitchFamily="49" charset="0"/>
              </a:rPr>
            </a:br>
            <a:endParaRPr lang="en-IN" altLang="en-US"/>
          </a:p>
        </p:txBody>
      </p:sp>
      <p:sp>
        <p:nvSpPr>
          <p:cNvPr id="98306" name="Content Placeholder 2">
            <a:extLst>
              <a:ext uri="{FF2B5EF4-FFF2-40B4-BE49-F238E27FC236}">
                <a16:creationId xmlns:a16="http://schemas.microsoft.com/office/drawing/2014/main" id="{08749011-48D6-46D0-4744-886D9FACD8D1}"/>
              </a:ext>
            </a:extLst>
          </p:cNvPr>
          <p:cNvSpPr>
            <a:spLocks noGrp="1" noChangeArrowheads="1"/>
          </p:cNvSpPr>
          <p:nvPr>
            <p:ph idx="1"/>
          </p:nvPr>
        </p:nvSpPr>
        <p:spPr>
          <a:xfrm>
            <a:off x="457200" y="762000"/>
            <a:ext cx="8229600" cy="5364163"/>
          </a:xfrm>
        </p:spPr>
        <p:txBody>
          <a:bodyPr/>
          <a:lstStyle/>
          <a:p>
            <a:pPr marL="457200" lvl="1" indent="0">
              <a:buFontTx/>
              <a:buNone/>
            </a:pPr>
            <a:r>
              <a:rPr lang="en-IN" altLang="en-US" sz="1800">
                <a:solidFill>
                  <a:srgbClr val="268BD2"/>
                </a:solidFill>
              </a:rPr>
              <a:t>management</a:t>
            </a:r>
            <a:r>
              <a:rPr lang="en-IN" altLang="en-US" sz="1800">
                <a:solidFill>
                  <a:srgbClr val="000000"/>
                </a:solidFill>
              </a:rPr>
              <a:t>:</a:t>
            </a:r>
          </a:p>
          <a:p>
            <a:pPr marL="457200" lvl="1" indent="0">
              <a:buFontTx/>
              <a:buNone/>
            </a:pPr>
            <a:r>
              <a:rPr lang="en-IN" altLang="en-US" sz="1800">
                <a:solidFill>
                  <a:srgbClr val="000000"/>
                </a:solidFill>
              </a:rPr>
              <a:t>  </a:t>
            </a:r>
            <a:r>
              <a:rPr lang="en-IN" altLang="en-US" sz="1800">
                <a:solidFill>
                  <a:srgbClr val="268BD2"/>
                </a:solidFill>
              </a:rPr>
              <a:t>endpoints</a:t>
            </a:r>
            <a:r>
              <a:rPr lang="en-IN" altLang="en-US" sz="1800">
                <a:solidFill>
                  <a:srgbClr val="000000"/>
                </a:solidFill>
              </a:rPr>
              <a:t>:</a:t>
            </a:r>
          </a:p>
          <a:p>
            <a:pPr marL="457200" lvl="1" indent="0">
              <a:buFontTx/>
              <a:buNone/>
            </a:pPr>
            <a:r>
              <a:rPr lang="en-IN" altLang="en-US" sz="1800">
                <a:solidFill>
                  <a:srgbClr val="000000"/>
                </a:solidFill>
              </a:rPr>
              <a:t>    </a:t>
            </a:r>
            <a:r>
              <a:rPr lang="en-IN" altLang="en-US" sz="1800">
                <a:solidFill>
                  <a:srgbClr val="268BD2"/>
                </a:solidFill>
              </a:rPr>
              <a:t>web</a:t>
            </a:r>
            <a:r>
              <a:rPr lang="en-IN" altLang="en-US" sz="1800">
                <a:solidFill>
                  <a:srgbClr val="000000"/>
                </a:solidFill>
              </a:rPr>
              <a:t>:</a:t>
            </a:r>
          </a:p>
          <a:p>
            <a:pPr marL="457200" lvl="1" indent="0">
              <a:buFontTx/>
              <a:buNone/>
            </a:pPr>
            <a:r>
              <a:rPr lang="en-IN" altLang="en-US" sz="1800">
                <a:solidFill>
                  <a:srgbClr val="000000"/>
                </a:solidFill>
              </a:rPr>
              <a:t>      </a:t>
            </a:r>
            <a:r>
              <a:rPr lang="en-IN" altLang="en-US" sz="1800">
                <a:solidFill>
                  <a:srgbClr val="268BD2"/>
                </a:solidFill>
              </a:rPr>
              <a:t>exposure</a:t>
            </a:r>
            <a:r>
              <a:rPr lang="en-IN" altLang="en-US" sz="1800">
                <a:solidFill>
                  <a:srgbClr val="000000"/>
                </a:solidFill>
              </a:rPr>
              <a:t>:</a:t>
            </a:r>
          </a:p>
          <a:p>
            <a:pPr marL="457200" lvl="1" indent="0">
              <a:buFontTx/>
              <a:buNone/>
            </a:pPr>
            <a:r>
              <a:rPr lang="en-IN" altLang="en-US" sz="1800">
                <a:solidFill>
                  <a:srgbClr val="000000"/>
                </a:solidFill>
              </a:rPr>
              <a:t>        </a:t>
            </a:r>
            <a:r>
              <a:rPr lang="en-IN" altLang="en-US" sz="1800">
                <a:solidFill>
                  <a:srgbClr val="268BD2"/>
                </a:solidFill>
              </a:rPr>
              <a:t>include</a:t>
            </a:r>
            <a:r>
              <a:rPr lang="en-IN" altLang="en-US" sz="1800">
                <a:solidFill>
                  <a:srgbClr val="000000"/>
                </a:solidFill>
              </a:rPr>
              <a:t>:</a:t>
            </a:r>
          </a:p>
          <a:p>
            <a:pPr marL="457200" lvl="1" indent="0">
              <a:buFontTx/>
              <a:buNone/>
            </a:pPr>
            <a:r>
              <a:rPr lang="en-IN" altLang="en-US" sz="1800">
                <a:solidFill>
                  <a:srgbClr val="000000"/>
                </a:solidFill>
              </a:rPr>
              <a:t>        - </a:t>
            </a:r>
            <a:r>
              <a:rPr lang="en-IN" altLang="en-US" sz="1800">
                <a:solidFill>
                  <a:srgbClr val="2AA198"/>
                </a:solidFill>
              </a:rPr>
              <a:t>"*"</a:t>
            </a:r>
            <a:r>
              <a:rPr lang="en-IN" altLang="en-US" sz="1800">
                <a:solidFill>
                  <a:srgbClr val="000000"/>
                </a:solidFill>
              </a:rPr>
              <a:t>        </a:t>
            </a:r>
          </a:p>
          <a:p>
            <a:pPr marL="457200" lvl="1" indent="0">
              <a:buFontTx/>
              <a:buNone/>
            </a:pPr>
            <a:r>
              <a:rPr lang="en-IN" altLang="en-US" sz="1800">
                <a:solidFill>
                  <a:srgbClr val="000000"/>
                </a:solidFill>
              </a:rPr>
              <a:t>  </a:t>
            </a:r>
            <a:r>
              <a:rPr lang="en-IN" altLang="en-US" sz="1800" b="1">
                <a:solidFill>
                  <a:srgbClr val="C00000"/>
                </a:solidFill>
              </a:rPr>
              <a:t>endpoint:</a:t>
            </a:r>
          </a:p>
          <a:p>
            <a:pPr marL="457200" lvl="1" indent="0">
              <a:buFontTx/>
              <a:buNone/>
            </a:pPr>
            <a:r>
              <a:rPr lang="en-IN" altLang="en-US" sz="1800" b="1">
                <a:solidFill>
                  <a:srgbClr val="C00000"/>
                </a:solidFill>
              </a:rPr>
              <a:t>    health:</a:t>
            </a:r>
          </a:p>
          <a:p>
            <a:pPr marL="457200" lvl="1" indent="0">
              <a:buFontTx/>
              <a:buNone/>
            </a:pPr>
            <a:r>
              <a:rPr lang="en-IN" altLang="en-US" sz="1800" b="1">
                <a:solidFill>
                  <a:srgbClr val="C00000"/>
                </a:solidFill>
              </a:rPr>
              <a:t>      show-details: always</a:t>
            </a:r>
          </a:p>
          <a:p>
            <a:pPr marL="457200" lvl="1" indent="0">
              <a:buFontTx/>
              <a:buNone/>
            </a:pPr>
            <a:r>
              <a:rPr lang="en-IN" altLang="en-US" sz="1800">
                <a:solidFill>
                  <a:srgbClr val="000000"/>
                </a:solidFill>
              </a:rPr>
              <a:t>    </a:t>
            </a:r>
            <a:r>
              <a:rPr lang="en-IN" altLang="en-US" sz="1800" b="1">
                <a:solidFill>
                  <a:srgbClr val="0070C0"/>
                </a:solidFill>
              </a:rPr>
              <a:t>circuitbreakers:</a:t>
            </a:r>
          </a:p>
          <a:p>
            <a:pPr marL="457200" lvl="1" indent="0">
              <a:buFontTx/>
              <a:buNone/>
            </a:pPr>
            <a:r>
              <a:rPr lang="en-IN" altLang="en-US" sz="1800" b="1">
                <a:solidFill>
                  <a:srgbClr val="0070C0"/>
                </a:solidFill>
              </a:rPr>
              <a:t>      enabled: true</a:t>
            </a:r>
          </a:p>
          <a:p>
            <a:pPr marL="457200" lvl="1" indent="0">
              <a:buFontTx/>
              <a:buNone/>
            </a:pPr>
            <a:r>
              <a:rPr lang="en-IN" altLang="en-US" sz="1800" b="1">
                <a:solidFill>
                  <a:srgbClr val="C00000"/>
                </a:solidFill>
              </a:rPr>
              <a:t>      </a:t>
            </a:r>
          </a:p>
          <a:p>
            <a:pPr marL="457200" lvl="1" indent="0">
              <a:buFontTx/>
              <a:buNone/>
            </a:pPr>
            <a:r>
              <a:rPr lang="en-IN" altLang="en-US" sz="1800" b="1">
                <a:solidFill>
                  <a:srgbClr val="C00000"/>
                </a:solidFill>
              </a:rPr>
              <a:t> health:</a:t>
            </a:r>
          </a:p>
          <a:p>
            <a:pPr marL="457200" lvl="1" indent="0">
              <a:buFontTx/>
              <a:buNone/>
            </a:pPr>
            <a:r>
              <a:rPr lang="en-IN" altLang="en-US" sz="1800" b="1">
                <a:solidFill>
                  <a:srgbClr val="C00000"/>
                </a:solidFill>
              </a:rPr>
              <a:t>    circuitbreakers:</a:t>
            </a:r>
          </a:p>
          <a:p>
            <a:pPr marL="457200" lvl="1" indent="0">
              <a:buFontTx/>
              <a:buNone/>
            </a:pPr>
            <a:r>
              <a:rPr lang="en-IN" altLang="en-US" sz="1800" b="1">
                <a:solidFill>
                  <a:srgbClr val="C00000"/>
                </a:solidFill>
              </a:rPr>
              <a:t>      enabled: true</a:t>
            </a:r>
          </a:p>
          <a:p>
            <a:pPr marL="457200" lvl="1" indent="0">
              <a:buFontTx/>
              <a:buNone/>
            </a:pPr>
            <a:endParaRPr lang="en-IN" altLang="en-US" sz="1800" b="1">
              <a:solidFill>
                <a:srgbClr val="C00000"/>
              </a:solidFill>
            </a:endParaRPr>
          </a:p>
          <a:p>
            <a:pPr marL="457200" lvl="1" indent="0">
              <a:buFontTx/>
              <a:buNone/>
            </a:pPr>
            <a:r>
              <a:rPr lang="en-IN" altLang="en-US" sz="1800" b="1">
                <a:solidFill>
                  <a:srgbClr val="C00000"/>
                </a:solidFill>
              </a:rPr>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13C263CC-065E-1D0E-AE26-7C9A2061A5AA}"/>
              </a:ext>
            </a:extLst>
          </p:cNvPr>
          <p:cNvSpPr>
            <a:spLocks noGrp="1" noChangeArrowheads="1"/>
          </p:cNvSpPr>
          <p:nvPr>
            <p:ph type="title"/>
          </p:nvPr>
        </p:nvSpPr>
        <p:spPr/>
        <p:txBody>
          <a:bodyPr/>
          <a:lstStyle/>
          <a:p>
            <a:r>
              <a:rPr lang="en-US" altLang="en-US"/>
              <a:t>Actuator Endpoints</a:t>
            </a:r>
            <a:endParaRPr lang="en-IN" altLang="en-US"/>
          </a:p>
        </p:txBody>
      </p:sp>
      <p:sp>
        <p:nvSpPr>
          <p:cNvPr id="99330" name="Content Placeholder 2">
            <a:extLst>
              <a:ext uri="{FF2B5EF4-FFF2-40B4-BE49-F238E27FC236}">
                <a16:creationId xmlns:a16="http://schemas.microsoft.com/office/drawing/2014/main" id="{89E2E3B7-9ABF-F9B6-9CFD-42AF22E46F06}"/>
              </a:ext>
            </a:extLst>
          </p:cNvPr>
          <p:cNvSpPr>
            <a:spLocks noGrp="1" noChangeArrowheads="1"/>
          </p:cNvSpPr>
          <p:nvPr>
            <p:ph idx="1"/>
          </p:nvPr>
        </p:nvSpPr>
        <p:spPr/>
        <p:txBody>
          <a:bodyPr/>
          <a:lstStyle/>
          <a:p>
            <a:pPr marL="457200" lvl="1" indent="0">
              <a:lnSpc>
                <a:spcPct val="200000"/>
              </a:lnSpc>
              <a:buFontTx/>
              <a:buNone/>
            </a:pPr>
            <a:r>
              <a:rPr lang="en-US" altLang="en-US" sz="2000" dirty="0">
                <a:hlinkClick r:id="rId2"/>
              </a:rPr>
              <a:t>http://localhost:9020/actuator/circuitbreakerevents</a:t>
            </a:r>
          </a:p>
          <a:p>
            <a:pPr marL="457200" lvl="1" indent="0">
              <a:lnSpc>
                <a:spcPct val="200000"/>
              </a:lnSpc>
              <a:buFontTx/>
              <a:buNone/>
            </a:pPr>
            <a:r>
              <a:rPr lang="en-US" altLang="en-US" sz="2000" dirty="0">
                <a:hlinkClick r:id="rId3"/>
              </a:rPr>
              <a:t>http://localhost:8080/actuator/health</a:t>
            </a:r>
            <a:endParaRPr lang="en-US" altLang="en-US" sz="2000" dirty="0"/>
          </a:p>
          <a:p>
            <a:pPr marL="457200" lvl="1" indent="0">
              <a:lnSpc>
                <a:spcPct val="200000"/>
              </a:lnSpc>
              <a:buFontTx/>
              <a:buNone/>
            </a:pPr>
            <a:r>
              <a:rPr lang="en-US" altLang="en-US" sz="2000" dirty="0">
                <a:hlinkClick r:id="rId4"/>
              </a:rPr>
              <a:t>http://localhost:6565/actuator/circuitbreakers</a:t>
            </a:r>
            <a:endParaRPr lang="en-US" altLang="en-US" sz="2000" dirty="0"/>
          </a:p>
          <a:p>
            <a:pPr marL="457200" lvl="1" indent="0">
              <a:lnSpc>
                <a:spcPct val="200000"/>
              </a:lnSpc>
              <a:buFontTx/>
              <a:buNone/>
            </a:pPr>
            <a:r>
              <a:rPr lang="en-US" altLang="en-US" sz="1800" dirty="0">
                <a:hlinkClick r:id="rId5"/>
              </a:rPr>
              <a:t>http://localhost:6565/actuator/metrics/resilience4j.circuitbreaker.calls</a:t>
            </a:r>
            <a:endParaRPr lang="en-US" altLang="en-US" sz="1800" dirty="0"/>
          </a:p>
          <a:p>
            <a:pPr marL="0" indent="0">
              <a:lnSpc>
                <a:spcPct val="200000"/>
              </a:lnSpc>
              <a:buFontTx/>
              <a:buNone/>
            </a:pPr>
            <a:endParaRPr lang="en-IN" alt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1">
            <a:extLst>
              <a:ext uri="{FF2B5EF4-FFF2-40B4-BE49-F238E27FC236}">
                <a16:creationId xmlns:a16="http://schemas.microsoft.com/office/drawing/2014/main" id="{7C2C1E42-1040-CB97-7841-958441CA41E5}"/>
              </a:ext>
            </a:extLst>
          </p:cNvPr>
          <p:cNvSpPr>
            <a:spLocks noGrp="1" noChangeArrowheads="1"/>
          </p:cNvSpPr>
          <p:nvPr>
            <p:ph type="title"/>
          </p:nvPr>
        </p:nvSpPr>
        <p:spPr/>
        <p:txBody>
          <a:bodyPr/>
          <a:lstStyle/>
          <a:p>
            <a:r>
              <a:rPr lang="en-US" altLang="en-US"/>
              <a:t>Retry</a:t>
            </a:r>
          </a:p>
        </p:txBody>
      </p:sp>
      <p:sp>
        <p:nvSpPr>
          <p:cNvPr id="3" name="Content Placeholder 2">
            <a:extLst>
              <a:ext uri="{FF2B5EF4-FFF2-40B4-BE49-F238E27FC236}">
                <a16:creationId xmlns:a16="http://schemas.microsoft.com/office/drawing/2014/main" id="{D9961206-513C-A2F2-3C02-EBD794AA8E41}"/>
              </a:ext>
            </a:extLst>
          </p:cNvPr>
          <p:cNvSpPr>
            <a:spLocks noGrp="1"/>
          </p:cNvSpPr>
          <p:nvPr>
            <p:ph idx="1"/>
          </p:nvPr>
        </p:nvSpPr>
        <p:spPr/>
        <p:txBody>
          <a:bodyPr/>
          <a:lstStyle/>
          <a:p>
            <a:pPr>
              <a:lnSpc>
                <a:spcPct val="150000"/>
              </a:lnSpc>
              <a:spcBef>
                <a:spcPct val="0"/>
              </a:spcBef>
              <a:defRPr/>
            </a:pPr>
            <a:r>
              <a:rPr lang="en-US" altLang="en-US" sz="2000" dirty="0">
                <a:solidFill>
                  <a:srgbClr val="404040"/>
                </a:solidFill>
              </a:rPr>
              <a:t> Service may fail due to a network outage, server being down, network glitch, rate limit, etc.</a:t>
            </a:r>
          </a:p>
          <a:p>
            <a:pPr>
              <a:lnSpc>
                <a:spcPct val="150000"/>
              </a:lnSpc>
              <a:spcBef>
                <a:spcPct val="0"/>
              </a:spcBef>
              <a:defRPr/>
            </a:pPr>
            <a:endParaRPr lang="en-US" altLang="en-US" sz="2000" dirty="0">
              <a:solidFill>
                <a:srgbClr val="404040"/>
              </a:solidFill>
            </a:endParaRPr>
          </a:p>
          <a:p>
            <a:pPr lvl="1">
              <a:lnSpc>
                <a:spcPct val="150000"/>
              </a:lnSpc>
              <a:spcBef>
                <a:spcPct val="0"/>
              </a:spcBef>
              <a:defRPr/>
            </a:pPr>
            <a:r>
              <a:rPr lang="en-US" altLang="en-US" sz="2000" dirty="0">
                <a:solidFill>
                  <a:srgbClr val="404040"/>
                </a:solidFill>
              </a:rPr>
              <a:t>Can try to retry the operation a few times before sending an error response to the client.</a:t>
            </a:r>
            <a:endParaRPr lang="en-US" altLang="en-US" sz="2000" dirty="0"/>
          </a:p>
          <a:p>
            <a:pPr>
              <a:lnSpc>
                <a:spcPct val="150000"/>
              </a:lnSpc>
              <a:spcBef>
                <a:spcPct val="0"/>
              </a:spcBef>
              <a:defRPr/>
            </a:pPr>
            <a:endParaRPr lang="en-US" altLang="en-US" sz="2000" dirty="0"/>
          </a:p>
          <a:p>
            <a:pPr lvl="1">
              <a:lnSpc>
                <a:spcPct val="150000"/>
              </a:lnSpc>
              <a:spcBef>
                <a:spcPct val="0"/>
              </a:spcBef>
              <a:defRPr/>
            </a:pPr>
            <a:r>
              <a:rPr lang="en-US" altLang="en-US" sz="1800" dirty="0"/>
              <a:t>It  increase the chance of getting a response back from a remote service when it’s momentarily overloaded or unresponsive.</a:t>
            </a:r>
          </a:p>
          <a:p>
            <a:pPr marL="0" indent="0">
              <a:spcBef>
                <a:spcPct val="0"/>
              </a:spcBef>
              <a:buFontTx/>
              <a:buNone/>
              <a:defRPr/>
            </a:pPr>
            <a:endParaRPr lang="en-US" altLang="en-US" sz="2000" dirty="0">
              <a:solidFill>
                <a:srgbClr val="404040"/>
              </a:solidFill>
            </a:endParaRPr>
          </a:p>
          <a:p>
            <a:pPr>
              <a:defRPr/>
            </a:pPr>
            <a:endParaRPr lang="en-US" sz="2000" dirty="0"/>
          </a:p>
        </p:txBody>
      </p:sp>
    </p:spTree>
    <p:extLst>
      <p:ext uri="{BB962C8B-B14F-4D97-AF65-F5344CB8AC3E}">
        <p14:creationId xmlns:p14="http://schemas.microsoft.com/office/powerpoint/2010/main" val="6607539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id="{16DC6D18-EEDE-93FE-D5AD-03F990936ABE}"/>
              </a:ext>
            </a:extLst>
          </p:cNvPr>
          <p:cNvSpPr>
            <a:spLocks noGrp="1" noChangeArrowheads="1"/>
          </p:cNvSpPr>
          <p:nvPr>
            <p:ph type="title"/>
          </p:nvPr>
        </p:nvSpPr>
        <p:spPr>
          <a:xfrm>
            <a:off x="457200" y="228600"/>
            <a:ext cx="8229600" cy="639763"/>
          </a:xfrm>
        </p:spPr>
        <p:txBody>
          <a:bodyPr/>
          <a:lstStyle/>
          <a:p>
            <a:r>
              <a:rPr lang="en-US" altLang="en-US"/>
              <a:t>Retry</a:t>
            </a:r>
          </a:p>
        </p:txBody>
      </p:sp>
      <p:sp>
        <p:nvSpPr>
          <p:cNvPr id="3" name="Content Placeholder 2">
            <a:extLst>
              <a:ext uri="{FF2B5EF4-FFF2-40B4-BE49-F238E27FC236}">
                <a16:creationId xmlns:a16="http://schemas.microsoft.com/office/drawing/2014/main" id="{A6212680-86C9-D85C-09FC-CBED21957B2F}"/>
              </a:ext>
            </a:extLst>
          </p:cNvPr>
          <p:cNvSpPr>
            <a:spLocks noGrp="1"/>
          </p:cNvSpPr>
          <p:nvPr>
            <p:ph idx="1"/>
          </p:nvPr>
        </p:nvSpPr>
        <p:spPr>
          <a:xfrm>
            <a:off x="457200" y="868363"/>
            <a:ext cx="8229600" cy="5257800"/>
          </a:xfrm>
        </p:spPr>
        <p:txBody>
          <a:bodyPr/>
          <a:lstStyle/>
          <a:p>
            <a:pPr>
              <a:spcBef>
                <a:spcPct val="0"/>
              </a:spcBef>
              <a:defRPr/>
            </a:pPr>
            <a:r>
              <a:rPr lang="en-US" altLang="en-US" sz="2000" b="1" dirty="0">
                <a:solidFill>
                  <a:srgbClr val="404040"/>
                </a:solidFill>
              </a:rPr>
              <a:t>Limit the number of retries</a:t>
            </a:r>
            <a:r>
              <a:rPr lang="en-US" altLang="en-US" sz="2000" dirty="0">
                <a:solidFill>
                  <a:srgbClr val="404040"/>
                </a:solidFill>
              </a:rPr>
              <a:t>: </a:t>
            </a:r>
          </a:p>
          <a:p>
            <a:pPr lvl="1" indent="-342900">
              <a:spcBef>
                <a:spcPct val="0"/>
              </a:spcBef>
              <a:defRPr/>
            </a:pPr>
            <a:r>
              <a:rPr lang="en-US" altLang="en-US" sz="2000" dirty="0">
                <a:solidFill>
                  <a:srgbClr val="404040"/>
                </a:solidFill>
              </a:rPr>
              <a:t>Retry should not be done indefinitely. </a:t>
            </a:r>
          </a:p>
          <a:p>
            <a:pPr lvl="1" indent="-342900">
              <a:spcBef>
                <a:spcPct val="0"/>
              </a:spcBef>
              <a:defRPr/>
            </a:pPr>
            <a:r>
              <a:rPr lang="en-US" altLang="en-US" sz="2000" dirty="0">
                <a:solidFill>
                  <a:srgbClr val="404040"/>
                </a:solidFill>
              </a:rPr>
              <a:t>If the API call is still failing after the set number of retries, it’s better to communicate the failure.</a:t>
            </a:r>
          </a:p>
          <a:p>
            <a:pPr marL="400050" lvl="1" indent="0">
              <a:spcBef>
                <a:spcPct val="0"/>
              </a:spcBef>
              <a:buFontTx/>
              <a:buChar char="•"/>
              <a:defRPr/>
            </a:pPr>
            <a:endParaRPr lang="en-US" altLang="en-US" sz="2000" b="1" dirty="0">
              <a:solidFill>
                <a:srgbClr val="404040"/>
              </a:solidFill>
            </a:endParaRPr>
          </a:p>
          <a:p>
            <a:pPr>
              <a:spcBef>
                <a:spcPct val="0"/>
              </a:spcBef>
              <a:defRPr/>
            </a:pPr>
            <a:r>
              <a:rPr lang="en-US" altLang="en-US" sz="2000" b="1" dirty="0">
                <a:solidFill>
                  <a:srgbClr val="404040"/>
                </a:solidFill>
              </a:rPr>
              <a:t> Retry only for transient/server-side errors: </a:t>
            </a:r>
          </a:p>
          <a:p>
            <a:pPr lvl="1" indent="-342900">
              <a:spcBef>
                <a:spcPct val="0"/>
              </a:spcBef>
              <a:defRPr/>
            </a:pPr>
            <a:r>
              <a:rPr lang="en-US" altLang="en-US" sz="2000" dirty="0">
                <a:solidFill>
                  <a:srgbClr val="404040"/>
                </a:solidFill>
              </a:rPr>
              <a:t>Transient errors are temporary and are most likely resolved by retrying a few times. </a:t>
            </a:r>
          </a:p>
          <a:p>
            <a:pPr lvl="1" indent="-342900">
              <a:spcBef>
                <a:spcPct val="0"/>
              </a:spcBef>
              <a:defRPr/>
            </a:pPr>
            <a:r>
              <a:rPr lang="en-US" altLang="en-US" sz="2000" dirty="0">
                <a:solidFill>
                  <a:srgbClr val="404040"/>
                </a:solidFill>
              </a:rPr>
              <a:t>Should not retry for failures caused by invalid data or authentication errors </a:t>
            </a:r>
          </a:p>
          <a:p>
            <a:pPr marL="400050" lvl="1" indent="0">
              <a:spcBef>
                <a:spcPct val="0"/>
              </a:spcBef>
              <a:buFontTx/>
              <a:buChar char="•"/>
              <a:defRPr/>
            </a:pPr>
            <a:endParaRPr lang="en-US" altLang="en-US" sz="2000" b="1" dirty="0">
              <a:solidFill>
                <a:srgbClr val="404040"/>
              </a:solidFill>
            </a:endParaRPr>
          </a:p>
          <a:p>
            <a:pPr>
              <a:spcBef>
                <a:spcPct val="0"/>
              </a:spcBef>
              <a:defRPr/>
            </a:pPr>
            <a:r>
              <a:rPr lang="en-US" altLang="en-US" sz="2000" b="1" dirty="0">
                <a:solidFill>
                  <a:srgbClr val="404040"/>
                </a:solidFill>
              </a:rPr>
              <a:t>Watch out for time spent</a:t>
            </a:r>
            <a:r>
              <a:rPr lang="en-US" altLang="en-US" sz="2000" dirty="0">
                <a:solidFill>
                  <a:srgbClr val="404040"/>
                </a:solidFill>
              </a:rPr>
              <a:t>: </a:t>
            </a:r>
          </a:p>
          <a:p>
            <a:pPr lvl="1" indent="-342900">
              <a:spcBef>
                <a:spcPct val="0"/>
              </a:spcBef>
              <a:defRPr/>
            </a:pPr>
            <a:r>
              <a:rPr lang="en-US" altLang="en-US" sz="2000" dirty="0">
                <a:solidFill>
                  <a:srgbClr val="404040"/>
                </a:solidFill>
              </a:rPr>
              <a:t>Resilience and user experience should be balanced. </a:t>
            </a:r>
          </a:p>
          <a:p>
            <a:pPr lvl="1" indent="-342900">
              <a:spcBef>
                <a:spcPct val="0"/>
              </a:spcBef>
              <a:defRPr/>
            </a:pPr>
            <a:r>
              <a:rPr lang="en-US" altLang="en-US" sz="2000" dirty="0">
                <a:solidFill>
                  <a:srgbClr val="404040"/>
                </a:solidFill>
              </a:rPr>
              <a:t>Users should not be made to wait too long while retrying the request behind the scenes. </a:t>
            </a:r>
          </a:p>
          <a:p>
            <a:pPr>
              <a:defRPr/>
            </a:pPr>
            <a:endParaRPr lang="en-US" sz="2000" dirty="0"/>
          </a:p>
        </p:txBody>
      </p:sp>
    </p:spTree>
    <p:extLst>
      <p:ext uri="{BB962C8B-B14F-4D97-AF65-F5344CB8AC3E}">
        <p14:creationId xmlns:p14="http://schemas.microsoft.com/office/powerpoint/2010/main" val="228429194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E5B044EA-A49A-CF0A-B56C-F2B9E15DCFD0}"/>
              </a:ext>
            </a:extLst>
          </p:cNvPr>
          <p:cNvSpPr>
            <a:spLocks noGrp="1" noChangeArrowheads="1"/>
          </p:cNvSpPr>
          <p:nvPr>
            <p:ph type="title"/>
          </p:nvPr>
        </p:nvSpPr>
        <p:spPr/>
        <p:txBody>
          <a:bodyPr/>
          <a:lstStyle/>
          <a:p>
            <a:r>
              <a:rPr lang="en-US" altLang="en-US" dirty="0"/>
              <a:t>Retry</a:t>
            </a:r>
          </a:p>
        </p:txBody>
      </p:sp>
      <p:sp>
        <p:nvSpPr>
          <p:cNvPr id="129026" name="Content Placeholder 2">
            <a:extLst>
              <a:ext uri="{FF2B5EF4-FFF2-40B4-BE49-F238E27FC236}">
                <a16:creationId xmlns:a16="http://schemas.microsoft.com/office/drawing/2014/main" id="{269C25C3-131A-50D6-65E5-1CE172E736E2}"/>
              </a:ext>
            </a:extLst>
          </p:cNvPr>
          <p:cNvSpPr>
            <a:spLocks noGrp="1" noChangeArrowheads="1"/>
          </p:cNvSpPr>
          <p:nvPr>
            <p:ph idx="1"/>
          </p:nvPr>
        </p:nvSpPr>
        <p:spPr>
          <a:xfrm>
            <a:off x="457200" y="868364"/>
            <a:ext cx="8229600" cy="5532436"/>
          </a:xfrm>
        </p:spPr>
        <p:txBody>
          <a:bodyPr/>
          <a:lstStyle/>
          <a:p>
            <a:pPr>
              <a:lnSpc>
                <a:spcPct val="150000"/>
              </a:lnSpc>
            </a:pPr>
            <a:r>
              <a:rPr lang="en-IN" sz="2000" dirty="0"/>
              <a:t>Retry Three Time before failing</a:t>
            </a:r>
          </a:p>
          <a:p>
            <a:pPr lvl="1">
              <a:lnSpc>
                <a:spcPct val="150000"/>
              </a:lnSpc>
            </a:pPr>
            <a:r>
              <a:rPr lang="en-IN" sz="1800" dirty="0" err="1"/>
              <a:t>webClient.get</a:t>
            </a:r>
            <a:r>
              <a:rPr lang="en-IN" sz="1800" dirty="0"/>
              <a:t>().retrieve().</a:t>
            </a:r>
            <a:r>
              <a:rPr lang="en-IN" sz="1800" dirty="0" err="1"/>
              <a:t>bodyToMono</a:t>
            </a:r>
            <a:r>
              <a:rPr lang="en-IN" sz="1800" dirty="0"/>
              <a:t>(</a:t>
            </a:r>
            <a:r>
              <a:rPr lang="en-IN" sz="1800" dirty="0" err="1"/>
              <a:t>String.class</a:t>
            </a:r>
            <a:r>
              <a:rPr lang="en-IN" sz="1800" dirty="0"/>
              <a:t>).retry(3).log();</a:t>
            </a:r>
          </a:p>
          <a:p>
            <a:pPr>
              <a:lnSpc>
                <a:spcPct val="150000"/>
              </a:lnSpc>
            </a:pPr>
            <a:r>
              <a:rPr lang="en-IN" sz="2000" dirty="0"/>
              <a:t>Retry 3 times, and add a delay of 2 seconds before 2nd and 3rd retries.</a:t>
            </a:r>
            <a:endParaRPr lang="en-IN" altLang="en-US" sz="1800" b="1" dirty="0"/>
          </a:p>
          <a:p>
            <a:pPr lvl="1">
              <a:lnSpc>
                <a:spcPct val="150000"/>
              </a:lnSpc>
            </a:pPr>
            <a:r>
              <a:rPr lang="en-IN" sz="1800" dirty="0"/>
              <a:t>. </a:t>
            </a:r>
            <a:r>
              <a:rPr lang="en-IN" sz="1800" dirty="0" err="1"/>
              <a:t>retryWhen</a:t>
            </a:r>
            <a:r>
              <a:rPr lang="en-IN" sz="1800" dirty="0"/>
              <a:t>(</a:t>
            </a:r>
            <a:r>
              <a:rPr lang="en-IN" sz="1800" dirty="0" err="1"/>
              <a:t>Retry.fixedDelay</a:t>
            </a:r>
            <a:r>
              <a:rPr lang="en-IN" sz="1800" dirty="0"/>
              <a:t>(3, </a:t>
            </a:r>
            <a:r>
              <a:rPr lang="en-IN" sz="1800" dirty="0" err="1"/>
              <a:t>Duration.ofSeconds</a:t>
            </a:r>
            <a:r>
              <a:rPr lang="en-IN" sz="1800" dirty="0"/>
              <a:t>(2)));</a:t>
            </a:r>
          </a:p>
          <a:p>
            <a:pPr marL="457200" lvl="1" indent="0">
              <a:buNone/>
            </a:pPr>
            <a:endParaRPr lang="en-IN" b="1" dirty="0"/>
          </a:p>
          <a:p>
            <a:pPr marL="457200" lvl="1" indent="0">
              <a:buNone/>
            </a:pPr>
            <a:r>
              <a:rPr lang="en-IN" b="1" dirty="0"/>
              <a:t>return </a:t>
            </a:r>
            <a:r>
              <a:rPr lang="en-IN" b="1" dirty="0" err="1"/>
              <a:t>client.get</a:t>
            </a:r>
            <a:r>
              <a:rPr lang="en-IN" b="1" dirty="0"/>
              <a:t>()</a:t>
            </a:r>
          </a:p>
          <a:p>
            <a:pPr marL="457200" lvl="1" indent="0">
              <a:buNone/>
            </a:pPr>
            <a:r>
              <a:rPr lang="en-IN" b="1" dirty="0"/>
              <a:t>.</a:t>
            </a:r>
            <a:r>
              <a:rPr lang="en-IN" b="1" dirty="0" err="1"/>
              <a:t>uri</a:t>
            </a:r>
            <a:r>
              <a:rPr lang="en-IN" b="1" dirty="0"/>
              <a:t>("http://localhost:9090/</a:t>
            </a:r>
            <a:r>
              <a:rPr lang="en-IN" b="1" dirty="0" err="1"/>
              <a:t>api</a:t>
            </a:r>
            <a:r>
              <a:rPr lang="en-IN" b="1" dirty="0"/>
              <a:t>/v1/info")</a:t>
            </a:r>
          </a:p>
          <a:p>
            <a:pPr marL="457200" lvl="1" indent="0">
              <a:buNone/>
            </a:pPr>
            <a:r>
              <a:rPr lang="en-IN" b="1" dirty="0"/>
              <a:t>.retrieve()</a:t>
            </a:r>
          </a:p>
          <a:p>
            <a:pPr marL="457200" lvl="1" indent="0">
              <a:buNone/>
            </a:pPr>
            <a:r>
              <a:rPr lang="en-IN" b="1" dirty="0"/>
              <a:t>.</a:t>
            </a:r>
            <a:r>
              <a:rPr lang="en-IN" b="1" dirty="0" err="1"/>
              <a:t>bodyToMono</a:t>
            </a:r>
            <a:r>
              <a:rPr lang="en-IN" b="1" dirty="0"/>
              <a:t>(</a:t>
            </a:r>
            <a:r>
              <a:rPr lang="en-IN" b="1" dirty="0" err="1"/>
              <a:t>String.class</a:t>
            </a:r>
            <a:r>
              <a:rPr lang="en-IN" b="1" dirty="0"/>
              <a:t>)</a:t>
            </a:r>
          </a:p>
          <a:p>
            <a:pPr marL="457200" lvl="1" indent="0">
              <a:buNone/>
            </a:pPr>
            <a:r>
              <a:rPr lang="en-IN" b="1" dirty="0"/>
              <a:t>.</a:t>
            </a:r>
            <a:r>
              <a:rPr lang="en-IN" b="1" dirty="0" err="1"/>
              <a:t>retryWhen</a:t>
            </a:r>
            <a:r>
              <a:rPr lang="en-IN" b="1" dirty="0"/>
              <a:t>(</a:t>
            </a:r>
            <a:r>
              <a:rPr lang="en-IN" b="1" dirty="0" err="1"/>
              <a:t>Retry.</a:t>
            </a:r>
            <a:r>
              <a:rPr lang="en-IN" b="1" i="1" dirty="0" err="1"/>
              <a:t>max</a:t>
            </a:r>
            <a:r>
              <a:rPr lang="en-IN" b="1" dirty="0"/>
              <a:t>(6)</a:t>
            </a:r>
          </a:p>
          <a:p>
            <a:pPr marL="457200" lvl="1" indent="0">
              <a:buNone/>
            </a:pPr>
            <a:r>
              <a:rPr lang="en-IN" b="1" dirty="0"/>
              <a:t>.</a:t>
            </a:r>
            <a:r>
              <a:rPr lang="en-IN" b="1" dirty="0" err="1"/>
              <a:t>doBeforeRetry</a:t>
            </a:r>
            <a:r>
              <a:rPr lang="en-IN" b="1" dirty="0"/>
              <a:t>(</a:t>
            </a:r>
            <a:r>
              <a:rPr lang="en-IN" b="1" dirty="0" err="1"/>
              <a:t>retrySignal</a:t>
            </a:r>
            <a:r>
              <a:rPr lang="en-IN" b="1" dirty="0"/>
              <a:t> -&gt; {</a:t>
            </a:r>
          </a:p>
          <a:p>
            <a:pPr marL="457200" lvl="1" indent="0">
              <a:buNone/>
            </a:pPr>
            <a:r>
              <a:rPr lang="en-IN" b="1" dirty="0" err="1"/>
              <a:t>System.</a:t>
            </a:r>
            <a:r>
              <a:rPr lang="en-IN" b="1" i="1" dirty="0" err="1"/>
              <a:t>out</a:t>
            </a:r>
            <a:r>
              <a:rPr lang="en-IN" b="1" dirty="0" err="1"/>
              <a:t>.println</a:t>
            </a:r>
            <a:r>
              <a:rPr lang="en-IN" b="1" dirty="0"/>
              <a:t>("Retry attempt #" + (</a:t>
            </a:r>
            <a:r>
              <a:rPr lang="en-IN" b="1" dirty="0" err="1"/>
              <a:t>retrySignal.totalRetries</a:t>
            </a:r>
            <a:r>
              <a:rPr lang="en-IN" b="1" dirty="0"/>
              <a:t>() + 1));</a:t>
            </a:r>
          </a:p>
          <a:p>
            <a:pPr marL="457200" lvl="1" indent="0">
              <a:buNone/>
            </a:pPr>
            <a:r>
              <a:rPr lang="en-IN" b="1" dirty="0"/>
              <a:t>})</a:t>
            </a:r>
          </a:p>
          <a:p>
            <a:pPr marL="457200" lvl="1" indent="0">
              <a:buNone/>
            </a:pPr>
            <a:r>
              <a:rPr lang="en-IN" b="1" dirty="0"/>
              <a:t>);</a:t>
            </a:r>
          </a:p>
          <a:p>
            <a:pPr lvl="1">
              <a:lnSpc>
                <a:spcPct val="150000"/>
              </a:lnSpc>
            </a:pPr>
            <a:endParaRPr lang="en-IN" sz="1800" dirty="0"/>
          </a:p>
          <a:p>
            <a:pPr marL="457200" lvl="1" indent="0">
              <a:lnSpc>
                <a:spcPct val="150000"/>
              </a:lnSpc>
              <a:buNone/>
            </a:pPr>
            <a:endParaRPr lang="en-IN" sz="1800" dirty="0"/>
          </a:p>
          <a:p>
            <a:pPr marL="457200" lvl="1" indent="0">
              <a:lnSpc>
                <a:spcPct val="150000"/>
              </a:lnSpc>
              <a:buFontTx/>
              <a:buNone/>
            </a:pPr>
            <a:endParaRPr lang="en-IN" altLang="en-US" sz="1800" b="1" dirty="0"/>
          </a:p>
          <a:p>
            <a:pPr marL="457200" lvl="1" indent="0">
              <a:lnSpc>
                <a:spcPct val="150000"/>
              </a:lnSpc>
              <a:buFontTx/>
              <a:buNone/>
            </a:pPr>
            <a:endParaRPr lang="en-US" altLang="en-US" sz="2000" dirty="0"/>
          </a:p>
          <a:p>
            <a:pPr lvl="1">
              <a:lnSpc>
                <a:spcPct val="150000"/>
              </a:lnSpc>
            </a:pPr>
            <a:endParaRPr lang="en-IN" sz="1800" dirty="0"/>
          </a:p>
          <a:p>
            <a:pPr marL="457200" lvl="1" indent="0">
              <a:lnSpc>
                <a:spcPct val="150000"/>
              </a:lnSpc>
              <a:buFontTx/>
              <a:buNone/>
            </a:pPr>
            <a:endParaRPr lang="en-IN" altLang="en-US" sz="1800" b="1" dirty="0"/>
          </a:p>
        </p:txBody>
      </p:sp>
    </p:spTree>
    <p:extLst>
      <p:ext uri="{BB962C8B-B14F-4D97-AF65-F5344CB8AC3E}">
        <p14:creationId xmlns:p14="http://schemas.microsoft.com/office/powerpoint/2010/main" val="225789735"/>
      </p:ext>
    </p:extLst>
  </p:cSld>
  <p:clrMapOvr>
    <a:masterClrMapping/>
  </p:clrMapOvr>
</p:sld>
</file>

<file path=ppt/theme/theme1.xml><?xml version="1.0" encoding="utf-8"?>
<a:theme xmlns:a="http://schemas.openxmlformats.org/drawingml/2006/main" name="vees">
  <a:themeElements>
    <a:clrScheme name="vees 14">
      <a:dk1>
        <a:srgbClr val="000000"/>
      </a:dk1>
      <a:lt1>
        <a:srgbClr val="FF99CC"/>
      </a:lt1>
      <a:dk2>
        <a:srgbClr val="1C1C1C"/>
      </a:dk2>
      <a:lt2>
        <a:srgbClr val="4D4D4D"/>
      </a:lt2>
      <a:accent1>
        <a:srgbClr val="FF0000"/>
      </a:accent1>
      <a:accent2>
        <a:srgbClr val="FF99CC"/>
      </a:accent2>
      <a:accent3>
        <a:srgbClr val="FFCAE2"/>
      </a:accent3>
      <a:accent4>
        <a:srgbClr val="000000"/>
      </a:accent4>
      <a:accent5>
        <a:srgbClr val="FFAAAA"/>
      </a:accent5>
      <a:accent6>
        <a:srgbClr val="E78AB9"/>
      </a:accent6>
      <a:hlink>
        <a:srgbClr val="9933FF"/>
      </a:hlink>
      <a:folHlink>
        <a:srgbClr val="44C63A"/>
      </a:folHlink>
    </a:clrScheme>
    <a:fontScheme name="ve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vees 1">
        <a:dk1>
          <a:srgbClr val="C0C0C0"/>
        </a:dk1>
        <a:lt1>
          <a:srgbClr val="FFFFFF"/>
        </a:lt1>
        <a:dk2>
          <a:srgbClr val="000099"/>
        </a:dk2>
        <a:lt2>
          <a:srgbClr val="CCECFF"/>
        </a:lt2>
        <a:accent1>
          <a:srgbClr val="FF3399"/>
        </a:accent1>
        <a:accent2>
          <a:srgbClr val="99CCFF"/>
        </a:accent2>
        <a:accent3>
          <a:srgbClr val="AAAACA"/>
        </a:accent3>
        <a:accent4>
          <a:srgbClr val="DADADA"/>
        </a:accent4>
        <a:accent5>
          <a:srgbClr val="FFADCA"/>
        </a:accent5>
        <a:accent6>
          <a:srgbClr val="8AB9E7"/>
        </a:accent6>
        <a:hlink>
          <a:srgbClr val="FF5050"/>
        </a:hlink>
        <a:folHlink>
          <a:srgbClr val="FFFF99"/>
        </a:folHlink>
      </a:clrScheme>
      <a:clrMap bg1="dk2" tx1="lt1" bg2="dk1" tx2="lt2" accent1="accent1" accent2="accent2" accent3="accent3" accent4="accent4" accent5="accent5" accent6="accent6" hlink="hlink" folHlink="folHlink"/>
    </a:extraClrScheme>
    <a:extraClrScheme>
      <a:clrScheme name="vees 2">
        <a:dk1>
          <a:srgbClr val="000000"/>
        </a:dk1>
        <a:lt1>
          <a:srgbClr val="99CCFF"/>
        </a:lt1>
        <a:dk2>
          <a:srgbClr val="1C1C1C"/>
        </a:dk2>
        <a:lt2>
          <a:srgbClr val="4D4D4D"/>
        </a:lt2>
        <a:accent1>
          <a:srgbClr val="CC0066"/>
        </a:accent1>
        <a:accent2>
          <a:srgbClr val="3366FF"/>
        </a:accent2>
        <a:accent3>
          <a:srgbClr val="CAE2FF"/>
        </a:accent3>
        <a:accent4>
          <a:srgbClr val="000000"/>
        </a:accent4>
        <a:accent5>
          <a:srgbClr val="E2AAB8"/>
        </a:accent5>
        <a:accent6>
          <a:srgbClr val="2D5CE7"/>
        </a:accent6>
        <a:hlink>
          <a:srgbClr val="FF0000"/>
        </a:hlink>
        <a:folHlink>
          <a:srgbClr val="FFFF00"/>
        </a:folHlink>
      </a:clrScheme>
      <a:clrMap bg1="lt1" tx1="dk1" bg2="lt2" tx2="dk2" accent1="accent1" accent2="accent2" accent3="accent3" accent4="accent4" accent5="accent5" accent6="accent6" hlink="hlink" folHlink="folHlink"/>
    </a:extraClrScheme>
    <a:extraClrScheme>
      <a:clrScheme name="vees 3">
        <a:dk1>
          <a:srgbClr val="C0C0C0"/>
        </a:dk1>
        <a:lt1>
          <a:srgbClr val="FFFFFF"/>
        </a:lt1>
        <a:dk2>
          <a:srgbClr val="800000"/>
        </a:dk2>
        <a:lt2>
          <a:srgbClr val="FFCC99"/>
        </a:lt2>
        <a:accent1>
          <a:srgbClr val="FF9900"/>
        </a:accent1>
        <a:accent2>
          <a:srgbClr val="CC0000"/>
        </a:accent2>
        <a:accent3>
          <a:srgbClr val="C0AAAA"/>
        </a:accent3>
        <a:accent4>
          <a:srgbClr val="DADADA"/>
        </a:accent4>
        <a:accent5>
          <a:srgbClr val="FFCAAA"/>
        </a:accent5>
        <a:accent6>
          <a:srgbClr val="B90000"/>
        </a:accent6>
        <a:hlink>
          <a:srgbClr val="FF33CC"/>
        </a:hlink>
        <a:folHlink>
          <a:srgbClr val="FFCC00"/>
        </a:folHlink>
      </a:clrScheme>
      <a:clrMap bg1="dk2" tx1="lt1" bg2="dk1" tx2="lt2" accent1="accent1" accent2="accent2" accent3="accent3" accent4="accent4" accent5="accent5" accent6="accent6" hlink="hlink" folHlink="folHlink"/>
    </a:extraClrScheme>
    <a:extraClrScheme>
      <a:clrScheme name="vees 4">
        <a:dk1>
          <a:srgbClr val="000000"/>
        </a:dk1>
        <a:lt1>
          <a:srgbClr val="FF9966"/>
        </a:lt1>
        <a:dk2>
          <a:srgbClr val="1C1C1C"/>
        </a:dk2>
        <a:lt2>
          <a:srgbClr val="4D4D4D"/>
        </a:lt2>
        <a:accent1>
          <a:srgbClr val="FF0000"/>
        </a:accent1>
        <a:accent2>
          <a:srgbClr val="FF6699"/>
        </a:accent2>
        <a:accent3>
          <a:srgbClr val="FFCAB8"/>
        </a:accent3>
        <a:accent4>
          <a:srgbClr val="000000"/>
        </a:accent4>
        <a:accent5>
          <a:srgbClr val="FFAAAA"/>
        </a:accent5>
        <a:accent6>
          <a:srgbClr val="E75C8A"/>
        </a:accent6>
        <a:hlink>
          <a:srgbClr val="CC00CC"/>
        </a:hlink>
        <a:folHlink>
          <a:srgbClr val="FFCC00"/>
        </a:folHlink>
      </a:clrScheme>
      <a:clrMap bg1="lt1" tx1="dk1" bg2="lt2" tx2="dk2" accent1="accent1" accent2="accent2" accent3="accent3" accent4="accent4" accent5="accent5" accent6="accent6" hlink="hlink" folHlink="folHlink"/>
    </a:extraClrScheme>
    <a:extraClrScheme>
      <a:clrScheme name="vees 5">
        <a:dk1>
          <a:srgbClr val="C0C0C0"/>
        </a:dk1>
        <a:lt1>
          <a:srgbClr val="FFFFFF"/>
        </a:lt1>
        <a:dk2>
          <a:srgbClr val="008000"/>
        </a:dk2>
        <a:lt2>
          <a:srgbClr val="CCECFF"/>
        </a:lt2>
        <a:accent1>
          <a:srgbClr val="0066FF"/>
        </a:accent1>
        <a:accent2>
          <a:srgbClr val="00FF00"/>
        </a:accent2>
        <a:accent3>
          <a:srgbClr val="AAC0AA"/>
        </a:accent3>
        <a:accent4>
          <a:srgbClr val="DADADA"/>
        </a:accent4>
        <a:accent5>
          <a:srgbClr val="AAB8FF"/>
        </a:accent5>
        <a:accent6>
          <a:srgbClr val="00E700"/>
        </a:accent6>
        <a:hlink>
          <a:srgbClr val="A29E00"/>
        </a:hlink>
        <a:folHlink>
          <a:srgbClr val="EA8B00"/>
        </a:folHlink>
      </a:clrScheme>
      <a:clrMap bg1="dk2" tx1="lt1" bg2="dk1" tx2="lt2" accent1="accent1" accent2="accent2" accent3="accent3" accent4="accent4" accent5="accent5" accent6="accent6" hlink="hlink" folHlink="folHlink"/>
    </a:extraClrScheme>
    <a:extraClrScheme>
      <a:clrScheme name="vees 6">
        <a:dk1>
          <a:srgbClr val="000000"/>
        </a:dk1>
        <a:lt1>
          <a:srgbClr val="97E183"/>
        </a:lt1>
        <a:dk2>
          <a:srgbClr val="1C1C1C"/>
        </a:dk2>
        <a:lt2>
          <a:srgbClr val="4D4D4D"/>
        </a:lt2>
        <a:accent1>
          <a:srgbClr val="0066FF"/>
        </a:accent1>
        <a:accent2>
          <a:srgbClr val="99FF99"/>
        </a:accent2>
        <a:accent3>
          <a:srgbClr val="C9EEC1"/>
        </a:accent3>
        <a:accent4>
          <a:srgbClr val="000000"/>
        </a:accent4>
        <a:accent5>
          <a:srgbClr val="AAB8FF"/>
        </a:accent5>
        <a:accent6>
          <a:srgbClr val="8AE78A"/>
        </a:accent6>
        <a:hlink>
          <a:srgbClr val="CC9900"/>
        </a:hlink>
        <a:folHlink>
          <a:srgbClr val="FFCC66"/>
        </a:folHlink>
      </a:clrScheme>
      <a:clrMap bg1="lt1" tx1="dk1" bg2="lt2" tx2="dk2" accent1="accent1" accent2="accent2" accent3="accent3" accent4="accent4" accent5="accent5" accent6="accent6" hlink="hlink" folHlink="folHlink"/>
    </a:extraClrScheme>
    <a:extraClrScheme>
      <a:clrScheme name="vees 7">
        <a:dk1>
          <a:srgbClr val="C0C0C0"/>
        </a:dk1>
        <a:lt1>
          <a:srgbClr val="FFFFFF"/>
        </a:lt1>
        <a:dk2>
          <a:srgbClr val="008080"/>
        </a:dk2>
        <a:lt2>
          <a:srgbClr val="CCECFF"/>
        </a:lt2>
        <a:accent1>
          <a:srgbClr val="29A329"/>
        </a:accent1>
        <a:accent2>
          <a:srgbClr val="00FFFF"/>
        </a:accent2>
        <a:accent3>
          <a:srgbClr val="AAC0C0"/>
        </a:accent3>
        <a:accent4>
          <a:srgbClr val="DADADA"/>
        </a:accent4>
        <a:accent5>
          <a:srgbClr val="ACCEAC"/>
        </a:accent5>
        <a:accent6>
          <a:srgbClr val="00E7E7"/>
        </a:accent6>
        <a:hlink>
          <a:srgbClr val="3B6AFF"/>
        </a:hlink>
        <a:folHlink>
          <a:srgbClr val="FF9900"/>
        </a:folHlink>
      </a:clrScheme>
      <a:clrMap bg1="dk2" tx1="lt1" bg2="dk1" tx2="lt2" accent1="accent1" accent2="accent2" accent3="accent3" accent4="accent4" accent5="accent5" accent6="accent6" hlink="hlink" folHlink="folHlink"/>
    </a:extraClrScheme>
    <a:extraClrScheme>
      <a:clrScheme name="vees 8">
        <a:dk1>
          <a:srgbClr val="000000"/>
        </a:dk1>
        <a:lt1>
          <a:srgbClr val="64F0BE"/>
        </a:lt1>
        <a:dk2>
          <a:srgbClr val="1C1C1C"/>
        </a:dk2>
        <a:lt2>
          <a:srgbClr val="4D4D4D"/>
        </a:lt2>
        <a:accent1>
          <a:srgbClr val="008000"/>
        </a:accent1>
        <a:accent2>
          <a:srgbClr val="00FFFF"/>
        </a:accent2>
        <a:accent3>
          <a:srgbClr val="B8F6DB"/>
        </a:accent3>
        <a:accent4>
          <a:srgbClr val="000000"/>
        </a:accent4>
        <a:accent5>
          <a:srgbClr val="AAC0AA"/>
        </a:accent5>
        <a:accent6>
          <a:srgbClr val="00E7E7"/>
        </a:accent6>
        <a:hlink>
          <a:srgbClr val="3366FF"/>
        </a:hlink>
        <a:folHlink>
          <a:srgbClr val="FFCC66"/>
        </a:folHlink>
      </a:clrScheme>
      <a:clrMap bg1="lt1" tx1="dk1" bg2="lt2" tx2="dk2" accent1="accent1" accent2="accent2" accent3="accent3" accent4="accent4" accent5="accent5" accent6="accent6" hlink="hlink" folHlink="folHlink"/>
    </a:extraClrScheme>
    <a:extraClrScheme>
      <a:clrScheme name="vees 9">
        <a:dk1>
          <a:srgbClr val="C0C0C0"/>
        </a:dk1>
        <a:lt1>
          <a:srgbClr val="FFFFFF"/>
        </a:lt1>
        <a:dk2>
          <a:srgbClr val="CC9900"/>
        </a:dk2>
        <a:lt2>
          <a:srgbClr val="FFFFCC"/>
        </a:lt2>
        <a:accent1>
          <a:srgbClr val="FF3300"/>
        </a:accent1>
        <a:accent2>
          <a:srgbClr val="FFCC66"/>
        </a:accent2>
        <a:accent3>
          <a:srgbClr val="E2CAAA"/>
        </a:accent3>
        <a:accent4>
          <a:srgbClr val="DADADA"/>
        </a:accent4>
        <a:accent5>
          <a:srgbClr val="FFADAA"/>
        </a:accent5>
        <a:accent6>
          <a:srgbClr val="E7B95C"/>
        </a:accent6>
        <a:hlink>
          <a:srgbClr val="008080"/>
        </a:hlink>
        <a:folHlink>
          <a:srgbClr val="3399FF"/>
        </a:folHlink>
      </a:clrScheme>
      <a:clrMap bg1="dk2" tx1="lt1" bg2="dk1" tx2="lt2" accent1="accent1" accent2="accent2" accent3="accent3" accent4="accent4" accent5="accent5" accent6="accent6" hlink="hlink" folHlink="folHlink"/>
    </a:extraClrScheme>
    <a:extraClrScheme>
      <a:clrScheme name="vees 10">
        <a:dk1>
          <a:srgbClr val="000000"/>
        </a:dk1>
        <a:lt1>
          <a:srgbClr val="EFF274"/>
        </a:lt1>
        <a:dk2>
          <a:srgbClr val="1C1C1C"/>
        </a:dk2>
        <a:lt2>
          <a:srgbClr val="4D4D4D"/>
        </a:lt2>
        <a:accent1>
          <a:srgbClr val="9966FF"/>
        </a:accent1>
        <a:accent2>
          <a:srgbClr val="FFFFCC"/>
        </a:accent2>
        <a:accent3>
          <a:srgbClr val="F6F7BC"/>
        </a:accent3>
        <a:accent4>
          <a:srgbClr val="000000"/>
        </a:accent4>
        <a:accent5>
          <a:srgbClr val="CAB8FF"/>
        </a:accent5>
        <a:accent6>
          <a:srgbClr val="E7E7B9"/>
        </a:accent6>
        <a:hlink>
          <a:srgbClr val="6666FF"/>
        </a:hlink>
        <a:folHlink>
          <a:srgbClr val="99CCFF"/>
        </a:folHlink>
      </a:clrScheme>
      <a:clrMap bg1="lt1" tx1="dk1" bg2="lt2" tx2="dk2" accent1="accent1" accent2="accent2" accent3="accent3" accent4="accent4" accent5="accent5" accent6="accent6" hlink="hlink" folHlink="folHlink"/>
    </a:extraClrScheme>
    <a:extraClrScheme>
      <a:clrScheme name="vees 11">
        <a:dk1>
          <a:srgbClr val="C0C0C0"/>
        </a:dk1>
        <a:lt1>
          <a:srgbClr val="FFFFFF"/>
        </a:lt1>
        <a:dk2>
          <a:srgbClr val="6600CC"/>
        </a:dk2>
        <a:lt2>
          <a:srgbClr val="CCCCFF"/>
        </a:lt2>
        <a:accent1>
          <a:srgbClr val="D60093"/>
        </a:accent1>
        <a:accent2>
          <a:srgbClr val="9999FF"/>
        </a:accent2>
        <a:accent3>
          <a:srgbClr val="B8AAE2"/>
        </a:accent3>
        <a:accent4>
          <a:srgbClr val="DADADA"/>
        </a:accent4>
        <a:accent5>
          <a:srgbClr val="E8AAC8"/>
        </a:accent5>
        <a:accent6>
          <a:srgbClr val="8A8AE7"/>
        </a:accent6>
        <a:hlink>
          <a:srgbClr val="008000"/>
        </a:hlink>
        <a:folHlink>
          <a:srgbClr val="FF9966"/>
        </a:folHlink>
      </a:clrScheme>
      <a:clrMap bg1="dk2" tx1="lt1" bg2="dk1" tx2="lt2" accent1="accent1" accent2="accent2" accent3="accent3" accent4="accent4" accent5="accent5" accent6="accent6" hlink="hlink" folHlink="folHlink"/>
    </a:extraClrScheme>
    <a:extraClrScheme>
      <a:clrScheme name="vees 12">
        <a:dk1>
          <a:srgbClr val="000000"/>
        </a:dk1>
        <a:lt1>
          <a:srgbClr val="CC99FF"/>
        </a:lt1>
        <a:dk2>
          <a:srgbClr val="1C1C1C"/>
        </a:dk2>
        <a:lt2>
          <a:srgbClr val="4D4D4D"/>
        </a:lt2>
        <a:accent1>
          <a:srgbClr val="0066FF"/>
        </a:accent1>
        <a:accent2>
          <a:srgbClr val="CCCCFF"/>
        </a:accent2>
        <a:accent3>
          <a:srgbClr val="E2CAFF"/>
        </a:accent3>
        <a:accent4>
          <a:srgbClr val="000000"/>
        </a:accent4>
        <a:accent5>
          <a:srgbClr val="AAB8FF"/>
        </a:accent5>
        <a:accent6>
          <a:srgbClr val="B9B9E7"/>
        </a:accent6>
        <a:hlink>
          <a:srgbClr val="FF0066"/>
        </a:hlink>
        <a:folHlink>
          <a:srgbClr val="66CCFF"/>
        </a:folHlink>
      </a:clrScheme>
      <a:clrMap bg1="lt1" tx1="dk1" bg2="lt2" tx2="dk2" accent1="accent1" accent2="accent2" accent3="accent3" accent4="accent4" accent5="accent5" accent6="accent6" hlink="hlink" folHlink="folHlink"/>
    </a:extraClrScheme>
    <a:extraClrScheme>
      <a:clrScheme name="vees 13">
        <a:dk1>
          <a:srgbClr val="C0C0C0"/>
        </a:dk1>
        <a:lt1>
          <a:srgbClr val="FFFFFF"/>
        </a:lt1>
        <a:dk2>
          <a:srgbClr val="CC0066"/>
        </a:dk2>
        <a:lt2>
          <a:srgbClr val="FFCCCC"/>
        </a:lt2>
        <a:accent1>
          <a:srgbClr val="993366"/>
        </a:accent1>
        <a:accent2>
          <a:srgbClr val="FF9999"/>
        </a:accent2>
        <a:accent3>
          <a:srgbClr val="E2AAB8"/>
        </a:accent3>
        <a:accent4>
          <a:srgbClr val="DADADA"/>
        </a:accent4>
        <a:accent5>
          <a:srgbClr val="CAADB8"/>
        </a:accent5>
        <a:accent6>
          <a:srgbClr val="E78A8A"/>
        </a:accent6>
        <a:hlink>
          <a:srgbClr val="009999"/>
        </a:hlink>
        <a:folHlink>
          <a:srgbClr val="FF9933"/>
        </a:folHlink>
      </a:clrScheme>
      <a:clrMap bg1="dk2" tx1="lt1" bg2="dk1" tx2="lt2" accent1="accent1" accent2="accent2" accent3="accent3" accent4="accent4" accent5="accent5" accent6="accent6" hlink="hlink" folHlink="folHlink"/>
    </a:extraClrScheme>
    <a:extraClrScheme>
      <a:clrScheme name="vees 14">
        <a:dk1>
          <a:srgbClr val="000000"/>
        </a:dk1>
        <a:lt1>
          <a:srgbClr val="FF99CC"/>
        </a:lt1>
        <a:dk2>
          <a:srgbClr val="1C1C1C"/>
        </a:dk2>
        <a:lt2>
          <a:srgbClr val="4D4D4D"/>
        </a:lt2>
        <a:accent1>
          <a:srgbClr val="FF0000"/>
        </a:accent1>
        <a:accent2>
          <a:srgbClr val="FF99CC"/>
        </a:accent2>
        <a:accent3>
          <a:srgbClr val="FFCAE2"/>
        </a:accent3>
        <a:accent4>
          <a:srgbClr val="000000"/>
        </a:accent4>
        <a:accent5>
          <a:srgbClr val="FFAAAA"/>
        </a:accent5>
        <a:accent6>
          <a:srgbClr val="E78AB9"/>
        </a:accent6>
        <a:hlink>
          <a:srgbClr val="9933FF"/>
        </a:hlink>
        <a:folHlink>
          <a:srgbClr val="44C63A"/>
        </a:folHlink>
      </a:clrScheme>
      <a:clrMap bg1="lt1" tx1="dk1" bg2="lt2" tx2="dk2" accent1="accent1" accent2="accent2" accent3="accent3" accent4="accent4" accent5="accent5" accent6="accent6" hlink="hlink" folHlink="folHlink"/>
    </a:extraClrScheme>
    <a:extraClrScheme>
      <a:clrScheme name="vees 15">
        <a:dk1>
          <a:srgbClr val="C0C0C0"/>
        </a:dk1>
        <a:lt1>
          <a:srgbClr val="FFFFFF"/>
        </a:lt1>
        <a:dk2>
          <a:srgbClr val="000000"/>
        </a:dk2>
        <a:lt2>
          <a:srgbClr val="DDDDDD"/>
        </a:lt2>
        <a:accent1>
          <a:srgbClr val="4D4D4D"/>
        </a:accent1>
        <a:accent2>
          <a:srgbClr val="C0C0C0"/>
        </a:accent2>
        <a:accent3>
          <a:srgbClr val="AAAAAA"/>
        </a:accent3>
        <a:accent4>
          <a:srgbClr val="DADADA"/>
        </a:accent4>
        <a:accent5>
          <a:srgbClr val="B2B2B2"/>
        </a:accent5>
        <a:accent6>
          <a:srgbClr val="AEAEAE"/>
        </a:accent6>
        <a:hlink>
          <a:srgbClr val="777777"/>
        </a:hlink>
        <a:folHlink>
          <a:srgbClr val="FFFFFF"/>
        </a:folHlink>
      </a:clrScheme>
      <a:clrMap bg1="dk2" tx1="lt1" bg2="dk1" tx2="lt2" accent1="accent1" accent2="accent2" accent3="accent3" accent4="accent4" accent5="accent5" accent6="accent6" hlink="hlink" folHlink="folHlink"/>
    </a:extraClrScheme>
    <a:extraClrScheme>
      <a:clrScheme name="vees 16">
        <a:dk1>
          <a:srgbClr val="000000"/>
        </a:dk1>
        <a:lt1>
          <a:srgbClr val="FFFFFF"/>
        </a:lt1>
        <a:dk2>
          <a:srgbClr val="1C1C1C"/>
        </a:dk2>
        <a:lt2>
          <a:srgbClr val="4D4D4D"/>
        </a:lt2>
        <a:accent1>
          <a:srgbClr val="4D4D4D"/>
        </a:accent1>
        <a:accent2>
          <a:srgbClr val="DDDDDD"/>
        </a:accent2>
        <a:accent3>
          <a:srgbClr val="FFFFFF"/>
        </a:accent3>
        <a:accent4>
          <a:srgbClr val="000000"/>
        </a:accent4>
        <a:accent5>
          <a:srgbClr val="B2B2B2"/>
        </a:accent5>
        <a:accent6>
          <a:srgbClr val="C8C8C8"/>
        </a:accent6>
        <a:hlink>
          <a:srgbClr val="808080"/>
        </a:hlink>
        <a:folHlink>
          <a:srgbClr val="F8F8F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41514</TotalTime>
  <Words>3770</Words>
  <Application>Microsoft Macintosh PowerPoint</Application>
  <PresentationFormat>On-screen Show (4:3)</PresentationFormat>
  <Paragraphs>621</Paragraphs>
  <Slides>63</Slides>
  <Notes>4</Notes>
  <HiddenSlides>0</HiddenSlides>
  <MMClips>0</MMClips>
  <ScaleCrop>false</ScaleCrop>
  <HeadingPairs>
    <vt:vector size="8" baseType="variant">
      <vt:variant>
        <vt:lpstr>Fonts Used</vt:lpstr>
      </vt:variant>
      <vt:variant>
        <vt:i4>6</vt:i4>
      </vt:variant>
      <vt:variant>
        <vt:lpstr>Theme</vt:lpstr>
      </vt:variant>
      <vt:variant>
        <vt:i4>1</vt:i4>
      </vt:variant>
      <vt:variant>
        <vt:lpstr>Slide Titles</vt:lpstr>
      </vt:variant>
      <vt:variant>
        <vt:i4>63</vt:i4>
      </vt:variant>
      <vt:variant>
        <vt:lpstr>Custom Shows</vt:lpstr>
      </vt:variant>
      <vt:variant>
        <vt:i4>1</vt:i4>
      </vt:variant>
    </vt:vector>
  </HeadingPairs>
  <TitlesOfParts>
    <vt:vector size="71" baseType="lpstr">
      <vt:lpstr>Arial</vt:lpstr>
      <vt:lpstr>Cambria</vt:lpstr>
      <vt:lpstr>Consolas</vt:lpstr>
      <vt:lpstr>Lato</vt:lpstr>
      <vt:lpstr>sohne</vt:lpstr>
      <vt:lpstr>Times New Roman</vt:lpstr>
      <vt:lpstr>vees</vt:lpstr>
      <vt:lpstr>Spring cloud gateway</vt:lpstr>
      <vt:lpstr>Spring cloud gateway</vt:lpstr>
      <vt:lpstr>Gateway</vt:lpstr>
      <vt:lpstr>Cloud Gateway</vt:lpstr>
      <vt:lpstr>Spring Cloud Gateway</vt:lpstr>
      <vt:lpstr>Gateway Routing </vt:lpstr>
      <vt:lpstr>For Version 6.0 onwards</vt:lpstr>
      <vt:lpstr>application.yml</vt:lpstr>
      <vt:lpstr>application.yml- Older Version</vt:lpstr>
      <vt:lpstr>Actuator Endpoints </vt:lpstr>
      <vt:lpstr>Cloud Gateway Filters</vt:lpstr>
      <vt:lpstr>Global Filter</vt:lpstr>
      <vt:lpstr>Gateway Filter</vt:lpstr>
      <vt:lpstr>Global Filters</vt:lpstr>
      <vt:lpstr>Global Filters- Pre Filter</vt:lpstr>
      <vt:lpstr>Global Filter – Post Filter</vt:lpstr>
      <vt:lpstr>Route Locator Builder</vt:lpstr>
      <vt:lpstr>RouteLocator </vt:lpstr>
      <vt:lpstr>Routing Object</vt:lpstr>
      <vt:lpstr>Configuring Route Locator</vt:lpstr>
      <vt:lpstr>Gateway Filter</vt:lpstr>
      <vt:lpstr>Global Filter</vt:lpstr>
      <vt:lpstr>Global Filter</vt:lpstr>
      <vt:lpstr>Global Filter</vt:lpstr>
      <vt:lpstr>Spring webclient</vt:lpstr>
      <vt:lpstr>WebClient</vt:lpstr>
      <vt:lpstr>Reactive Load Balancer</vt:lpstr>
      <vt:lpstr>Http Methods</vt:lpstr>
      <vt:lpstr>WebClient</vt:lpstr>
      <vt:lpstr>Rest Client - Controller</vt:lpstr>
      <vt:lpstr>Rest Client - Controller</vt:lpstr>
      <vt:lpstr>Rest Client - Controller</vt:lpstr>
      <vt:lpstr>Rest Client - Controller</vt:lpstr>
      <vt:lpstr>Zipwhen</vt:lpstr>
      <vt:lpstr>ZipWhen</vt:lpstr>
      <vt:lpstr>Spring cloud circuit breaker</vt:lpstr>
      <vt:lpstr>Circuit Breaker</vt:lpstr>
      <vt:lpstr>Spring Cloud Circuit Breaker</vt:lpstr>
      <vt:lpstr>Resilience4j</vt:lpstr>
      <vt:lpstr>Circuit Breaker</vt:lpstr>
      <vt:lpstr>Need For Circuit Breaker</vt:lpstr>
      <vt:lpstr>Configuring With Web Client</vt:lpstr>
      <vt:lpstr>Configuring Circuit Breaker</vt:lpstr>
      <vt:lpstr>Configuring With Web Client</vt:lpstr>
      <vt:lpstr>Stages of Circuit Breaker</vt:lpstr>
      <vt:lpstr>Circuit Breaker Working</vt:lpstr>
      <vt:lpstr>Closed State</vt:lpstr>
      <vt:lpstr>Closed State</vt:lpstr>
      <vt:lpstr> OPEN state </vt:lpstr>
      <vt:lpstr>Open State</vt:lpstr>
      <vt:lpstr>HALF-OPEN state </vt:lpstr>
      <vt:lpstr>Half Open State</vt:lpstr>
      <vt:lpstr>Configuring Circuit Breaker</vt:lpstr>
      <vt:lpstr>Configuring Circuit Breaker</vt:lpstr>
      <vt:lpstr>Failure rate formula </vt:lpstr>
      <vt:lpstr>Configuring Circuit Breaker</vt:lpstr>
      <vt:lpstr>Configuring Circuit Breaker</vt:lpstr>
      <vt:lpstr>  circuitbreaker  </vt:lpstr>
      <vt:lpstr>circuitbreaker </vt:lpstr>
      <vt:lpstr>Actuator Endpoints</vt:lpstr>
      <vt:lpstr>Retry</vt:lpstr>
      <vt:lpstr>Retry</vt:lpstr>
      <vt:lpstr>Retry</vt:lpstr>
      <vt:lpstr>Sapient</vt:lpstr>
    </vt:vector>
  </TitlesOfParts>
  <Company>Meta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Spring</dc:title>
  <dc:subject>Spring Core Package</dc:subject>
  <dc:creator>K.Srivatsan</dc:creator>
  <cp:lastModifiedBy>Srivatsan Krishnamachari</cp:lastModifiedBy>
  <cp:revision>1852</cp:revision>
  <dcterms:created xsi:type="dcterms:W3CDTF">1998-10-26T19:35:11Z</dcterms:created>
  <dcterms:modified xsi:type="dcterms:W3CDTF">2026-02-02T03:48:00Z</dcterms:modified>
</cp:coreProperties>
</file>