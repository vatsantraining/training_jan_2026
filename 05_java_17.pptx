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2"/>
  </p:notesMasterIdLst>
  <p:sldIdLst>
    <p:sldId id="1658" r:id="rId2"/>
    <p:sldId id="1661" r:id="rId3"/>
    <p:sldId id="1659" r:id="rId4"/>
    <p:sldId id="1795" r:id="rId5"/>
    <p:sldId id="1796" r:id="rId6"/>
    <p:sldId id="1797" r:id="rId7"/>
    <p:sldId id="1798" r:id="rId8"/>
    <p:sldId id="1799" r:id="rId9"/>
    <p:sldId id="1800" r:id="rId10"/>
    <p:sldId id="1801" r:id="rId11"/>
    <p:sldId id="1802" r:id="rId12"/>
    <p:sldId id="1803" r:id="rId13"/>
    <p:sldId id="1804" r:id="rId14"/>
    <p:sldId id="1805" r:id="rId15"/>
    <p:sldId id="1806" r:id="rId16"/>
    <p:sldId id="1807" r:id="rId17"/>
    <p:sldId id="1808" r:id="rId18"/>
    <p:sldId id="1811" r:id="rId19"/>
    <p:sldId id="1788" r:id="rId20"/>
    <p:sldId id="1789" r:id="rId21"/>
    <p:sldId id="1790" r:id="rId22"/>
    <p:sldId id="1791" r:id="rId23"/>
    <p:sldId id="1792" r:id="rId24"/>
    <p:sldId id="1793" r:id="rId25"/>
    <p:sldId id="1794" r:id="rId26"/>
    <p:sldId id="1809" r:id="rId27"/>
    <p:sldId id="1647" r:id="rId28"/>
    <p:sldId id="1810" r:id="rId29"/>
    <p:sldId id="1648" r:id="rId30"/>
    <p:sldId id="1650" r:id="rId31"/>
    <p:sldId id="1675" r:id="rId32"/>
    <p:sldId id="1676" r:id="rId33"/>
    <p:sldId id="1677" r:id="rId34"/>
    <p:sldId id="1678" r:id="rId35"/>
    <p:sldId id="1679" r:id="rId36"/>
    <p:sldId id="1680" r:id="rId37"/>
    <p:sldId id="1681" r:id="rId38"/>
    <p:sldId id="1682" r:id="rId39"/>
    <p:sldId id="1683" r:id="rId40"/>
    <p:sldId id="1684" r:id="rId41"/>
  </p:sldIdLst>
  <p:sldSz cx="9144000" cy="6858000" type="screen4x3"/>
  <p:notesSz cx="6858000" cy="9144000"/>
  <p:defaultTextStyle>
    <a:defPPr>
      <a:defRPr lang="en-US"/>
    </a:defPPr>
    <a:lvl1pPr algn="ctr"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31072" autoAdjust="0"/>
    <p:restoredTop sz="94575" autoAdjust="0"/>
  </p:normalViewPr>
  <p:slideViewPr>
    <p:cSldViewPr>
      <p:cViewPr varScale="1">
        <p:scale>
          <a:sx n="113" d="100"/>
          <a:sy n="113" d="100"/>
        </p:scale>
        <p:origin x="2616" y="4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45629"/>
    </p:cViewPr>
  </p:sorterViewPr>
  <p:notesViewPr>
    <p:cSldViewPr>
      <p:cViewPr varScale="1">
        <p:scale>
          <a:sx n="96" d="100"/>
          <a:sy n="96" d="100"/>
        </p:scale>
        <p:origin x="3808"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00B0560-19EF-3B06-57F6-F8B0D212779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906DF4E9-897D-A82A-5BF7-CEB5ED56BC24}"/>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173060" name="Rectangle 4">
            <a:extLst>
              <a:ext uri="{FF2B5EF4-FFF2-40B4-BE49-F238E27FC236}">
                <a16:creationId xmlns:a16="http://schemas.microsoft.com/office/drawing/2014/main" id="{D8EF5526-7EA7-B0BF-A3D9-62241EB88C5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8F93BAF-8070-9AF6-7125-BE76BF3B46A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DF21297-4C40-3054-6C86-2E9647A22B1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0570024D-FAD9-2EAE-8E55-6F083EA153D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fld id="{5B308F1D-0D72-8C40-952D-AE500DC8CE9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978188484"/>
      </p:ext>
    </p:extLst>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4294316"/>
      </p:ext>
    </p:extLst>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23698828"/>
      </p:ext>
    </p:extLst>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838200"/>
            <a:ext cx="4038600" cy="5287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838200"/>
            <a:ext cx="4038600" cy="5287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9259649"/>
      </p:ext>
    </p:extLst>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4441217"/>
      </p:ext>
    </p:extLst>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39983832"/>
      </p:ext>
    </p:extLst>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6320400"/>
      </p:ext>
    </p:extLst>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98985863"/>
      </p:ext>
    </p:extLst>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43959240"/>
      </p:ext>
    </p:extLst>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2684784"/>
      </p:ext>
    </p:extLst>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409099"/>
      </p:ext>
    </p:extLst>
  </p:cSld>
  <p:clrMapOvr>
    <a:masterClrMapping/>
  </p:clrMapOvr>
  <p:transition advClick="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lstStyle/>
          <a:p>
            <a:r>
              <a:rPr lang="en-US"/>
              <a:t>Click to edit Master title style</a:t>
            </a:r>
          </a:p>
        </p:txBody>
      </p:sp>
      <p:sp>
        <p:nvSpPr>
          <p:cNvPr id="3" name="Text Placeholder 2"/>
          <p:cNvSpPr>
            <a:spLocks noGrp="1"/>
          </p:cNvSpPr>
          <p:nvPr>
            <p:ph type="body" sz="half" idx="1"/>
          </p:nvPr>
        </p:nvSpPr>
        <p:spPr>
          <a:xfrm>
            <a:off x="457200" y="838200"/>
            <a:ext cx="4038600" cy="5287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838200"/>
            <a:ext cx="4038600" cy="5287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9456101"/>
      </p:ext>
    </p:extLst>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D4F9040-524D-2ED3-FFAD-2512C177557B}"/>
              </a:ext>
            </a:extLst>
          </p:cNvPr>
          <p:cNvSpPr>
            <a:spLocks noGrp="1" noChangeArrowheads="1"/>
          </p:cNvSpPr>
          <p:nvPr>
            <p:ph type="title"/>
          </p:nvPr>
        </p:nvSpPr>
        <p:spPr bwMode="auto">
          <a:xfrm>
            <a:off x="457200" y="274638"/>
            <a:ext cx="82296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3D2DCAC0-1302-D97E-33FA-4FBB58E88ED1}"/>
              </a:ext>
            </a:extLst>
          </p:cNvPr>
          <p:cNvSpPr>
            <a:spLocks noGrp="1" noChangeArrowheads="1"/>
          </p:cNvSpPr>
          <p:nvPr>
            <p:ph type="body" idx="1"/>
          </p:nvPr>
        </p:nvSpPr>
        <p:spPr bwMode="auto">
          <a:xfrm>
            <a:off x="457200" y="838200"/>
            <a:ext cx="8229600" cy="528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advClick="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pitchFamily="34" charset="0"/>
        </a:defRPr>
      </a:lvl2pPr>
      <a:lvl3pPr algn="l" rtl="0" eaLnBrk="0" fontAlgn="base" hangingPunct="0">
        <a:spcBef>
          <a:spcPct val="0"/>
        </a:spcBef>
        <a:spcAft>
          <a:spcPct val="0"/>
        </a:spcAft>
        <a:defRPr sz="3200">
          <a:solidFill>
            <a:schemeClr val="tx2"/>
          </a:solidFill>
          <a:latin typeface="Arial" pitchFamily="34" charset="0"/>
        </a:defRPr>
      </a:lvl3pPr>
      <a:lvl4pPr algn="l" rtl="0" eaLnBrk="0" fontAlgn="base" hangingPunct="0">
        <a:spcBef>
          <a:spcPct val="0"/>
        </a:spcBef>
        <a:spcAft>
          <a:spcPct val="0"/>
        </a:spcAft>
        <a:defRPr sz="3200">
          <a:solidFill>
            <a:schemeClr val="tx2"/>
          </a:solidFill>
          <a:latin typeface="Arial" pitchFamily="34" charset="0"/>
        </a:defRPr>
      </a:lvl4pPr>
      <a:lvl5pPr algn="l" rtl="0" eaLnBrk="0" fontAlgn="base" hangingPunct="0">
        <a:spcBef>
          <a:spcPct val="0"/>
        </a:spcBef>
        <a:spcAft>
          <a:spcPct val="0"/>
        </a:spcAft>
        <a:defRPr sz="3200">
          <a:solidFill>
            <a:schemeClr val="tx2"/>
          </a:solidFill>
          <a:latin typeface="Arial" pitchFamily="34" charset="0"/>
        </a:defRPr>
      </a:lvl5pPr>
      <a:lvl6pPr marL="457200" algn="l" rtl="0" fontAlgn="base">
        <a:spcBef>
          <a:spcPct val="0"/>
        </a:spcBef>
        <a:spcAft>
          <a:spcPct val="0"/>
        </a:spcAft>
        <a:defRPr sz="3200">
          <a:solidFill>
            <a:schemeClr val="tx2"/>
          </a:solidFill>
          <a:latin typeface="Arial" pitchFamily="34" charset="0"/>
        </a:defRPr>
      </a:lvl6pPr>
      <a:lvl7pPr marL="914400" algn="l" rtl="0" fontAlgn="base">
        <a:spcBef>
          <a:spcPct val="0"/>
        </a:spcBef>
        <a:spcAft>
          <a:spcPct val="0"/>
        </a:spcAft>
        <a:defRPr sz="3200">
          <a:solidFill>
            <a:schemeClr val="tx2"/>
          </a:solidFill>
          <a:latin typeface="Arial" pitchFamily="34" charset="0"/>
        </a:defRPr>
      </a:lvl7pPr>
      <a:lvl8pPr marL="1371600" algn="l" rtl="0" fontAlgn="base">
        <a:spcBef>
          <a:spcPct val="0"/>
        </a:spcBef>
        <a:spcAft>
          <a:spcPct val="0"/>
        </a:spcAft>
        <a:defRPr sz="3200">
          <a:solidFill>
            <a:schemeClr val="tx2"/>
          </a:solidFill>
          <a:latin typeface="Arial" pitchFamily="34" charset="0"/>
        </a:defRPr>
      </a:lvl8pPr>
      <a:lvl9pPr marL="1828800" algn="l" rtl="0" fontAlgn="base">
        <a:spcBef>
          <a:spcPct val="0"/>
        </a:spcBef>
        <a:spcAft>
          <a:spcPct val="0"/>
        </a:spcAft>
        <a:defRPr sz="32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www.eclipse.org/jetty/documentation/current/http-client-api.html" TargetMode="External"/><Relationship Id="rId2" Type="http://schemas.openxmlformats.org/officeDocument/2006/relationships/hyperlink" Target="https://hc.apache.org/httpcomponents-client-ga/" TargetMode="External"/><Relationship Id="rId1" Type="http://schemas.openxmlformats.org/officeDocument/2006/relationships/slideLayout" Target="../slideLayouts/slideLayout2.xml"/><Relationship Id="rId5" Type="http://schemas.openxmlformats.org/officeDocument/2006/relationships/hyperlink" Target="https://en.wikipedia.org/wiki/HTTP/2" TargetMode="External"/><Relationship Id="rId4" Type="http://schemas.openxmlformats.org/officeDocument/2006/relationships/hyperlink" Target="http://www.baeldung.com/rest-template"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postman-echo.com/post"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postman-echo.com/pos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EC728-0D34-E215-A11C-6734E4A52C49}"/>
              </a:ext>
            </a:extLst>
          </p:cNvPr>
          <p:cNvSpPr>
            <a:spLocks noGrp="1"/>
          </p:cNvSpPr>
          <p:nvPr>
            <p:ph type="title"/>
          </p:nvPr>
        </p:nvSpPr>
        <p:spPr/>
        <p:txBody>
          <a:bodyPr/>
          <a:lstStyle/>
          <a:p>
            <a:pPr>
              <a:defRPr/>
            </a:pPr>
            <a:r>
              <a:rPr lang="en-US" dirty="0"/>
              <a:t>Collection API Updates</a:t>
            </a:r>
            <a:br>
              <a:rPr lang="en-US" dirty="0"/>
            </a:br>
            <a:br>
              <a:rPr lang="en-US" dirty="0"/>
            </a:br>
            <a:endParaRPr lang="en-US" dirty="0"/>
          </a:p>
        </p:txBody>
      </p:sp>
      <p:sp>
        <p:nvSpPr>
          <p:cNvPr id="220163" name="Text Placeholder 4">
            <a:extLst>
              <a:ext uri="{FF2B5EF4-FFF2-40B4-BE49-F238E27FC236}">
                <a16:creationId xmlns:a16="http://schemas.microsoft.com/office/drawing/2014/main" id="{6E7731DB-30A0-1B70-77A8-BD3F5E46B043}"/>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61807624"/>
      </p:ext>
    </p:extLst>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itle 1">
            <a:extLst>
              <a:ext uri="{FF2B5EF4-FFF2-40B4-BE49-F238E27FC236}">
                <a16:creationId xmlns:a16="http://schemas.microsoft.com/office/drawing/2014/main" id="{C8C3DBD9-F000-77EA-2A8B-8E1DC6973D35}"/>
              </a:ext>
            </a:extLst>
          </p:cNvPr>
          <p:cNvSpPr>
            <a:spLocks noGrp="1" noChangeArrowheads="1"/>
          </p:cNvSpPr>
          <p:nvPr>
            <p:ph type="title"/>
          </p:nvPr>
        </p:nvSpPr>
        <p:spPr/>
        <p:txBody>
          <a:bodyPr/>
          <a:lstStyle/>
          <a:p>
            <a:r>
              <a:rPr lang="en-US" altLang="en-US"/>
              <a:t>Static Factory Methods</a:t>
            </a:r>
          </a:p>
        </p:txBody>
      </p:sp>
      <p:sp>
        <p:nvSpPr>
          <p:cNvPr id="223235" name="Content Placeholder 2">
            <a:extLst>
              <a:ext uri="{FF2B5EF4-FFF2-40B4-BE49-F238E27FC236}">
                <a16:creationId xmlns:a16="http://schemas.microsoft.com/office/drawing/2014/main" id="{9FA98154-31DF-3721-6A11-0AE8EFE124E2}"/>
              </a:ext>
            </a:extLst>
          </p:cNvPr>
          <p:cNvSpPr>
            <a:spLocks noGrp="1" noChangeArrowheads="1"/>
          </p:cNvSpPr>
          <p:nvPr>
            <p:ph idx="1"/>
          </p:nvPr>
        </p:nvSpPr>
        <p:spPr/>
        <p:txBody>
          <a:bodyPr/>
          <a:lstStyle/>
          <a:p>
            <a:r>
              <a:rPr lang="en-US" altLang="en-US" sz="2000"/>
              <a:t>Characteristics:</a:t>
            </a:r>
          </a:p>
          <a:p>
            <a:pPr lvl="1"/>
            <a:endParaRPr lang="en-US" altLang="en-US"/>
          </a:p>
          <a:p>
            <a:pPr lvl="1">
              <a:lnSpc>
                <a:spcPct val="150000"/>
              </a:lnSpc>
            </a:pPr>
            <a:r>
              <a:rPr lang="en-US" altLang="en-US" sz="1800"/>
              <a:t>These lists are immutable. </a:t>
            </a:r>
          </a:p>
          <a:p>
            <a:pPr lvl="1">
              <a:lnSpc>
                <a:spcPct val="150000"/>
              </a:lnSpc>
            </a:pPr>
            <a:r>
              <a:rPr lang="en-US" altLang="en-US" sz="1800"/>
              <a:t>Elements cannot be added, removed, or replaced in these lists. </a:t>
            </a:r>
          </a:p>
          <a:p>
            <a:pPr lvl="1">
              <a:lnSpc>
                <a:spcPct val="150000"/>
              </a:lnSpc>
            </a:pPr>
            <a:r>
              <a:rPr lang="en-US" altLang="en-US" sz="1800"/>
              <a:t>Calling any mutator method (i.e. add, addAll, clear, remove, removeAll, replaceAll) will always cause UnsupportedOperationException to be thrown.</a:t>
            </a:r>
          </a:p>
          <a:p>
            <a:pPr lvl="1">
              <a:lnSpc>
                <a:spcPct val="150000"/>
              </a:lnSpc>
            </a:pPr>
            <a:r>
              <a:rPr lang="en-US" altLang="en-US" sz="1800"/>
              <a:t>They do not allow null elements. </a:t>
            </a:r>
          </a:p>
          <a:p>
            <a:pPr lvl="1">
              <a:lnSpc>
                <a:spcPct val="150000"/>
              </a:lnSpc>
            </a:pPr>
            <a:r>
              <a:rPr lang="en-US" altLang="en-US" sz="1800"/>
              <a:t>Attempts to add null elements result in NullPointerException.</a:t>
            </a:r>
          </a:p>
          <a:p>
            <a:pPr lvl="1">
              <a:lnSpc>
                <a:spcPct val="150000"/>
              </a:lnSpc>
            </a:pPr>
            <a:r>
              <a:rPr lang="en-US" altLang="en-US" sz="1800"/>
              <a:t>They are serializable if all elements are serializable.</a:t>
            </a:r>
          </a:p>
          <a:p>
            <a:pPr lvl="1">
              <a:lnSpc>
                <a:spcPct val="150000"/>
              </a:lnSpc>
            </a:pPr>
            <a:r>
              <a:rPr lang="en-US" altLang="en-US" sz="1800"/>
              <a:t>The order of elements in the list is the same as the order of the provided arguments, or of the elements in the provided array.</a:t>
            </a:r>
          </a:p>
        </p:txBody>
      </p:sp>
    </p:spTree>
    <p:extLst>
      <p:ext uri="{BB962C8B-B14F-4D97-AF65-F5344CB8AC3E}">
        <p14:creationId xmlns:p14="http://schemas.microsoft.com/office/powerpoint/2010/main" val="4220720677"/>
      </p:ext>
    </p:extLst>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itle 3">
            <a:extLst>
              <a:ext uri="{FF2B5EF4-FFF2-40B4-BE49-F238E27FC236}">
                <a16:creationId xmlns:a16="http://schemas.microsoft.com/office/drawing/2014/main" id="{FB7D2A15-6FAD-E864-4D29-22E9F100075D}"/>
              </a:ext>
            </a:extLst>
          </p:cNvPr>
          <p:cNvSpPr>
            <a:spLocks noGrp="1" noChangeArrowheads="1"/>
          </p:cNvSpPr>
          <p:nvPr>
            <p:ph type="title"/>
          </p:nvPr>
        </p:nvSpPr>
        <p:spPr/>
        <p:txBody>
          <a:bodyPr/>
          <a:lstStyle/>
          <a:p>
            <a:r>
              <a:rPr lang="en-US" altLang="en-US"/>
              <a:t>Immutable Collections</a:t>
            </a:r>
          </a:p>
        </p:txBody>
      </p:sp>
      <p:sp>
        <p:nvSpPr>
          <p:cNvPr id="221187" name="Content Placeholder 4">
            <a:extLst>
              <a:ext uri="{FF2B5EF4-FFF2-40B4-BE49-F238E27FC236}">
                <a16:creationId xmlns:a16="http://schemas.microsoft.com/office/drawing/2014/main" id="{BD0EE1D5-FDD9-5294-A62C-83EF5C544B40}"/>
              </a:ext>
            </a:extLst>
          </p:cNvPr>
          <p:cNvSpPr>
            <a:spLocks noGrp="1" noChangeArrowheads="1"/>
          </p:cNvSpPr>
          <p:nvPr>
            <p:ph idx="1"/>
          </p:nvPr>
        </p:nvSpPr>
        <p:spPr/>
        <p:txBody>
          <a:bodyPr/>
          <a:lstStyle/>
          <a:p>
            <a:r>
              <a:rPr lang="en-US" altLang="en-US" sz="1800"/>
              <a:t>Can create immutable collections </a:t>
            </a:r>
          </a:p>
          <a:p>
            <a:pPr lvl="1"/>
            <a:r>
              <a:rPr lang="en-US" altLang="en-US" sz="2000"/>
              <a:t>Immutable list, set ,map using new factory methods.</a:t>
            </a:r>
          </a:p>
          <a:p>
            <a:endParaRPr lang="en-US" altLang="en-US" sz="1800"/>
          </a:p>
          <a:p>
            <a:pPr lvl="1">
              <a:buFontTx/>
              <a:buNone/>
            </a:pPr>
            <a:r>
              <a:rPr lang="en-US" altLang="en-US" sz="1800"/>
              <a:t>public class ImmutableCollections   {</a:t>
            </a:r>
          </a:p>
          <a:p>
            <a:pPr lvl="1">
              <a:buFontTx/>
              <a:buNone/>
            </a:pPr>
            <a:r>
              <a:rPr lang="en-US" altLang="en-US" sz="1800"/>
              <a:t>    </a:t>
            </a:r>
          </a:p>
          <a:p>
            <a:pPr lvl="1">
              <a:buFontTx/>
              <a:buNone/>
            </a:pPr>
            <a:r>
              <a:rPr lang="en-US" altLang="en-US" sz="1800"/>
              <a:t>public static void main(String[] args)     {</a:t>
            </a:r>
          </a:p>
          <a:p>
            <a:pPr lvl="1">
              <a:buFontTx/>
              <a:buNone/>
            </a:pPr>
            <a:r>
              <a:rPr lang="en-US" altLang="en-US" sz="1800"/>
              <a:t>        </a:t>
            </a:r>
          </a:p>
          <a:p>
            <a:pPr lvl="1">
              <a:buFontTx/>
              <a:buNone/>
            </a:pPr>
            <a:r>
              <a:rPr lang="en-US" altLang="en-US" sz="1800"/>
              <a:t>     List&lt;String&gt; namesList = List.of("Lokesh", "Amit", "John");</a:t>
            </a:r>
          </a:p>
          <a:p>
            <a:pPr lvl="1">
              <a:buFontTx/>
              <a:buNone/>
            </a:pPr>
            <a:r>
              <a:rPr lang="en-US" altLang="en-US" sz="1800"/>
              <a:t> </a:t>
            </a:r>
          </a:p>
          <a:p>
            <a:pPr lvl="1">
              <a:buFontTx/>
              <a:buNone/>
            </a:pPr>
            <a:r>
              <a:rPr lang="en-US" altLang="en-US" sz="1800"/>
              <a:t>        Set&lt;String&gt; namesSet = Set.of("Lokesh", "Amit", "John");</a:t>
            </a:r>
          </a:p>
          <a:p>
            <a:pPr lvl="1">
              <a:buFontTx/>
              <a:buNone/>
            </a:pPr>
            <a:r>
              <a:rPr lang="en-US" altLang="en-US" sz="1800"/>
              <a:t> </a:t>
            </a:r>
          </a:p>
          <a:p>
            <a:pPr lvl="1">
              <a:buFontTx/>
              <a:buNone/>
            </a:pPr>
            <a:r>
              <a:rPr lang="en-US" altLang="en-US" sz="1800"/>
              <a:t>        Map&lt;String, String&gt; namesMap = Map.ofEntries(</a:t>
            </a:r>
          </a:p>
          <a:p>
            <a:pPr lvl="1">
              <a:buFontTx/>
              <a:buNone/>
            </a:pPr>
            <a:r>
              <a:rPr lang="en-US" altLang="en-US" sz="1800"/>
              <a:t>                                    Map.entry("1", "Lokesh"),</a:t>
            </a:r>
          </a:p>
          <a:p>
            <a:pPr lvl="1">
              <a:buFontTx/>
              <a:buNone/>
            </a:pPr>
            <a:r>
              <a:rPr lang="en-US" altLang="en-US" sz="1800"/>
              <a:t>                                    Map.entry("2", "Amit"),</a:t>
            </a:r>
          </a:p>
          <a:p>
            <a:pPr lvl="1">
              <a:buFontTx/>
              <a:buNone/>
            </a:pPr>
            <a:r>
              <a:rPr lang="en-US" altLang="en-US" sz="1800"/>
              <a:t>                                    Map.entry("3", "Brian"));</a:t>
            </a:r>
          </a:p>
          <a:p>
            <a:pPr lvl="1">
              <a:buFontTx/>
              <a:buNone/>
            </a:pPr>
            <a:r>
              <a:rPr lang="en-US" altLang="en-US" sz="1800"/>
              <a:t>    }</a:t>
            </a:r>
          </a:p>
          <a:p>
            <a:pPr lvl="1">
              <a:buFontTx/>
              <a:buNone/>
            </a:pPr>
            <a:r>
              <a:rPr lang="en-US" altLang="en-US" sz="1800"/>
              <a:t>}</a:t>
            </a:r>
          </a:p>
        </p:txBody>
      </p:sp>
    </p:spTree>
    <p:extLst>
      <p:ext uri="{BB962C8B-B14F-4D97-AF65-F5344CB8AC3E}">
        <p14:creationId xmlns:p14="http://schemas.microsoft.com/office/powerpoint/2010/main" val="1764443888"/>
      </p:ext>
    </p:extLst>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9DE742-191A-37B7-B95B-5BE6DF6C3949}"/>
              </a:ext>
            </a:extLst>
          </p:cNvPr>
          <p:cNvSpPr>
            <a:spLocks noGrp="1"/>
          </p:cNvSpPr>
          <p:nvPr>
            <p:ph type="title"/>
          </p:nvPr>
        </p:nvSpPr>
        <p:spPr/>
        <p:txBody>
          <a:bodyPr/>
          <a:lstStyle/>
          <a:p>
            <a:pPr>
              <a:defRPr/>
            </a:pPr>
            <a:r>
              <a:rPr lang="en-US" dirty="0"/>
              <a:t>records</a:t>
            </a:r>
            <a:endParaRPr lang="en-IN" dirty="0"/>
          </a:p>
        </p:txBody>
      </p:sp>
      <p:sp>
        <p:nvSpPr>
          <p:cNvPr id="17410" name="Text Placeholder 4">
            <a:extLst>
              <a:ext uri="{FF2B5EF4-FFF2-40B4-BE49-F238E27FC236}">
                <a16:creationId xmlns:a16="http://schemas.microsoft.com/office/drawing/2014/main" id="{FE424B6A-5E6E-EB8B-72F7-BDF7F700FFCF}"/>
              </a:ext>
            </a:extLst>
          </p:cNvPr>
          <p:cNvSpPr>
            <a:spLocks noGrp="1" noChangeArrowheads="1"/>
          </p:cNvSpPr>
          <p:nvPr>
            <p:ph type="body" idx="1"/>
          </p:nvPr>
        </p:nvSpPr>
        <p:spPr/>
        <p:txBody>
          <a:bodyPr/>
          <a:lstStyle/>
          <a:p>
            <a:endParaRPr lang="en-IN" altLang="en-US"/>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5F041D8A-565C-8BB4-4B30-4AB11CC0D77F}"/>
              </a:ext>
            </a:extLst>
          </p:cNvPr>
          <p:cNvSpPr>
            <a:spLocks noGrp="1" noChangeArrowheads="1"/>
          </p:cNvSpPr>
          <p:nvPr>
            <p:ph type="title"/>
          </p:nvPr>
        </p:nvSpPr>
        <p:spPr/>
        <p:txBody>
          <a:bodyPr/>
          <a:lstStyle/>
          <a:p>
            <a:r>
              <a:rPr lang="en-US" altLang="en-US"/>
              <a:t>Records	</a:t>
            </a:r>
          </a:p>
        </p:txBody>
      </p:sp>
      <p:sp>
        <p:nvSpPr>
          <p:cNvPr id="3" name="Content Placeholder 2">
            <a:extLst>
              <a:ext uri="{FF2B5EF4-FFF2-40B4-BE49-F238E27FC236}">
                <a16:creationId xmlns:a16="http://schemas.microsoft.com/office/drawing/2014/main" id="{79A0CDC7-C827-87E5-40EC-05F5FF7B4AC0}"/>
              </a:ext>
            </a:extLst>
          </p:cNvPr>
          <p:cNvSpPr>
            <a:spLocks noGrp="1"/>
          </p:cNvSpPr>
          <p:nvPr>
            <p:ph idx="1"/>
          </p:nvPr>
        </p:nvSpPr>
        <p:spPr>
          <a:xfrm>
            <a:off x="457200" y="1090613"/>
            <a:ext cx="8243888" cy="5035550"/>
          </a:xfrm>
        </p:spPr>
        <p:txBody>
          <a:bodyPr/>
          <a:lstStyle/>
          <a:p>
            <a:pPr>
              <a:lnSpc>
                <a:spcPct val="150000"/>
              </a:lnSpc>
              <a:defRPr/>
            </a:pPr>
            <a:r>
              <a:rPr lang="en-US" sz="2000" dirty="0"/>
              <a:t>Records allows to create </a:t>
            </a:r>
            <a:r>
              <a:rPr lang="en-US" sz="2000" b="1" dirty="0">
                <a:solidFill>
                  <a:srgbClr val="0070C0"/>
                </a:solidFill>
              </a:rPr>
              <a:t>Immutable</a:t>
            </a:r>
            <a:r>
              <a:rPr lang="en-US" sz="2000" dirty="0"/>
              <a:t> data classes</a:t>
            </a:r>
          </a:p>
          <a:p>
            <a:pPr lvl="1">
              <a:lnSpc>
                <a:spcPct val="150000"/>
              </a:lnSpc>
              <a:defRPr/>
            </a:pPr>
            <a:r>
              <a:rPr lang="en-US" sz="1800" dirty="0"/>
              <a:t>Contains fields, constructor, getters, toString, equals and </a:t>
            </a:r>
            <a:r>
              <a:rPr lang="en-US" sz="1800" dirty="0" err="1"/>
              <a:t>hashCode</a:t>
            </a:r>
            <a:r>
              <a:rPr lang="en-US" sz="1800" dirty="0"/>
              <a:t> methods</a:t>
            </a:r>
          </a:p>
          <a:p>
            <a:pPr lvl="1">
              <a:lnSpc>
                <a:spcPct val="150000"/>
              </a:lnSpc>
              <a:defRPr/>
            </a:pPr>
            <a:r>
              <a:rPr lang="en-US" sz="1800" dirty="0"/>
              <a:t>Eliminates using the autogenerate functions of IDE’s</a:t>
            </a:r>
          </a:p>
          <a:p>
            <a:pPr lvl="1">
              <a:lnSpc>
                <a:spcPct val="150000"/>
              </a:lnSpc>
              <a:defRPr/>
            </a:pPr>
            <a:r>
              <a:rPr lang="en-US" sz="1800" b="1" i="1" dirty="0">
                <a:solidFill>
                  <a:schemeClr val="bg1">
                    <a:lumMod val="50000"/>
                  </a:schemeClr>
                </a:solidFill>
              </a:rPr>
              <a:t>No Setters</a:t>
            </a:r>
            <a:r>
              <a:rPr lang="en-US" sz="1800" dirty="0"/>
              <a:t> since they are </a:t>
            </a:r>
            <a:r>
              <a:rPr lang="en-US" sz="1800" b="1" dirty="0">
                <a:solidFill>
                  <a:srgbClr val="0070C0"/>
                </a:solidFill>
              </a:rPr>
              <a:t>immutable</a:t>
            </a:r>
          </a:p>
          <a:p>
            <a:pPr lvl="1">
              <a:lnSpc>
                <a:spcPct val="150000"/>
              </a:lnSpc>
              <a:defRPr/>
            </a:pPr>
            <a:r>
              <a:rPr lang="en-US" sz="1800" dirty="0"/>
              <a:t>Used as Data Transfer Objects</a:t>
            </a:r>
          </a:p>
          <a:p>
            <a:pPr>
              <a:spcBef>
                <a:spcPts val="1125"/>
              </a:spcBef>
              <a:spcAft>
                <a:spcPts val="1125"/>
              </a:spcAft>
              <a:defRPr/>
            </a:pPr>
            <a:r>
              <a:rPr lang="en-IN" sz="2000" dirty="0">
                <a:solidFill>
                  <a:srgbClr val="333333"/>
                </a:solidFill>
              </a:rPr>
              <a:t>A transparent way of defining data as data</a:t>
            </a:r>
            <a:r>
              <a:rPr lang="en-IN" sz="2000" dirty="0">
                <a:solidFill>
                  <a:srgbClr val="333333"/>
                </a:solidFill>
                <a:latin typeface="DejaVu Sans"/>
              </a:rPr>
              <a:t>.</a:t>
            </a:r>
            <a:endParaRPr lang="en-US" sz="1800" dirty="0"/>
          </a:p>
          <a:p>
            <a:pPr>
              <a:lnSpc>
                <a:spcPct val="150000"/>
              </a:lnSpc>
              <a:defRPr/>
            </a:pPr>
            <a:r>
              <a:rPr lang="en-US" sz="2000" dirty="0"/>
              <a:t>Eliminates the use of Libraries like Lombok</a:t>
            </a:r>
          </a:p>
          <a:p>
            <a:pPr>
              <a:lnSpc>
                <a:spcPct val="150000"/>
              </a:lnSpc>
              <a:defRPr/>
            </a:pPr>
            <a:r>
              <a:rPr lang="en-US" sz="2000" dirty="0"/>
              <a:t>It can be defined in its own file </a:t>
            </a:r>
          </a:p>
          <a:p>
            <a:pPr lvl="1">
              <a:lnSpc>
                <a:spcPct val="150000"/>
              </a:lnSpc>
              <a:defRPr/>
            </a:pPr>
            <a:r>
              <a:rPr lang="en-US" sz="2000" dirty="0"/>
              <a:t>Can also be defined where it is needed.</a:t>
            </a:r>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0E21525B-DD03-28D9-1D91-BB3E6A65AEB2}"/>
              </a:ext>
            </a:extLst>
          </p:cNvPr>
          <p:cNvSpPr>
            <a:spLocks noGrp="1" noChangeArrowheads="1"/>
          </p:cNvSpPr>
          <p:nvPr>
            <p:ph type="title"/>
          </p:nvPr>
        </p:nvSpPr>
        <p:spPr/>
        <p:txBody>
          <a:bodyPr/>
          <a:lstStyle/>
          <a:p>
            <a:r>
              <a:rPr lang="en-US" altLang="en-US"/>
              <a:t>Records</a:t>
            </a:r>
            <a:endParaRPr lang="en-IN" altLang="en-US"/>
          </a:p>
        </p:txBody>
      </p:sp>
      <p:sp>
        <p:nvSpPr>
          <p:cNvPr id="19458" name="Content Placeholder 2">
            <a:extLst>
              <a:ext uri="{FF2B5EF4-FFF2-40B4-BE49-F238E27FC236}">
                <a16:creationId xmlns:a16="http://schemas.microsoft.com/office/drawing/2014/main" id="{93C32F1A-7007-7B7C-EE93-156084DCD9E3}"/>
              </a:ext>
            </a:extLst>
          </p:cNvPr>
          <p:cNvSpPr>
            <a:spLocks noGrp="1" noChangeArrowheads="1"/>
          </p:cNvSpPr>
          <p:nvPr>
            <p:ph idx="1"/>
          </p:nvPr>
        </p:nvSpPr>
        <p:spPr>
          <a:xfrm>
            <a:off x="457200" y="838200"/>
            <a:ext cx="8243888" cy="5287963"/>
          </a:xfrm>
        </p:spPr>
        <p:txBody>
          <a:bodyPr/>
          <a:lstStyle/>
          <a:p>
            <a:r>
              <a:rPr lang="en-IN" sz="1800" b="1" dirty="0"/>
              <a:t>public</a:t>
            </a:r>
            <a:r>
              <a:rPr lang="en-IN" sz="1800" dirty="0"/>
              <a:t> </a:t>
            </a:r>
            <a:r>
              <a:rPr lang="en-IN" sz="1800" b="1" dirty="0"/>
              <a:t>record</a:t>
            </a:r>
            <a:r>
              <a:rPr lang="en-IN" sz="1800" dirty="0"/>
              <a:t> Person(</a:t>
            </a:r>
            <a:r>
              <a:rPr lang="en-IN" sz="1800" b="1" dirty="0"/>
              <a:t>int</a:t>
            </a:r>
            <a:r>
              <a:rPr lang="en-IN" sz="1800" dirty="0"/>
              <a:t> id, String name, </a:t>
            </a:r>
            <a:r>
              <a:rPr lang="en-IN" sz="1800" b="1" dirty="0"/>
              <a:t>int</a:t>
            </a:r>
            <a:r>
              <a:rPr lang="en-IN" sz="1800" dirty="0"/>
              <a:t> age) { }</a:t>
            </a:r>
          </a:p>
          <a:p>
            <a:pPr lvl="1"/>
            <a:endParaRPr lang="en-US" altLang="en-US" sz="1800" dirty="0"/>
          </a:p>
          <a:p>
            <a:pPr>
              <a:spcAft>
                <a:spcPts val="375"/>
              </a:spcAft>
            </a:pPr>
            <a:r>
              <a:rPr lang="en-IN" altLang="en-US" sz="1800" dirty="0">
                <a:solidFill>
                  <a:srgbClr val="404040"/>
                </a:solidFill>
              </a:rPr>
              <a:t>Extends </a:t>
            </a:r>
            <a:r>
              <a:rPr lang="en-IN" altLang="en-US" sz="1800" dirty="0" err="1">
                <a:solidFill>
                  <a:srgbClr val="404040"/>
                </a:solidFill>
              </a:rPr>
              <a:t>java.lang.Record</a:t>
            </a:r>
            <a:endParaRPr lang="en-IN" altLang="en-US" sz="1800" dirty="0">
              <a:solidFill>
                <a:srgbClr val="404040"/>
              </a:solidFill>
            </a:endParaRPr>
          </a:p>
          <a:p>
            <a:pPr lvl="1">
              <a:spcAft>
                <a:spcPts val="375"/>
              </a:spcAft>
            </a:pPr>
            <a:r>
              <a:rPr lang="en-IN" altLang="en-US" sz="1800" dirty="0">
                <a:solidFill>
                  <a:srgbClr val="404040"/>
                </a:solidFill>
              </a:rPr>
              <a:t>Base class for all records. </a:t>
            </a:r>
          </a:p>
          <a:p>
            <a:r>
              <a:rPr lang="en-US" altLang="en-US" sz="1800" dirty="0"/>
              <a:t>Compiler generates the class that will have the following:</a:t>
            </a:r>
          </a:p>
          <a:p>
            <a:endParaRPr lang="en-US" altLang="en-US" sz="1800" dirty="0"/>
          </a:p>
          <a:p>
            <a:pPr lvl="1">
              <a:spcAft>
                <a:spcPts val="375"/>
              </a:spcAft>
              <a:buFont typeface="Arial" panose="020B0604020202020204" pitchFamily="34" charset="0"/>
              <a:buChar char="•"/>
            </a:pPr>
            <a:r>
              <a:rPr lang="en-IN" altLang="en-US" sz="1800" dirty="0">
                <a:solidFill>
                  <a:srgbClr val="404040"/>
                </a:solidFill>
              </a:rPr>
              <a:t>An all-arguments constructor accepting all fields.</a:t>
            </a:r>
          </a:p>
          <a:p>
            <a:pPr lvl="1">
              <a:spcAft>
                <a:spcPts val="375"/>
              </a:spcAft>
              <a:buFont typeface="Arial" panose="020B0604020202020204" pitchFamily="34" charset="0"/>
              <a:buChar char="•"/>
            </a:pPr>
            <a:r>
              <a:rPr lang="en-IN" altLang="en-US" sz="1800" dirty="0">
                <a:solidFill>
                  <a:srgbClr val="404040"/>
                </a:solidFill>
              </a:rPr>
              <a:t>A </a:t>
            </a:r>
            <a:r>
              <a:rPr lang="en-IN" altLang="en-US" sz="1800" dirty="0" err="1">
                <a:solidFill>
                  <a:srgbClr val="404040"/>
                </a:solidFill>
              </a:rPr>
              <a:t>toString</a:t>
            </a:r>
            <a:r>
              <a:rPr lang="en-IN" altLang="en-US" sz="1800" dirty="0">
                <a:solidFill>
                  <a:srgbClr val="404040"/>
                </a:solidFill>
              </a:rPr>
              <a:t>() method that prints the state all fields in the record.</a:t>
            </a:r>
          </a:p>
          <a:p>
            <a:pPr lvl="1">
              <a:spcAft>
                <a:spcPts val="375"/>
              </a:spcAft>
              <a:buFont typeface="Arial" panose="020B0604020202020204" pitchFamily="34" charset="0"/>
              <a:buChar char="•"/>
            </a:pPr>
            <a:r>
              <a:rPr lang="en-IN" altLang="en-US" sz="1800" dirty="0">
                <a:solidFill>
                  <a:srgbClr val="404040"/>
                </a:solidFill>
              </a:rPr>
              <a:t>The equals() and </a:t>
            </a:r>
            <a:r>
              <a:rPr lang="en-IN" altLang="en-US" sz="1800" dirty="0" err="1">
                <a:solidFill>
                  <a:srgbClr val="404040"/>
                </a:solidFill>
              </a:rPr>
              <a:t>hashCode</a:t>
            </a:r>
            <a:r>
              <a:rPr lang="en-IN" altLang="en-US" sz="1800" dirty="0">
                <a:solidFill>
                  <a:srgbClr val="404040"/>
                </a:solidFill>
              </a:rPr>
              <a:t>() methods</a:t>
            </a:r>
          </a:p>
          <a:p>
            <a:pPr lvl="1">
              <a:spcAft>
                <a:spcPts val="375"/>
              </a:spcAft>
              <a:buFont typeface="Arial" panose="020B0604020202020204" pitchFamily="34" charset="0"/>
              <a:buChar char="•"/>
            </a:pPr>
            <a:r>
              <a:rPr lang="en-IN" altLang="en-US" sz="1800" dirty="0">
                <a:solidFill>
                  <a:srgbClr val="404040"/>
                </a:solidFill>
              </a:rPr>
              <a:t>getter methods whose names are similar to field names without the usual POJO/JavaBean get prefix</a:t>
            </a:r>
          </a:p>
          <a:p>
            <a:pPr lvl="1">
              <a:spcAft>
                <a:spcPts val="375"/>
              </a:spcAft>
              <a:buFont typeface="Arial" panose="020B0604020202020204" pitchFamily="34" charset="0"/>
              <a:buChar char="•"/>
            </a:pPr>
            <a:r>
              <a:rPr lang="en-IN" altLang="en-US" sz="1800" dirty="0">
                <a:solidFill>
                  <a:srgbClr val="404040"/>
                </a:solidFill>
              </a:rPr>
              <a:t> i.e. id(), </a:t>
            </a:r>
            <a:r>
              <a:rPr lang="en-IN" altLang="en-US" sz="1800" dirty="0" err="1">
                <a:solidFill>
                  <a:srgbClr val="404040"/>
                </a:solidFill>
              </a:rPr>
              <a:t>empName</a:t>
            </a:r>
            <a:r>
              <a:rPr lang="en-IN" altLang="en-US" sz="1800" dirty="0">
                <a:solidFill>
                  <a:srgbClr val="404040"/>
                </a:solidFill>
              </a:rPr>
              <a:t>(), salary()</a:t>
            </a:r>
          </a:p>
          <a:p>
            <a:pPr lvl="2">
              <a:spcAft>
                <a:spcPts val="375"/>
              </a:spcAft>
            </a:pPr>
            <a:r>
              <a:rPr lang="en-IN" altLang="en-US" sz="1800" dirty="0">
                <a:solidFill>
                  <a:srgbClr val="404040"/>
                </a:solidFill>
              </a:rPr>
              <a:t>These methods can be overridden to perform defensive copies when needed. </a:t>
            </a:r>
          </a:p>
          <a:p>
            <a:pPr lvl="1">
              <a:spcAft>
                <a:spcPts val="375"/>
              </a:spcAft>
            </a:pPr>
            <a:endParaRPr lang="en-IN" altLang="en-US" sz="1800" dirty="0">
              <a:solidFill>
                <a:srgbClr val="404040"/>
              </a:solidFill>
            </a:endParaRPr>
          </a:p>
          <a:p>
            <a:endParaRPr lang="en-IN" altLang="en-US" sz="2000" dirty="0">
              <a:solidFill>
                <a:srgbClr val="404040"/>
              </a:solidFill>
            </a:endParaRPr>
          </a:p>
          <a:p>
            <a:pPr lvl="2"/>
            <a:endParaRPr lang="en-US" altLang="en-US" sz="2000" dirty="0"/>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7AE6-2231-5ED6-23FB-BC866A241FF9}"/>
              </a:ext>
            </a:extLst>
          </p:cNvPr>
          <p:cNvSpPr>
            <a:spLocks noGrp="1"/>
          </p:cNvSpPr>
          <p:nvPr>
            <p:ph type="title"/>
          </p:nvPr>
        </p:nvSpPr>
        <p:spPr/>
        <p:txBody>
          <a:bodyPr/>
          <a:lstStyle/>
          <a:p>
            <a:r>
              <a:rPr lang="en-US" dirty="0"/>
              <a:t>Using Record</a:t>
            </a:r>
          </a:p>
        </p:txBody>
      </p:sp>
      <p:sp>
        <p:nvSpPr>
          <p:cNvPr id="3" name="Content Placeholder 2">
            <a:extLst>
              <a:ext uri="{FF2B5EF4-FFF2-40B4-BE49-F238E27FC236}">
                <a16:creationId xmlns:a16="http://schemas.microsoft.com/office/drawing/2014/main" id="{6EC51D3D-25E2-8AA8-4589-C8D00769024E}"/>
              </a:ext>
            </a:extLst>
          </p:cNvPr>
          <p:cNvSpPr>
            <a:spLocks noGrp="1"/>
          </p:cNvSpPr>
          <p:nvPr>
            <p:ph idx="1"/>
          </p:nvPr>
        </p:nvSpPr>
        <p:spPr/>
        <p:txBody>
          <a:bodyPr/>
          <a:lstStyle/>
          <a:p>
            <a:pPr marL="457200" lvl="1" indent="0">
              <a:lnSpc>
                <a:spcPct val="200000"/>
              </a:lnSpc>
              <a:buNone/>
            </a:pPr>
            <a:r>
              <a:rPr lang="en-IN" b="1" dirty="0"/>
              <a:t>public</a:t>
            </a:r>
            <a:r>
              <a:rPr lang="en-IN" dirty="0"/>
              <a:t> </a:t>
            </a:r>
            <a:r>
              <a:rPr lang="en-IN" b="1" dirty="0"/>
              <a:t>static</a:t>
            </a:r>
            <a:r>
              <a:rPr lang="en-IN" dirty="0"/>
              <a:t> </a:t>
            </a:r>
            <a:r>
              <a:rPr lang="en-IN" b="1" dirty="0"/>
              <a:t>void</a:t>
            </a:r>
            <a:r>
              <a:rPr lang="en-IN" dirty="0"/>
              <a:t> main(String[] </a:t>
            </a:r>
            <a:r>
              <a:rPr lang="en-IN" dirty="0" err="1"/>
              <a:t>args</a:t>
            </a:r>
            <a:r>
              <a:rPr lang="en-IN" dirty="0"/>
              <a:t>) {</a:t>
            </a:r>
          </a:p>
          <a:p>
            <a:pPr marL="457200" lvl="1" indent="0">
              <a:lnSpc>
                <a:spcPct val="200000"/>
              </a:lnSpc>
              <a:buNone/>
            </a:pPr>
            <a:r>
              <a:rPr lang="en-IN" dirty="0"/>
              <a:t>Person person = </a:t>
            </a:r>
            <a:r>
              <a:rPr lang="en-IN" b="1" dirty="0"/>
              <a:t>new</a:t>
            </a:r>
            <a:r>
              <a:rPr lang="en-IN" dirty="0"/>
              <a:t> Person(1, ”Ramesh", 23);</a:t>
            </a:r>
          </a:p>
          <a:p>
            <a:pPr marL="457200" lvl="1" indent="0">
              <a:lnSpc>
                <a:spcPct val="200000"/>
              </a:lnSpc>
              <a:buNone/>
            </a:pPr>
            <a:r>
              <a:rPr lang="en-IN" dirty="0" err="1"/>
              <a:t>System.</a:t>
            </a:r>
            <a:r>
              <a:rPr lang="en-IN" b="1" i="1" dirty="0" err="1"/>
              <a:t>out</a:t>
            </a:r>
            <a:r>
              <a:rPr lang="en-IN" dirty="0" err="1"/>
              <a:t>.println</a:t>
            </a:r>
            <a:r>
              <a:rPr lang="en-IN" dirty="0"/>
              <a:t>(person);</a:t>
            </a:r>
          </a:p>
          <a:p>
            <a:pPr marL="457200" lvl="1" indent="0">
              <a:lnSpc>
                <a:spcPct val="200000"/>
              </a:lnSpc>
              <a:buNone/>
            </a:pPr>
            <a:r>
              <a:rPr lang="en-IN" dirty="0" err="1"/>
              <a:t>System.</a:t>
            </a:r>
            <a:r>
              <a:rPr lang="en-IN" b="1" i="1" dirty="0" err="1"/>
              <a:t>out</a:t>
            </a:r>
            <a:r>
              <a:rPr lang="en-IN" dirty="0" err="1"/>
              <a:t>.println</a:t>
            </a:r>
            <a:r>
              <a:rPr lang="en-IN" dirty="0"/>
              <a:t>(</a:t>
            </a:r>
            <a:r>
              <a:rPr lang="en-IN" dirty="0" err="1"/>
              <a:t>person.name</a:t>
            </a:r>
            <a:r>
              <a:rPr lang="en-IN" dirty="0"/>
              <a:t>()+" is "+</a:t>
            </a:r>
            <a:r>
              <a:rPr lang="en-IN" dirty="0" err="1"/>
              <a:t>person.age</a:t>
            </a:r>
            <a:r>
              <a:rPr lang="en-IN" dirty="0"/>
              <a:t>()+" years old.");</a:t>
            </a:r>
          </a:p>
          <a:p>
            <a:pPr marL="457200" lvl="1" indent="0">
              <a:lnSpc>
                <a:spcPct val="200000"/>
              </a:lnSpc>
              <a:buNone/>
            </a:pPr>
            <a:r>
              <a:rPr lang="en-IN" dirty="0"/>
              <a:t>}</a:t>
            </a:r>
          </a:p>
          <a:p>
            <a:r>
              <a:rPr lang="en-IN" sz="2000" dirty="0"/>
              <a:t>Records are immutable by default, once an instance is created, its state cannot be changed.</a:t>
            </a:r>
          </a:p>
          <a:p>
            <a:endParaRPr lang="en-IN" dirty="0"/>
          </a:p>
          <a:p>
            <a:pPr lvl="1"/>
            <a:r>
              <a:rPr lang="en-IN" dirty="0"/>
              <a:t>Person person = new Person(”Ramesh", 30);</a:t>
            </a:r>
            <a:br>
              <a:rPr lang="en-IN" dirty="0"/>
            </a:br>
            <a:endParaRPr lang="en-IN" dirty="0"/>
          </a:p>
          <a:p>
            <a:pPr lvl="1"/>
            <a:r>
              <a:rPr lang="en-IN" dirty="0"/>
              <a:t>// </a:t>
            </a:r>
            <a:r>
              <a:rPr lang="en-IN" dirty="0" err="1"/>
              <a:t>person.name</a:t>
            </a:r>
            <a:r>
              <a:rPr lang="en-IN" dirty="0"/>
              <a:t> = "Bob";</a:t>
            </a:r>
          </a:p>
          <a:p>
            <a:pPr marL="457200" lvl="1" indent="0">
              <a:lnSpc>
                <a:spcPct val="200000"/>
              </a:lnSpc>
              <a:buNone/>
            </a:pPr>
            <a:endParaRPr lang="en-IN" dirty="0"/>
          </a:p>
          <a:p>
            <a:endParaRPr lang="en-US" dirty="0"/>
          </a:p>
        </p:txBody>
      </p:sp>
    </p:spTree>
    <p:extLst>
      <p:ext uri="{BB962C8B-B14F-4D97-AF65-F5344CB8AC3E}">
        <p14:creationId xmlns:p14="http://schemas.microsoft.com/office/powerpoint/2010/main" val="1752458964"/>
      </p:ext>
    </p:extLst>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58D4F-019E-471F-0B3D-03E9E6EADFA4}"/>
              </a:ext>
            </a:extLst>
          </p:cNvPr>
          <p:cNvSpPr>
            <a:spLocks noGrp="1"/>
          </p:cNvSpPr>
          <p:nvPr>
            <p:ph type="title"/>
          </p:nvPr>
        </p:nvSpPr>
        <p:spPr/>
        <p:txBody>
          <a:bodyPr/>
          <a:lstStyle/>
          <a:p>
            <a:r>
              <a:rPr lang="en-US" dirty="0"/>
              <a:t>Methods in Records</a:t>
            </a:r>
          </a:p>
        </p:txBody>
      </p:sp>
      <p:sp>
        <p:nvSpPr>
          <p:cNvPr id="3" name="Content Placeholder 2">
            <a:extLst>
              <a:ext uri="{FF2B5EF4-FFF2-40B4-BE49-F238E27FC236}">
                <a16:creationId xmlns:a16="http://schemas.microsoft.com/office/drawing/2014/main" id="{8FE34F0F-B32C-A869-ABBC-B8667728D3E6}"/>
              </a:ext>
            </a:extLst>
          </p:cNvPr>
          <p:cNvSpPr>
            <a:spLocks noGrp="1"/>
          </p:cNvSpPr>
          <p:nvPr>
            <p:ph idx="1"/>
          </p:nvPr>
        </p:nvSpPr>
        <p:spPr>
          <a:xfrm>
            <a:off x="457200" y="838200"/>
            <a:ext cx="8244348" cy="5287963"/>
          </a:xfrm>
        </p:spPr>
        <p:txBody>
          <a:bodyPr/>
          <a:lstStyle/>
          <a:p>
            <a:r>
              <a:rPr lang="en-IN" sz="1800" b="1" dirty="0"/>
              <a:t>Instance methods</a:t>
            </a:r>
            <a:r>
              <a:rPr lang="en-IN" sz="1800" dirty="0"/>
              <a:t>: </a:t>
            </a:r>
          </a:p>
          <a:p>
            <a:pPr lvl="1"/>
            <a:r>
              <a:rPr lang="en-IN" sz="1800" dirty="0"/>
              <a:t>Can add custom instance methods </a:t>
            </a:r>
          </a:p>
          <a:p>
            <a:r>
              <a:rPr lang="en-IN" sz="1800" b="1" dirty="0"/>
              <a:t>Static methods</a:t>
            </a:r>
            <a:r>
              <a:rPr lang="en-IN" sz="1800" dirty="0"/>
              <a:t>: </a:t>
            </a:r>
          </a:p>
          <a:p>
            <a:pPr lvl="1"/>
            <a:r>
              <a:rPr lang="en-IN" sz="1800" dirty="0"/>
              <a:t>Defined within a record and called using the record's class name. </a:t>
            </a:r>
          </a:p>
          <a:p>
            <a:r>
              <a:rPr lang="en-IN" sz="1800" b="1" dirty="0"/>
              <a:t>Canonical and other constructors</a:t>
            </a:r>
            <a:r>
              <a:rPr lang="en-IN" sz="1800" dirty="0"/>
              <a:t>: </a:t>
            </a:r>
          </a:p>
          <a:p>
            <a:pPr lvl="1"/>
            <a:r>
              <a:rPr lang="en-IN" sz="1800" dirty="0"/>
              <a:t>Records have an implicit canonical constructor</a:t>
            </a:r>
          </a:p>
          <a:p>
            <a:pPr lvl="1"/>
            <a:r>
              <a:rPr lang="en-IN" sz="1800" dirty="0"/>
              <a:t>Can also define other constructors, including an all-</a:t>
            </a:r>
            <a:r>
              <a:rPr lang="en-IN" sz="1800" dirty="0" err="1"/>
              <a:t>args</a:t>
            </a:r>
            <a:r>
              <a:rPr lang="en-IN" sz="1800" dirty="0"/>
              <a:t> constructor.</a:t>
            </a:r>
          </a:p>
          <a:p>
            <a:endParaRPr lang="en-IN" sz="1800" dirty="0"/>
          </a:p>
          <a:p>
            <a:endParaRPr lang="en-IN" sz="1800" b="1" dirty="0"/>
          </a:p>
          <a:p>
            <a:r>
              <a:rPr lang="en-IN" sz="1800" dirty="0"/>
              <a:t>Best Practices to avoid adding complex utility methods directly to a record class.</a:t>
            </a:r>
          </a:p>
          <a:p>
            <a:pPr lvl="1"/>
            <a:r>
              <a:rPr lang="en-IN" sz="1800" dirty="0"/>
              <a:t> If a method is purely for utility, it may be better placed in a separate utility class to keep the record focused on its data-carrying role. </a:t>
            </a:r>
          </a:p>
          <a:p>
            <a:pPr marL="0" indent="0">
              <a:buNone/>
            </a:pPr>
            <a:br>
              <a:rPr lang="en-IN" sz="1800" dirty="0"/>
            </a:br>
            <a:endParaRPr lang="en-IN" sz="1800" dirty="0"/>
          </a:p>
          <a:p>
            <a:endParaRPr lang="en-US" sz="1800" dirty="0"/>
          </a:p>
        </p:txBody>
      </p:sp>
    </p:spTree>
    <p:extLst>
      <p:ext uri="{BB962C8B-B14F-4D97-AF65-F5344CB8AC3E}">
        <p14:creationId xmlns:p14="http://schemas.microsoft.com/office/powerpoint/2010/main" val="1767179864"/>
      </p:ext>
    </p:extLst>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25AC3-00DB-D35B-DC21-B982ADA9A5AF}"/>
              </a:ext>
            </a:extLst>
          </p:cNvPr>
          <p:cNvSpPr>
            <a:spLocks noGrp="1"/>
          </p:cNvSpPr>
          <p:nvPr>
            <p:ph type="title"/>
          </p:nvPr>
        </p:nvSpPr>
        <p:spPr/>
        <p:txBody>
          <a:bodyPr/>
          <a:lstStyle/>
          <a:p>
            <a:r>
              <a:rPr lang="en-US" dirty="0"/>
              <a:t>Custom Constructor</a:t>
            </a:r>
          </a:p>
        </p:txBody>
      </p:sp>
      <p:sp>
        <p:nvSpPr>
          <p:cNvPr id="3" name="Content Placeholder 2">
            <a:extLst>
              <a:ext uri="{FF2B5EF4-FFF2-40B4-BE49-F238E27FC236}">
                <a16:creationId xmlns:a16="http://schemas.microsoft.com/office/drawing/2014/main" id="{1B9BD5E3-56A5-69FA-08E8-2840E766BFD8}"/>
              </a:ext>
            </a:extLst>
          </p:cNvPr>
          <p:cNvSpPr>
            <a:spLocks noGrp="1"/>
          </p:cNvSpPr>
          <p:nvPr>
            <p:ph idx="1"/>
          </p:nvPr>
        </p:nvSpPr>
        <p:spPr/>
        <p:txBody>
          <a:bodyPr/>
          <a:lstStyle/>
          <a:p>
            <a:r>
              <a:rPr lang="en-IN" sz="2000" dirty="0"/>
              <a:t>Can define a custom constructor to add validation logic or transform data.</a:t>
            </a:r>
          </a:p>
          <a:p>
            <a:endParaRPr lang="en-IN" sz="2000" dirty="0"/>
          </a:p>
          <a:p>
            <a:r>
              <a:rPr lang="en-IN" sz="2000" dirty="0"/>
              <a:t>public record Person(String name, int age) {</a:t>
            </a:r>
            <a:br>
              <a:rPr lang="en-IN" sz="2000" dirty="0"/>
            </a:br>
            <a:r>
              <a:rPr lang="en-IN" sz="2000" dirty="0"/>
              <a:t>    public Person {</a:t>
            </a:r>
            <a:br>
              <a:rPr lang="en-IN" sz="2000" dirty="0"/>
            </a:br>
            <a:r>
              <a:rPr lang="en-IN" sz="2000" dirty="0"/>
              <a:t>        if (age &lt; 0) {</a:t>
            </a:r>
            <a:br>
              <a:rPr lang="en-IN" sz="2000" dirty="0"/>
            </a:br>
            <a:r>
              <a:rPr lang="en-IN" sz="2000" dirty="0"/>
              <a:t>            throw new </a:t>
            </a:r>
            <a:r>
              <a:rPr lang="en-IN" sz="2000" dirty="0" err="1"/>
              <a:t>IllegalArgumentException</a:t>
            </a:r>
            <a:r>
              <a:rPr lang="en-IN" sz="2000" dirty="0"/>
              <a:t>("Age cannot be negative");</a:t>
            </a:r>
            <a:br>
              <a:rPr lang="en-IN" sz="2000" dirty="0"/>
            </a:br>
            <a:r>
              <a:rPr lang="en-IN" sz="2000" dirty="0"/>
              <a:t>        }</a:t>
            </a:r>
            <a:br>
              <a:rPr lang="en-IN" sz="2000" dirty="0"/>
            </a:br>
            <a:r>
              <a:rPr lang="en-IN" sz="2000" dirty="0"/>
              <a:t>    }</a:t>
            </a:r>
            <a:br>
              <a:rPr lang="en-IN" sz="2000" dirty="0"/>
            </a:br>
            <a:r>
              <a:rPr lang="en-IN" sz="2000" dirty="0"/>
              <a:t>}</a:t>
            </a:r>
          </a:p>
        </p:txBody>
      </p:sp>
    </p:spTree>
    <p:extLst>
      <p:ext uri="{BB962C8B-B14F-4D97-AF65-F5344CB8AC3E}">
        <p14:creationId xmlns:p14="http://schemas.microsoft.com/office/powerpoint/2010/main" val="1013412060"/>
      </p:ext>
    </p:extLst>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3850B-4020-0E8A-BB43-B3E8C3A41565}"/>
              </a:ext>
            </a:extLst>
          </p:cNvPr>
          <p:cNvSpPr>
            <a:spLocks noGrp="1"/>
          </p:cNvSpPr>
          <p:nvPr>
            <p:ph type="title"/>
          </p:nvPr>
        </p:nvSpPr>
        <p:spPr/>
        <p:txBody>
          <a:bodyPr/>
          <a:lstStyle/>
          <a:p>
            <a:r>
              <a:rPr lang="en-US" dirty="0"/>
              <a:t>Custom Methods</a:t>
            </a:r>
          </a:p>
        </p:txBody>
      </p:sp>
      <p:sp>
        <p:nvSpPr>
          <p:cNvPr id="3" name="Content Placeholder 2">
            <a:extLst>
              <a:ext uri="{FF2B5EF4-FFF2-40B4-BE49-F238E27FC236}">
                <a16:creationId xmlns:a16="http://schemas.microsoft.com/office/drawing/2014/main" id="{DCDF5A59-7A4B-81B1-3550-996C3FF0C1BB}"/>
              </a:ext>
            </a:extLst>
          </p:cNvPr>
          <p:cNvSpPr>
            <a:spLocks noGrp="1"/>
          </p:cNvSpPr>
          <p:nvPr>
            <p:ph idx="1"/>
          </p:nvPr>
        </p:nvSpPr>
        <p:spPr/>
        <p:txBody>
          <a:bodyPr/>
          <a:lstStyle/>
          <a:p>
            <a:r>
              <a:rPr lang="en-IN" sz="2000" dirty="0"/>
              <a:t>You can add custom methods to a record.</a:t>
            </a:r>
          </a:p>
          <a:p>
            <a:r>
              <a:rPr lang="en-IN" sz="2000" dirty="0"/>
              <a:t>public record Person(String name, int age) {</a:t>
            </a:r>
          </a:p>
          <a:p>
            <a:pPr marL="0" indent="0">
              <a:buNone/>
            </a:pPr>
            <a:br>
              <a:rPr lang="en-IN" sz="2000" dirty="0"/>
            </a:br>
            <a:r>
              <a:rPr lang="en-IN" sz="2000" dirty="0"/>
              <a:t>    public String greeting() {</a:t>
            </a:r>
            <a:br>
              <a:rPr lang="en-IN" sz="2000" dirty="0"/>
            </a:br>
            <a:r>
              <a:rPr lang="en-IN" sz="2000" dirty="0"/>
              <a:t>        return "Hello, my name is " + name + " and I am " + age + " years old.";</a:t>
            </a:r>
            <a:br>
              <a:rPr lang="en-IN" sz="2000" dirty="0"/>
            </a:br>
            <a:r>
              <a:rPr lang="en-IN" sz="2000" dirty="0"/>
              <a:t>    }</a:t>
            </a:r>
            <a:br>
              <a:rPr lang="en-IN" sz="2000" dirty="0"/>
            </a:br>
            <a:r>
              <a:rPr lang="en-IN" sz="2000" dirty="0"/>
              <a:t>}</a:t>
            </a:r>
          </a:p>
          <a:p>
            <a:endParaRPr lang="en-IN" dirty="0"/>
          </a:p>
          <a:p>
            <a:r>
              <a:rPr lang="en-IN" sz="2000" dirty="0"/>
              <a:t>Person person = new Person("Alice", 30);</a:t>
            </a:r>
            <a:br>
              <a:rPr lang="en-IN" sz="2000" dirty="0"/>
            </a:br>
            <a:endParaRPr lang="en-IN" sz="2000" dirty="0"/>
          </a:p>
          <a:p>
            <a:r>
              <a:rPr lang="en-IN" sz="2000" dirty="0" err="1"/>
              <a:t>System.out.println</a:t>
            </a:r>
            <a:r>
              <a:rPr lang="en-IN" sz="2000" dirty="0"/>
              <a:t>(</a:t>
            </a:r>
            <a:r>
              <a:rPr lang="en-IN" sz="2000" dirty="0" err="1"/>
              <a:t>person.greeting</a:t>
            </a:r>
            <a:r>
              <a:rPr lang="en-IN" sz="2000" dirty="0"/>
              <a:t>()); //</a:t>
            </a:r>
          </a:p>
          <a:p>
            <a:pPr marL="0" indent="0">
              <a:buNone/>
            </a:pPr>
            <a:br>
              <a:rPr lang="en-IN" dirty="0"/>
            </a:br>
            <a:endParaRPr lang="en-US" dirty="0"/>
          </a:p>
          <a:p>
            <a:endParaRPr lang="en-US" dirty="0"/>
          </a:p>
        </p:txBody>
      </p:sp>
    </p:spTree>
    <p:extLst>
      <p:ext uri="{BB962C8B-B14F-4D97-AF65-F5344CB8AC3E}">
        <p14:creationId xmlns:p14="http://schemas.microsoft.com/office/powerpoint/2010/main" val="84781149"/>
      </p:ext>
    </p:extLst>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D4665-A6CB-2372-54EC-DA7520006035}"/>
              </a:ext>
            </a:extLst>
          </p:cNvPr>
          <p:cNvSpPr>
            <a:spLocks noGrp="1"/>
          </p:cNvSpPr>
          <p:nvPr>
            <p:ph type="title"/>
          </p:nvPr>
        </p:nvSpPr>
        <p:spPr/>
        <p:txBody>
          <a:bodyPr/>
          <a:lstStyle/>
          <a:p>
            <a:r>
              <a:rPr lang="en-US" dirty="0"/>
              <a:t>Inheritance and Records</a:t>
            </a:r>
          </a:p>
        </p:txBody>
      </p:sp>
      <p:sp>
        <p:nvSpPr>
          <p:cNvPr id="3" name="Content Placeholder 2">
            <a:extLst>
              <a:ext uri="{FF2B5EF4-FFF2-40B4-BE49-F238E27FC236}">
                <a16:creationId xmlns:a16="http://schemas.microsoft.com/office/drawing/2014/main" id="{9E54A512-51CC-BA1B-16B9-DDED0D729550}"/>
              </a:ext>
            </a:extLst>
          </p:cNvPr>
          <p:cNvSpPr>
            <a:spLocks noGrp="1"/>
          </p:cNvSpPr>
          <p:nvPr>
            <p:ph idx="1"/>
          </p:nvPr>
        </p:nvSpPr>
        <p:spPr/>
        <p:txBody>
          <a:bodyPr/>
          <a:lstStyle/>
          <a:p>
            <a:r>
              <a:rPr lang="en-IN" sz="2000" dirty="0"/>
              <a:t>Records </a:t>
            </a:r>
            <a:r>
              <a:rPr lang="en-IN" sz="2000" dirty="0">
                <a:solidFill>
                  <a:srgbClr val="FF0000"/>
                </a:solidFill>
              </a:rPr>
              <a:t>cannot</a:t>
            </a:r>
            <a:r>
              <a:rPr lang="en-IN" sz="2000" dirty="0"/>
              <a:t> extend other classes, but can implement interfaces.</a:t>
            </a:r>
          </a:p>
          <a:p>
            <a:endParaRPr lang="en-IN" sz="2000" dirty="0"/>
          </a:p>
          <a:p>
            <a:r>
              <a:rPr lang="en-IN" sz="2000" dirty="0"/>
              <a:t>public record Person(String name, int age) implements Comparable&lt;Person&gt; {</a:t>
            </a:r>
            <a:br>
              <a:rPr lang="en-IN" sz="2000" dirty="0"/>
            </a:br>
            <a:r>
              <a:rPr lang="en-IN" sz="2000" dirty="0"/>
              <a:t>    @Override</a:t>
            </a:r>
            <a:br>
              <a:rPr lang="en-IN" sz="2000" dirty="0"/>
            </a:br>
            <a:r>
              <a:rPr lang="en-IN" sz="2000" dirty="0"/>
              <a:t>    public int </a:t>
            </a:r>
            <a:r>
              <a:rPr lang="en-IN" sz="2000" dirty="0" err="1"/>
              <a:t>compareTo</a:t>
            </a:r>
            <a:r>
              <a:rPr lang="en-IN" sz="2000" dirty="0"/>
              <a:t>(Person other) {</a:t>
            </a:r>
            <a:br>
              <a:rPr lang="en-IN" sz="2000" dirty="0"/>
            </a:br>
            <a:r>
              <a:rPr lang="en-IN" sz="2000" dirty="0"/>
              <a:t>        return </a:t>
            </a:r>
            <a:r>
              <a:rPr lang="en-IN" sz="2000" dirty="0" err="1"/>
              <a:t>this.name.compareTo</a:t>
            </a:r>
            <a:r>
              <a:rPr lang="en-IN" sz="2000" dirty="0"/>
              <a:t>(</a:t>
            </a:r>
            <a:r>
              <a:rPr lang="en-IN" sz="2000" dirty="0" err="1"/>
              <a:t>other.name</a:t>
            </a:r>
            <a:r>
              <a:rPr lang="en-IN" sz="2000" dirty="0"/>
              <a:t>);</a:t>
            </a:r>
            <a:br>
              <a:rPr lang="en-IN" sz="2000" dirty="0"/>
            </a:br>
            <a:r>
              <a:rPr lang="en-IN" sz="2000" dirty="0"/>
              <a:t>    }</a:t>
            </a:r>
            <a:br>
              <a:rPr lang="en-IN" sz="2000" dirty="0"/>
            </a:br>
            <a:r>
              <a:rPr lang="en-IN" sz="2000" dirty="0"/>
              <a:t>}</a:t>
            </a:r>
          </a:p>
          <a:p>
            <a:r>
              <a:rPr lang="en-IN" sz="2000" b="1" i="1" dirty="0"/>
              <a:t>It can can be nested </a:t>
            </a:r>
          </a:p>
          <a:p>
            <a:endParaRPr lang="en-IN" sz="2000" dirty="0"/>
          </a:p>
          <a:p>
            <a:r>
              <a:rPr lang="en-IN" sz="2000" dirty="0"/>
              <a:t>public record </a:t>
            </a:r>
            <a:r>
              <a:rPr lang="en-IN" sz="2000" b="1" dirty="0">
                <a:solidFill>
                  <a:srgbClr val="0070C0"/>
                </a:solidFill>
              </a:rPr>
              <a:t>Address</a:t>
            </a:r>
            <a:r>
              <a:rPr lang="en-IN" sz="2000" dirty="0"/>
              <a:t>(String street, String city) {}</a:t>
            </a:r>
            <a:br>
              <a:rPr lang="en-IN" sz="2000" dirty="0"/>
            </a:br>
            <a:endParaRPr lang="en-IN" sz="2000" dirty="0"/>
          </a:p>
          <a:p>
            <a:r>
              <a:rPr lang="en-IN" sz="2000" dirty="0"/>
              <a:t>public record Person(String name, int age, </a:t>
            </a:r>
            <a:r>
              <a:rPr lang="en-IN" sz="2000" b="1" dirty="0">
                <a:solidFill>
                  <a:srgbClr val="0070C0"/>
                </a:solidFill>
              </a:rPr>
              <a:t>Address</a:t>
            </a:r>
            <a:r>
              <a:rPr lang="en-IN" sz="2000" dirty="0"/>
              <a:t> address) {}</a:t>
            </a:r>
          </a:p>
          <a:p>
            <a:pPr marL="0" indent="0">
              <a:buNone/>
            </a:pPr>
            <a:br>
              <a:rPr lang="en-IN" dirty="0"/>
            </a:br>
            <a:endParaRPr lang="en-US" dirty="0"/>
          </a:p>
        </p:txBody>
      </p:sp>
    </p:spTree>
    <p:extLst>
      <p:ext uri="{BB962C8B-B14F-4D97-AF65-F5344CB8AC3E}">
        <p14:creationId xmlns:p14="http://schemas.microsoft.com/office/powerpoint/2010/main" val="2369624436"/>
      </p:ext>
    </p:extLst>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26E6-820F-E9DA-3F6F-45EAEA8EE41C}"/>
              </a:ext>
            </a:extLst>
          </p:cNvPr>
          <p:cNvSpPr>
            <a:spLocks noGrp="1"/>
          </p:cNvSpPr>
          <p:nvPr>
            <p:ph type="title"/>
          </p:nvPr>
        </p:nvSpPr>
        <p:spPr/>
        <p:txBody>
          <a:bodyPr/>
          <a:lstStyle/>
          <a:p>
            <a:r>
              <a:rPr lang="en-US" dirty="0"/>
              <a:t>Use Cases </a:t>
            </a:r>
          </a:p>
        </p:txBody>
      </p:sp>
      <p:sp>
        <p:nvSpPr>
          <p:cNvPr id="3" name="Content Placeholder 2">
            <a:extLst>
              <a:ext uri="{FF2B5EF4-FFF2-40B4-BE49-F238E27FC236}">
                <a16:creationId xmlns:a16="http://schemas.microsoft.com/office/drawing/2014/main" id="{0AD210B6-F874-31C3-86E9-6A99EDFF8701}"/>
              </a:ext>
            </a:extLst>
          </p:cNvPr>
          <p:cNvSpPr>
            <a:spLocks noGrp="1"/>
          </p:cNvSpPr>
          <p:nvPr>
            <p:ph idx="1"/>
          </p:nvPr>
        </p:nvSpPr>
        <p:spPr/>
        <p:txBody>
          <a:bodyPr/>
          <a:lstStyle/>
          <a:p>
            <a:pPr>
              <a:lnSpc>
                <a:spcPct val="150000"/>
              </a:lnSpc>
            </a:pPr>
            <a:r>
              <a:rPr lang="en-IN" sz="2000" dirty="0"/>
              <a:t>Handle immutable data objects</a:t>
            </a:r>
          </a:p>
          <a:p>
            <a:pPr>
              <a:lnSpc>
                <a:spcPct val="150000"/>
              </a:lnSpc>
            </a:pPr>
            <a:r>
              <a:rPr lang="en-IN" sz="2000" dirty="0"/>
              <a:t>useful for DTOs, </a:t>
            </a:r>
          </a:p>
          <a:p>
            <a:pPr>
              <a:lnSpc>
                <a:spcPct val="150000"/>
              </a:lnSpc>
            </a:pPr>
            <a:r>
              <a:rPr lang="en-IN" sz="2000" dirty="0"/>
              <a:t>Used for configuration properties</a:t>
            </a:r>
          </a:p>
          <a:p>
            <a:pPr>
              <a:lnSpc>
                <a:spcPct val="150000"/>
              </a:lnSpc>
            </a:pPr>
            <a:r>
              <a:rPr lang="en-IN" sz="2000" dirty="0"/>
              <a:t>Microservice Responses</a:t>
            </a:r>
          </a:p>
          <a:p>
            <a:pPr marL="0" indent="0">
              <a:buNone/>
            </a:pPr>
            <a:br>
              <a:rPr lang="en-IN" dirty="0"/>
            </a:br>
            <a:endParaRPr lang="en-US" dirty="0"/>
          </a:p>
        </p:txBody>
      </p:sp>
    </p:spTree>
    <p:extLst>
      <p:ext uri="{BB962C8B-B14F-4D97-AF65-F5344CB8AC3E}">
        <p14:creationId xmlns:p14="http://schemas.microsoft.com/office/powerpoint/2010/main" val="4068311659"/>
      </p:ext>
    </p:extLst>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00B025-34F6-01F2-C1DB-8132FD83492E}"/>
              </a:ext>
            </a:extLst>
          </p:cNvPr>
          <p:cNvSpPr>
            <a:spLocks noGrp="1"/>
          </p:cNvSpPr>
          <p:nvPr>
            <p:ph type="title"/>
          </p:nvPr>
        </p:nvSpPr>
        <p:spPr/>
        <p:txBody>
          <a:bodyPr/>
          <a:lstStyle/>
          <a:p>
            <a:pPr>
              <a:defRPr/>
            </a:pPr>
            <a:r>
              <a:rPr lang="en-US" dirty="0"/>
              <a:t>Sealed classes</a:t>
            </a:r>
            <a:endParaRPr lang="en-IN" dirty="0"/>
          </a:p>
        </p:txBody>
      </p:sp>
      <p:sp>
        <p:nvSpPr>
          <p:cNvPr id="54274" name="Text Placeholder 4">
            <a:extLst>
              <a:ext uri="{FF2B5EF4-FFF2-40B4-BE49-F238E27FC236}">
                <a16:creationId xmlns:a16="http://schemas.microsoft.com/office/drawing/2014/main" id="{F32151DF-6C8A-7396-46AE-FEF2050A7E8B}"/>
              </a:ext>
            </a:extLst>
          </p:cNvPr>
          <p:cNvSpPr>
            <a:spLocks noGrp="1" noChangeArrowheads="1"/>
          </p:cNvSpPr>
          <p:nvPr>
            <p:ph type="body" idx="1"/>
          </p:nvPr>
        </p:nvSpPr>
        <p:spPr/>
        <p:txBody>
          <a:bodyPr/>
          <a:lstStyle/>
          <a:p>
            <a:endParaRPr lang="en-IN" altLang="en-US"/>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3">
            <a:extLst>
              <a:ext uri="{FF2B5EF4-FFF2-40B4-BE49-F238E27FC236}">
                <a16:creationId xmlns:a16="http://schemas.microsoft.com/office/drawing/2014/main" id="{AF9CA245-5DB4-54F1-DA27-DD3509ACBBC5}"/>
              </a:ext>
            </a:extLst>
          </p:cNvPr>
          <p:cNvSpPr>
            <a:spLocks noGrp="1" noChangeArrowheads="1"/>
          </p:cNvSpPr>
          <p:nvPr>
            <p:ph type="title"/>
          </p:nvPr>
        </p:nvSpPr>
        <p:spPr/>
        <p:txBody>
          <a:bodyPr/>
          <a:lstStyle/>
          <a:p>
            <a:br>
              <a:rPr lang="en-US" altLang="en-US"/>
            </a:br>
            <a:r>
              <a:rPr lang="en-US" altLang="en-US"/>
              <a:t>Sealed Classes</a:t>
            </a:r>
            <a:br>
              <a:rPr lang="en-US" altLang="en-US"/>
            </a:br>
            <a:endParaRPr lang="en-IN" altLang="en-US"/>
          </a:p>
        </p:txBody>
      </p:sp>
      <p:sp>
        <p:nvSpPr>
          <p:cNvPr id="56322" name="Content Placeholder 4">
            <a:extLst>
              <a:ext uri="{FF2B5EF4-FFF2-40B4-BE49-F238E27FC236}">
                <a16:creationId xmlns:a16="http://schemas.microsoft.com/office/drawing/2014/main" id="{FD850801-FB3F-DF32-3809-F0D51526F9E8}"/>
              </a:ext>
            </a:extLst>
          </p:cNvPr>
          <p:cNvSpPr>
            <a:spLocks noGrp="1" noChangeArrowheads="1"/>
          </p:cNvSpPr>
          <p:nvPr>
            <p:ph idx="1"/>
          </p:nvPr>
        </p:nvSpPr>
        <p:spPr>
          <a:xfrm>
            <a:off x="457200" y="1090613"/>
            <a:ext cx="8243888" cy="5035550"/>
          </a:xfrm>
        </p:spPr>
        <p:txBody>
          <a:bodyPr/>
          <a:lstStyle/>
          <a:p>
            <a:r>
              <a:rPr lang="en-US" altLang="en-US" sz="1800" b="1" i="1">
                <a:solidFill>
                  <a:srgbClr val="002060"/>
                </a:solidFill>
              </a:rPr>
              <a:t>Controlled Inheritance</a:t>
            </a:r>
          </a:p>
          <a:p>
            <a:pPr lvl="1"/>
            <a:r>
              <a:rPr lang="en-US" altLang="en-US" sz="2000"/>
              <a:t>Control classes that may extend another class. </a:t>
            </a:r>
          </a:p>
          <a:p>
            <a:r>
              <a:rPr lang="en-US" altLang="en-US" sz="1800"/>
              <a:t>Used by the library owners. </a:t>
            </a:r>
          </a:p>
          <a:p>
            <a:endParaRPr lang="en-US" altLang="en-US" sz="1800"/>
          </a:p>
          <a:p>
            <a:r>
              <a:rPr lang="en-US" altLang="en-US" sz="1800"/>
              <a:t>To control which classes can extend a  super class, </a:t>
            </a:r>
          </a:p>
          <a:p>
            <a:pPr lvl="1"/>
            <a:r>
              <a:rPr lang="en-US" altLang="en-US" sz="2000"/>
              <a:t>Can put all classes in the same package and give the super class package visibility. </a:t>
            </a:r>
          </a:p>
          <a:p>
            <a:endParaRPr lang="en-US" altLang="en-US" sz="1800"/>
          </a:p>
          <a:p>
            <a:r>
              <a:rPr lang="en-US" altLang="en-US" sz="1800"/>
              <a:t>It is not possible anymore to access the super class from outside the package. </a:t>
            </a:r>
          </a:p>
          <a:p>
            <a:endParaRPr lang="en-US" altLang="en-US" sz="1800"/>
          </a:p>
          <a:p>
            <a:endParaRPr lang="en-US" altLang="en-US" sz="1800"/>
          </a:p>
        </p:txBody>
      </p:sp>
    </p:spTree>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606DC-11FE-781D-9DB4-9B878A54881E}"/>
              </a:ext>
            </a:extLst>
          </p:cNvPr>
          <p:cNvSpPr>
            <a:spLocks noGrp="1"/>
          </p:cNvSpPr>
          <p:nvPr>
            <p:ph type="title"/>
          </p:nvPr>
        </p:nvSpPr>
        <p:spPr/>
        <p:txBody>
          <a:bodyPr/>
          <a:lstStyle/>
          <a:p>
            <a:r>
              <a:rPr lang="en-US" dirty="0"/>
              <a:t>Creating Sealed Class</a:t>
            </a:r>
          </a:p>
        </p:txBody>
      </p:sp>
      <p:sp>
        <p:nvSpPr>
          <p:cNvPr id="3" name="Content Placeholder 2">
            <a:extLst>
              <a:ext uri="{FF2B5EF4-FFF2-40B4-BE49-F238E27FC236}">
                <a16:creationId xmlns:a16="http://schemas.microsoft.com/office/drawing/2014/main" id="{8648FC1F-0565-05AE-E6BC-5BC537499364}"/>
              </a:ext>
            </a:extLst>
          </p:cNvPr>
          <p:cNvSpPr>
            <a:spLocks noGrp="1"/>
          </p:cNvSpPr>
          <p:nvPr>
            <p:ph idx="1"/>
          </p:nvPr>
        </p:nvSpPr>
        <p:spPr/>
        <p:txBody>
          <a:bodyPr/>
          <a:lstStyle/>
          <a:p>
            <a:r>
              <a:rPr lang="en-IN" sz="2000" b="1" dirty="0"/>
              <a:t>sealed modifier</a:t>
            </a:r>
          </a:p>
          <a:p>
            <a:pPr lvl="1"/>
            <a:r>
              <a:rPr lang="en-IN" dirty="0"/>
              <a:t>Class or interface is declared as sealed using the sealed modifier. </a:t>
            </a:r>
          </a:p>
          <a:p>
            <a:pPr lvl="1"/>
            <a:endParaRPr lang="en-IN" dirty="0"/>
          </a:p>
          <a:p>
            <a:pPr lvl="1"/>
            <a:r>
              <a:rPr lang="en-IN" dirty="0"/>
              <a:t> public sealed class Shape permits Circle, Square, Triangle {</a:t>
            </a:r>
            <a:br>
              <a:rPr lang="en-IN" dirty="0"/>
            </a:br>
            <a:r>
              <a:rPr lang="en-IN" dirty="0"/>
              <a:t>        // ...</a:t>
            </a:r>
            <a:br>
              <a:rPr lang="en-IN" dirty="0"/>
            </a:br>
            <a:r>
              <a:rPr lang="en-IN" dirty="0"/>
              <a:t>    }</a:t>
            </a:r>
          </a:p>
          <a:p>
            <a:pPr lvl="1"/>
            <a:endParaRPr lang="en-IN" dirty="0"/>
          </a:p>
          <a:p>
            <a:r>
              <a:rPr lang="en-IN" sz="2000" b="1" dirty="0"/>
              <a:t>permits clause:</a:t>
            </a:r>
          </a:p>
          <a:p>
            <a:pPr lvl="1"/>
            <a:r>
              <a:rPr lang="en-IN" sz="2000" dirty="0"/>
              <a:t>Following the sealed modifier, the permits clause explicitly lists the direct subclasses or implementing interfaces that are allowed.</a:t>
            </a:r>
          </a:p>
          <a:p>
            <a:endParaRPr lang="en-IN" sz="2000" dirty="0"/>
          </a:p>
          <a:p>
            <a:r>
              <a:rPr lang="en-IN" sz="2000" dirty="0"/>
              <a:t>public sealed interface Expr permits </a:t>
            </a:r>
            <a:r>
              <a:rPr lang="en-IN" sz="2000" dirty="0" err="1"/>
              <a:t>ConstantExpr</a:t>
            </a:r>
            <a:r>
              <a:rPr lang="en-IN" sz="2000" dirty="0"/>
              <a:t>, </a:t>
            </a:r>
            <a:r>
              <a:rPr lang="en-IN" sz="2000" dirty="0" err="1"/>
              <a:t>PlusExpr</a:t>
            </a:r>
            <a:r>
              <a:rPr lang="en-IN" sz="2000" dirty="0"/>
              <a:t>, </a:t>
            </a:r>
            <a:r>
              <a:rPr lang="en-IN" sz="2000" dirty="0" err="1"/>
              <a:t>TimesExpr</a:t>
            </a:r>
            <a:r>
              <a:rPr lang="en-IN" sz="2000" dirty="0"/>
              <a:t>, </a:t>
            </a:r>
            <a:r>
              <a:rPr lang="en-IN" sz="2000" dirty="0" err="1"/>
              <a:t>NegExpr</a:t>
            </a:r>
            <a:r>
              <a:rPr lang="en-IN" sz="2000" dirty="0"/>
              <a:t> {</a:t>
            </a:r>
            <a:br>
              <a:rPr lang="en-IN" sz="2000" dirty="0"/>
            </a:br>
            <a:r>
              <a:rPr lang="en-IN" sz="2000" dirty="0"/>
              <a:t>        // ...</a:t>
            </a:r>
            <a:br>
              <a:rPr lang="en-IN" sz="2000" dirty="0"/>
            </a:br>
            <a:r>
              <a:rPr lang="en-IN" sz="2000" dirty="0"/>
              <a:t>    }</a:t>
            </a:r>
          </a:p>
          <a:p>
            <a:pPr lvl="1"/>
            <a:endParaRPr lang="en-IN" dirty="0"/>
          </a:p>
          <a:p>
            <a:endParaRPr lang="en-US" dirty="0"/>
          </a:p>
        </p:txBody>
      </p:sp>
    </p:spTree>
    <p:extLst>
      <p:ext uri="{BB962C8B-B14F-4D97-AF65-F5344CB8AC3E}">
        <p14:creationId xmlns:p14="http://schemas.microsoft.com/office/powerpoint/2010/main" val="3511471622"/>
      </p:ext>
    </p:extLst>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47525-70A4-AB7A-6AA1-FF8FB7A2D438}"/>
              </a:ext>
            </a:extLst>
          </p:cNvPr>
          <p:cNvSpPr>
            <a:spLocks noGrp="1"/>
          </p:cNvSpPr>
          <p:nvPr>
            <p:ph type="title"/>
          </p:nvPr>
        </p:nvSpPr>
        <p:spPr/>
        <p:txBody>
          <a:bodyPr/>
          <a:lstStyle/>
          <a:p>
            <a:r>
              <a:rPr lang="en-US" dirty="0"/>
              <a:t>Sub Classing Rules</a:t>
            </a:r>
          </a:p>
        </p:txBody>
      </p:sp>
      <p:sp>
        <p:nvSpPr>
          <p:cNvPr id="3" name="Content Placeholder 2">
            <a:extLst>
              <a:ext uri="{FF2B5EF4-FFF2-40B4-BE49-F238E27FC236}">
                <a16:creationId xmlns:a16="http://schemas.microsoft.com/office/drawing/2014/main" id="{4E299739-6FCD-D749-C216-E0D56CCD3B95}"/>
              </a:ext>
            </a:extLst>
          </p:cNvPr>
          <p:cNvSpPr>
            <a:spLocks noGrp="1"/>
          </p:cNvSpPr>
          <p:nvPr>
            <p:ph idx="1"/>
          </p:nvPr>
        </p:nvSpPr>
        <p:spPr/>
        <p:txBody>
          <a:bodyPr/>
          <a:lstStyle/>
          <a:p>
            <a:r>
              <a:rPr lang="en-IN" sz="1800" dirty="0"/>
              <a:t>Subclassing rules: </a:t>
            </a:r>
          </a:p>
          <a:p>
            <a:pPr lvl="1"/>
            <a:r>
              <a:rPr lang="en-IN" sz="1800" dirty="0"/>
              <a:t>Permitted subclasses of a sealed class must declare how they continue the sealing</a:t>
            </a:r>
            <a:r>
              <a:rPr lang="en-IN" sz="1800"/>
              <a:t>. </a:t>
            </a:r>
            <a:endParaRPr lang="en-IN" sz="1800" dirty="0"/>
          </a:p>
          <a:p>
            <a:r>
              <a:rPr lang="en-IN" sz="1800" dirty="0"/>
              <a:t>final: </a:t>
            </a:r>
          </a:p>
          <a:p>
            <a:pPr lvl="1"/>
            <a:r>
              <a:rPr lang="en-IN" sz="1800" dirty="0"/>
              <a:t>Prevents any further extension.</a:t>
            </a:r>
          </a:p>
          <a:p>
            <a:r>
              <a:rPr lang="en-IN" sz="1800" dirty="0"/>
              <a:t>sealed: </a:t>
            </a:r>
          </a:p>
          <a:p>
            <a:pPr lvl="1"/>
            <a:r>
              <a:rPr lang="en-IN" sz="1800" dirty="0"/>
              <a:t>Continues the sealed hierarchy, requiring its own permits clause.</a:t>
            </a:r>
          </a:p>
          <a:p>
            <a:r>
              <a:rPr lang="en-IN" sz="1800" dirty="0"/>
              <a:t>non-sealed: </a:t>
            </a:r>
          </a:p>
          <a:p>
            <a:pPr lvl="1"/>
            <a:r>
              <a:rPr lang="en-IN" sz="1800" dirty="0"/>
              <a:t>Opens up the hierarchy, allowing any class to extend it.</a:t>
            </a:r>
          </a:p>
          <a:p>
            <a:endParaRPr lang="en-IN" sz="1800" dirty="0"/>
          </a:p>
          <a:p>
            <a:r>
              <a:rPr lang="en-IN" sz="1800" dirty="0"/>
              <a:t>public final class Circle extends Shape { /* ... */ }</a:t>
            </a:r>
            <a:br>
              <a:rPr lang="en-IN" sz="1800" dirty="0"/>
            </a:br>
            <a:endParaRPr lang="en-IN" sz="1800" dirty="0"/>
          </a:p>
          <a:p>
            <a:r>
              <a:rPr lang="en-IN" sz="1800" dirty="0"/>
              <a:t> public sealed class Square extends Shape permits </a:t>
            </a:r>
            <a:r>
              <a:rPr lang="en-IN" sz="1800" dirty="0" err="1"/>
              <a:t>ColoredSquare</a:t>
            </a:r>
            <a:r>
              <a:rPr lang="en-IN" sz="1800" dirty="0"/>
              <a:t> { /* ... */ }</a:t>
            </a:r>
            <a:br>
              <a:rPr lang="en-IN" sz="1800" dirty="0"/>
            </a:br>
            <a:r>
              <a:rPr lang="en-IN" sz="1800" dirty="0"/>
              <a:t>    public non-sealed class Triangle extends Shape { /* ... */ }</a:t>
            </a:r>
          </a:p>
          <a:p>
            <a:endParaRPr lang="en-US" sz="1800" dirty="0"/>
          </a:p>
        </p:txBody>
      </p:sp>
    </p:spTree>
    <p:extLst>
      <p:ext uri="{BB962C8B-B14F-4D97-AF65-F5344CB8AC3E}">
        <p14:creationId xmlns:p14="http://schemas.microsoft.com/office/powerpoint/2010/main" val="1430864689"/>
      </p:ext>
    </p:extLst>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933F-19D2-0450-7301-63F93BBCA7E8}"/>
              </a:ext>
            </a:extLst>
          </p:cNvPr>
          <p:cNvSpPr>
            <a:spLocks noGrp="1"/>
          </p:cNvSpPr>
          <p:nvPr>
            <p:ph type="title"/>
          </p:nvPr>
        </p:nvSpPr>
        <p:spPr/>
        <p:txBody>
          <a:bodyPr/>
          <a:lstStyle/>
          <a:p>
            <a:br>
              <a:rPr lang="en-IN" dirty="0"/>
            </a:br>
            <a:r>
              <a:rPr lang="en-IN" dirty="0"/>
              <a:t>Benefits of Sealed Classes:</a:t>
            </a:r>
            <a:br>
              <a:rPr lang="en-IN" dirty="0"/>
            </a:br>
            <a:endParaRPr lang="en-US" dirty="0"/>
          </a:p>
        </p:txBody>
      </p:sp>
      <p:sp>
        <p:nvSpPr>
          <p:cNvPr id="3" name="Content Placeholder 2">
            <a:extLst>
              <a:ext uri="{FF2B5EF4-FFF2-40B4-BE49-F238E27FC236}">
                <a16:creationId xmlns:a16="http://schemas.microsoft.com/office/drawing/2014/main" id="{1FB36ED0-E78C-B92B-1228-AA449B8F604C}"/>
              </a:ext>
            </a:extLst>
          </p:cNvPr>
          <p:cNvSpPr>
            <a:spLocks noGrp="1"/>
          </p:cNvSpPr>
          <p:nvPr>
            <p:ph idx="1"/>
          </p:nvPr>
        </p:nvSpPr>
        <p:spPr/>
        <p:txBody>
          <a:bodyPr/>
          <a:lstStyle/>
          <a:p>
            <a:r>
              <a:rPr lang="en-IN" sz="2000" dirty="0"/>
              <a:t>Enhanced Control: </a:t>
            </a:r>
          </a:p>
          <a:p>
            <a:pPr lvl="1"/>
            <a:r>
              <a:rPr lang="en-IN" sz="2000" dirty="0"/>
              <a:t>Provides fine-grained control over the inheritance hierarchy, preventing unintended or unauthorized extensions.</a:t>
            </a:r>
          </a:p>
          <a:p>
            <a:r>
              <a:rPr lang="en-IN" sz="2000" dirty="0"/>
              <a:t>Improved Maintainability: </a:t>
            </a:r>
          </a:p>
          <a:p>
            <a:pPr lvl="1"/>
            <a:r>
              <a:rPr lang="en-IN" sz="2000" dirty="0"/>
              <a:t>Makes code easier to understand and reason about by clearly defining the allowed subtypes.</a:t>
            </a:r>
          </a:p>
          <a:p>
            <a:r>
              <a:rPr lang="en-IN" sz="2000" dirty="0"/>
              <a:t>Facilitates Exhaustiveness Analysis: </a:t>
            </a:r>
          </a:p>
          <a:p>
            <a:pPr lvl="1"/>
            <a:r>
              <a:rPr lang="en-IN" sz="2000" dirty="0"/>
              <a:t>When used with pattern matching for switch expressions (a preview feature in Java 17), sealed classes enable the compiler to determine if all possible cases have been handled, preventing runtime errors.</a:t>
            </a:r>
          </a:p>
          <a:p>
            <a:r>
              <a:rPr lang="en-IN" sz="2000" dirty="0"/>
              <a:t>Framework Design: </a:t>
            </a:r>
          </a:p>
          <a:p>
            <a:pPr lvl="1"/>
            <a:r>
              <a:rPr lang="en-IN" sz="2000" dirty="0"/>
              <a:t>Useful for designing APIs and frameworks where specific extension points are desired, but arbitrary extensions are to be prevented.</a:t>
            </a:r>
          </a:p>
          <a:p>
            <a:r>
              <a:rPr lang="en-IN" sz="1800" dirty="0"/>
              <a:t> </a:t>
            </a:r>
          </a:p>
          <a:p>
            <a:endParaRPr lang="en-US" sz="1800" dirty="0"/>
          </a:p>
        </p:txBody>
      </p:sp>
    </p:spTree>
    <p:extLst>
      <p:ext uri="{BB962C8B-B14F-4D97-AF65-F5344CB8AC3E}">
        <p14:creationId xmlns:p14="http://schemas.microsoft.com/office/powerpoint/2010/main" val="2466859679"/>
      </p:ext>
    </p:extLst>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9253F-F2F1-9B46-EBEE-59BCDEA7723C}"/>
              </a:ext>
            </a:extLst>
          </p:cNvPr>
          <p:cNvSpPr>
            <a:spLocks noGrp="1"/>
          </p:cNvSpPr>
          <p:nvPr>
            <p:ph type="title"/>
          </p:nvPr>
        </p:nvSpPr>
        <p:spPr/>
        <p:txBody>
          <a:bodyPr/>
          <a:lstStyle/>
          <a:p>
            <a:r>
              <a:rPr lang="en-US" dirty="0"/>
              <a:t>Hidden Classes</a:t>
            </a:r>
          </a:p>
        </p:txBody>
      </p:sp>
      <p:sp>
        <p:nvSpPr>
          <p:cNvPr id="3" name="Content Placeholder 2">
            <a:extLst>
              <a:ext uri="{FF2B5EF4-FFF2-40B4-BE49-F238E27FC236}">
                <a16:creationId xmlns:a16="http://schemas.microsoft.com/office/drawing/2014/main" id="{4160E085-49DE-6D70-DE1C-4B62A5F32C69}"/>
              </a:ext>
            </a:extLst>
          </p:cNvPr>
          <p:cNvSpPr>
            <a:spLocks noGrp="1"/>
          </p:cNvSpPr>
          <p:nvPr>
            <p:ph idx="1"/>
          </p:nvPr>
        </p:nvSpPr>
        <p:spPr/>
        <p:txBody>
          <a:bodyPr/>
          <a:lstStyle/>
          <a:p>
            <a:r>
              <a:rPr lang="en-IN" sz="2000" dirty="0"/>
              <a:t>They are an internal mechanism used by JVM language </a:t>
            </a:r>
            <a:r>
              <a:rPr lang="en-IN" sz="2000" u="sng" dirty="0"/>
              <a:t>runtimes</a:t>
            </a:r>
            <a:r>
              <a:rPr lang="en-IN" sz="2000" dirty="0"/>
              <a:t> and various frameworks. </a:t>
            </a:r>
          </a:p>
          <a:p>
            <a:endParaRPr lang="en-IN" sz="2000" dirty="0"/>
          </a:p>
          <a:p>
            <a:r>
              <a:rPr lang="en-IN" sz="2000" dirty="0"/>
              <a:t>JVM dynamically generates a distinct, hidden class for the lambda expression at runtime, rather than creating an anonymous inner class with a standard naming convention. </a:t>
            </a:r>
          </a:p>
          <a:p>
            <a:endParaRPr lang="en-IN" sz="2000" dirty="0"/>
          </a:p>
          <a:p>
            <a:endParaRPr lang="en-IN" sz="2000" dirty="0"/>
          </a:p>
          <a:p>
            <a:pPr marL="457200" lvl="1" indent="0">
              <a:buNone/>
            </a:pPr>
            <a:r>
              <a:rPr lang="en-IN" sz="1800" dirty="0"/>
              <a:t>Consumer&lt;String&gt; greeter = name -&gt; </a:t>
            </a:r>
            <a:r>
              <a:rPr lang="en-IN" sz="1800" dirty="0" err="1"/>
              <a:t>System.</a:t>
            </a:r>
            <a:r>
              <a:rPr lang="en-IN" sz="1800" b="1" i="1" dirty="0" err="1"/>
              <a:t>out</a:t>
            </a:r>
            <a:r>
              <a:rPr lang="en-IN" sz="1800" dirty="0" err="1"/>
              <a:t>.println</a:t>
            </a:r>
            <a:r>
              <a:rPr lang="en-IN" sz="1800" dirty="0"/>
              <a:t>("Hello, " + name + "!");</a:t>
            </a:r>
          </a:p>
          <a:p>
            <a:pPr marL="457200" lvl="1" indent="0">
              <a:buNone/>
            </a:pPr>
            <a:endParaRPr lang="en-IN" sz="1800" dirty="0"/>
          </a:p>
          <a:p>
            <a:pPr marL="457200" lvl="1" indent="0">
              <a:buNone/>
            </a:pPr>
            <a:r>
              <a:rPr lang="en-IN" sz="1800" dirty="0" err="1"/>
              <a:t>System.</a:t>
            </a:r>
            <a:r>
              <a:rPr lang="en-IN" sz="1800" b="1" i="1" dirty="0" err="1"/>
              <a:t>out</a:t>
            </a:r>
            <a:r>
              <a:rPr lang="en-IN" sz="1800" dirty="0" err="1"/>
              <a:t>.println</a:t>
            </a:r>
            <a:r>
              <a:rPr lang="en-IN" sz="1800" dirty="0"/>
              <a:t>("Class of the lambda object: " + </a:t>
            </a:r>
            <a:r>
              <a:rPr lang="en-IN" sz="1800" dirty="0" err="1"/>
              <a:t>greeter.getClass</a:t>
            </a:r>
            <a:r>
              <a:rPr lang="en-IN" sz="1800" dirty="0"/>
              <a:t>().</a:t>
            </a:r>
            <a:r>
              <a:rPr lang="en-IN" sz="1800" dirty="0" err="1"/>
              <a:t>getName</a:t>
            </a:r>
            <a:r>
              <a:rPr lang="en-IN" sz="1800" dirty="0"/>
              <a:t>());</a:t>
            </a:r>
          </a:p>
          <a:p>
            <a:pPr marL="457200" lvl="1" indent="0">
              <a:buNone/>
            </a:pPr>
            <a:br>
              <a:rPr lang="en-IN" sz="1800" dirty="0"/>
            </a:br>
            <a:r>
              <a:rPr lang="en-IN" sz="1800" dirty="0" err="1"/>
              <a:t>greeter.accept</a:t>
            </a:r>
            <a:r>
              <a:rPr lang="en-IN" sz="1800" dirty="0"/>
              <a:t>("World");</a:t>
            </a:r>
          </a:p>
          <a:p>
            <a:pPr marL="0" indent="0">
              <a:buNone/>
            </a:pPr>
            <a:br>
              <a:rPr lang="en-IN" sz="2000" dirty="0"/>
            </a:br>
            <a:endParaRPr lang="en-IN" sz="2000" dirty="0"/>
          </a:p>
          <a:p>
            <a:endParaRPr lang="en-US" sz="2000" dirty="0"/>
          </a:p>
        </p:txBody>
      </p:sp>
    </p:spTree>
    <p:extLst>
      <p:ext uri="{BB962C8B-B14F-4D97-AF65-F5344CB8AC3E}">
        <p14:creationId xmlns:p14="http://schemas.microsoft.com/office/powerpoint/2010/main" val="2851884351"/>
      </p:ext>
    </p:extLst>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2D035C-4BB5-C705-86C9-17DB9955B04F}"/>
              </a:ext>
            </a:extLst>
          </p:cNvPr>
          <p:cNvSpPr>
            <a:spLocks noGrp="1"/>
          </p:cNvSpPr>
          <p:nvPr>
            <p:ph type="title"/>
          </p:nvPr>
        </p:nvSpPr>
        <p:spPr/>
        <p:txBody>
          <a:bodyPr/>
          <a:lstStyle/>
          <a:p>
            <a:pPr>
              <a:defRPr/>
            </a:pPr>
            <a:r>
              <a:rPr lang="en-US" dirty="0"/>
              <a:t>Text block</a:t>
            </a:r>
            <a:endParaRPr lang="en-IN" dirty="0"/>
          </a:p>
        </p:txBody>
      </p:sp>
      <p:sp>
        <p:nvSpPr>
          <p:cNvPr id="7170" name="Text Placeholder 4">
            <a:extLst>
              <a:ext uri="{FF2B5EF4-FFF2-40B4-BE49-F238E27FC236}">
                <a16:creationId xmlns:a16="http://schemas.microsoft.com/office/drawing/2014/main" id="{6F45E4F2-5891-16B0-55BE-60C656DCB71C}"/>
              </a:ext>
            </a:extLst>
          </p:cNvPr>
          <p:cNvSpPr>
            <a:spLocks noGrp="1" noChangeArrowheads="1"/>
          </p:cNvSpPr>
          <p:nvPr>
            <p:ph type="body" idx="1"/>
          </p:nvPr>
        </p:nvSpPr>
        <p:spPr/>
        <p:txBody>
          <a:bodyPr/>
          <a:lstStyle/>
          <a:p>
            <a:endParaRPr lang="en-IN" altLang="en-US"/>
          </a:p>
        </p:txBody>
      </p:sp>
    </p:spTree>
    <p:extLst>
      <p:ext uri="{BB962C8B-B14F-4D97-AF65-F5344CB8AC3E}">
        <p14:creationId xmlns:p14="http://schemas.microsoft.com/office/powerpoint/2010/main" val="3438896155"/>
      </p:ext>
    </p:extLst>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5FE98319-E8EF-F1B0-B2D0-A53B96C40133}"/>
              </a:ext>
            </a:extLst>
          </p:cNvPr>
          <p:cNvSpPr>
            <a:spLocks noGrp="1" noChangeArrowheads="1"/>
          </p:cNvSpPr>
          <p:nvPr>
            <p:ph type="title"/>
          </p:nvPr>
        </p:nvSpPr>
        <p:spPr/>
        <p:txBody>
          <a:bodyPr/>
          <a:lstStyle/>
          <a:p>
            <a:r>
              <a:rPr lang="en-US" altLang="en-US"/>
              <a:t>Text Blocks</a:t>
            </a:r>
            <a:endParaRPr lang="en-IN" altLang="en-US"/>
          </a:p>
        </p:txBody>
      </p:sp>
      <p:sp>
        <p:nvSpPr>
          <p:cNvPr id="8194" name="Content Placeholder 2">
            <a:extLst>
              <a:ext uri="{FF2B5EF4-FFF2-40B4-BE49-F238E27FC236}">
                <a16:creationId xmlns:a16="http://schemas.microsoft.com/office/drawing/2014/main" id="{8986E527-ED66-1CA2-6E55-9868154A5036}"/>
              </a:ext>
            </a:extLst>
          </p:cNvPr>
          <p:cNvSpPr>
            <a:spLocks noGrp="1" noChangeArrowheads="1"/>
          </p:cNvSpPr>
          <p:nvPr>
            <p:ph idx="1"/>
          </p:nvPr>
        </p:nvSpPr>
        <p:spPr>
          <a:xfrm>
            <a:off x="457200" y="1090613"/>
            <a:ext cx="8243888" cy="5035550"/>
          </a:xfrm>
        </p:spPr>
        <p:txBody>
          <a:bodyPr/>
          <a:lstStyle/>
          <a:p>
            <a:pPr>
              <a:lnSpc>
                <a:spcPct val="150000"/>
              </a:lnSpc>
            </a:pPr>
            <a:r>
              <a:rPr lang="en-US" altLang="en-US" sz="2000"/>
              <a:t>Text Blocks make code more readable. </a:t>
            </a:r>
          </a:p>
          <a:p>
            <a:pPr lvl="1">
              <a:lnSpc>
                <a:spcPct val="150000"/>
              </a:lnSpc>
            </a:pPr>
            <a:r>
              <a:rPr lang="en-US" altLang="en-US" sz="2000"/>
              <a:t>No need for escaping the double quotes </a:t>
            </a:r>
          </a:p>
          <a:p>
            <a:pPr lvl="1">
              <a:lnSpc>
                <a:spcPct val="150000"/>
              </a:lnSpc>
            </a:pPr>
            <a:r>
              <a:rPr lang="en-US" altLang="en-US" sz="2000"/>
              <a:t>String concatenation in order to make it more or less readable;</a:t>
            </a:r>
          </a:p>
          <a:p>
            <a:pPr>
              <a:lnSpc>
                <a:spcPct val="150000"/>
              </a:lnSpc>
            </a:pPr>
            <a:r>
              <a:rPr lang="en-US" altLang="en-US" sz="2000"/>
              <a:t>Defined with three double quotes </a:t>
            </a:r>
          </a:p>
          <a:p>
            <a:pPr lvl="1">
              <a:lnSpc>
                <a:spcPct val="150000"/>
              </a:lnSpc>
            </a:pPr>
            <a:r>
              <a:rPr lang="en-US" altLang="en-US" sz="2000"/>
              <a:t>The ending three double quotes may not be at the same line as the starting one. </a:t>
            </a:r>
          </a:p>
          <a:p>
            <a:pPr>
              <a:lnSpc>
                <a:spcPct val="150000"/>
              </a:lnSpc>
            </a:pPr>
            <a:endParaRPr lang="en-US" altLang="en-US" sz="2000"/>
          </a:p>
          <a:p>
            <a:pPr>
              <a:lnSpc>
                <a:spcPct val="150000"/>
              </a:lnSpc>
            </a:pPr>
            <a:endParaRPr lang="en-US" altLang="en-US" sz="2000"/>
          </a:p>
          <a:p>
            <a:pPr>
              <a:lnSpc>
                <a:spcPct val="150000"/>
              </a:lnSpc>
            </a:pPr>
            <a:endParaRPr lang="en-IN" altLang="en-US" sz="2000"/>
          </a:p>
        </p:txBody>
      </p:sp>
    </p:spTree>
    <p:extLst>
      <p:ext uri="{BB962C8B-B14F-4D97-AF65-F5344CB8AC3E}">
        <p14:creationId xmlns:p14="http://schemas.microsoft.com/office/powerpoint/2010/main" val="28654188"/>
      </p:ext>
    </p:extLst>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48A542D2-183E-8268-EA8C-6EC22DD712D2}"/>
              </a:ext>
            </a:extLst>
          </p:cNvPr>
          <p:cNvSpPr>
            <a:spLocks noGrp="1" noChangeArrowheads="1"/>
          </p:cNvSpPr>
          <p:nvPr>
            <p:ph type="title"/>
          </p:nvPr>
        </p:nvSpPr>
        <p:spPr/>
        <p:txBody>
          <a:bodyPr/>
          <a:lstStyle/>
          <a:p>
            <a:r>
              <a:rPr lang="en-US" altLang="en-US"/>
              <a:t>Text Block</a:t>
            </a:r>
            <a:endParaRPr lang="en-IN" altLang="en-US"/>
          </a:p>
        </p:txBody>
      </p:sp>
      <p:sp>
        <p:nvSpPr>
          <p:cNvPr id="9218" name="Content Placeholder 2">
            <a:extLst>
              <a:ext uri="{FF2B5EF4-FFF2-40B4-BE49-F238E27FC236}">
                <a16:creationId xmlns:a16="http://schemas.microsoft.com/office/drawing/2014/main" id="{B6A5BFF8-6202-D908-4B5C-2AE44EF56535}"/>
              </a:ext>
            </a:extLst>
          </p:cNvPr>
          <p:cNvSpPr>
            <a:spLocks noGrp="1" noChangeArrowheads="1"/>
          </p:cNvSpPr>
          <p:nvPr>
            <p:ph idx="1"/>
          </p:nvPr>
        </p:nvSpPr>
        <p:spPr>
          <a:xfrm>
            <a:off x="457200" y="914400"/>
            <a:ext cx="8243888" cy="5211763"/>
          </a:xfrm>
        </p:spPr>
        <p:txBody>
          <a:bodyPr/>
          <a:lstStyle/>
          <a:p>
            <a:pPr marL="457200" lvl="1" indent="0">
              <a:buFontTx/>
              <a:buNone/>
            </a:pPr>
            <a:r>
              <a:rPr lang="en-US" altLang="en-US" sz="2000" dirty="0"/>
              <a:t>private static void </a:t>
            </a:r>
            <a:r>
              <a:rPr lang="en-US" altLang="en-US" sz="2000" dirty="0" err="1"/>
              <a:t>jsonBlock</a:t>
            </a:r>
            <a:r>
              <a:rPr lang="en-US" altLang="en-US" sz="2000" dirty="0"/>
              <a:t>() {</a:t>
            </a:r>
          </a:p>
          <a:p>
            <a:pPr marL="457200" lvl="1" indent="0">
              <a:buFontTx/>
              <a:buNone/>
            </a:pPr>
            <a:r>
              <a:rPr lang="en-US" altLang="en-US" sz="2000" dirty="0"/>
              <a:t>    String text = </a:t>
            </a:r>
            <a:r>
              <a:rPr lang="en-US" altLang="en-US" sz="2000" b="1" dirty="0">
                <a:solidFill>
                  <a:srgbClr val="C00000"/>
                </a:solidFill>
              </a:rPr>
              <a:t>"""</a:t>
            </a:r>
          </a:p>
          <a:p>
            <a:pPr marL="457200" lvl="1" indent="0">
              <a:buFontTx/>
              <a:buNone/>
            </a:pPr>
            <a:r>
              <a:rPr lang="en-US" altLang="en-US" sz="2000" dirty="0"/>
              <a:t>           </a:t>
            </a:r>
            <a:r>
              <a:rPr lang="en-US" altLang="en-US" sz="1800" dirty="0"/>
              <a:t> {</a:t>
            </a:r>
          </a:p>
          <a:p>
            <a:pPr marL="457200" lvl="1" indent="0">
              <a:buFontTx/>
              <a:buNone/>
            </a:pPr>
            <a:r>
              <a:rPr lang="en-US" altLang="en-US" sz="1800" dirty="0"/>
              <a:t>              "name": ”Ramesh",</a:t>
            </a:r>
          </a:p>
          <a:p>
            <a:pPr marL="457200" lvl="1" indent="0">
              <a:buFontTx/>
              <a:buNone/>
            </a:pPr>
            <a:r>
              <a:rPr lang="en-US" altLang="en-US" sz="1800" dirty="0"/>
              <a:t>              "age": 45,</a:t>
            </a:r>
          </a:p>
          <a:p>
            <a:pPr marL="457200" lvl="1" indent="0">
              <a:buFontTx/>
              <a:buNone/>
            </a:pPr>
            <a:r>
              <a:rPr lang="en-US" altLang="en-US" sz="1800" dirty="0"/>
              <a:t>              "address": ”Gandhi Street, Chennai"</a:t>
            </a:r>
          </a:p>
          <a:p>
            <a:pPr marL="457200" lvl="1" indent="0">
              <a:buFontTx/>
              <a:buNone/>
            </a:pPr>
            <a:r>
              <a:rPr lang="en-US" altLang="en-US" sz="1800" dirty="0"/>
              <a:t>            }</a:t>
            </a:r>
          </a:p>
          <a:p>
            <a:pPr marL="457200" lvl="1" indent="0">
              <a:buFontTx/>
              <a:buNone/>
            </a:pPr>
            <a:r>
              <a:rPr lang="en-US" altLang="en-US" sz="2000" dirty="0"/>
              <a:t>            </a:t>
            </a:r>
            <a:r>
              <a:rPr lang="en-US" altLang="en-US" sz="2000" b="1" dirty="0">
                <a:solidFill>
                  <a:srgbClr val="C00000"/>
                </a:solidFill>
              </a:rPr>
              <a:t>"""</a:t>
            </a:r>
            <a:r>
              <a:rPr lang="en-US" altLang="en-US" sz="2000" dirty="0"/>
              <a:t>;</a:t>
            </a:r>
          </a:p>
          <a:p>
            <a:pPr marL="457200" lvl="1" indent="0">
              <a:buFontTx/>
              <a:buNone/>
            </a:pPr>
            <a:r>
              <a:rPr lang="en-US" altLang="en-US" sz="1800" dirty="0"/>
              <a:t>    </a:t>
            </a:r>
            <a:r>
              <a:rPr lang="en-US" altLang="en-US" sz="1800" dirty="0" err="1"/>
              <a:t>System.out.println</a:t>
            </a:r>
            <a:r>
              <a:rPr lang="en-US" altLang="en-US" sz="1800" dirty="0"/>
              <a:t>(text);</a:t>
            </a:r>
          </a:p>
          <a:p>
            <a:pPr marL="457200" lvl="1" indent="0">
              <a:buFontTx/>
              <a:buNone/>
            </a:pPr>
            <a:r>
              <a:rPr lang="en-US" altLang="en-US" sz="1800" dirty="0"/>
              <a:t>}</a:t>
            </a:r>
          </a:p>
          <a:p>
            <a:pPr marL="1771650" lvl="4" indent="0">
              <a:buFontTx/>
              <a:buNone/>
            </a:pPr>
            <a:r>
              <a:rPr lang="en-US" altLang="en-US" sz="1600" dirty="0">
                <a:solidFill>
                  <a:srgbClr val="0070C0"/>
                </a:solidFill>
              </a:rPr>
              <a:t>{</a:t>
            </a:r>
          </a:p>
          <a:p>
            <a:pPr marL="1771650" lvl="4" indent="0">
              <a:buFontTx/>
              <a:buNone/>
            </a:pPr>
            <a:r>
              <a:rPr lang="en-US" altLang="en-US" sz="1600" dirty="0">
                <a:solidFill>
                  <a:srgbClr val="0070C0"/>
                </a:solidFill>
              </a:rPr>
              <a:t>  "name": ”Ramesh",</a:t>
            </a:r>
          </a:p>
          <a:p>
            <a:pPr marL="1771650" lvl="4" indent="0">
              <a:buFontTx/>
              <a:buNone/>
            </a:pPr>
            <a:r>
              <a:rPr lang="en-US" altLang="en-US" sz="1600" dirty="0">
                <a:solidFill>
                  <a:srgbClr val="0070C0"/>
                </a:solidFill>
              </a:rPr>
              <a:t>  "age": 45,</a:t>
            </a:r>
          </a:p>
          <a:p>
            <a:pPr marL="1771650" lvl="4" indent="0">
              <a:buFontTx/>
              <a:buNone/>
            </a:pPr>
            <a:r>
              <a:rPr lang="en-US" altLang="en-US" sz="1600" dirty="0">
                <a:solidFill>
                  <a:srgbClr val="0070C0"/>
                </a:solidFill>
              </a:rPr>
              <a:t>  "address": ”Gandhi Street, Chennai"</a:t>
            </a:r>
          </a:p>
          <a:p>
            <a:pPr marL="1771650" lvl="4" indent="0">
              <a:buFontTx/>
              <a:buNone/>
            </a:pPr>
            <a:r>
              <a:rPr lang="en-US" altLang="en-US" sz="1600" dirty="0">
                <a:solidFill>
                  <a:srgbClr val="0070C0"/>
                </a:solidFill>
              </a:rPr>
              <a:t>}</a:t>
            </a:r>
          </a:p>
          <a:p>
            <a:endParaRPr lang="en-US" altLang="en-US" sz="2000" dirty="0"/>
          </a:p>
        </p:txBody>
      </p:sp>
    </p:spTree>
    <p:extLst>
      <p:ext uri="{BB962C8B-B14F-4D97-AF65-F5344CB8AC3E}">
        <p14:creationId xmlns:p14="http://schemas.microsoft.com/office/powerpoint/2010/main" val="1834600129"/>
      </p:ext>
    </p:extLst>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63E17AC6-FBEF-87AD-EBF0-FBB22EC5EC08}"/>
              </a:ext>
            </a:extLst>
          </p:cNvPr>
          <p:cNvSpPr>
            <a:spLocks noGrp="1" noChangeArrowheads="1"/>
          </p:cNvSpPr>
          <p:nvPr>
            <p:ph type="title"/>
          </p:nvPr>
        </p:nvSpPr>
        <p:spPr/>
        <p:txBody>
          <a:bodyPr/>
          <a:lstStyle/>
          <a:p>
            <a:br>
              <a:rPr lang="en-US" altLang="en-US"/>
            </a:br>
            <a:r>
              <a:rPr lang="en-US" altLang="en-US"/>
              <a:t>Switch Expressions</a:t>
            </a:r>
            <a:br>
              <a:rPr lang="en-US" altLang="en-US"/>
            </a:br>
            <a:endParaRPr lang="en-IN" altLang="en-US"/>
          </a:p>
        </p:txBody>
      </p:sp>
      <p:sp>
        <p:nvSpPr>
          <p:cNvPr id="12290" name="Content Placeholder 2">
            <a:extLst>
              <a:ext uri="{FF2B5EF4-FFF2-40B4-BE49-F238E27FC236}">
                <a16:creationId xmlns:a16="http://schemas.microsoft.com/office/drawing/2014/main" id="{A903E59E-D571-5F8E-A624-1D31DC1A8C8B}"/>
              </a:ext>
            </a:extLst>
          </p:cNvPr>
          <p:cNvSpPr>
            <a:spLocks noGrp="1" noChangeArrowheads="1"/>
          </p:cNvSpPr>
          <p:nvPr>
            <p:ph idx="1"/>
          </p:nvPr>
        </p:nvSpPr>
        <p:spPr>
          <a:xfrm>
            <a:off x="457200" y="1090613"/>
            <a:ext cx="8243888" cy="5035550"/>
          </a:xfrm>
        </p:spPr>
        <p:txBody>
          <a:bodyPr/>
          <a:lstStyle/>
          <a:p>
            <a:r>
              <a:rPr lang="en-US" altLang="en-US" sz="1600" dirty="0"/>
              <a:t>Used to return values from the switch and use these return values in assignments</a:t>
            </a:r>
          </a:p>
          <a:p>
            <a:endParaRPr lang="en-US" altLang="en-US" sz="1600" dirty="0"/>
          </a:p>
          <a:p>
            <a:r>
              <a:rPr lang="en-US" altLang="en-US" sz="1600" dirty="0"/>
              <a:t>colon (:) is replaced with an arrow (-&gt;) and an expression </a:t>
            </a:r>
          </a:p>
          <a:p>
            <a:endParaRPr lang="en-US" altLang="en-US" sz="1600" dirty="0"/>
          </a:p>
          <a:p>
            <a:r>
              <a:rPr lang="en-US" altLang="en-US" sz="1600" dirty="0"/>
              <a:t>The default behavior of Switch Expressions is no fall-through, so no break is needed.</a:t>
            </a:r>
          </a:p>
          <a:p>
            <a:endParaRPr lang="en-US" altLang="en-US" sz="1600" dirty="0"/>
          </a:p>
          <a:p>
            <a:pPr marL="457200" lvl="1" indent="0">
              <a:buNone/>
            </a:pPr>
            <a:r>
              <a:rPr lang="en-US" altLang="en-US" sz="1800" dirty="0"/>
              <a:t>private static void </a:t>
            </a:r>
            <a:r>
              <a:rPr lang="en-US" altLang="en-US" sz="1800" dirty="0" err="1"/>
              <a:t>withSwitchExpression</a:t>
            </a:r>
            <a:r>
              <a:rPr lang="en-US" altLang="en-US" sz="1800" dirty="0"/>
              <a:t>(Fruit fruit) {</a:t>
            </a:r>
          </a:p>
          <a:p>
            <a:pPr marL="457200" lvl="1" indent="0">
              <a:buNone/>
            </a:pPr>
            <a:r>
              <a:rPr lang="en-US" altLang="en-US" sz="1800" dirty="0"/>
              <a:t>    switch (fruit) {</a:t>
            </a:r>
          </a:p>
          <a:p>
            <a:pPr marL="457200" lvl="1" indent="0">
              <a:buNone/>
            </a:pPr>
            <a:r>
              <a:rPr lang="en-US" altLang="en-US" sz="1800" dirty="0"/>
              <a:t>        case APPLE, PEAR -&gt; </a:t>
            </a:r>
            <a:r>
              <a:rPr lang="en-US" altLang="en-US" sz="1800" dirty="0" err="1"/>
              <a:t>System.out.println</a:t>
            </a:r>
            <a:r>
              <a:rPr lang="en-US" altLang="en-US" sz="1800" dirty="0"/>
              <a:t>("Common fruit");</a:t>
            </a:r>
          </a:p>
          <a:p>
            <a:pPr marL="457200" lvl="1" indent="0">
              <a:buNone/>
            </a:pPr>
            <a:r>
              <a:rPr lang="en-US" altLang="en-US" sz="1800" dirty="0"/>
              <a:t>        case ORANGE, AVOCADO -&gt; </a:t>
            </a:r>
            <a:r>
              <a:rPr lang="en-US" altLang="en-US" sz="1800" dirty="0" err="1"/>
              <a:t>System.out.println</a:t>
            </a:r>
            <a:r>
              <a:rPr lang="en-US" altLang="en-US" sz="1800" dirty="0"/>
              <a:t>("Exotic fruit");</a:t>
            </a:r>
          </a:p>
          <a:p>
            <a:pPr marL="457200" lvl="1" indent="0">
              <a:buNone/>
            </a:pPr>
            <a:r>
              <a:rPr lang="en-US" altLang="en-US" sz="1800" dirty="0"/>
              <a:t>        default -&gt; </a:t>
            </a:r>
            <a:r>
              <a:rPr lang="en-US" altLang="en-US" sz="1800" dirty="0" err="1"/>
              <a:t>System.out.println</a:t>
            </a:r>
            <a:r>
              <a:rPr lang="en-US" altLang="en-US" sz="1800" dirty="0"/>
              <a:t>("Undefined fruit");</a:t>
            </a:r>
          </a:p>
          <a:p>
            <a:pPr marL="457200" lvl="1" indent="0">
              <a:buNone/>
            </a:pPr>
            <a:r>
              <a:rPr lang="en-US" altLang="en-US" sz="1800" dirty="0"/>
              <a:t>    }</a:t>
            </a:r>
          </a:p>
          <a:p>
            <a:pPr marL="457200" lvl="1" indent="0">
              <a:buNone/>
            </a:pPr>
            <a:r>
              <a:rPr lang="en-US" altLang="en-US" sz="1800" dirty="0"/>
              <a:t>}</a:t>
            </a:r>
          </a:p>
          <a:p>
            <a:endParaRPr lang="en-US" altLang="en-US" sz="1600" dirty="0"/>
          </a:p>
          <a:p>
            <a:endParaRPr lang="en-US" altLang="en-US" sz="1600" dirty="0"/>
          </a:p>
          <a:p>
            <a:endParaRPr lang="en-US" altLang="en-US" sz="1600" b="1" dirty="0"/>
          </a:p>
        </p:txBody>
      </p:sp>
    </p:spTree>
    <p:extLst>
      <p:ext uri="{BB962C8B-B14F-4D97-AF65-F5344CB8AC3E}">
        <p14:creationId xmlns:p14="http://schemas.microsoft.com/office/powerpoint/2010/main" val="3401076289"/>
      </p:ext>
    </p:extLst>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a:extLst>
              <a:ext uri="{FF2B5EF4-FFF2-40B4-BE49-F238E27FC236}">
                <a16:creationId xmlns:a16="http://schemas.microsoft.com/office/drawing/2014/main" id="{EEF34BD1-A8ED-E40E-0679-715EEBC060F0}"/>
              </a:ext>
            </a:extLst>
          </p:cNvPr>
          <p:cNvSpPr>
            <a:spLocks noGrp="1" noChangeArrowheads="1"/>
          </p:cNvSpPr>
          <p:nvPr>
            <p:ph type="title"/>
          </p:nvPr>
        </p:nvSpPr>
        <p:spPr>
          <a:xfrm>
            <a:off x="457200" y="304800"/>
            <a:ext cx="8229600" cy="563563"/>
          </a:xfrm>
        </p:spPr>
        <p:txBody>
          <a:bodyPr/>
          <a:lstStyle/>
          <a:p>
            <a:br>
              <a:rPr lang="en-US" altLang="en-US"/>
            </a:br>
            <a:r>
              <a:rPr lang="en-US" altLang="en-US"/>
              <a:t>Switch Expressions</a:t>
            </a:r>
            <a:br>
              <a:rPr lang="en-US" altLang="en-US"/>
            </a:br>
            <a:endParaRPr lang="en-IN" altLang="en-US"/>
          </a:p>
        </p:txBody>
      </p:sp>
      <p:sp>
        <p:nvSpPr>
          <p:cNvPr id="13314" name="Content Placeholder 2">
            <a:extLst>
              <a:ext uri="{FF2B5EF4-FFF2-40B4-BE49-F238E27FC236}">
                <a16:creationId xmlns:a16="http://schemas.microsoft.com/office/drawing/2014/main" id="{FBF74E89-00B6-EF40-BD13-6A353ECE3B31}"/>
              </a:ext>
            </a:extLst>
          </p:cNvPr>
          <p:cNvSpPr>
            <a:spLocks noGrp="1" noChangeArrowheads="1"/>
          </p:cNvSpPr>
          <p:nvPr>
            <p:ph idx="1"/>
          </p:nvPr>
        </p:nvSpPr>
        <p:spPr>
          <a:xfrm>
            <a:off x="457200" y="1090613"/>
            <a:ext cx="8243888" cy="5035550"/>
          </a:xfrm>
        </p:spPr>
        <p:txBody>
          <a:bodyPr/>
          <a:lstStyle/>
          <a:p>
            <a:r>
              <a:rPr lang="en-US" altLang="en-US" sz="1600"/>
              <a:t>A Switch Expression can also return a value,  assign them to a variable text. </a:t>
            </a:r>
          </a:p>
          <a:p>
            <a:endParaRPr lang="en-US" altLang="en-US" sz="1600"/>
          </a:p>
          <a:p>
            <a:pPr marL="457200" lvl="1" indent="0">
              <a:buFontTx/>
              <a:buNone/>
            </a:pPr>
            <a:r>
              <a:rPr lang="en-US" altLang="en-US" sz="2000"/>
              <a:t>private static void withReturnValue(Fruit fruit) {</a:t>
            </a:r>
          </a:p>
          <a:p>
            <a:pPr marL="457200" lvl="1" indent="0">
              <a:buFontTx/>
              <a:buNone/>
            </a:pPr>
            <a:r>
              <a:rPr lang="en-US" altLang="en-US" sz="2000"/>
              <a:t>    String text = switch (fruit) {</a:t>
            </a:r>
          </a:p>
          <a:p>
            <a:pPr marL="457200" lvl="1" indent="0">
              <a:buFontTx/>
              <a:buNone/>
            </a:pPr>
            <a:r>
              <a:rPr lang="en-US" altLang="en-US" sz="2000"/>
              <a:t>        case APPLE, PEAR -&gt; "Common fruit";</a:t>
            </a:r>
          </a:p>
          <a:p>
            <a:pPr marL="457200" lvl="1" indent="0">
              <a:buFontTx/>
              <a:buNone/>
            </a:pPr>
            <a:r>
              <a:rPr lang="en-US" altLang="en-US" sz="2000"/>
              <a:t>        case ORANGE, AVOCADO -&gt; "Exotic fruit";</a:t>
            </a:r>
          </a:p>
          <a:p>
            <a:pPr marL="457200" lvl="1" indent="0">
              <a:buFontTx/>
              <a:buNone/>
            </a:pPr>
            <a:r>
              <a:rPr lang="en-US" altLang="en-US" sz="2000"/>
              <a:t>        default -&gt; "Undefined fruit";</a:t>
            </a:r>
          </a:p>
          <a:p>
            <a:pPr marL="457200" lvl="1" indent="0">
              <a:buFontTx/>
              <a:buNone/>
            </a:pPr>
            <a:r>
              <a:rPr lang="en-US" altLang="en-US" sz="2000"/>
              <a:t>    };</a:t>
            </a:r>
          </a:p>
          <a:p>
            <a:pPr marL="457200" lvl="1" indent="0">
              <a:buFontTx/>
              <a:buNone/>
            </a:pPr>
            <a:r>
              <a:rPr lang="en-US" altLang="en-US" sz="2000"/>
              <a:t>    System.out.println(text);</a:t>
            </a:r>
          </a:p>
          <a:p>
            <a:pPr marL="457200" lvl="1" indent="0">
              <a:buFontTx/>
              <a:buNone/>
            </a:pPr>
            <a:r>
              <a:rPr lang="en-US" altLang="en-US" sz="2000"/>
              <a:t>}</a:t>
            </a:r>
          </a:p>
          <a:p>
            <a:pPr marL="457200" lvl="1" indent="0">
              <a:buFontTx/>
              <a:buNone/>
            </a:pPr>
            <a:endParaRPr lang="en-US" altLang="en-US"/>
          </a:p>
        </p:txBody>
      </p:sp>
    </p:spTree>
    <p:extLst>
      <p:ext uri="{BB962C8B-B14F-4D97-AF65-F5344CB8AC3E}">
        <p14:creationId xmlns:p14="http://schemas.microsoft.com/office/powerpoint/2010/main" val="3405458943"/>
      </p:ext>
    </p:extLst>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34D26821-BFE5-1D9D-3CA7-B0F34B839039}"/>
              </a:ext>
            </a:extLst>
          </p:cNvPr>
          <p:cNvSpPr>
            <a:spLocks noGrp="1" noChangeArrowheads="1"/>
          </p:cNvSpPr>
          <p:nvPr>
            <p:ph type="title"/>
          </p:nvPr>
        </p:nvSpPr>
        <p:spPr/>
        <p:txBody>
          <a:bodyPr/>
          <a:lstStyle/>
          <a:p>
            <a:br>
              <a:rPr lang="en-US" altLang="en-US"/>
            </a:br>
            <a:r>
              <a:rPr lang="en-US" altLang="en-US"/>
              <a:t>Switch Expressions</a:t>
            </a:r>
            <a:br>
              <a:rPr lang="en-US" altLang="en-US"/>
            </a:br>
            <a:endParaRPr lang="en-IN" altLang="en-US"/>
          </a:p>
        </p:txBody>
      </p:sp>
      <p:sp>
        <p:nvSpPr>
          <p:cNvPr id="14338" name="Content Placeholder 2">
            <a:extLst>
              <a:ext uri="{FF2B5EF4-FFF2-40B4-BE49-F238E27FC236}">
                <a16:creationId xmlns:a16="http://schemas.microsoft.com/office/drawing/2014/main" id="{21AD78A0-C8BF-97C0-BD7A-F91AB9AA8495}"/>
              </a:ext>
            </a:extLst>
          </p:cNvPr>
          <p:cNvSpPr>
            <a:spLocks noGrp="1" noChangeArrowheads="1"/>
          </p:cNvSpPr>
          <p:nvPr>
            <p:ph idx="1"/>
          </p:nvPr>
        </p:nvSpPr>
        <p:spPr>
          <a:xfrm>
            <a:off x="457200" y="1090613"/>
            <a:ext cx="8243888" cy="5035550"/>
          </a:xfrm>
        </p:spPr>
        <p:txBody>
          <a:bodyPr/>
          <a:lstStyle/>
          <a:p>
            <a:pPr marL="457200" lvl="1" indent="0">
              <a:lnSpc>
                <a:spcPct val="150000"/>
              </a:lnSpc>
              <a:buFontTx/>
              <a:buNone/>
            </a:pPr>
            <a:r>
              <a:rPr lang="en-US" altLang="en-US" sz="2000"/>
              <a:t>private static void withReturnValueEvenShorter(Fruit fruit) {</a:t>
            </a:r>
          </a:p>
          <a:p>
            <a:pPr marL="457200" lvl="1" indent="0">
              <a:lnSpc>
                <a:spcPct val="150000"/>
              </a:lnSpc>
              <a:buFontTx/>
              <a:buNone/>
            </a:pPr>
            <a:r>
              <a:rPr lang="en-US" altLang="en-US" sz="2000"/>
              <a:t>    System.out.println(</a:t>
            </a:r>
          </a:p>
          <a:p>
            <a:pPr marL="457200" lvl="1" indent="0">
              <a:lnSpc>
                <a:spcPct val="150000"/>
              </a:lnSpc>
              <a:buFontTx/>
              <a:buNone/>
            </a:pPr>
            <a:r>
              <a:rPr lang="en-US" altLang="en-US" sz="2000"/>
              <a:t>        switch (fruit) {</a:t>
            </a:r>
          </a:p>
          <a:p>
            <a:pPr marL="457200" lvl="1" indent="0">
              <a:lnSpc>
                <a:spcPct val="150000"/>
              </a:lnSpc>
              <a:buFontTx/>
              <a:buNone/>
            </a:pPr>
            <a:r>
              <a:rPr lang="en-US" altLang="en-US" sz="2000"/>
              <a:t>            case APPLE, PEAR -&gt; "Common fruit";</a:t>
            </a:r>
          </a:p>
          <a:p>
            <a:pPr marL="457200" lvl="1" indent="0">
              <a:lnSpc>
                <a:spcPct val="150000"/>
              </a:lnSpc>
              <a:buFontTx/>
              <a:buNone/>
            </a:pPr>
            <a:r>
              <a:rPr lang="en-US" altLang="en-US" sz="2000"/>
              <a:t>            case ORANGE, AVOCADO -&gt; "Exotic fruit";</a:t>
            </a:r>
          </a:p>
          <a:p>
            <a:pPr marL="457200" lvl="1" indent="0">
              <a:lnSpc>
                <a:spcPct val="150000"/>
              </a:lnSpc>
              <a:buFontTx/>
              <a:buNone/>
            </a:pPr>
            <a:r>
              <a:rPr lang="en-US" altLang="en-US" sz="2000"/>
              <a:t>            default -&gt; "Undefined fruit";</a:t>
            </a:r>
          </a:p>
          <a:p>
            <a:pPr marL="457200" lvl="1" indent="0">
              <a:lnSpc>
                <a:spcPct val="150000"/>
              </a:lnSpc>
              <a:buFontTx/>
              <a:buNone/>
            </a:pPr>
            <a:r>
              <a:rPr lang="en-US" altLang="en-US" sz="2000"/>
              <a:t>        });</a:t>
            </a:r>
          </a:p>
          <a:p>
            <a:pPr marL="457200" lvl="1" indent="0">
              <a:lnSpc>
                <a:spcPct val="150000"/>
              </a:lnSpc>
              <a:buFontTx/>
              <a:buNone/>
            </a:pPr>
            <a:r>
              <a:rPr lang="en-US" altLang="en-US" sz="2000"/>
              <a:t>}</a:t>
            </a:r>
          </a:p>
        </p:txBody>
      </p:sp>
    </p:spTree>
    <p:extLst>
      <p:ext uri="{BB962C8B-B14F-4D97-AF65-F5344CB8AC3E}">
        <p14:creationId xmlns:p14="http://schemas.microsoft.com/office/powerpoint/2010/main" val="3974241062"/>
      </p:ext>
    </p:extLst>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8AB37EFD-28FC-A0A1-7A05-20A26214A07E}"/>
              </a:ext>
            </a:extLst>
          </p:cNvPr>
          <p:cNvSpPr>
            <a:spLocks noGrp="1" noChangeArrowheads="1"/>
          </p:cNvSpPr>
          <p:nvPr>
            <p:ph type="title"/>
          </p:nvPr>
        </p:nvSpPr>
        <p:spPr/>
        <p:txBody>
          <a:bodyPr/>
          <a:lstStyle/>
          <a:p>
            <a:r>
              <a:rPr lang="en-US" altLang="en-US"/>
              <a:t>Switch Expression - Yield</a:t>
            </a:r>
            <a:endParaRPr lang="en-IN" altLang="en-US"/>
          </a:p>
        </p:txBody>
      </p:sp>
      <p:sp>
        <p:nvSpPr>
          <p:cNvPr id="3" name="Content Placeholder 2">
            <a:extLst>
              <a:ext uri="{FF2B5EF4-FFF2-40B4-BE49-F238E27FC236}">
                <a16:creationId xmlns:a16="http://schemas.microsoft.com/office/drawing/2014/main" id="{9DE11A2B-A935-F92E-2E2F-EAA6C2B04382}"/>
              </a:ext>
            </a:extLst>
          </p:cNvPr>
          <p:cNvSpPr>
            <a:spLocks noGrp="1"/>
          </p:cNvSpPr>
          <p:nvPr>
            <p:ph idx="1"/>
          </p:nvPr>
        </p:nvSpPr>
        <p:spPr>
          <a:xfrm>
            <a:off x="457200" y="1090613"/>
            <a:ext cx="8243888" cy="5035550"/>
          </a:xfrm>
        </p:spPr>
        <p:txBody>
          <a:bodyPr/>
          <a:lstStyle/>
          <a:p>
            <a:pPr>
              <a:defRPr/>
            </a:pPr>
            <a:r>
              <a:rPr lang="en-US" sz="2000" dirty="0"/>
              <a:t> Can use the yield keyword in the ‘old’ switch syntax. </a:t>
            </a:r>
          </a:p>
          <a:p>
            <a:pPr>
              <a:defRPr/>
            </a:pPr>
            <a:r>
              <a:rPr lang="en-US" sz="2000" dirty="0"/>
              <a:t>No break is needed here.</a:t>
            </a:r>
          </a:p>
          <a:p>
            <a:pPr marL="0" indent="0">
              <a:buFontTx/>
              <a:buNone/>
              <a:defRPr/>
            </a:pPr>
            <a:endParaRPr lang="en-US" sz="2000" dirty="0"/>
          </a:p>
          <a:p>
            <a:pPr marL="0" indent="0">
              <a:buFontTx/>
              <a:buNone/>
              <a:defRPr/>
            </a:pPr>
            <a:r>
              <a:rPr lang="en-US" sz="2000" dirty="0"/>
              <a:t>private static void </a:t>
            </a:r>
            <a:r>
              <a:rPr lang="en-US" sz="2000" dirty="0" err="1"/>
              <a:t>oldStyleWithYield</a:t>
            </a:r>
            <a:r>
              <a:rPr lang="en-US" sz="2000" dirty="0"/>
              <a:t>(Fruit fruit) {</a:t>
            </a:r>
          </a:p>
          <a:p>
            <a:pPr marL="0" indent="0">
              <a:buFontTx/>
              <a:buNone/>
              <a:defRPr/>
            </a:pPr>
            <a:r>
              <a:rPr lang="en-US" sz="2000" dirty="0"/>
              <a:t>    </a:t>
            </a:r>
            <a:r>
              <a:rPr lang="en-US" sz="2000" dirty="0" err="1"/>
              <a:t>System.out.println</a:t>
            </a:r>
            <a:r>
              <a:rPr lang="en-US" sz="2000" dirty="0"/>
              <a:t>(switch (fruit) {</a:t>
            </a:r>
          </a:p>
          <a:p>
            <a:pPr marL="0" indent="0">
              <a:buFontTx/>
              <a:buNone/>
              <a:defRPr/>
            </a:pPr>
            <a:r>
              <a:rPr lang="en-US" sz="2000" dirty="0"/>
              <a:t>        case APPLE, PEAR:</a:t>
            </a:r>
          </a:p>
          <a:p>
            <a:pPr marL="0" indent="0">
              <a:buFontTx/>
              <a:buNone/>
              <a:defRPr/>
            </a:pPr>
            <a:r>
              <a:rPr lang="en-US" sz="2000" dirty="0"/>
              <a:t>            yield "Common fruit";</a:t>
            </a:r>
          </a:p>
          <a:p>
            <a:pPr marL="0" indent="0">
              <a:buFontTx/>
              <a:buNone/>
              <a:defRPr/>
            </a:pPr>
            <a:r>
              <a:rPr lang="en-US" sz="2000" dirty="0"/>
              <a:t>        case ORANGE, AVOCADO:</a:t>
            </a:r>
          </a:p>
          <a:p>
            <a:pPr marL="0" indent="0">
              <a:buFontTx/>
              <a:buNone/>
              <a:defRPr/>
            </a:pPr>
            <a:r>
              <a:rPr lang="en-US" sz="2000" dirty="0"/>
              <a:t>            yield "Exotic fruit";</a:t>
            </a:r>
          </a:p>
          <a:p>
            <a:pPr marL="0" indent="0">
              <a:buFontTx/>
              <a:buNone/>
              <a:defRPr/>
            </a:pPr>
            <a:r>
              <a:rPr lang="en-US" sz="2000" dirty="0"/>
              <a:t>        default:</a:t>
            </a:r>
          </a:p>
          <a:p>
            <a:pPr marL="0" indent="0">
              <a:buFontTx/>
              <a:buNone/>
              <a:defRPr/>
            </a:pPr>
            <a:r>
              <a:rPr lang="en-US" sz="2000" dirty="0"/>
              <a:t>            yield "Undefined fruit";</a:t>
            </a:r>
          </a:p>
          <a:p>
            <a:pPr marL="0" indent="0">
              <a:buFontTx/>
              <a:buNone/>
              <a:defRPr/>
            </a:pPr>
            <a:r>
              <a:rPr lang="en-US" sz="2000" dirty="0"/>
              <a:t>    });</a:t>
            </a:r>
          </a:p>
          <a:p>
            <a:pPr marL="0" indent="0">
              <a:buFontTx/>
              <a:buNone/>
              <a:defRPr/>
            </a:pPr>
            <a:r>
              <a:rPr lang="en-US" sz="2000" dirty="0"/>
              <a:t>}</a:t>
            </a:r>
          </a:p>
          <a:p>
            <a:pPr>
              <a:defRPr/>
            </a:pPr>
            <a:endParaRPr lang="en-US" sz="1400" dirty="0"/>
          </a:p>
          <a:p>
            <a:pPr>
              <a:defRPr/>
            </a:pPr>
            <a:endParaRPr lang="en-IN" sz="1400" dirty="0"/>
          </a:p>
          <a:p>
            <a:pPr>
              <a:defRPr/>
            </a:pPr>
            <a:endParaRPr lang="en-IN" sz="1400" dirty="0"/>
          </a:p>
          <a:p>
            <a:pPr>
              <a:defRPr/>
            </a:pPr>
            <a:endParaRPr lang="en-IN" sz="1400" dirty="0"/>
          </a:p>
          <a:p>
            <a:pPr>
              <a:defRPr/>
            </a:pPr>
            <a:endParaRPr lang="en-IN" sz="1400" dirty="0"/>
          </a:p>
        </p:txBody>
      </p:sp>
    </p:spTree>
    <p:extLst>
      <p:ext uri="{BB962C8B-B14F-4D97-AF65-F5344CB8AC3E}">
        <p14:creationId xmlns:p14="http://schemas.microsoft.com/office/powerpoint/2010/main" val="318405184"/>
      </p:ext>
    </p:extLst>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1E2C3-57CD-811D-A8D7-5ADF6330046E}"/>
              </a:ext>
            </a:extLst>
          </p:cNvPr>
          <p:cNvSpPr>
            <a:spLocks noGrp="1"/>
          </p:cNvSpPr>
          <p:nvPr>
            <p:ph type="title"/>
          </p:nvPr>
        </p:nvSpPr>
        <p:spPr/>
        <p:txBody>
          <a:bodyPr/>
          <a:lstStyle/>
          <a:p>
            <a:r>
              <a:rPr lang="en-US" dirty="0"/>
              <a:t>Stream Enhancements</a:t>
            </a:r>
          </a:p>
        </p:txBody>
      </p:sp>
      <p:sp>
        <p:nvSpPr>
          <p:cNvPr id="3" name="Content Placeholder 2">
            <a:extLst>
              <a:ext uri="{FF2B5EF4-FFF2-40B4-BE49-F238E27FC236}">
                <a16:creationId xmlns:a16="http://schemas.microsoft.com/office/drawing/2014/main" id="{7E7AF9B7-CB26-D798-E8BE-ECBDAE009BF7}"/>
              </a:ext>
            </a:extLst>
          </p:cNvPr>
          <p:cNvSpPr>
            <a:spLocks noGrp="1"/>
          </p:cNvSpPr>
          <p:nvPr>
            <p:ph idx="1"/>
          </p:nvPr>
        </p:nvSpPr>
        <p:spPr/>
        <p:txBody>
          <a:bodyPr/>
          <a:lstStyle/>
          <a:p>
            <a:pPr marL="457200" lvl="1" indent="0">
              <a:buNone/>
            </a:pPr>
            <a:r>
              <a:rPr lang="en-IN" sz="1800" b="1" dirty="0"/>
              <a:t>public</a:t>
            </a:r>
            <a:r>
              <a:rPr lang="en-IN" sz="1800" dirty="0"/>
              <a:t> </a:t>
            </a:r>
            <a:r>
              <a:rPr lang="en-IN" sz="1800" b="1" dirty="0"/>
              <a:t>record</a:t>
            </a:r>
            <a:r>
              <a:rPr lang="en-IN" sz="1800" dirty="0"/>
              <a:t> Student(</a:t>
            </a:r>
            <a:r>
              <a:rPr lang="en-IN" sz="1800" b="1" dirty="0"/>
              <a:t>int</a:t>
            </a:r>
            <a:r>
              <a:rPr lang="en-IN" sz="1800" dirty="0"/>
              <a:t> </a:t>
            </a:r>
            <a:r>
              <a:rPr lang="en-IN" sz="1800" dirty="0" err="1"/>
              <a:t>id,String</a:t>
            </a:r>
            <a:r>
              <a:rPr lang="en-IN" sz="1800" dirty="0"/>
              <a:t> </a:t>
            </a:r>
            <a:r>
              <a:rPr lang="en-IN" sz="1800" dirty="0" err="1"/>
              <a:t>firstName,</a:t>
            </a:r>
            <a:r>
              <a:rPr lang="en-IN" sz="1800" b="1" dirty="0" err="1"/>
              <a:t>double</a:t>
            </a:r>
            <a:r>
              <a:rPr lang="en-IN" sz="1800" dirty="0"/>
              <a:t> mark) </a:t>
            </a:r>
            <a:r>
              <a:rPr lang="en-IN" sz="1800" b="1" dirty="0"/>
              <a:t>implements</a:t>
            </a:r>
            <a:r>
              <a:rPr lang="en-IN" sz="1800" dirty="0"/>
              <a:t> Comparable&lt;Student&gt; {</a:t>
            </a:r>
          </a:p>
          <a:p>
            <a:pPr marL="457200" lvl="1" indent="0">
              <a:buNone/>
            </a:pPr>
            <a:br>
              <a:rPr lang="en-IN" sz="1800" dirty="0"/>
            </a:br>
            <a:r>
              <a:rPr lang="en-IN" sz="1800" dirty="0"/>
              <a:t>@Override</a:t>
            </a:r>
          </a:p>
          <a:p>
            <a:pPr marL="457200" lvl="1" indent="0">
              <a:buNone/>
            </a:pPr>
            <a:r>
              <a:rPr lang="en-IN" sz="1800" b="1" dirty="0"/>
              <a:t>public</a:t>
            </a:r>
            <a:r>
              <a:rPr lang="en-IN" sz="1800" dirty="0"/>
              <a:t> </a:t>
            </a:r>
            <a:r>
              <a:rPr lang="en-IN" sz="1800" b="1" dirty="0"/>
              <a:t>int</a:t>
            </a:r>
            <a:r>
              <a:rPr lang="en-IN" sz="1800" dirty="0"/>
              <a:t> </a:t>
            </a:r>
            <a:r>
              <a:rPr lang="en-IN" sz="1800" dirty="0" err="1"/>
              <a:t>compareTo</a:t>
            </a:r>
            <a:r>
              <a:rPr lang="en-IN" sz="1800" dirty="0"/>
              <a:t>(Student o) {</a:t>
            </a:r>
          </a:p>
          <a:p>
            <a:pPr marL="457200" lvl="1" indent="0">
              <a:buNone/>
            </a:pPr>
            <a:r>
              <a:rPr lang="en-IN" sz="1800" b="1" dirty="0"/>
              <a:t>return</a:t>
            </a:r>
            <a:r>
              <a:rPr lang="en-IN" sz="1800" dirty="0"/>
              <a:t> </a:t>
            </a:r>
            <a:r>
              <a:rPr lang="en-IN" sz="1800" dirty="0" err="1"/>
              <a:t>Double.</a:t>
            </a:r>
            <a:r>
              <a:rPr lang="en-IN" sz="1800" i="1" dirty="0" err="1"/>
              <a:t>compare</a:t>
            </a:r>
            <a:r>
              <a:rPr lang="en-IN" sz="1800" dirty="0"/>
              <a:t>(mark, </a:t>
            </a:r>
            <a:r>
              <a:rPr lang="en-IN" sz="1800" dirty="0" err="1"/>
              <a:t>o.mark</a:t>
            </a:r>
            <a:r>
              <a:rPr lang="en-IN" sz="1800" dirty="0"/>
              <a:t>);</a:t>
            </a:r>
          </a:p>
          <a:p>
            <a:pPr marL="457200" lvl="1" indent="0">
              <a:buNone/>
            </a:pPr>
            <a:r>
              <a:rPr lang="en-IN" sz="1800" dirty="0"/>
              <a:t>}</a:t>
            </a:r>
          </a:p>
          <a:p>
            <a:pPr marL="457200" lvl="1" indent="0">
              <a:buNone/>
            </a:pPr>
            <a:br>
              <a:rPr lang="en-IN" sz="1800" dirty="0"/>
            </a:br>
            <a:endParaRPr lang="en-IN" sz="1800" dirty="0"/>
          </a:p>
          <a:p>
            <a:pPr marL="457200" lvl="1" indent="0">
              <a:buNone/>
            </a:pPr>
            <a:r>
              <a:rPr lang="en-IN" sz="1800" dirty="0"/>
              <a:t>}</a:t>
            </a:r>
          </a:p>
          <a:p>
            <a:pPr marL="457200" lvl="1" indent="0">
              <a:buNone/>
            </a:pPr>
            <a:endParaRPr lang="en-US" altLang="en-US" sz="1800" dirty="0"/>
          </a:p>
          <a:p>
            <a:endParaRPr lang="en-US" dirty="0"/>
          </a:p>
        </p:txBody>
      </p:sp>
    </p:spTree>
    <p:extLst>
      <p:ext uri="{BB962C8B-B14F-4D97-AF65-F5344CB8AC3E}">
        <p14:creationId xmlns:p14="http://schemas.microsoft.com/office/powerpoint/2010/main" val="3622894560"/>
      </p:ext>
    </p:extLst>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itle 1">
            <a:extLst>
              <a:ext uri="{FF2B5EF4-FFF2-40B4-BE49-F238E27FC236}">
                <a16:creationId xmlns:a16="http://schemas.microsoft.com/office/drawing/2014/main" id="{FC71160B-15EC-8106-2168-86BD55415DEC}"/>
              </a:ext>
            </a:extLst>
          </p:cNvPr>
          <p:cNvSpPr>
            <a:spLocks noGrp="1" noChangeArrowheads="1"/>
          </p:cNvSpPr>
          <p:nvPr>
            <p:ph type="title"/>
          </p:nvPr>
        </p:nvSpPr>
        <p:spPr/>
        <p:txBody>
          <a:bodyPr/>
          <a:lstStyle/>
          <a:p>
            <a:r>
              <a:rPr lang="en-US" altLang="en-US"/>
              <a:t>takeWhile</a:t>
            </a:r>
          </a:p>
        </p:txBody>
      </p:sp>
      <p:sp>
        <p:nvSpPr>
          <p:cNvPr id="215043" name="Content Placeholder 2">
            <a:extLst>
              <a:ext uri="{FF2B5EF4-FFF2-40B4-BE49-F238E27FC236}">
                <a16:creationId xmlns:a16="http://schemas.microsoft.com/office/drawing/2014/main" id="{4EC9726B-9D3E-989F-75C1-94F5014CF158}"/>
              </a:ext>
            </a:extLst>
          </p:cNvPr>
          <p:cNvSpPr>
            <a:spLocks noGrp="1" noChangeArrowheads="1"/>
          </p:cNvSpPr>
          <p:nvPr>
            <p:ph idx="1"/>
          </p:nvPr>
        </p:nvSpPr>
        <p:spPr/>
        <p:txBody>
          <a:bodyPr/>
          <a:lstStyle/>
          <a:p>
            <a:r>
              <a:rPr lang="en-US" altLang="en-US" sz="2000" dirty="0"/>
              <a:t>Takes all the values until the predicate returns false</a:t>
            </a:r>
          </a:p>
          <a:p>
            <a:endParaRPr lang="en-IN" sz="2000" b="1" dirty="0"/>
          </a:p>
          <a:p>
            <a:r>
              <a:rPr lang="en-IN" sz="1800" b="1" dirty="0" err="1"/>
              <a:t>takeWhile</a:t>
            </a:r>
            <a:r>
              <a:rPr lang="en-IN" sz="1800" b="1" dirty="0"/>
              <a:t>() </a:t>
            </a:r>
          </a:p>
          <a:p>
            <a:pPr lvl="1"/>
            <a:r>
              <a:rPr lang="en-IN" sz="1800" dirty="0"/>
              <a:t>Stops processing the entire stream as soon as the </a:t>
            </a:r>
            <a:r>
              <a:rPr lang="en-IN" sz="1800" b="1" dirty="0">
                <a:solidFill>
                  <a:schemeClr val="bg1">
                    <a:lumMod val="50000"/>
                  </a:schemeClr>
                </a:solidFill>
              </a:rPr>
              <a:t>condition is no longer met for the first time </a:t>
            </a:r>
            <a:r>
              <a:rPr lang="en-IN" sz="1800" dirty="0"/>
              <a:t>in sequence.</a:t>
            </a:r>
          </a:p>
          <a:p>
            <a:pPr marL="457200" lvl="1" indent="0">
              <a:buNone/>
            </a:pPr>
            <a:endParaRPr lang="en-IN" sz="1800" dirty="0"/>
          </a:p>
          <a:p>
            <a:r>
              <a:rPr lang="en-IN" sz="1800" b="1" dirty="0"/>
              <a:t>filter() </a:t>
            </a:r>
          </a:p>
          <a:p>
            <a:pPr lvl="1"/>
            <a:r>
              <a:rPr lang="en-IN" sz="1800" dirty="0"/>
              <a:t>Processes every single element in the stream and </a:t>
            </a:r>
            <a:r>
              <a:rPr lang="en-IN" sz="1800" b="1" dirty="0">
                <a:solidFill>
                  <a:schemeClr val="bg1">
                    <a:lumMod val="50000"/>
                  </a:schemeClr>
                </a:solidFill>
              </a:rPr>
              <a:t>only includes elements that match the predicate</a:t>
            </a:r>
            <a:r>
              <a:rPr lang="en-IN" sz="1800" dirty="0"/>
              <a:t> in the resulting stream. </a:t>
            </a:r>
          </a:p>
          <a:p>
            <a:pPr marL="0" indent="0">
              <a:buNone/>
            </a:pPr>
            <a:endParaRPr lang="en-US" altLang="en-US" sz="2000" dirty="0"/>
          </a:p>
          <a:p>
            <a:pPr marL="457200" lvl="1" indent="0">
              <a:buNone/>
            </a:pPr>
            <a:endParaRPr lang="en-IN" sz="1800" b="1" dirty="0"/>
          </a:p>
        </p:txBody>
      </p:sp>
    </p:spTree>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C387E-A913-9582-4EF5-C8A7526E46B7}"/>
              </a:ext>
            </a:extLst>
          </p:cNvPr>
          <p:cNvSpPr>
            <a:spLocks noGrp="1"/>
          </p:cNvSpPr>
          <p:nvPr>
            <p:ph type="title"/>
          </p:nvPr>
        </p:nvSpPr>
        <p:spPr/>
        <p:txBody>
          <a:bodyPr/>
          <a:lstStyle/>
          <a:p>
            <a:r>
              <a:rPr lang="en-US" dirty="0" err="1"/>
              <a:t>takeWhile</a:t>
            </a:r>
            <a:endParaRPr lang="en-US" dirty="0"/>
          </a:p>
        </p:txBody>
      </p:sp>
      <p:sp>
        <p:nvSpPr>
          <p:cNvPr id="3" name="Content Placeholder 2">
            <a:extLst>
              <a:ext uri="{FF2B5EF4-FFF2-40B4-BE49-F238E27FC236}">
                <a16:creationId xmlns:a16="http://schemas.microsoft.com/office/drawing/2014/main" id="{90A3D0EE-AF6B-063F-A3E5-1F58AC364E26}"/>
              </a:ext>
            </a:extLst>
          </p:cNvPr>
          <p:cNvSpPr>
            <a:spLocks noGrp="1"/>
          </p:cNvSpPr>
          <p:nvPr>
            <p:ph idx="1"/>
          </p:nvPr>
        </p:nvSpPr>
        <p:spPr/>
        <p:txBody>
          <a:bodyPr/>
          <a:lstStyle/>
          <a:p>
            <a:pPr marL="457200" lvl="1" indent="0">
              <a:buNone/>
            </a:pPr>
            <a:r>
              <a:rPr lang="en-IN" b="1" dirty="0"/>
              <a:t>var</a:t>
            </a:r>
            <a:r>
              <a:rPr lang="en-IN" dirty="0"/>
              <a:t> ram = </a:t>
            </a:r>
            <a:r>
              <a:rPr lang="en-IN" b="1" dirty="0"/>
              <a:t>new</a:t>
            </a:r>
            <a:r>
              <a:rPr lang="en-IN" dirty="0"/>
              <a:t> Student(101,"Ramesh",45.90);            </a:t>
            </a:r>
            <a:r>
              <a:rPr lang="en-IN" b="1" i="1" dirty="0">
                <a:solidFill>
                  <a:srgbClr val="00B050"/>
                </a:solidFill>
              </a:rPr>
              <a:t>//YES</a:t>
            </a:r>
          </a:p>
          <a:p>
            <a:pPr marL="457200" lvl="1" indent="0">
              <a:buNone/>
            </a:pPr>
            <a:r>
              <a:rPr lang="en-IN" b="1" dirty="0"/>
              <a:t>var</a:t>
            </a:r>
            <a:r>
              <a:rPr lang="en-IN" dirty="0"/>
              <a:t> </a:t>
            </a:r>
            <a:r>
              <a:rPr lang="en-IN" dirty="0" err="1"/>
              <a:t>shyam</a:t>
            </a:r>
            <a:r>
              <a:rPr lang="en-IN" dirty="0"/>
              <a:t> = </a:t>
            </a:r>
            <a:r>
              <a:rPr lang="en-IN" b="1" dirty="0"/>
              <a:t>new</a:t>
            </a:r>
            <a:r>
              <a:rPr lang="en-IN" dirty="0"/>
              <a:t> Student(201,"Anand",55.90</a:t>
            </a:r>
            <a:r>
              <a:rPr lang="en-IN" b="1" i="1" dirty="0">
                <a:solidFill>
                  <a:srgbClr val="00B050"/>
                </a:solidFill>
              </a:rPr>
              <a:t>);          //YES</a:t>
            </a:r>
          </a:p>
          <a:p>
            <a:pPr marL="457200" lvl="1" indent="0">
              <a:buNone/>
            </a:pPr>
            <a:r>
              <a:rPr lang="en-IN" b="1" dirty="0"/>
              <a:t>var</a:t>
            </a:r>
            <a:r>
              <a:rPr lang="en-IN" dirty="0"/>
              <a:t> </a:t>
            </a:r>
            <a:r>
              <a:rPr lang="en-IN" dirty="0" err="1"/>
              <a:t>magesh</a:t>
            </a:r>
            <a:r>
              <a:rPr lang="en-IN" dirty="0"/>
              <a:t> = </a:t>
            </a:r>
            <a:r>
              <a:rPr lang="en-IN" b="1" dirty="0"/>
              <a:t>new</a:t>
            </a:r>
            <a:r>
              <a:rPr lang="en-IN" dirty="0"/>
              <a:t> Student(111,"Baskar",65.90);       </a:t>
            </a:r>
            <a:r>
              <a:rPr lang="en-IN" b="1" dirty="0">
                <a:solidFill>
                  <a:srgbClr val="FF0000"/>
                </a:solidFill>
              </a:rPr>
              <a:t>//NO</a:t>
            </a:r>
          </a:p>
          <a:p>
            <a:pPr marL="457200" lvl="1" indent="0">
              <a:buNone/>
            </a:pPr>
            <a:r>
              <a:rPr lang="en-IN" b="1" dirty="0"/>
              <a:t>var</a:t>
            </a:r>
            <a:r>
              <a:rPr lang="en-IN" dirty="0"/>
              <a:t> </a:t>
            </a:r>
            <a:r>
              <a:rPr lang="en-IN" dirty="0" err="1"/>
              <a:t>somesh</a:t>
            </a:r>
            <a:r>
              <a:rPr lang="en-IN" dirty="0"/>
              <a:t> = </a:t>
            </a:r>
            <a:r>
              <a:rPr lang="en-IN" b="1" dirty="0"/>
              <a:t>new</a:t>
            </a:r>
            <a:r>
              <a:rPr lang="en-IN" dirty="0"/>
              <a:t> Student(311,"Somesh",75.90);    </a:t>
            </a:r>
            <a:r>
              <a:rPr lang="en-IN" b="1" dirty="0">
                <a:solidFill>
                  <a:srgbClr val="FF0000"/>
                </a:solidFill>
              </a:rPr>
              <a:t>//NO</a:t>
            </a:r>
          </a:p>
          <a:p>
            <a:pPr marL="457200" lvl="1" indent="0">
              <a:buNone/>
            </a:pPr>
            <a:r>
              <a:rPr lang="en-IN" b="1" dirty="0"/>
              <a:t>var</a:t>
            </a:r>
            <a:r>
              <a:rPr lang="en-IN" dirty="0"/>
              <a:t> </a:t>
            </a:r>
            <a:r>
              <a:rPr lang="en-IN" dirty="0" err="1"/>
              <a:t>kamesh</a:t>
            </a:r>
            <a:r>
              <a:rPr lang="en-IN" dirty="0"/>
              <a:t> = </a:t>
            </a:r>
            <a:r>
              <a:rPr lang="en-IN" b="1" dirty="0"/>
              <a:t>new</a:t>
            </a:r>
            <a:r>
              <a:rPr lang="en-IN" dirty="0"/>
              <a:t> Student(411,"Kamesh",35.90);      //</a:t>
            </a:r>
            <a:r>
              <a:rPr lang="en-IN" b="1" i="1" dirty="0">
                <a:solidFill>
                  <a:srgbClr val="00B050"/>
                </a:solidFill>
              </a:rPr>
              <a:t>YES</a:t>
            </a:r>
          </a:p>
          <a:p>
            <a:pPr marL="457200" lvl="1" indent="0">
              <a:buNone/>
            </a:pPr>
            <a:br>
              <a:rPr lang="en-IN" dirty="0"/>
            </a:br>
            <a:endParaRPr lang="en-IN" dirty="0"/>
          </a:p>
          <a:p>
            <a:pPr marL="457200" lvl="1" indent="0">
              <a:buNone/>
            </a:pPr>
            <a:r>
              <a:rPr lang="en-IN" b="1" dirty="0"/>
              <a:t>var</a:t>
            </a:r>
            <a:r>
              <a:rPr lang="en-IN" dirty="0"/>
              <a:t> list = </a:t>
            </a:r>
            <a:r>
              <a:rPr lang="en-IN" dirty="0" err="1"/>
              <a:t>Set.</a:t>
            </a:r>
            <a:r>
              <a:rPr lang="en-IN" i="1" dirty="0" err="1"/>
              <a:t>of</a:t>
            </a:r>
            <a:r>
              <a:rPr lang="en-IN" dirty="0"/>
              <a:t>(</a:t>
            </a:r>
            <a:r>
              <a:rPr lang="en-IN" dirty="0" err="1"/>
              <a:t>ram,shyam,magesh,somesh,kamesh</a:t>
            </a:r>
            <a:r>
              <a:rPr lang="en-IN" dirty="0"/>
              <a:t>);</a:t>
            </a:r>
          </a:p>
          <a:p>
            <a:pPr marL="457200" lvl="1" indent="0">
              <a:buNone/>
            </a:pPr>
            <a:endParaRPr lang="en-IN" dirty="0"/>
          </a:p>
          <a:p>
            <a:pPr marL="457200" lvl="1" indent="0">
              <a:buNone/>
            </a:pPr>
            <a:r>
              <a:rPr lang="en-IN" dirty="0" err="1"/>
              <a:t>TreeSet</a:t>
            </a:r>
            <a:r>
              <a:rPr lang="en-IN" dirty="0"/>
              <a:t>&lt;Student&gt; </a:t>
            </a:r>
            <a:r>
              <a:rPr lang="en-IN" dirty="0" err="1"/>
              <a:t>sortedSet</a:t>
            </a:r>
            <a:r>
              <a:rPr lang="en-IN" dirty="0"/>
              <a:t> = </a:t>
            </a:r>
            <a:r>
              <a:rPr lang="en-IN" b="1" dirty="0"/>
              <a:t>new</a:t>
            </a:r>
            <a:r>
              <a:rPr lang="en-IN" dirty="0"/>
              <a:t> </a:t>
            </a:r>
            <a:r>
              <a:rPr lang="en-IN" dirty="0" err="1"/>
              <a:t>TreeSet</a:t>
            </a:r>
            <a:r>
              <a:rPr lang="en-IN" dirty="0"/>
              <a:t>&lt;&gt;(list);</a:t>
            </a:r>
          </a:p>
          <a:p>
            <a:pPr marL="457200" lvl="1" indent="0">
              <a:buNone/>
            </a:pPr>
            <a:endParaRPr lang="en-IN" b="1" dirty="0">
              <a:solidFill>
                <a:schemeClr val="bg1">
                  <a:lumMod val="50000"/>
                </a:schemeClr>
              </a:solidFill>
            </a:endParaRPr>
          </a:p>
          <a:p>
            <a:pPr marL="457200" lvl="1" indent="0">
              <a:buNone/>
            </a:pPr>
            <a:endParaRPr lang="en-IN" b="1" dirty="0">
              <a:solidFill>
                <a:schemeClr val="bg1">
                  <a:lumMod val="50000"/>
                </a:schemeClr>
              </a:solidFill>
            </a:endParaRPr>
          </a:p>
          <a:p>
            <a:pPr marL="457200" lvl="1" indent="0">
              <a:buNone/>
            </a:pPr>
            <a:r>
              <a:rPr lang="en-IN" b="1" dirty="0" err="1"/>
              <a:t>sortedSet.stream</a:t>
            </a:r>
            <a:r>
              <a:rPr lang="en-IN" b="1" dirty="0"/>
              <a:t>().</a:t>
            </a:r>
            <a:r>
              <a:rPr lang="en-IN" b="1" dirty="0" err="1">
                <a:solidFill>
                  <a:schemeClr val="bg1">
                    <a:lumMod val="50000"/>
                  </a:schemeClr>
                </a:solidFill>
              </a:rPr>
              <a:t>takeWhile</a:t>
            </a:r>
            <a:r>
              <a:rPr lang="en-IN" b="1" dirty="0">
                <a:solidFill>
                  <a:schemeClr val="bg1">
                    <a:lumMod val="50000"/>
                  </a:schemeClr>
                </a:solidFill>
              </a:rPr>
              <a:t>(e -&gt; </a:t>
            </a:r>
            <a:r>
              <a:rPr lang="en-IN" b="1" dirty="0" err="1">
                <a:solidFill>
                  <a:schemeClr val="bg1">
                    <a:lumMod val="50000"/>
                  </a:schemeClr>
                </a:solidFill>
              </a:rPr>
              <a:t>e.mark</a:t>
            </a:r>
            <a:r>
              <a:rPr lang="en-IN" b="1" dirty="0">
                <a:solidFill>
                  <a:schemeClr val="bg1">
                    <a:lumMod val="50000"/>
                  </a:schemeClr>
                </a:solidFill>
              </a:rPr>
              <a:t>()&lt;60.00).</a:t>
            </a:r>
            <a:r>
              <a:rPr lang="en-IN" b="1" dirty="0" err="1"/>
              <a:t>forEach</a:t>
            </a:r>
            <a:r>
              <a:rPr lang="en-IN" b="1" dirty="0"/>
              <a:t>(</a:t>
            </a:r>
            <a:r>
              <a:rPr lang="en-IN" b="1" dirty="0" err="1"/>
              <a:t>System.</a:t>
            </a:r>
            <a:r>
              <a:rPr lang="en-IN" b="1" i="1" dirty="0" err="1"/>
              <a:t>out</a:t>
            </a:r>
            <a:r>
              <a:rPr lang="en-IN" b="1" dirty="0"/>
              <a:t>::</a:t>
            </a:r>
            <a:r>
              <a:rPr lang="en-IN" b="1" dirty="0" err="1"/>
              <a:t>println</a:t>
            </a:r>
            <a:r>
              <a:rPr lang="en-IN" b="1" dirty="0"/>
              <a:t>)</a:t>
            </a:r>
            <a:r>
              <a:rPr lang="en-IN" b="1" dirty="0">
                <a:solidFill>
                  <a:schemeClr val="bg1">
                    <a:lumMod val="50000"/>
                  </a:schemeClr>
                </a:solidFill>
              </a:rPr>
              <a:t>;</a:t>
            </a:r>
          </a:p>
          <a:p>
            <a:pPr marL="457200" lvl="1" indent="0">
              <a:buNone/>
            </a:pPr>
            <a:endParaRPr lang="en-US" dirty="0"/>
          </a:p>
        </p:txBody>
      </p:sp>
    </p:spTree>
    <p:extLst>
      <p:ext uri="{BB962C8B-B14F-4D97-AF65-F5344CB8AC3E}">
        <p14:creationId xmlns:p14="http://schemas.microsoft.com/office/powerpoint/2010/main" val="3081436698"/>
      </p:ext>
    </p:extLst>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Title 1">
            <a:extLst>
              <a:ext uri="{FF2B5EF4-FFF2-40B4-BE49-F238E27FC236}">
                <a16:creationId xmlns:a16="http://schemas.microsoft.com/office/drawing/2014/main" id="{095F949D-F53D-A4AE-8AC3-14AD67A7EA70}"/>
              </a:ext>
            </a:extLst>
          </p:cNvPr>
          <p:cNvSpPr>
            <a:spLocks noGrp="1" noChangeArrowheads="1"/>
          </p:cNvSpPr>
          <p:nvPr>
            <p:ph type="title"/>
          </p:nvPr>
        </p:nvSpPr>
        <p:spPr/>
        <p:txBody>
          <a:bodyPr/>
          <a:lstStyle/>
          <a:p>
            <a:r>
              <a:rPr lang="en-US" altLang="en-US"/>
              <a:t>Drop While</a:t>
            </a:r>
          </a:p>
        </p:txBody>
      </p:sp>
      <p:sp>
        <p:nvSpPr>
          <p:cNvPr id="216067" name="Content Placeholder 2">
            <a:extLst>
              <a:ext uri="{FF2B5EF4-FFF2-40B4-BE49-F238E27FC236}">
                <a16:creationId xmlns:a16="http://schemas.microsoft.com/office/drawing/2014/main" id="{59DE436A-AF72-92BA-0923-91A2C9CD229C}"/>
              </a:ext>
            </a:extLst>
          </p:cNvPr>
          <p:cNvSpPr>
            <a:spLocks noGrp="1" noChangeArrowheads="1"/>
          </p:cNvSpPr>
          <p:nvPr>
            <p:ph idx="1"/>
          </p:nvPr>
        </p:nvSpPr>
        <p:spPr/>
        <p:txBody>
          <a:bodyPr/>
          <a:lstStyle/>
          <a:p>
            <a:r>
              <a:rPr lang="en-US" altLang="en-US" sz="2000" dirty="0" err="1"/>
              <a:t>dropWhile</a:t>
            </a:r>
            <a:r>
              <a:rPr lang="en-US" altLang="en-US" sz="2000" dirty="0"/>
              <a:t>(Predicate Interface)</a:t>
            </a:r>
          </a:p>
          <a:p>
            <a:r>
              <a:rPr lang="en-US" altLang="en-US" sz="2000" dirty="0"/>
              <a:t>Throw away all the values at the start until the predicate returns true.</a:t>
            </a:r>
          </a:p>
          <a:p>
            <a:endParaRPr lang="en-US" altLang="en-US" sz="2000" dirty="0"/>
          </a:p>
          <a:p>
            <a:pPr marL="457200" lvl="1" indent="0">
              <a:buNone/>
            </a:pPr>
            <a:r>
              <a:rPr lang="en-IN" b="1" dirty="0"/>
              <a:t>var</a:t>
            </a:r>
            <a:r>
              <a:rPr lang="en-IN" dirty="0"/>
              <a:t> ram = </a:t>
            </a:r>
            <a:r>
              <a:rPr lang="en-IN" b="1" dirty="0"/>
              <a:t>new</a:t>
            </a:r>
            <a:r>
              <a:rPr lang="en-IN" dirty="0"/>
              <a:t> Student(101,"Ramesh",45.90);            </a:t>
            </a:r>
            <a:r>
              <a:rPr lang="en-IN" b="1" dirty="0">
                <a:solidFill>
                  <a:srgbClr val="FF0000"/>
                </a:solidFill>
              </a:rPr>
              <a:t>//NO</a:t>
            </a:r>
          </a:p>
          <a:p>
            <a:pPr marL="457200" lvl="1" indent="0">
              <a:buNone/>
            </a:pPr>
            <a:r>
              <a:rPr lang="en-IN" b="1" dirty="0"/>
              <a:t>var</a:t>
            </a:r>
            <a:r>
              <a:rPr lang="en-IN" dirty="0"/>
              <a:t> </a:t>
            </a:r>
            <a:r>
              <a:rPr lang="en-IN" dirty="0" err="1"/>
              <a:t>shyam</a:t>
            </a:r>
            <a:r>
              <a:rPr lang="en-IN" dirty="0"/>
              <a:t> = </a:t>
            </a:r>
            <a:r>
              <a:rPr lang="en-IN" b="1" dirty="0"/>
              <a:t>new</a:t>
            </a:r>
            <a:r>
              <a:rPr lang="en-IN" dirty="0"/>
              <a:t> Student(201,"Anand",55.90</a:t>
            </a:r>
            <a:r>
              <a:rPr lang="en-IN" b="1" i="1" dirty="0">
                <a:solidFill>
                  <a:srgbClr val="00B050"/>
                </a:solidFill>
              </a:rPr>
              <a:t>);          </a:t>
            </a:r>
            <a:r>
              <a:rPr lang="en-IN" b="1" dirty="0">
                <a:solidFill>
                  <a:srgbClr val="FF0000"/>
                </a:solidFill>
              </a:rPr>
              <a:t>//NO</a:t>
            </a:r>
          </a:p>
          <a:p>
            <a:pPr marL="457200" lvl="1" indent="0">
              <a:buNone/>
            </a:pPr>
            <a:r>
              <a:rPr lang="en-IN" b="1" dirty="0"/>
              <a:t>var</a:t>
            </a:r>
            <a:r>
              <a:rPr lang="en-IN" dirty="0"/>
              <a:t> </a:t>
            </a:r>
            <a:r>
              <a:rPr lang="en-IN" dirty="0" err="1"/>
              <a:t>magesh</a:t>
            </a:r>
            <a:r>
              <a:rPr lang="en-IN" dirty="0"/>
              <a:t> = </a:t>
            </a:r>
            <a:r>
              <a:rPr lang="en-IN" b="1" dirty="0"/>
              <a:t>new</a:t>
            </a:r>
            <a:r>
              <a:rPr lang="en-IN" dirty="0"/>
              <a:t> Student(111,"Baskar",65.90</a:t>
            </a:r>
            <a:r>
              <a:rPr lang="en-IN" b="1" i="1" dirty="0">
                <a:solidFill>
                  <a:srgbClr val="00B050"/>
                </a:solidFill>
              </a:rPr>
              <a:t>);       </a:t>
            </a:r>
            <a:r>
              <a:rPr lang="en-IN" b="1" dirty="0">
                <a:solidFill>
                  <a:srgbClr val="00B050"/>
                </a:solidFill>
              </a:rPr>
              <a:t>//YES</a:t>
            </a:r>
          </a:p>
          <a:p>
            <a:pPr marL="457200" lvl="1" indent="0">
              <a:buNone/>
            </a:pPr>
            <a:r>
              <a:rPr lang="en-IN" b="1" dirty="0"/>
              <a:t>var</a:t>
            </a:r>
            <a:r>
              <a:rPr lang="en-IN" dirty="0"/>
              <a:t> </a:t>
            </a:r>
            <a:r>
              <a:rPr lang="en-IN" dirty="0" err="1"/>
              <a:t>somesh</a:t>
            </a:r>
            <a:r>
              <a:rPr lang="en-IN" dirty="0"/>
              <a:t> = </a:t>
            </a:r>
            <a:r>
              <a:rPr lang="en-IN" b="1" dirty="0"/>
              <a:t>new</a:t>
            </a:r>
            <a:r>
              <a:rPr lang="en-IN" dirty="0"/>
              <a:t> Student(311,"Somesh",75.90);    </a:t>
            </a:r>
            <a:r>
              <a:rPr lang="en-IN" b="1" dirty="0">
                <a:solidFill>
                  <a:srgbClr val="00B050"/>
                </a:solidFill>
              </a:rPr>
              <a:t>//YES</a:t>
            </a:r>
          </a:p>
          <a:p>
            <a:pPr marL="457200" lvl="1" indent="0">
              <a:buNone/>
            </a:pPr>
            <a:r>
              <a:rPr lang="en-IN" b="1" dirty="0"/>
              <a:t>var</a:t>
            </a:r>
            <a:r>
              <a:rPr lang="en-IN" dirty="0"/>
              <a:t> </a:t>
            </a:r>
            <a:r>
              <a:rPr lang="en-IN" dirty="0" err="1"/>
              <a:t>kamesh</a:t>
            </a:r>
            <a:r>
              <a:rPr lang="en-IN" dirty="0"/>
              <a:t> = </a:t>
            </a:r>
            <a:r>
              <a:rPr lang="en-IN" b="1" dirty="0"/>
              <a:t>new</a:t>
            </a:r>
            <a:r>
              <a:rPr lang="en-IN" dirty="0"/>
              <a:t> Student(411,"Kamesh",35.90);      </a:t>
            </a:r>
            <a:r>
              <a:rPr lang="en-IN" b="1" dirty="0">
                <a:solidFill>
                  <a:srgbClr val="FF0000"/>
                </a:solidFill>
              </a:rPr>
              <a:t>//NO</a:t>
            </a:r>
          </a:p>
          <a:p>
            <a:pPr marL="457200" lvl="1" indent="0">
              <a:buNone/>
            </a:pPr>
            <a:br>
              <a:rPr lang="en-IN" dirty="0"/>
            </a:br>
            <a:endParaRPr lang="en-IN" dirty="0"/>
          </a:p>
          <a:p>
            <a:pPr marL="457200" lvl="1" indent="0">
              <a:buNone/>
            </a:pPr>
            <a:r>
              <a:rPr lang="en-IN" b="1" dirty="0"/>
              <a:t>var</a:t>
            </a:r>
            <a:r>
              <a:rPr lang="en-IN" dirty="0"/>
              <a:t> list = </a:t>
            </a:r>
            <a:r>
              <a:rPr lang="en-IN" dirty="0" err="1"/>
              <a:t>Set.</a:t>
            </a:r>
            <a:r>
              <a:rPr lang="en-IN" i="1" dirty="0" err="1"/>
              <a:t>of</a:t>
            </a:r>
            <a:r>
              <a:rPr lang="en-IN" dirty="0"/>
              <a:t>(</a:t>
            </a:r>
            <a:r>
              <a:rPr lang="en-IN" dirty="0" err="1"/>
              <a:t>ram,shyam,magesh,somesh,kamesh</a:t>
            </a:r>
            <a:r>
              <a:rPr lang="en-IN" dirty="0"/>
              <a:t>);</a:t>
            </a:r>
          </a:p>
          <a:p>
            <a:pPr marL="457200" lvl="1" indent="0">
              <a:buNone/>
            </a:pPr>
            <a:endParaRPr lang="en-IN" dirty="0"/>
          </a:p>
          <a:p>
            <a:pPr marL="457200" lvl="1" indent="0">
              <a:buNone/>
            </a:pPr>
            <a:r>
              <a:rPr lang="en-IN" dirty="0" err="1"/>
              <a:t>TreeSet</a:t>
            </a:r>
            <a:r>
              <a:rPr lang="en-IN" dirty="0"/>
              <a:t>&lt;Student&gt; </a:t>
            </a:r>
            <a:r>
              <a:rPr lang="en-IN" dirty="0" err="1"/>
              <a:t>sortedSet</a:t>
            </a:r>
            <a:r>
              <a:rPr lang="en-IN" dirty="0"/>
              <a:t> = </a:t>
            </a:r>
            <a:r>
              <a:rPr lang="en-IN" b="1" dirty="0"/>
              <a:t>new</a:t>
            </a:r>
            <a:r>
              <a:rPr lang="en-IN" dirty="0"/>
              <a:t> </a:t>
            </a:r>
            <a:r>
              <a:rPr lang="en-IN" dirty="0" err="1"/>
              <a:t>TreeSet</a:t>
            </a:r>
            <a:r>
              <a:rPr lang="en-IN" dirty="0"/>
              <a:t>&lt;&gt;(list);</a:t>
            </a:r>
          </a:p>
          <a:p>
            <a:pPr marL="457200" lvl="1" indent="0">
              <a:buNone/>
            </a:pPr>
            <a:endParaRPr lang="en-IN" b="1" dirty="0">
              <a:solidFill>
                <a:schemeClr val="bg1">
                  <a:lumMod val="50000"/>
                </a:schemeClr>
              </a:solidFill>
            </a:endParaRPr>
          </a:p>
          <a:p>
            <a:pPr marL="457200" lvl="1" indent="0">
              <a:buNone/>
            </a:pPr>
            <a:endParaRPr lang="en-IN" b="1" dirty="0">
              <a:solidFill>
                <a:schemeClr val="bg1">
                  <a:lumMod val="50000"/>
                </a:schemeClr>
              </a:solidFill>
            </a:endParaRPr>
          </a:p>
          <a:p>
            <a:pPr marL="457200" lvl="1" indent="0">
              <a:buNone/>
            </a:pPr>
            <a:r>
              <a:rPr lang="en-IN" b="1" dirty="0" err="1"/>
              <a:t>sortedSet.stream</a:t>
            </a:r>
            <a:r>
              <a:rPr lang="en-IN" b="1" dirty="0"/>
              <a:t>().</a:t>
            </a:r>
            <a:r>
              <a:rPr lang="en-IN" b="1" dirty="0" err="1">
                <a:solidFill>
                  <a:schemeClr val="bg1">
                    <a:lumMod val="50000"/>
                  </a:schemeClr>
                </a:solidFill>
              </a:rPr>
              <a:t>dropWhile</a:t>
            </a:r>
            <a:r>
              <a:rPr lang="en-IN" b="1" dirty="0">
                <a:solidFill>
                  <a:schemeClr val="bg1">
                    <a:lumMod val="50000"/>
                  </a:schemeClr>
                </a:solidFill>
              </a:rPr>
              <a:t>(e -&gt; </a:t>
            </a:r>
            <a:r>
              <a:rPr lang="en-IN" b="1" dirty="0" err="1">
                <a:solidFill>
                  <a:schemeClr val="bg1">
                    <a:lumMod val="50000"/>
                  </a:schemeClr>
                </a:solidFill>
              </a:rPr>
              <a:t>e.mark</a:t>
            </a:r>
            <a:r>
              <a:rPr lang="en-IN" b="1" dirty="0">
                <a:solidFill>
                  <a:schemeClr val="bg1">
                    <a:lumMod val="50000"/>
                  </a:schemeClr>
                </a:solidFill>
              </a:rPr>
              <a:t>()&lt;60.00).</a:t>
            </a:r>
            <a:r>
              <a:rPr lang="en-IN" b="1" dirty="0" err="1"/>
              <a:t>forEach</a:t>
            </a:r>
            <a:r>
              <a:rPr lang="en-IN" b="1" dirty="0"/>
              <a:t>(</a:t>
            </a:r>
            <a:r>
              <a:rPr lang="en-IN" b="1" dirty="0" err="1"/>
              <a:t>System.</a:t>
            </a:r>
            <a:r>
              <a:rPr lang="en-IN" b="1" i="1" dirty="0" err="1"/>
              <a:t>out</a:t>
            </a:r>
            <a:r>
              <a:rPr lang="en-IN" b="1" dirty="0"/>
              <a:t>::</a:t>
            </a:r>
            <a:r>
              <a:rPr lang="en-IN" b="1" dirty="0" err="1"/>
              <a:t>println</a:t>
            </a:r>
            <a:r>
              <a:rPr lang="en-IN" b="1" dirty="0"/>
              <a:t>)</a:t>
            </a:r>
            <a:r>
              <a:rPr lang="en-IN" b="1" dirty="0">
                <a:solidFill>
                  <a:schemeClr val="bg1">
                    <a:lumMod val="50000"/>
                  </a:schemeClr>
                </a:solidFill>
              </a:rPr>
              <a:t>;</a:t>
            </a:r>
          </a:p>
          <a:p>
            <a:r>
              <a:rPr lang="en-US" altLang="en-US" sz="2000" dirty="0"/>
              <a:t> </a:t>
            </a:r>
          </a:p>
          <a:p>
            <a:endParaRPr lang="en-US" altLang="en-US" sz="2000" dirty="0"/>
          </a:p>
          <a:p>
            <a:endParaRPr lang="en-US" altLang="en-US" sz="2000" dirty="0"/>
          </a:p>
        </p:txBody>
      </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itle 1">
            <a:extLst>
              <a:ext uri="{FF2B5EF4-FFF2-40B4-BE49-F238E27FC236}">
                <a16:creationId xmlns:a16="http://schemas.microsoft.com/office/drawing/2014/main" id="{DB5891EB-CB01-F420-65A3-1CA74CC4DD88}"/>
              </a:ext>
            </a:extLst>
          </p:cNvPr>
          <p:cNvSpPr>
            <a:spLocks noGrp="1" noChangeArrowheads="1"/>
          </p:cNvSpPr>
          <p:nvPr>
            <p:ph type="title"/>
          </p:nvPr>
        </p:nvSpPr>
        <p:spPr/>
        <p:txBody>
          <a:bodyPr/>
          <a:lstStyle/>
          <a:p>
            <a:r>
              <a:rPr lang="en-US" altLang="en-US"/>
              <a:t>Iterate</a:t>
            </a:r>
          </a:p>
        </p:txBody>
      </p:sp>
      <p:sp>
        <p:nvSpPr>
          <p:cNvPr id="218115" name="Content Placeholder 2">
            <a:extLst>
              <a:ext uri="{FF2B5EF4-FFF2-40B4-BE49-F238E27FC236}">
                <a16:creationId xmlns:a16="http://schemas.microsoft.com/office/drawing/2014/main" id="{E35EEAA3-1C1E-4B2B-F1DE-DD510FF4D7A7}"/>
              </a:ext>
            </a:extLst>
          </p:cNvPr>
          <p:cNvSpPr>
            <a:spLocks noGrp="1" noChangeArrowheads="1"/>
          </p:cNvSpPr>
          <p:nvPr>
            <p:ph idx="1"/>
          </p:nvPr>
        </p:nvSpPr>
        <p:spPr/>
        <p:txBody>
          <a:bodyPr/>
          <a:lstStyle/>
          <a:p>
            <a:r>
              <a:rPr lang="en-US" altLang="en-US" sz="2000" dirty="0"/>
              <a:t>iterate(T seed, Predicate&lt;? super T&gt; </a:t>
            </a:r>
            <a:r>
              <a:rPr lang="en-US" altLang="en-US" sz="2000" dirty="0" err="1"/>
              <a:t>hasNext</a:t>
            </a:r>
            <a:r>
              <a:rPr lang="en-US" altLang="en-US" sz="2000" dirty="0"/>
              <a:t>, </a:t>
            </a:r>
            <a:r>
              <a:rPr lang="en-US" altLang="en-US" sz="2000" dirty="0" err="1"/>
              <a:t>UnaryOperator</a:t>
            </a:r>
            <a:r>
              <a:rPr lang="en-US" altLang="en-US" sz="2000" dirty="0"/>
              <a:t>&lt;T&gt; next) </a:t>
            </a:r>
          </a:p>
          <a:p>
            <a:endParaRPr lang="en-US" altLang="en-US" sz="2000" dirty="0"/>
          </a:p>
          <a:p>
            <a:pPr marL="457200" lvl="1" indent="0">
              <a:buNone/>
            </a:pPr>
            <a:r>
              <a:rPr lang="en-IN" sz="2000" dirty="0" err="1"/>
              <a:t>Stream.</a:t>
            </a:r>
            <a:r>
              <a:rPr lang="en-IN" sz="2000" i="1" dirty="0" err="1"/>
              <a:t>iterate</a:t>
            </a:r>
            <a:r>
              <a:rPr lang="en-IN" sz="2000" dirty="0"/>
              <a:t>(0, </a:t>
            </a:r>
            <a:r>
              <a:rPr lang="en-IN" sz="2000" dirty="0" err="1"/>
              <a:t>i</a:t>
            </a:r>
            <a:r>
              <a:rPr lang="en-IN" sz="2000" dirty="0"/>
              <a:t> -&gt; </a:t>
            </a:r>
            <a:r>
              <a:rPr lang="en-IN" sz="2000" dirty="0" err="1"/>
              <a:t>i</a:t>
            </a:r>
            <a:r>
              <a:rPr lang="en-IN" sz="2000" dirty="0"/>
              <a:t> &lt; 10, </a:t>
            </a:r>
            <a:r>
              <a:rPr lang="en-IN" sz="2000" dirty="0" err="1"/>
              <a:t>i</a:t>
            </a:r>
            <a:r>
              <a:rPr lang="en-IN" sz="2000" dirty="0"/>
              <a:t> -&gt; </a:t>
            </a:r>
            <a:r>
              <a:rPr lang="en-IN" sz="2000" dirty="0" err="1"/>
              <a:t>i</a:t>
            </a:r>
            <a:r>
              <a:rPr lang="en-IN" sz="2000" dirty="0"/>
              <a:t> + 1)</a:t>
            </a:r>
          </a:p>
          <a:p>
            <a:pPr marL="457200" lvl="1" indent="0">
              <a:buNone/>
            </a:pPr>
            <a:r>
              <a:rPr lang="en-IN" sz="2000" dirty="0"/>
              <a:t>                  .</a:t>
            </a:r>
            <a:r>
              <a:rPr lang="en-IN" sz="2000" dirty="0" err="1"/>
              <a:t>forEach</a:t>
            </a:r>
            <a:r>
              <a:rPr lang="en-IN" sz="2000" dirty="0"/>
              <a:t>(</a:t>
            </a:r>
            <a:r>
              <a:rPr lang="en-IN" sz="2000" dirty="0" err="1"/>
              <a:t>System.</a:t>
            </a:r>
            <a:r>
              <a:rPr lang="en-IN" sz="2000" b="1" i="1" dirty="0" err="1"/>
              <a:t>out</a:t>
            </a:r>
            <a:r>
              <a:rPr lang="en-IN" sz="2000" dirty="0"/>
              <a:t>::</a:t>
            </a:r>
            <a:r>
              <a:rPr lang="en-IN" sz="2000" dirty="0" err="1"/>
              <a:t>println</a:t>
            </a:r>
            <a:r>
              <a:rPr lang="en-IN" sz="2000" dirty="0"/>
              <a:t>);</a:t>
            </a:r>
          </a:p>
          <a:p>
            <a:pPr marL="457200" lvl="1" indent="0">
              <a:buNone/>
            </a:pPr>
            <a:endParaRPr lang="en-IN" sz="2000" dirty="0"/>
          </a:p>
          <a:p>
            <a:pPr marL="457200" lvl="1" indent="0">
              <a:buNone/>
            </a:pPr>
            <a:r>
              <a:rPr lang="en-IN" sz="1800" dirty="0" err="1"/>
              <a:t>LocalDate</a:t>
            </a:r>
            <a:r>
              <a:rPr lang="en-IN" sz="1800" dirty="0"/>
              <a:t> today = </a:t>
            </a:r>
            <a:r>
              <a:rPr lang="en-IN" sz="1800" dirty="0" err="1"/>
              <a:t>LocalDate.</a:t>
            </a:r>
            <a:r>
              <a:rPr lang="en-IN" sz="1800" i="1" dirty="0" err="1"/>
              <a:t>now</a:t>
            </a:r>
            <a:r>
              <a:rPr lang="en-IN" sz="1800" dirty="0"/>
              <a:t>();</a:t>
            </a:r>
          </a:p>
          <a:p>
            <a:pPr marL="457200" lvl="1" indent="0">
              <a:buNone/>
            </a:pPr>
            <a:r>
              <a:rPr lang="en-IN" sz="1800" dirty="0" err="1"/>
              <a:t>LocalDate</a:t>
            </a:r>
            <a:r>
              <a:rPr lang="en-IN" sz="1800" dirty="0"/>
              <a:t> </a:t>
            </a:r>
            <a:r>
              <a:rPr lang="en-IN" sz="1800" dirty="0" err="1"/>
              <a:t>oneMonthLater</a:t>
            </a:r>
            <a:r>
              <a:rPr lang="en-IN" sz="1800" dirty="0"/>
              <a:t> = </a:t>
            </a:r>
            <a:r>
              <a:rPr lang="en-IN" sz="1800" dirty="0" err="1"/>
              <a:t>today.plusMonths</a:t>
            </a:r>
            <a:r>
              <a:rPr lang="en-IN" sz="1800" dirty="0"/>
              <a:t>(1);</a:t>
            </a:r>
          </a:p>
          <a:p>
            <a:pPr marL="457200" lvl="1" indent="0">
              <a:buNone/>
            </a:pPr>
            <a:r>
              <a:rPr lang="en-IN" sz="1800" dirty="0" err="1"/>
              <a:t>LocalDate</a:t>
            </a:r>
            <a:r>
              <a:rPr lang="en-IN" sz="1800" dirty="0"/>
              <a:t> </a:t>
            </a:r>
            <a:r>
              <a:rPr lang="en-IN" sz="1800" dirty="0" err="1"/>
              <a:t>firstMonday</a:t>
            </a:r>
            <a:r>
              <a:rPr lang="en-IN" sz="1800" dirty="0"/>
              <a:t> = </a:t>
            </a:r>
            <a:r>
              <a:rPr lang="en-IN" sz="1800" dirty="0" err="1"/>
              <a:t>today.with</a:t>
            </a:r>
            <a:r>
              <a:rPr lang="en-IN" sz="1800" dirty="0"/>
              <a:t>(</a:t>
            </a:r>
            <a:r>
              <a:rPr lang="en-IN" sz="1800" dirty="0" err="1"/>
              <a:t>TemporalAdjusters.</a:t>
            </a:r>
            <a:r>
              <a:rPr lang="en-IN" sz="1800" i="1" dirty="0" err="1"/>
              <a:t>nextOrSame</a:t>
            </a:r>
            <a:r>
              <a:rPr lang="en-IN" sz="1800" dirty="0"/>
              <a:t>(</a:t>
            </a:r>
            <a:r>
              <a:rPr lang="en-IN" sz="1800" dirty="0" err="1"/>
              <a:t>DayOfWeek.</a:t>
            </a:r>
            <a:r>
              <a:rPr lang="en-IN" sz="1800" b="1" i="1" dirty="0" err="1"/>
              <a:t>MONDAY</a:t>
            </a:r>
            <a:r>
              <a:rPr lang="en-IN" sz="1800" dirty="0"/>
              <a:t>));</a:t>
            </a:r>
          </a:p>
          <a:p>
            <a:pPr marL="457200" lvl="1" indent="0">
              <a:buNone/>
            </a:pPr>
            <a:endParaRPr lang="en-IN" sz="1800" dirty="0"/>
          </a:p>
          <a:p>
            <a:pPr marL="457200" lvl="1" indent="0">
              <a:buNone/>
            </a:pPr>
            <a:r>
              <a:rPr lang="en-IN" sz="1800" dirty="0" err="1"/>
              <a:t>Stream.</a:t>
            </a:r>
            <a:r>
              <a:rPr lang="en-IN" sz="1800" i="1" dirty="0" err="1"/>
              <a:t>iterate</a:t>
            </a:r>
            <a:r>
              <a:rPr lang="en-IN" sz="1800" dirty="0"/>
              <a:t>(</a:t>
            </a:r>
            <a:r>
              <a:rPr lang="en-IN" sz="1800" dirty="0" err="1"/>
              <a:t>firstMonday</a:t>
            </a:r>
            <a:r>
              <a:rPr lang="en-IN" sz="1800" dirty="0"/>
              <a:t>, </a:t>
            </a:r>
          </a:p>
          <a:p>
            <a:pPr marL="457200" lvl="1" indent="0">
              <a:buNone/>
            </a:pPr>
            <a:r>
              <a:rPr lang="en-IN" sz="1800" dirty="0"/>
              <a:t>	date -&gt; </a:t>
            </a:r>
            <a:r>
              <a:rPr lang="en-IN" sz="1800" dirty="0" err="1"/>
              <a:t>date.isBefore</a:t>
            </a:r>
            <a:r>
              <a:rPr lang="en-IN" sz="1800" dirty="0"/>
              <a:t>(</a:t>
            </a:r>
            <a:r>
              <a:rPr lang="en-IN" sz="1800" dirty="0" err="1"/>
              <a:t>oneMonthLater</a:t>
            </a:r>
            <a:r>
              <a:rPr lang="en-IN" sz="1800" dirty="0"/>
              <a:t>), </a:t>
            </a:r>
          </a:p>
          <a:p>
            <a:pPr marL="457200" lvl="1" indent="0">
              <a:buNone/>
            </a:pPr>
            <a:r>
              <a:rPr lang="en-IN" sz="1800" dirty="0"/>
              <a:t>	date -&gt; </a:t>
            </a:r>
            <a:r>
              <a:rPr lang="en-IN" sz="1800" dirty="0" err="1"/>
              <a:t>date.plusWeeks</a:t>
            </a:r>
            <a:r>
              <a:rPr lang="en-IN" sz="1800" dirty="0"/>
              <a:t>(1)) </a:t>
            </a:r>
          </a:p>
          <a:p>
            <a:pPr marL="457200" lvl="1" indent="0">
              <a:buNone/>
            </a:pPr>
            <a:r>
              <a:rPr lang="en-IN" sz="1800" dirty="0"/>
              <a:t>			.</a:t>
            </a:r>
            <a:r>
              <a:rPr lang="en-IN" sz="1800" dirty="0" err="1"/>
              <a:t>forEach</a:t>
            </a:r>
            <a:r>
              <a:rPr lang="en-IN" sz="1800" dirty="0"/>
              <a:t>(</a:t>
            </a:r>
            <a:r>
              <a:rPr lang="en-IN" sz="1800" dirty="0" err="1"/>
              <a:t>System.</a:t>
            </a:r>
            <a:r>
              <a:rPr lang="en-IN" sz="1800" b="1" i="1" dirty="0" err="1"/>
              <a:t>out</a:t>
            </a:r>
            <a:r>
              <a:rPr lang="en-IN" sz="1800" dirty="0"/>
              <a:t>::</a:t>
            </a:r>
            <a:r>
              <a:rPr lang="en-IN" sz="1800" dirty="0" err="1"/>
              <a:t>println</a:t>
            </a:r>
            <a:r>
              <a:rPr lang="en-IN" sz="1800" dirty="0"/>
              <a:t>);</a:t>
            </a:r>
          </a:p>
          <a:p>
            <a:pPr marL="457200" lvl="1" indent="0">
              <a:buNone/>
            </a:pPr>
            <a:endParaRPr lang="en-IN" sz="2000" dirty="0"/>
          </a:p>
          <a:p>
            <a:endParaRPr lang="en-US" altLang="en-US" sz="2000" dirty="0"/>
          </a:p>
          <a:p>
            <a:endParaRPr lang="en-US" altLang="en-US" sz="2000" dirty="0"/>
          </a:p>
        </p:txBody>
      </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1C668D-5423-6842-8FDD-F7D9B372800E}"/>
              </a:ext>
            </a:extLst>
          </p:cNvPr>
          <p:cNvSpPr>
            <a:spLocks noGrp="1"/>
          </p:cNvSpPr>
          <p:nvPr>
            <p:ph type="title"/>
          </p:nvPr>
        </p:nvSpPr>
        <p:spPr/>
        <p:txBody>
          <a:bodyPr/>
          <a:lstStyle/>
          <a:p>
            <a:pPr>
              <a:defRPr/>
            </a:pPr>
            <a:r>
              <a:rPr lang="en-US" dirty="0" err="1"/>
              <a:t>HttpClient</a:t>
            </a:r>
            <a:endParaRPr lang="en-US" dirty="0"/>
          </a:p>
        </p:txBody>
      </p:sp>
      <p:sp>
        <p:nvSpPr>
          <p:cNvPr id="226307" name="Text Placeholder 4">
            <a:extLst>
              <a:ext uri="{FF2B5EF4-FFF2-40B4-BE49-F238E27FC236}">
                <a16:creationId xmlns:a16="http://schemas.microsoft.com/office/drawing/2014/main" id="{0BA5AAAE-27D7-E2F2-D2C1-44687343A4DF}"/>
              </a:ext>
            </a:extLst>
          </p:cNvPr>
          <p:cNvSpPr>
            <a:spLocks noGrp="1" noChangeArrowheads="1"/>
          </p:cNvSpPr>
          <p:nvPr>
            <p:ph type="body" idx="1"/>
          </p:nvPr>
        </p:nvSpPr>
        <p:spPr/>
        <p:txBody>
          <a:bodyPr/>
          <a:lstStyle/>
          <a:p>
            <a:endParaRPr lang="en-US" altLang="en-US"/>
          </a:p>
        </p:txBody>
      </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itle 3">
            <a:extLst>
              <a:ext uri="{FF2B5EF4-FFF2-40B4-BE49-F238E27FC236}">
                <a16:creationId xmlns:a16="http://schemas.microsoft.com/office/drawing/2014/main" id="{9517B561-D4E9-8EB1-7B3D-0ABB65D7C99E}"/>
              </a:ext>
            </a:extLst>
          </p:cNvPr>
          <p:cNvSpPr>
            <a:spLocks noGrp="1" noChangeArrowheads="1"/>
          </p:cNvSpPr>
          <p:nvPr>
            <p:ph type="title"/>
          </p:nvPr>
        </p:nvSpPr>
        <p:spPr/>
        <p:txBody>
          <a:bodyPr/>
          <a:lstStyle/>
          <a:p>
            <a:r>
              <a:rPr lang="en-US" altLang="en-US"/>
              <a:t>Introduction</a:t>
            </a:r>
          </a:p>
        </p:txBody>
      </p:sp>
      <p:sp>
        <p:nvSpPr>
          <p:cNvPr id="227331" name="Content Placeholder 4">
            <a:extLst>
              <a:ext uri="{FF2B5EF4-FFF2-40B4-BE49-F238E27FC236}">
                <a16:creationId xmlns:a16="http://schemas.microsoft.com/office/drawing/2014/main" id="{46712155-78F1-9894-94FD-BF0352E5C524}"/>
              </a:ext>
            </a:extLst>
          </p:cNvPr>
          <p:cNvSpPr>
            <a:spLocks noGrp="1" noChangeArrowheads="1"/>
          </p:cNvSpPr>
          <p:nvPr>
            <p:ph idx="1"/>
          </p:nvPr>
        </p:nvSpPr>
        <p:spPr/>
        <p:txBody>
          <a:bodyPr/>
          <a:lstStyle/>
          <a:p>
            <a:r>
              <a:rPr lang="en-US" altLang="en-US" sz="2000"/>
              <a:t>Earlier Version of Java had </a:t>
            </a:r>
            <a:r>
              <a:rPr lang="en-US" altLang="en-US" sz="2000" i="1"/>
              <a:t>HttpURLConnection </a:t>
            </a:r>
            <a:r>
              <a:rPr lang="en-US" altLang="en-US" sz="2000"/>
              <a:t>API </a:t>
            </a:r>
          </a:p>
          <a:p>
            <a:pPr lvl="1"/>
            <a:r>
              <a:rPr lang="en-US" altLang="en-US" sz="2000"/>
              <a:t>low-level ,feature-less not so user-friendly.</a:t>
            </a:r>
          </a:p>
          <a:p>
            <a:endParaRPr lang="en-US" altLang="en-US" sz="2000"/>
          </a:p>
          <a:p>
            <a:r>
              <a:rPr lang="en-US" altLang="en-US" sz="2000"/>
              <a:t>Proliferation of third-party libraries </a:t>
            </a:r>
          </a:p>
          <a:p>
            <a:pPr lvl="1"/>
            <a:r>
              <a:rPr lang="en-US" altLang="en-US" sz="2000"/>
              <a:t> </a:t>
            </a:r>
            <a:r>
              <a:rPr lang="en-US" altLang="en-US" sz="2000">
                <a:hlinkClick r:id="rId2"/>
              </a:rPr>
              <a:t>Apache HttpClient</a:t>
            </a:r>
            <a:r>
              <a:rPr lang="en-US" altLang="en-US" sz="2000"/>
              <a:t>, </a:t>
            </a:r>
            <a:r>
              <a:rPr lang="en-US" altLang="en-US" sz="2000">
                <a:hlinkClick r:id="rId3"/>
              </a:rPr>
              <a:t>Jetty</a:t>
            </a:r>
            <a:r>
              <a:rPr lang="en-US" altLang="en-US" sz="2000"/>
              <a:t>, and Spring’s </a:t>
            </a:r>
            <a:r>
              <a:rPr lang="en-US" altLang="en-US" sz="2000">
                <a:hlinkClick r:id="rId4"/>
              </a:rPr>
              <a:t>RestTemplate</a:t>
            </a:r>
            <a:r>
              <a:rPr lang="en-US" altLang="en-US" sz="2000"/>
              <a:t>.</a:t>
            </a:r>
          </a:p>
          <a:p>
            <a:endParaRPr lang="en-US" altLang="en-US" sz="2000" b="1"/>
          </a:p>
          <a:p>
            <a:r>
              <a:rPr lang="en-US" altLang="en-US" sz="2000" b="1"/>
              <a:t>Since JDK 9  HTTP Client module is bundled as an incubator module</a:t>
            </a:r>
            <a:r>
              <a:rPr lang="en-US" altLang="en-US" sz="2000"/>
              <a:t> </a:t>
            </a:r>
          </a:p>
          <a:p>
            <a:pPr lvl="1"/>
            <a:r>
              <a:rPr lang="en-US" altLang="en-US" sz="2000"/>
              <a:t> supports </a:t>
            </a:r>
            <a:r>
              <a:rPr lang="en-US" altLang="en-US" sz="2000">
                <a:hlinkClick r:id="rId5"/>
              </a:rPr>
              <a:t>HTTP/2</a:t>
            </a:r>
            <a:r>
              <a:rPr lang="en-US" altLang="en-US" sz="2000"/>
              <a:t> with backward compatibility still facilitating HTTP/1.1.</a:t>
            </a:r>
          </a:p>
          <a:p>
            <a:pPr lvl="1"/>
            <a:r>
              <a:rPr lang="en-US" altLang="en-US" sz="2000"/>
              <a:t>API isn’t finalized, so has some scope for change in future versions. </a:t>
            </a:r>
          </a:p>
          <a:p>
            <a:pPr lvl="1"/>
            <a:r>
              <a:rPr lang="en-US" altLang="en-US" sz="2000"/>
              <a:t>Added to the module.info.java</a:t>
            </a:r>
          </a:p>
          <a:p>
            <a:pPr lvl="1"/>
            <a:r>
              <a:rPr lang="en-US" altLang="en-US" sz="2000" b="1"/>
              <a:t>requires jdk.incubator.httpclient;</a:t>
            </a:r>
          </a:p>
          <a:p>
            <a:pPr lvl="1">
              <a:buFontTx/>
              <a:buNone/>
            </a:pPr>
            <a:endParaRPr lang="en-US" altLang="en-US" sz="2000" b="1"/>
          </a:p>
          <a:p>
            <a:pPr>
              <a:buFontTx/>
              <a:buNone/>
            </a:pPr>
            <a:br>
              <a:rPr lang="en-US" altLang="en-US" sz="2000"/>
            </a:br>
            <a:endParaRPr lang="en-US" altLang="en-US" sz="2000"/>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Title 1">
            <a:extLst>
              <a:ext uri="{FF2B5EF4-FFF2-40B4-BE49-F238E27FC236}">
                <a16:creationId xmlns:a16="http://schemas.microsoft.com/office/drawing/2014/main" id="{C340DE3D-99A0-F04C-860C-F49DC85D4F67}"/>
              </a:ext>
            </a:extLst>
          </p:cNvPr>
          <p:cNvSpPr>
            <a:spLocks noGrp="1" noChangeArrowheads="1"/>
          </p:cNvSpPr>
          <p:nvPr>
            <p:ph type="title"/>
          </p:nvPr>
        </p:nvSpPr>
        <p:spPr/>
        <p:txBody>
          <a:bodyPr/>
          <a:lstStyle/>
          <a:p>
            <a:br>
              <a:rPr lang="en-US" altLang="en-US" b="1"/>
            </a:br>
            <a:r>
              <a:rPr lang="en-US" altLang="en-US" b="1"/>
              <a:t>HTTP Client API Overview</a:t>
            </a:r>
            <a:br>
              <a:rPr lang="en-US" altLang="en-US" b="1"/>
            </a:br>
            <a:endParaRPr lang="en-US" altLang="en-US"/>
          </a:p>
        </p:txBody>
      </p:sp>
      <p:sp>
        <p:nvSpPr>
          <p:cNvPr id="228355" name="Content Placeholder 2">
            <a:extLst>
              <a:ext uri="{FF2B5EF4-FFF2-40B4-BE49-F238E27FC236}">
                <a16:creationId xmlns:a16="http://schemas.microsoft.com/office/drawing/2014/main" id="{8F31B0CA-2A77-7B6C-2FFE-6D0F3D9E6178}"/>
              </a:ext>
            </a:extLst>
          </p:cNvPr>
          <p:cNvSpPr>
            <a:spLocks noGrp="1" noChangeArrowheads="1"/>
          </p:cNvSpPr>
          <p:nvPr>
            <p:ph idx="1"/>
          </p:nvPr>
        </p:nvSpPr>
        <p:spPr/>
        <p:txBody>
          <a:bodyPr/>
          <a:lstStyle/>
          <a:p>
            <a:r>
              <a:rPr lang="en-US" altLang="en-US" sz="2000" i="1"/>
              <a:t> </a:t>
            </a:r>
            <a:r>
              <a:rPr lang="en-US" altLang="en-US" sz="2000"/>
              <a:t>HTTP Client provides synchronous and asynchronous request mechanisms.</a:t>
            </a:r>
          </a:p>
          <a:p>
            <a:pPr lvl="1"/>
            <a:r>
              <a:rPr lang="en-US" altLang="en-US" sz="2000"/>
              <a:t>The API consists of 3 core classes:</a:t>
            </a:r>
          </a:p>
          <a:p>
            <a:endParaRPr lang="en-US" altLang="en-US" sz="2000" i="1"/>
          </a:p>
          <a:p>
            <a:pPr>
              <a:lnSpc>
                <a:spcPct val="150000"/>
              </a:lnSpc>
            </a:pPr>
            <a:r>
              <a:rPr lang="en-US" altLang="en-US" sz="2000" b="1" i="1"/>
              <a:t>HttpClient</a:t>
            </a:r>
          </a:p>
          <a:p>
            <a:pPr lvl="1">
              <a:lnSpc>
                <a:spcPct val="150000"/>
              </a:lnSpc>
            </a:pPr>
            <a:r>
              <a:rPr lang="en-US" altLang="en-US" sz="2000" b="1"/>
              <a:t> </a:t>
            </a:r>
            <a:r>
              <a:rPr lang="en-US" altLang="en-US" sz="2000"/>
              <a:t>behaves as a container for configuration information common to multiple requests</a:t>
            </a:r>
          </a:p>
          <a:p>
            <a:pPr>
              <a:lnSpc>
                <a:spcPct val="150000"/>
              </a:lnSpc>
            </a:pPr>
            <a:r>
              <a:rPr lang="en-US" altLang="en-US" sz="2000" b="1" i="1"/>
              <a:t>HttpRequest</a:t>
            </a:r>
            <a:r>
              <a:rPr lang="en-US" altLang="en-US" sz="2000" b="1"/>
              <a:t> </a:t>
            </a:r>
          </a:p>
          <a:p>
            <a:pPr lvl="1">
              <a:lnSpc>
                <a:spcPct val="150000"/>
              </a:lnSpc>
            </a:pPr>
            <a:r>
              <a:rPr lang="en-US" altLang="en-US" sz="2000" b="1"/>
              <a:t> </a:t>
            </a:r>
            <a:r>
              <a:rPr lang="en-US" altLang="en-US" sz="2000"/>
              <a:t>represents the request to be sent via the </a:t>
            </a:r>
            <a:r>
              <a:rPr lang="en-US" altLang="en-US" sz="2000" i="1"/>
              <a:t>HttpClient</a:t>
            </a:r>
            <a:endParaRPr lang="en-US" altLang="en-US" sz="2000"/>
          </a:p>
          <a:p>
            <a:pPr>
              <a:lnSpc>
                <a:spcPct val="150000"/>
              </a:lnSpc>
            </a:pPr>
            <a:r>
              <a:rPr lang="en-US" altLang="en-US" sz="2000" b="1" i="1"/>
              <a:t>HttpResponse</a:t>
            </a:r>
            <a:r>
              <a:rPr lang="en-US" altLang="en-US" sz="2000" b="1"/>
              <a:t> </a:t>
            </a:r>
          </a:p>
          <a:p>
            <a:pPr lvl="1">
              <a:lnSpc>
                <a:spcPct val="150000"/>
              </a:lnSpc>
            </a:pPr>
            <a:r>
              <a:rPr lang="en-US" altLang="en-US" sz="2000"/>
              <a:t>represents the result of </a:t>
            </a:r>
            <a:r>
              <a:rPr lang="en-US" altLang="en-US" sz="2000" i="1"/>
              <a:t>HttpRequest</a:t>
            </a:r>
            <a:r>
              <a:rPr lang="en-US" altLang="en-US" sz="2000"/>
              <a:t> call</a:t>
            </a:r>
          </a:p>
          <a:p>
            <a:pPr>
              <a:buFontTx/>
              <a:buNone/>
            </a:pPr>
            <a:br>
              <a:rPr lang="en-US" altLang="en-US"/>
            </a:br>
            <a:endParaRPr lang="en-US" altLang="en-US"/>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Title 1">
            <a:extLst>
              <a:ext uri="{FF2B5EF4-FFF2-40B4-BE49-F238E27FC236}">
                <a16:creationId xmlns:a16="http://schemas.microsoft.com/office/drawing/2014/main" id="{8659F0E6-CFCE-30F5-81D9-762452E81241}"/>
              </a:ext>
            </a:extLst>
          </p:cNvPr>
          <p:cNvSpPr>
            <a:spLocks noGrp="1" noChangeArrowheads="1"/>
          </p:cNvSpPr>
          <p:nvPr>
            <p:ph type="title"/>
          </p:nvPr>
        </p:nvSpPr>
        <p:spPr/>
        <p:txBody>
          <a:bodyPr/>
          <a:lstStyle/>
          <a:p>
            <a:r>
              <a:rPr lang="en-US" altLang="en-US"/>
              <a:t>HttpClient</a:t>
            </a:r>
          </a:p>
        </p:txBody>
      </p:sp>
      <p:sp>
        <p:nvSpPr>
          <p:cNvPr id="229379" name="Content Placeholder 2">
            <a:extLst>
              <a:ext uri="{FF2B5EF4-FFF2-40B4-BE49-F238E27FC236}">
                <a16:creationId xmlns:a16="http://schemas.microsoft.com/office/drawing/2014/main" id="{DFD7203B-C580-58F1-A21A-DC91B508446A}"/>
              </a:ext>
            </a:extLst>
          </p:cNvPr>
          <p:cNvSpPr>
            <a:spLocks noGrp="1" noChangeArrowheads="1"/>
          </p:cNvSpPr>
          <p:nvPr>
            <p:ph idx="1"/>
          </p:nvPr>
        </p:nvSpPr>
        <p:spPr/>
        <p:txBody>
          <a:bodyPr/>
          <a:lstStyle/>
          <a:p>
            <a:r>
              <a:rPr lang="en-US" altLang="en-US" sz="2000"/>
              <a:t>Requests are sent using </a:t>
            </a:r>
            <a:r>
              <a:rPr lang="en-US" altLang="en-US" sz="2000" i="1"/>
              <a:t>HttpClient</a:t>
            </a:r>
            <a:r>
              <a:rPr lang="en-US" altLang="en-US" sz="2000"/>
              <a:t> </a:t>
            </a:r>
          </a:p>
          <a:p>
            <a:endParaRPr lang="en-US" altLang="en-US" sz="2000"/>
          </a:p>
          <a:p>
            <a:r>
              <a:rPr lang="en-US" altLang="en-US" sz="2000"/>
              <a:t>Its can be instantiated using Builder pattern</a:t>
            </a:r>
          </a:p>
          <a:p>
            <a:endParaRPr lang="en-US" altLang="en-US" sz="2000"/>
          </a:p>
          <a:p>
            <a:pPr lvl="1"/>
            <a:r>
              <a:rPr lang="en-US" altLang="en-US" sz="400"/>
              <a:t> </a:t>
            </a:r>
            <a:r>
              <a:rPr lang="en-US" altLang="en-US" sz="2000" b="1" i="1">
                <a:solidFill>
                  <a:srgbClr val="C00000"/>
                </a:solidFill>
              </a:rPr>
              <a:t>HttpClient.newBuilder() </a:t>
            </a:r>
          </a:p>
          <a:p>
            <a:endParaRPr lang="en-US" altLang="en-US" sz="2000" i="1"/>
          </a:p>
          <a:p>
            <a:r>
              <a:rPr lang="en-US" altLang="en-US" sz="2000" i="1"/>
              <a:t>Can also be done by</a:t>
            </a:r>
          </a:p>
          <a:p>
            <a:endParaRPr lang="en-US" altLang="en-US" sz="2000" i="1"/>
          </a:p>
          <a:p>
            <a:pPr lvl="1">
              <a:buFontTx/>
              <a:buNone/>
            </a:pPr>
            <a:r>
              <a:rPr lang="en-US" altLang="en-US" sz="2000" b="1" i="1">
                <a:solidFill>
                  <a:srgbClr val="C00000"/>
                </a:solidFill>
              </a:rPr>
              <a:t>HttpClient.newHttpClient()</a:t>
            </a:r>
            <a:r>
              <a:rPr lang="en-US" altLang="en-US" sz="2000" b="1">
                <a:solidFill>
                  <a:srgbClr val="C00000"/>
                </a:solidFill>
              </a:rPr>
              <a:t>.</a:t>
            </a:r>
          </a:p>
        </p:txBody>
      </p:sp>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Title 1">
            <a:extLst>
              <a:ext uri="{FF2B5EF4-FFF2-40B4-BE49-F238E27FC236}">
                <a16:creationId xmlns:a16="http://schemas.microsoft.com/office/drawing/2014/main" id="{0521A5BA-B836-14DD-3844-58225CA21272}"/>
              </a:ext>
            </a:extLst>
          </p:cNvPr>
          <p:cNvSpPr>
            <a:spLocks noGrp="1" noChangeArrowheads="1"/>
          </p:cNvSpPr>
          <p:nvPr>
            <p:ph type="title"/>
          </p:nvPr>
        </p:nvSpPr>
        <p:spPr>
          <a:xfrm>
            <a:off x="304800" y="427038"/>
            <a:ext cx="8229600" cy="334962"/>
          </a:xfrm>
        </p:spPr>
        <p:txBody>
          <a:bodyPr/>
          <a:lstStyle/>
          <a:p>
            <a:br>
              <a:rPr lang="en-US" altLang="en-US" b="1" i="1"/>
            </a:br>
            <a:r>
              <a:rPr lang="en-US" altLang="en-US" b="1" i="1"/>
              <a:t>Http Response</a:t>
            </a:r>
            <a:r>
              <a:rPr lang="en-US" altLang="en-US" b="1"/>
              <a:t> Object</a:t>
            </a:r>
            <a:br>
              <a:rPr lang="en-US" altLang="en-US" b="1"/>
            </a:br>
            <a:endParaRPr lang="en-US" altLang="en-US"/>
          </a:p>
        </p:txBody>
      </p:sp>
      <p:sp>
        <p:nvSpPr>
          <p:cNvPr id="230403" name="Content Placeholder 2">
            <a:extLst>
              <a:ext uri="{FF2B5EF4-FFF2-40B4-BE49-F238E27FC236}">
                <a16:creationId xmlns:a16="http://schemas.microsoft.com/office/drawing/2014/main" id="{2C703869-DED9-A4B3-67CC-BA4555112B9F}"/>
              </a:ext>
            </a:extLst>
          </p:cNvPr>
          <p:cNvSpPr>
            <a:spLocks noGrp="1" noChangeArrowheads="1"/>
          </p:cNvSpPr>
          <p:nvPr>
            <p:ph idx="1"/>
          </p:nvPr>
        </p:nvSpPr>
        <p:spPr/>
        <p:txBody>
          <a:bodyPr/>
          <a:lstStyle/>
          <a:p>
            <a:r>
              <a:rPr lang="en-US" altLang="en-US" sz="2000"/>
              <a:t>Represents the response from the server. </a:t>
            </a:r>
          </a:p>
          <a:p>
            <a:r>
              <a:rPr lang="en-US" altLang="en-US" sz="2000"/>
              <a:t>Has many useful methods </a:t>
            </a:r>
          </a:p>
          <a:p>
            <a:endParaRPr lang="en-US" altLang="en-US" sz="2000" i="1"/>
          </a:p>
          <a:p>
            <a:r>
              <a:rPr lang="en-US" altLang="en-US" sz="2000" b="1" i="1"/>
              <a:t>statusCode() </a:t>
            </a:r>
          </a:p>
          <a:p>
            <a:pPr lvl="1"/>
            <a:r>
              <a:rPr lang="en-US" altLang="en-US" sz="2000"/>
              <a:t>returns status code for a response </a:t>
            </a:r>
          </a:p>
          <a:p>
            <a:pPr lvl="1"/>
            <a:r>
              <a:rPr lang="en-US" altLang="en-US" sz="2000" i="1"/>
              <a:t>HttpURLConnection</a:t>
            </a:r>
            <a:r>
              <a:rPr lang="en-US" altLang="en-US" sz="2000"/>
              <a:t> class contains possible values</a:t>
            </a:r>
          </a:p>
          <a:p>
            <a:endParaRPr lang="en-US" altLang="en-US" sz="2000" i="1"/>
          </a:p>
          <a:p>
            <a:r>
              <a:rPr lang="en-US" altLang="en-US" sz="2000" b="1" i="1"/>
              <a:t>body()</a:t>
            </a:r>
            <a:r>
              <a:rPr lang="en-US" altLang="en-US" sz="2000" b="1"/>
              <a:t> </a:t>
            </a:r>
          </a:p>
          <a:p>
            <a:pPr lvl="1"/>
            <a:r>
              <a:rPr lang="en-US" altLang="en-US" sz="2000"/>
              <a:t>returns a body for a response </a:t>
            </a:r>
          </a:p>
          <a:p>
            <a:pPr lvl="1"/>
            <a:r>
              <a:rPr lang="en-US" altLang="en-US" sz="2000"/>
              <a:t>return type depends on the response </a:t>
            </a:r>
            <a:r>
              <a:rPr lang="en-US" altLang="en-US" sz="2000" i="1"/>
              <a:t>BodyHandler </a:t>
            </a:r>
            <a:r>
              <a:rPr lang="en-US" altLang="en-US" sz="2000"/>
              <a:t>parameter </a:t>
            </a:r>
          </a:p>
          <a:p>
            <a:pPr lvl="1"/>
            <a:r>
              <a:rPr lang="en-US" altLang="en-US" sz="2000"/>
              <a:t>passed to the </a:t>
            </a:r>
            <a:r>
              <a:rPr lang="en-US" altLang="en-US" sz="2000" i="1"/>
              <a:t>send()</a:t>
            </a:r>
            <a:r>
              <a:rPr lang="en-US" altLang="en-US" sz="2000"/>
              <a:t> method</a:t>
            </a:r>
          </a:p>
          <a:p>
            <a:endParaRPr lang="en-US" altLang="en-US" sz="2000"/>
          </a:p>
        </p:txBody>
      </p:sp>
    </p:spTree>
  </p:cSld>
  <p:clrMapOvr>
    <a:masterClrMapping/>
  </p:clrMapOvr>
  <p:transition advClick="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Title 1">
            <a:extLst>
              <a:ext uri="{FF2B5EF4-FFF2-40B4-BE49-F238E27FC236}">
                <a16:creationId xmlns:a16="http://schemas.microsoft.com/office/drawing/2014/main" id="{218796C4-8AA4-AE7F-ED50-7B9129277F59}"/>
              </a:ext>
            </a:extLst>
          </p:cNvPr>
          <p:cNvSpPr>
            <a:spLocks noGrp="1" noChangeArrowheads="1"/>
          </p:cNvSpPr>
          <p:nvPr>
            <p:ph type="title"/>
          </p:nvPr>
        </p:nvSpPr>
        <p:spPr/>
        <p:txBody>
          <a:bodyPr/>
          <a:lstStyle/>
          <a:p>
            <a:r>
              <a:rPr lang="en-US" altLang="en-US"/>
              <a:t>Get Request</a:t>
            </a:r>
          </a:p>
        </p:txBody>
      </p:sp>
      <p:sp>
        <p:nvSpPr>
          <p:cNvPr id="3" name="Content Placeholder 2">
            <a:extLst>
              <a:ext uri="{FF2B5EF4-FFF2-40B4-BE49-F238E27FC236}">
                <a16:creationId xmlns:a16="http://schemas.microsoft.com/office/drawing/2014/main" id="{C916B9FF-2B0C-19D5-8B09-FA58A46A0565}"/>
              </a:ext>
            </a:extLst>
          </p:cNvPr>
          <p:cNvSpPr>
            <a:spLocks noGrp="1"/>
          </p:cNvSpPr>
          <p:nvPr>
            <p:ph idx="1"/>
          </p:nvPr>
        </p:nvSpPr>
        <p:spPr/>
        <p:txBody>
          <a:bodyPr/>
          <a:lstStyle/>
          <a:p>
            <a:pPr lvl="1">
              <a:lnSpc>
                <a:spcPct val="200000"/>
              </a:lnSpc>
              <a:buFontTx/>
              <a:buNone/>
              <a:defRPr/>
            </a:pPr>
            <a:endParaRPr lang="en-US" dirty="0"/>
          </a:p>
          <a:p>
            <a:pPr lvl="1">
              <a:lnSpc>
                <a:spcPct val="200000"/>
              </a:lnSpc>
              <a:buFontTx/>
              <a:buNone/>
              <a:defRPr/>
            </a:pPr>
            <a:r>
              <a:rPr lang="en-US" dirty="0" err="1"/>
              <a:t>HttpClient</a:t>
            </a:r>
            <a:r>
              <a:rPr lang="en-US" dirty="0"/>
              <a:t> </a:t>
            </a:r>
            <a:r>
              <a:rPr lang="en-US" b="1" dirty="0" err="1">
                <a:solidFill>
                  <a:srgbClr val="C00000"/>
                </a:solidFill>
              </a:rPr>
              <a:t>httpClient</a:t>
            </a:r>
            <a:r>
              <a:rPr lang="en-US" dirty="0"/>
              <a:t> = </a:t>
            </a:r>
            <a:r>
              <a:rPr lang="en-US" dirty="0" err="1"/>
              <a:t>HttpClient.newHttpClient</a:t>
            </a:r>
            <a:r>
              <a:rPr lang="en-US" dirty="0"/>
              <a:t>();</a:t>
            </a:r>
          </a:p>
          <a:p>
            <a:pPr lvl="1">
              <a:lnSpc>
                <a:spcPct val="200000"/>
              </a:lnSpc>
              <a:buFontTx/>
              <a:buNone/>
              <a:defRPr/>
            </a:pPr>
            <a:r>
              <a:rPr lang="en-US" dirty="0" err="1"/>
              <a:t>HttpRequest</a:t>
            </a:r>
            <a:r>
              <a:rPr lang="en-US" dirty="0"/>
              <a:t> </a:t>
            </a:r>
            <a:r>
              <a:rPr lang="en-US" b="1" dirty="0" err="1">
                <a:solidFill>
                  <a:schemeClr val="accent6">
                    <a:lumMod val="50000"/>
                  </a:schemeClr>
                </a:solidFill>
              </a:rPr>
              <a:t>httpRequest</a:t>
            </a:r>
            <a:r>
              <a:rPr lang="en-US" dirty="0"/>
              <a:t> = </a:t>
            </a:r>
            <a:r>
              <a:rPr lang="en-US" dirty="0" err="1"/>
              <a:t>HttpRequest.newBuilder</a:t>
            </a:r>
            <a:r>
              <a:rPr lang="en-US" dirty="0"/>
              <a:t>().</a:t>
            </a:r>
            <a:r>
              <a:rPr lang="en-US" b="1" dirty="0" err="1">
                <a:solidFill>
                  <a:srgbClr val="0070C0"/>
                </a:solidFill>
              </a:rPr>
              <a:t>uri</a:t>
            </a:r>
            <a:r>
              <a:rPr lang="en-US" dirty="0"/>
              <a:t> </a:t>
            </a:r>
            <a:r>
              <a:rPr lang="en-US" sz="2000" b="1" dirty="0"/>
              <a:t>(</a:t>
            </a:r>
            <a:r>
              <a:rPr lang="en-US" dirty="0"/>
              <a:t> </a:t>
            </a:r>
          </a:p>
          <a:p>
            <a:pPr lvl="1">
              <a:lnSpc>
                <a:spcPct val="200000"/>
              </a:lnSpc>
              <a:buFontTx/>
              <a:buNone/>
              <a:defRPr/>
            </a:pPr>
            <a:r>
              <a:rPr lang="en-US" dirty="0"/>
              <a:t>            </a:t>
            </a:r>
            <a:r>
              <a:rPr lang="en-US" dirty="0" err="1"/>
              <a:t>newURI</a:t>
            </a:r>
            <a:r>
              <a:rPr lang="en-US" dirty="0"/>
              <a:t>("/http://jsonplaceholder.typicode.com/users)  </a:t>
            </a:r>
            <a:r>
              <a:rPr lang="en-US" sz="2000" b="1" dirty="0"/>
              <a:t>).</a:t>
            </a:r>
            <a:r>
              <a:rPr lang="en-US" dirty="0"/>
              <a:t>GET().build();</a:t>
            </a:r>
          </a:p>
          <a:p>
            <a:pPr lvl="1">
              <a:lnSpc>
                <a:spcPct val="200000"/>
              </a:lnSpc>
              <a:buFontTx/>
              <a:buNone/>
              <a:defRPr/>
            </a:pPr>
            <a:endParaRPr lang="en-US" dirty="0"/>
          </a:p>
          <a:p>
            <a:pPr lvl="1">
              <a:lnSpc>
                <a:spcPct val="200000"/>
              </a:lnSpc>
              <a:buFontTx/>
              <a:buNone/>
              <a:defRPr/>
            </a:pPr>
            <a:r>
              <a:rPr lang="en-US" dirty="0" err="1"/>
              <a:t>HttpResponse</a:t>
            </a:r>
            <a:r>
              <a:rPr lang="en-US" dirty="0"/>
              <a:t>&lt;String&gt; </a:t>
            </a:r>
            <a:r>
              <a:rPr lang="en-US" b="1" dirty="0" err="1">
                <a:solidFill>
                  <a:schemeClr val="bg1">
                    <a:lumMod val="75000"/>
                  </a:schemeClr>
                </a:solidFill>
              </a:rPr>
              <a:t>httpResponse</a:t>
            </a:r>
            <a:r>
              <a:rPr lang="en-US" dirty="0"/>
              <a:t> = </a:t>
            </a:r>
            <a:r>
              <a:rPr lang="en-US" b="1" dirty="0" err="1">
                <a:solidFill>
                  <a:srgbClr val="C00000"/>
                </a:solidFill>
              </a:rPr>
              <a:t>httpClient</a:t>
            </a:r>
            <a:r>
              <a:rPr lang="en-US" dirty="0" err="1"/>
              <a:t>.send</a:t>
            </a:r>
            <a:r>
              <a:rPr lang="en-US" dirty="0"/>
              <a:t>(</a:t>
            </a:r>
            <a:r>
              <a:rPr lang="en-US" b="1" dirty="0" err="1">
                <a:solidFill>
                  <a:schemeClr val="accent6">
                    <a:lumMod val="50000"/>
                  </a:schemeClr>
                </a:solidFill>
              </a:rPr>
              <a:t>httpRequest</a:t>
            </a:r>
            <a:r>
              <a:rPr lang="en-US" dirty="0"/>
              <a:t>, </a:t>
            </a:r>
            <a:r>
              <a:rPr lang="en-US" b="1" i="1" dirty="0" err="1"/>
              <a:t>HttpResponse.BodyHandler.asString</a:t>
            </a:r>
            <a:r>
              <a:rPr lang="en-US" b="1" i="1" dirty="0"/>
              <a:t>()</a:t>
            </a:r>
            <a:r>
              <a:rPr lang="en-US" dirty="0"/>
              <a:t>);</a:t>
            </a:r>
          </a:p>
          <a:p>
            <a:pPr lvl="1">
              <a:lnSpc>
                <a:spcPct val="200000"/>
              </a:lnSpc>
              <a:buFontTx/>
              <a:buNone/>
              <a:defRPr/>
            </a:pPr>
            <a:endParaRPr lang="en-US" dirty="0"/>
          </a:p>
          <a:p>
            <a:pPr lvl="1">
              <a:lnSpc>
                <a:spcPct val="200000"/>
              </a:lnSpc>
              <a:buFontTx/>
              <a:buNone/>
              <a:defRPr/>
            </a:pPr>
            <a:r>
              <a:rPr lang="en-US" dirty="0" err="1"/>
              <a:t>System.out.println</a:t>
            </a:r>
            <a:r>
              <a:rPr lang="en-US" dirty="0"/>
              <a:t>( </a:t>
            </a:r>
            <a:r>
              <a:rPr lang="en-US" b="1" dirty="0" err="1">
                <a:solidFill>
                  <a:schemeClr val="bg1">
                    <a:lumMod val="75000"/>
                  </a:schemeClr>
                </a:solidFill>
              </a:rPr>
              <a:t>httpResponse.</a:t>
            </a:r>
            <a:r>
              <a:rPr lang="en-US" dirty="0" err="1"/>
              <a:t>body</a:t>
            </a:r>
            <a:r>
              <a:rPr lang="en-US" dirty="0"/>
              <a:t>() );</a:t>
            </a:r>
          </a:p>
          <a:p>
            <a:pPr>
              <a:defRPr/>
            </a:pPr>
            <a:endParaRPr lang="en-US" dirty="0"/>
          </a:p>
        </p:txBody>
      </p:sp>
    </p:spTree>
  </p:cSld>
  <p:clrMapOvr>
    <a:masterClrMapping/>
  </p:clrMapOvr>
  <p:transition advClick="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Title 1">
            <a:extLst>
              <a:ext uri="{FF2B5EF4-FFF2-40B4-BE49-F238E27FC236}">
                <a16:creationId xmlns:a16="http://schemas.microsoft.com/office/drawing/2014/main" id="{E4B5CB72-0B9C-B458-0BAF-32FBC7939917}"/>
              </a:ext>
            </a:extLst>
          </p:cNvPr>
          <p:cNvSpPr>
            <a:spLocks noGrp="1" noChangeArrowheads="1"/>
          </p:cNvSpPr>
          <p:nvPr>
            <p:ph type="title"/>
          </p:nvPr>
        </p:nvSpPr>
        <p:spPr/>
        <p:txBody>
          <a:bodyPr/>
          <a:lstStyle/>
          <a:p>
            <a:r>
              <a:rPr lang="en-US" altLang="en-US"/>
              <a:t>Setting Headers</a:t>
            </a:r>
          </a:p>
        </p:txBody>
      </p:sp>
      <p:sp>
        <p:nvSpPr>
          <p:cNvPr id="232451" name="Content Placeholder 2">
            <a:extLst>
              <a:ext uri="{FF2B5EF4-FFF2-40B4-BE49-F238E27FC236}">
                <a16:creationId xmlns:a16="http://schemas.microsoft.com/office/drawing/2014/main" id="{3A279332-B569-E8F4-D81B-19DFADBC6F67}"/>
              </a:ext>
            </a:extLst>
          </p:cNvPr>
          <p:cNvSpPr>
            <a:spLocks noGrp="1" noChangeArrowheads="1"/>
          </p:cNvSpPr>
          <p:nvPr>
            <p:ph idx="1"/>
          </p:nvPr>
        </p:nvSpPr>
        <p:spPr/>
        <p:txBody>
          <a:bodyPr/>
          <a:lstStyle/>
          <a:p>
            <a:r>
              <a:rPr lang="en-US" altLang="en-US" sz="2000"/>
              <a:t>Can Add additional headers to request by using builder methods.</a:t>
            </a:r>
          </a:p>
          <a:p>
            <a:endParaRPr lang="en-US" altLang="en-US" sz="2000" b="1">
              <a:solidFill>
                <a:srgbClr val="0070C0"/>
              </a:solidFill>
            </a:endParaRPr>
          </a:p>
          <a:p>
            <a:r>
              <a:rPr lang="en-US" altLang="en-US" sz="2000" b="1">
                <a:solidFill>
                  <a:srgbClr val="0070C0"/>
                </a:solidFill>
              </a:rPr>
              <a:t>headers()</a:t>
            </a:r>
          </a:p>
          <a:p>
            <a:pPr lvl="1"/>
            <a:r>
              <a:rPr lang="en-US" altLang="en-US" sz="2000"/>
              <a:t>Used for passing key-value pairs </a:t>
            </a:r>
          </a:p>
          <a:p>
            <a:endParaRPr lang="en-US" altLang="en-US" sz="2000" b="1">
              <a:solidFill>
                <a:srgbClr val="0070C0"/>
              </a:solidFill>
            </a:endParaRPr>
          </a:p>
          <a:p>
            <a:r>
              <a:rPr lang="en-US" altLang="en-US" sz="2000" b="1">
                <a:solidFill>
                  <a:srgbClr val="0070C0"/>
                </a:solidFill>
              </a:rPr>
              <a:t>header() </a:t>
            </a:r>
          </a:p>
          <a:p>
            <a:pPr lvl="1"/>
            <a:r>
              <a:rPr lang="en-US" altLang="en-US" sz="2000"/>
              <a:t>Used for passing single key-value header:</a:t>
            </a:r>
          </a:p>
          <a:p>
            <a:endParaRPr lang="en-US" altLang="en-US" sz="2000"/>
          </a:p>
          <a:p>
            <a:pPr lvl="1">
              <a:buFontTx/>
              <a:buNone/>
            </a:pPr>
            <a:r>
              <a:rPr lang="en-US" altLang="en-US"/>
              <a:t>  </a:t>
            </a:r>
            <a:r>
              <a:rPr lang="en-US" altLang="en-US" sz="2000"/>
              <a:t>HttpRequest request = HttpRequest.newBuilder()</a:t>
            </a:r>
          </a:p>
          <a:p>
            <a:pPr lvl="1">
              <a:buFontTx/>
              <a:buNone/>
            </a:pPr>
            <a:r>
              <a:rPr lang="en-US" altLang="en-US" sz="2000"/>
              <a:t>  .uri(new URI(baseURL))</a:t>
            </a:r>
          </a:p>
          <a:p>
            <a:pPr lvl="1">
              <a:buFontTx/>
              <a:buNone/>
            </a:pPr>
            <a:r>
              <a:rPr lang="en-US" altLang="en-US" sz="2000"/>
              <a:t>  .headers("key1", "value1", "key2", "value2")</a:t>
            </a:r>
          </a:p>
          <a:p>
            <a:pPr lvl="1">
              <a:buFontTx/>
              <a:buNone/>
            </a:pPr>
            <a:r>
              <a:rPr lang="en-US" altLang="en-US" sz="2000"/>
              <a:t>  .GET()</a:t>
            </a:r>
          </a:p>
          <a:p>
            <a:pPr lvl="1">
              <a:buFontTx/>
              <a:buNone/>
            </a:pPr>
            <a:r>
              <a:rPr lang="en-US" altLang="en-US" sz="2000"/>
              <a:t>  .build();</a:t>
            </a:r>
          </a:p>
          <a:p>
            <a:pPr>
              <a:buFontTx/>
              <a:buNone/>
            </a:pPr>
            <a:endParaRPr lang="en-US" altLang="en-US" sz="1600"/>
          </a:p>
        </p:txBody>
      </p:sp>
    </p:spTree>
  </p:cSld>
  <p:clrMapOvr>
    <a:masterClrMapping/>
  </p:clrMapOvr>
  <p:transition advClick="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itle 1">
            <a:extLst>
              <a:ext uri="{FF2B5EF4-FFF2-40B4-BE49-F238E27FC236}">
                <a16:creationId xmlns:a16="http://schemas.microsoft.com/office/drawing/2014/main" id="{CAEF1A91-2742-35E3-8178-171962111B3D}"/>
              </a:ext>
            </a:extLst>
          </p:cNvPr>
          <p:cNvSpPr>
            <a:spLocks noGrp="1" noChangeArrowheads="1"/>
          </p:cNvSpPr>
          <p:nvPr>
            <p:ph type="title"/>
          </p:nvPr>
        </p:nvSpPr>
        <p:spPr/>
        <p:txBody>
          <a:bodyPr/>
          <a:lstStyle/>
          <a:p>
            <a:r>
              <a:rPr lang="en-US" altLang="en-US"/>
              <a:t>Methods to read the HTTP Body</a:t>
            </a:r>
          </a:p>
        </p:txBody>
      </p:sp>
      <p:sp>
        <p:nvSpPr>
          <p:cNvPr id="233475" name="Content Placeholder 2">
            <a:extLst>
              <a:ext uri="{FF2B5EF4-FFF2-40B4-BE49-F238E27FC236}">
                <a16:creationId xmlns:a16="http://schemas.microsoft.com/office/drawing/2014/main" id="{0C14AEF6-2ED7-7D33-3836-1615AB7F37ED}"/>
              </a:ext>
            </a:extLst>
          </p:cNvPr>
          <p:cNvSpPr>
            <a:spLocks noGrp="1" noChangeArrowheads="1"/>
          </p:cNvSpPr>
          <p:nvPr>
            <p:ph idx="1"/>
          </p:nvPr>
        </p:nvSpPr>
        <p:spPr/>
        <p:txBody>
          <a:bodyPr/>
          <a:lstStyle/>
          <a:p>
            <a:r>
              <a:rPr lang="en-US" altLang="en-US" sz="1800"/>
              <a:t>Can set a request body type to the POST Method</a:t>
            </a:r>
          </a:p>
          <a:p>
            <a:r>
              <a:rPr lang="en-US" altLang="en-US" sz="1800" i="1"/>
              <a:t>Supports  following Body Types</a:t>
            </a:r>
          </a:p>
          <a:p>
            <a:endParaRPr lang="en-US" altLang="en-US" sz="1800" b="1" i="1"/>
          </a:p>
          <a:p>
            <a:r>
              <a:rPr lang="en-US" altLang="en-US" sz="1800" b="1" i="1"/>
              <a:t>StringProcessor</a:t>
            </a:r>
            <a:r>
              <a:rPr lang="en-US" altLang="en-US" sz="1800" b="1"/>
              <a:t> </a:t>
            </a:r>
          </a:p>
          <a:p>
            <a:pPr lvl="1"/>
            <a:r>
              <a:rPr lang="en-US" altLang="en-US" sz="2000"/>
              <a:t>reads body from a </a:t>
            </a:r>
            <a:r>
              <a:rPr lang="en-US" altLang="en-US" sz="2000" i="1"/>
              <a:t>String</a:t>
            </a:r>
          </a:p>
          <a:p>
            <a:pPr lvl="1"/>
            <a:r>
              <a:rPr lang="en-US" altLang="en-US" sz="2000"/>
              <a:t>created with </a:t>
            </a:r>
            <a:r>
              <a:rPr lang="en-US" altLang="en-US" sz="2000" i="1"/>
              <a:t>HttpRequest.BodyProcessor.fromString</a:t>
            </a:r>
            <a:r>
              <a:rPr lang="en-US" altLang="en-US" sz="2000"/>
              <a:t>)</a:t>
            </a:r>
          </a:p>
          <a:p>
            <a:r>
              <a:rPr lang="en-US" altLang="en-US" sz="1800" b="1" i="1"/>
              <a:t>InputStreamProcessor</a:t>
            </a:r>
            <a:r>
              <a:rPr lang="en-US" altLang="en-US" sz="1800" b="1"/>
              <a:t> </a:t>
            </a:r>
          </a:p>
          <a:p>
            <a:pPr lvl="1"/>
            <a:r>
              <a:rPr lang="en-US" altLang="en-US" sz="2000"/>
              <a:t>reads body from an </a:t>
            </a:r>
            <a:r>
              <a:rPr lang="en-US" altLang="en-US" sz="2000" i="1"/>
              <a:t>InputStream</a:t>
            </a:r>
          </a:p>
          <a:p>
            <a:pPr lvl="1"/>
            <a:r>
              <a:rPr lang="en-US" altLang="en-US" sz="2000"/>
              <a:t>created with </a:t>
            </a:r>
            <a:r>
              <a:rPr lang="en-US" altLang="en-US" sz="2000" i="1"/>
              <a:t>HttpRequest.BodyProcessor.fromInputStream</a:t>
            </a:r>
            <a:r>
              <a:rPr lang="en-US" altLang="en-US" sz="2000"/>
              <a:t>)</a:t>
            </a:r>
          </a:p>
          <a:p>
            <a:r>
              <a:rPr lang="en-US" altLang="en-US" sz="1800" b="1" i="1"/>
              <a:t>ByteArrayProcessor</a:t>
            </a:r>
            <a:r>
              <a:rPr lang="en-US" altLang="en-US" sz="1800" b="1"/>
              <a:t> </a:t>
            </a:r>
          </a:p>
          <a:p>
            <a:pPr lvl="1"/>
            <a:r>
              <a:rPr lang="en-US" altLang="en-US" sz="2000"/>
              <a:t>reads body from a byte array</a:t>
            </a:r>
          </a:p>
          <a:p>
            <a:pPr lvl="1"/>
            <a:r>
              <a:rPr lang="en-US" altLang="en-US" sz="2000"/>
              <a:t>created with </a:t>
            </a:r>
            <a:r>
              <a:rPr lang="en-US" altLang="en-US" sz="2000" i="1"/>
              <a:t>HttpRequest.BodyProcessor.fromByteArray</a:t>
            </a:r>
            <a:r>
              <a:rPr lang="en-US" altLang="en-US" sz="2000"/>
              <a:t>)</a:t>
            </a:r>
          </a:p>
          <a:p>
            <a:r>
              <a:rPr lang="en-US" altLang="en-US" sz="2000" b="1" i="1"/>
              <a:t>HttpRequest.noBody()</a:t>
            </a:r>
            <a:r>
              <a:rPr lang="en-US" altLang="en-US" sz="2000" b="1"/>
              <a:t>:</a:t>
            </a:r>
          </a:p>
          <a:p>
            <a:pPr lvl="1"/>
            <a:r>
              <a:rPr lang="en-US" altLang="en-US" sz="2000"/>
              <a:t>When there is no need for a  body</a:t>
            </a:r>
          </a:p>
          <a:p>
            <a:endParaRPr lang="en-US" altLang="en-US"/>
          </a:p>
        </p:txBody>
      </p:sp>
    </p:spTree>
  </p:cSld>
  <p:clrMapOvr>
    <a:masterClrMapping/>
  </p:clrMapOvr>
  <p:transition advClick="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Title 1">
            <a:extLst>
              <a:ext uri="{FF2B5EF4-FFF2-40B4-BE49-F238E27FC236}">
                <a16:creationId xmlns:a16="http://schemas.microsoft.com/office/drawing/2014/main" id="{D012C21C-75A8-86B4-7285-47DAD4F4EB85}"/>
              </a:ext>
            </a:extLst>
          </p:cNvPr>
          <p:cNvSpPr>
            <a:spLocks noGrp="1" noChangeArrowheads="1"/>
          </p:cNvSpPr>
          <p:nvPr>
            <p:ph type="title"/>
          </p:nvPr>
        </p:nvSpPr>
        <p:spPr/>
        <p:txBody>
          <a:bodyPr/>
          <a:lstStyle/>
          <a:p>
            <a:r>
              <a:rPr lang="en-US" altLang="en-US"/>
              <a:t>String Body Processor</a:t>
            </a:r>
          </a:p>
        </p:txBody>
      </p:sp>
      <p:sp>
        <p:nvSpPr>
          <p:cNvPr id="234499" name="Content Placeholder 2">
            <a:extLst>
              <a:ext uri="{FF2B5EF4-FFF2-40B4-BE49-F238E27FC236}">
                <a16:creationId xmlns:a16="http://schemas.microsoft.com/office/drawing/2014/main" id="{12F9CC31-7B37-B386-4190-F47837F34E11}"/>
              </a:ext>
            </a:extLst>
          </p:cNvPr>
          <p:cNvSpPr>
            <a:spLocks noGrp="1" noChangeArrowheads="1"/>
          </p:cNvSpPr>
          <p:nvPr>
            <p:ph idx="1"/>
          </p:nvPr>
        </p:nvSpPr>
        <p:spPr/>
        <p:txBody>
          <a:bodyPr/>
          <a:lstStyle/>
          <a:p>
            <a:r>
              <a:rPr lang="en-US" altLang="en-US" sz="2000"/>
              <a:t>API Provides Method for Standard HTTP Method </a:t>
            </a:r>
          </a:p>
          <a:p>
            <a:pPr lvl="1"/>
            <a:r>
              <a:rPr lang="en-US" altLang="en-US" sz="2000" i="1"/>
              <a:t>POST(BodyProcessor body)</a:t>
            </a:r>
            <a:r>
              <a:rPr lang="en-US" altLang="en-US" sz="2000"/>
              <a:t>, </a:t>
            </a:r>
          </a:p>
          <a:p>
            <a:pPr lvl="1"/>
            <a:r>
              <a:rPr lang="en-US" altLang="en-US" sz="2000" i="1"/>
              <a:t>PUT(BodyProcessor body)</a:t>
            </a:r>
            <a:r>
              <a:rPr lang="en-US" altLang="en-US" sz="2000"/>
              <a:t> </a:t>
            </a:r>
          </a:p>
          <a:p>
            <a:pPr lvl="1"/>
            <a:r>
              <a:rPr lang="en-US" altLang="en-US" sz="2000" i="1"/>
              <a:t>DELETE(BodyProcessor body).</a:t>
            </a:r>
            <a:endParaRPr lang="en-US" altLang="en-US" sz="2000"/>
          </a:p>
          <a:p>
            <a:pPr lvl="1"/>
            <a:endParaRPr lang="en-US" altLang="en-US" sz="2000"/>
          </a:p>
          <a:p>
            <a:endParaRPr lang="en-US" altLang="en-US" sz="2400"/>
          </a:p>
          <a:p>
            <a:pPr lvl="1">
              <a:buFontTx/>
              <a:buNone/>
            </a:pPr>
            <a:r>
              <a:rPr lang="en-US" altLang="en-US" sz="2000"/>
              <a:t>HttpRequest request = HttpRequest.newBuilder()</a:t>
            </a:r>
          </a:p>
          <a:p>
            <a:pPr lvl="1">
              <a:buFontTx/>
              <a:buNone/>
            </a:pPr>
            <a:r>
              <a:rPr lang="en-US" altLang="en-US" sz="2000"/>
              <a:t>  .uri(new URI("</a:t>
            </a:r>
            <a:r>
              <a:rPr lang="en-US" altLang="en-US" sz="2000" b="1">
                <a:hlinkClick r:id="rId2"/>
              </a:rPr>
              <a:t>https://postman-echo.com/post</a:t>
            </a:r>
            <a:r>
              <a:rPr lang="en-US" altLang="en-US" sz="2000"/>
              <a:t>"))</a:t>
            </a:r>
          </a:p>
          <a:p>
            <a:pPr lvl="1">
              <a:buFontTx/>
              <a:buNone/>
            </a:pPr>
            <a:r>
              <a:rPr lang="en-US" altLang="en-US" sz="2000"/>
              <a:t>  .headers("Content-Type", "text/plain;charset=UTF-8")</a:t>
            </a:r>
          </a:p>
          <a:p>
            <a:pPr lvl="1">
              <a:buFontTx/>
              <a:buNone/>
            </a:pPr>
            <a:r>
              <a:rPr lang="en-US" altLang="en-US" sz="2000"/>
              <a:t>  .POST(HttpRequest.BodyProcessor.fromString("Sample request body"))</a:t>
            </a:r>
          </a:p>
          <a:p>
            <a:pPr lvl="1">
              <a:buFontTx/>
              <a:buNone/>
            </a:pPr>
            <a:r>
              <a:rPr lang="en-US" altLang="en-US" sz="2000"/>
              <a:t>  .build();</a:t>
            </a:r>
          </a:p>
          <a:p>
            <a:pPr lvl="1">
              <a:buFontTx/>
              <a:buNone/>
            </a:pPr>
            <a:endParaRPr lang="en-US" altLang="en-US" sz="2000"/>
          </a:p>
          <a:p>
            <a:pPr lvl="1">
              <a:buFontTx/>
              <a:buNone/>
            </a:pPr>
            <a:endParaRPr lang="en-US" altLang="en-US" sz="2000"/>
          </a:p>
        </p:txBody>
      </p:sp>
    </p:spTree>
  </p:cSld>
  <p:clrMapOvr>
    <a:masterClrMapping/>
  </p:clrMapOvr>
  <p:transition advClick="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itle 1">
            <a:extLst>
              <a:ext uri="{FF2B5EF4-FFF2-40B4-BE49-F238E27FC236}">
                <a16:creationId xmlns:a16="http://schemas.microsoft.com/office/drawing/2014/main" id="{27B5F18B-7418-C755-4093-359C96B554DF}"/>
              </a:ext>
            </a:extLst>
          </p:cNvPr>
          <p:cNvSpPr>
            <a:spLocks noGrp="1" noChangeArrowheads="1"/>
          </p:cNvSpPr>
          <p:nvPr>
            <p:ph type="title"/>
          </p:nvPr>
        </p:nvSpPr>
        <p:spPr/>
        <p:txBody>
          <a:bodyPr/>
          <a:lstStyle/>
          <a:p>
            <a:r>
              <a:rPr lang="en-US" altLang="en-US"/>
              <a:t>Input Stream Body Processor</a:t>
            </a:r>
          </a:p>
        </p:txBody>
      </p:sp>
      <p:sp>
        <p:nvSpPr>
          <p:cNvPr id="235523" name="Content Placeholder 2">
            <a:extLst>
              <a:ext uri="{FF2B5EF4-FFF2-40B4-BE49-F238E27FC236}">
                <a16:creationId xmlns:a16="http://schemas.microsoft.com/office/drawing/2014/main" id="{6779E4EE-314C-9521-85D3-1CFAB1C241D8}"/>
              </a:ext>
            </a:extLst>
          </p:cNvPr>
          <p:cNvSpPr>
            <a:spLocks noGrp="1" noChangeArrowheads="1"/>
          </p:cNvSpPr>
          <p:nvPr>
            <p:ph idx="1"/>
          </p:nvPr>
        </p:nvSpPr>
        <p:spPr/>
        <p:txBody>
          <a:bodyPr/>
          <a:lstStyle/>
          <a:p>
            <a:r>
              <a:rPr lang="en-US" altLang="en-US" sz="2000" i="1"/>
              <a:t>InputStream</a:t>
            </a:r>
            <a:r>
              <a:rPr lang="en-US" altLang="en-US" sz="2000"/>
              <a:t> has to be passed as a </a:t>
            </a:r>
            <a:r>
              <a:rPr lang="en-US" altLang="en-US" sz="2000" i="1"/>
              <a:t>Supplier to</a:t>
            </a:r>
            <a:r>
              <a:rPr lang="en-US" altLang="en-US" sz="2000"/>
              <a:t> make its creation lazy</a:t>
            </a:r>
          </a:p>
          <a:p>
            <a:endParaRPr lang="en-US" altLang="en-US" sz="2400"/>
          </a:p>
          <a:p>
            <a:pPr lvl="1">
              <a:buFontTx/>
              <a:buNone/>
            </a:pPr>
            <a:r>
              <a:rPr lang="en-US" altLang="en-US" sz="2000"/>
              <a:t>byte[] sampleData = "Sample request body".getBytes();</a:t>
            </a:r>
          </a:p>
          <a:p>
            <a:pPr lvl="1">
              <a:buFontTx/>
              <a:buNone/>
            </a:pPr>
            <a:r>
              <a:rPr lang="en-US" altLang="en-US" sz="2000"/>
              <a:t>HttpRequest request = HttpRequest.newBuilder()</a:t>
            </a:r>
          </a:p>
          <a:p>
            <a:pPr lvl="1">
              <a:buFontTx/>
              <a:buNone/>
            </a:pPr>
            <a:r>
              <a:rPr lang="en-US" altLang="en-US" sz="2000"/>
              <a:t>  .uri(new URI("</a:t>
            </a:r>
            <a:r>
              <a:rPr lang="en-US" altLang="en-US" sz="2000" b="1">
                <a:hlinkClick r:id="rId2"/>
              </a:rPr>
              <a:t>http://postman-echo.com/post</a:t>
            </a:r>
            <a:r>
              <a:rPr lang="en-US" altLang="en-US" sz="2000"/>
              <a:t>"))</a:t>
            </a:r>
          </a:p>
          <a:p>
            <a:pPr lvl="1">
              <a:buFontTx/>
              <a:buNone/>
            </a:pPr>
            <a:r>
              <a:rPr lang="en-US" altLang="en-US" sz="2000"/>
              <a:t>  .headers("Content-Type", "text/plain;charset=UTF-8")</a:t>
            </a:r>
          </a:p>
          <a:p>
            <a:pPr lvl="1">
              <a:buFontTx/>
              <a:buNone/>
            </a:pPr>
            <a:r>
              <a:rPr lang="en-US" altLang="en-US" sz="2000"/>
              <a:t>  .POST(HttpRequest.BodyProcessor</a:t>
            </a:r>
          </a:p>
          <a:p>
            <a:pPr lvl="1">
              <a:buFontTx/>
              <a:buNone/>
            </a:pPr>
            <a:r>
              <a:rPr lang="en-US" altLang="en-US" sz="2000"/>
              <a:t>   .fromInputStream(() -&gt; new ByteArrayInputStream(sampleData)))</a:t>
            </a:r>
          </a:p>
          <a:p>
            <a:pPr lvl="1">
              <a:buFontTx/>
              <a:buNone/>
            </a:pPr>
            <a:endParaRPr lang="en-US" altLang="en-US" sz="2000"/>
          </a:p>
          <a:p>
            <a:pPr lvl="1">
              <a:buFontTx/>
              <a:buNone/>
            </a:pPr>
            <a:endParaRPr lang="en-US" altLang="en-US" sz="2000"/>
          </a:p>
        </p:txBody>
      </p:sp>
    </p:spTree>
  </p:cSld>
  <p:clrMapOvr>
    <a:masterClrMapping/>
  </p:clrMapOvr>
  <p:transition advClick="0"/>
</p:sld>
</file>

<file path=ppt/theme/theme1.xml><?xml version="1.0" encoding="utf-8"?>
<a:theme xmlns:a="http://schemas.openxmlformats.org/drawingml/2006/main" name="vees">
  <a:themeElements>
    <a:clrScheme name="vees 14">
      <a:dk1>
        <a:srgbClr val="000000"/>
      </a:dk1>
      <a:lt1>
        <a:srgbClr val="FF99CC"/>
      </a:lt1>
      <a:dk2>
        <a:srgbClr val="1C1C1C"/>
      </a:dk2>
      <a:lt2>
        <a:srgbClr val="4D4D4D"/>
      </a:lt2>
      <a:accent1>
        <a:srgbClr val="FF0000"/>
      </a:accent1>
      <a:accent2>
        <a:srgbClr val="FF99CC"/>
      </a:accent2>
      <a:accent3>
        <a:srgbClr val="FFCAE2"/>
      </a:accent3>
      <a:accent4>
        <a:srgbClr val="000000"/>
      </a:accent4>
      <a:accent5>
        <a:srgbClr val="FFAAAA"/>
      </a:accent5>
      <a:accent6>
        <a:srgbClr val="E78AB9"/>
      </a:accent6>
      <a:hlink>
        <a:srgbClr val="9933FF"/>
      </a:hlink>
      <a:folHlink>
        <a:srgbClr val="44C63A"/>
      </a:folHlink>
    </a:clrScheme>
    <a:fontScheme name="ve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vees 1">
        <a:dk1>
          <a:srgbClr val="C0C0C0"/>
        </a:dk1>
        <a:lt1>
          <a:srgbClr val="FFFFFF"/>
        </a:lt1>
        <a:dk2>
          <a:srgbClr val="000099"/>
        </a:dk2>
        <a:lt2>
          <a:srgbClr val="CCECFF"/>
        </a:lt2>
        <a:accent1>
          <a:srgbClr val="FF3399"/>
        </a:accent1>
        <a:accent2>
          <a:srgbClr val="99CCFF"/>
        </a:accent2>
        <a:accent3>
          <a:srgbClr val="AAAACA"/>
        </a:accent3>
        <a:accent4>
          <a:srgbClr val="DADADA"/>
        </a:accent4>
        <a:accent5>
          <a:srgbClr val="FFADCA"/>
        </a:accent5>
        <a:accent6>
          <a:srgbClr val="8AB9E7"/>
        </a:accent6>
        <a:hlink>
          <a:srgbClr val="FF5050"/>
        </a:hlink>
        <a:folHlink>
          <a:srgbClr val="FFFF99"/>
        </a:folHlink>
      </a:clrScheme>
      <a:clrMap bg1="dk2" tx1="lt1" bg2="dk1" tx2="lt2" accent1="accent1" accent2="accent2" accent3="accent3" accent4="accent4" accent5="accent5" accent6="accent6" hlink="hlink" folHlink="folHlink"/>
    </a:extraClrScheme>
    <a:extraClrScheme>
      <a:clrScheme name="vees 2">
        <a:dk1>
          <a:srgbClr val="000000"/>
        </a:dk1>
        <a:lt1>
          <a:srgbClr val="99CCFF"/>
        </a:lt1>
        <a:dk2>
          <a:srgbClr val="1C1C1C"/>
        </a:dk2>
        <a:lt2>
          <a:srgbClr val="4D4D4D"/>
        </a:lt2>
        <a:accent1>
          <a:srgbClr val="CC0066"/>
        </a:accent1>
        <a:accent2>
          <a:srgbClr val="3366FF"/>
        </a:accent2>
        <a:accent3>
          <a:srgbClr val="CAE2FF"/>
        </a:accent3>
        <a:accent4>
          <a:srgbClr val="000000"/>
        </a:accent4>
        <a:accent5>
          <a:srgbClr val="E2AAB8"/>
        </a:accent5>
        <a:accent6>
          <a:srgbClr val="2D5CE7"/>
        </a:accent6>
        <a:hlink>
          <a:srgbClr val="FF0000"/>
        </a:hlink>
        <a:folHlink>
          <a:srgbClr val="FFFF00"/>
        </a:folHlink>
      </a:clrScheme>
      <a:clrMap bg1="lt1" tx1="dk1" bg2="lt2" tx2="dk2" accent1="accent1" accent2="accent2" accent3="accent3" accent4="accent4" accent5="accent5" accent6="accent6" hlink="hlink" folHlink="folHlink"/>
    </a:extraClrScheme>
    <a:extraClrScheme>
      <a:clrScheme name="vees 3">
        <a:dk1>
          <a:srgbClr val="C0C0C0"/>
        </a:dk1>
        <a:lt1>
          <a:srgbClr val="FFFFFF"/>
        </a:lt1>
        <a:dk2>
          <a:srgbClr val="800000"/>
        </a:dk2>
        <a:lt2>
          <a:srgbClr val="FFCC99"/>
        </a:lt2>
        <a:accent1>
          <a:srgbClr val="FF9900"/>
        </a:accent1>
        <a:accent2>
          <a:srgbClr val="CC0000"/>
        </a:accent2>
        <a:accent3>
          <a:srgbClr val="C0AAAA"/>
        </a:accent3>
        <a:accent4>
          <a:srgbClr val="DADADA"/>
        </a:accent4>
        <a:accent5>
          <a:srgbClr val="FFCAAA"/>
        </a:accent5>
        <a:accent6>
          <a:srgbClr val="B90000"/>
        </a:accent6>
        <a:hlink>
          <a:srgbClr val="FF33CC"/>
        </a:hlink>
        <a:folHlink>
          <a:srgbClr val="FFCC00"/>
        </a:folHlink>
      </a:clrScheme>
      <a:clrMap bg1="dk2" tx1="lt1" bg2="dk1" tx2="lt2" accent1="accent1" accent2="accent2" accent3="accent3" accent4="accent4" accent5="accent5" accent6="accent6" hlink="hlink" folHlink="folHlink"/>
    </a:extraClrScheme>
    <a:extraClrScheme>
      <a:clrScheme name="vees 4">
        <a:dk1>
          <a:srgbClr val="000000"/>
        </a:dk1>
        <a:lt1>
          <a:srgbClr val="FF9966"/>
        </a:lt1>
        <a:dk2>
          <a:srgbClr val="1C1C1C"/>
        </a:dk2>
        <a:lt2>
          <a:srgbClr val="4D4D4D"/>
        </a:lt2>
        <a:accent1>
          <a:srgbClr val="FF0000"/>
        </a:accent1>
        <a:accent2>
          <a:srgbClr val="FF6699"/>
        </a:accent2>
        <a:accent3>
          <a:srgbClr val="FFCAB8"/>
        </a:accent3>
        <a:accent4>
          <a:srgbClr val="000000"/>
        </a:accent4>
        <a:accent5>
          <a:srgbClr val="FFAAAA"/>
        </a:accent5>
        <a:accent6>
          <a:srgbClr val="E75C8A"/>
        </a:accent6>
        <a:hlink>
          <a:srgbClr val="CC00CC"/>
        </a:hlink>
        <a:folHlink>
          <a:srgbClr val="FFCC00"/>
        </a:folHlink>
      </a:clrScheme>
      <a:clrMap bg1="lt1" tx1="dk1" bg2="lt2" tx2="dk2" accent1="accent1" accent2="accent2" accent3="accent3" accent4="accent4" accent5="accent5" accent6="accent6" hlink="hlink" folHlink="folHlink"/>
    </a:extraClrScheme>
    <a:extraClrScheme>
      <a:clrScheme name="vees 5">
        <a:dk1>
          <a:srgbClr val="C0C0C0"/>
        </a:dk1>
        <a:lt1>
          <a:srgbClr val="FFFFFF"/>
        </a:lt1>
        <a:dk2>
          <a:srgbClr val="008000"/>
        </a:dk2>
        <a:lt2>
          <a:srgbClr val="CCECFF"/>
        </a:lt2>
        <a:accent1>
          <a:srgbClr val="0066FF"/>
        </a:accent1>
        <a:accent2>
          <a:srgbClr val="00FF00"/>
        </a:accent2>
        <a:accent3>
          <a:srgbClr val="AAC0AA"/>
        </a:accent3>
        <a:accent4>
          <a:srgbClr val="DADADA"/>
        </a:accent4>
        <a:accent5>
          <a:srgbClr val="AAB8FF"/>
        </a:accent5>
        <a:accent6>
          <a:srgbClr val="00E700"/>
        </a:accent6>
        <a:hlink>
          <a:srgbClr val="A29E00"/>
        </a:hlink>
        <a:folHlink>
          <a:srgbClr val="EA8B00"/>
        </a:folHlink>
      </a:clrScheme>
      <a:clrMap bg1="dk2" tx1="lt1" bg2="dk1" tx2="lt2" accent1="accent1" accent2="accent2" accent3="accent3" accent4="accent4" accent5="accent5" accent6="accent6" hlink="hlink" folHlink="folHlink"/>
    </a:extraClrScheme>
    <a:extraClrScheme>
      <a:clrScheme name="vees 6">
        <a:dk1>
          <a:srgbClr val="000000"/>
        </a:dk1>
        <a:lt1>
          <a:srgbClr val="97E183"/>
        </a:lt1>
        <a:dk2>
          <a:srgbClr val="1C1C1C"/>
        </a:dk2>
        <a:lt2>
          <a:srgbClr val="4D4D4D"/>
        </a:lt2>
        <a:accent1>
          <a:srgbClr val="0066FF"/>
        </a:accent1>
        <a:accent2>
          <a:srgbClr val="99FF99"/>
        </a:accent2>
        <a:accent3>
          <a:srgbClr val="C9EEC1"/>
        </a:accent3>
        <a:accent4>
          <a:srgbClr val="000000"/>
        </a:accent4>
        <a:accent5>
          <a:srgbClr val="AAB8FF"/>
        </a:accent5>
        <a:accent6>
          <a:srgbClr val="8AE78A"/>
        </a:accent6>
        <a:hlink>
          <a:srgbClr val="CC9900"/>
        </a:hlink>
        <a:folHlink>
          <a:srgbClr val="FFCC66"/>
        </a:folHlink>
      </a:clrScheme>
      <a:clrMap bg1="lt1" tx1="dk1" bg2="lt2" tx2="dk2" accent1="accent1" accent2="accent2" accent3="accent3" accent4="accent4" accent5="accent5" accent6="accent6" hlink="hlink" folHlink="folHlink"/>
    </a:extraClrScheme>
    <a:extraClrScheme>
      <a:clrScheme name="vees 7">
        <a:dk1>
          <a:srgbClr val="C0C0C0"/>
        </a:dk1>
        <a:lt1>
          <a:srgbClr val="FFFFFF"/>
        </a:lt1>
        <a:dk2>
          <a:srgbClr val="008080"/>
        </a:dk2>
        <a:lt2>
          <a:srgbClr val="CCECFF"/>
        </a:lt2>
        <a:accent1>
          <a:srgbClr val="29A329"/>
        </a:accent1>
        <a:accent2>
          <a:srgbClr val="00FFFF"/>
        </a:accent2>
        <a:accent3>
          <a:srgbClr val="AAC0C0"/>
        </a:accent3>
        <a:accent4>
          <a:srgbClr val="DADADA"/>
        </a:accent4>
        <a:accent5>
          <a:srgbClr val="ACCEAC"/>
        </a:accent5>
        <a:accent6>
          <a:srgbClr val="00E7E7"/>
        </a:accent6>
        <a:hlink>
          <a:srgbClr val="3B6AFF"/>
        </a:hlink>
        <a:folHlink>
          <a:srgbClr val="FF9900"/>
        </a:folHlink>
      </a:clrScheme>
      <a:clrMap bg1="dk2" tx1="lt1" bg2="dk1" tx2="lt2" accent1="accent1" accent2="accent2" accent3="accent3" accent4="accent4" accent5="accent5" accent6="accent6" hlink="hlink" folHlink="folHlink"/>
    </a:extraClrScheme>
    <a:extraClrScheme>
      <a:clrScheme name="vees 8">
        <a:dk1>
          <a:srgbClr val="000000"/>
        </a:dk1>
        <a:lt1>
          <a:srgbClr val="64F0BE"/>
        </a:lt1>
        <a:dk2>
          <a:srgbClr val="1C1C1C"/>
        </a:dk2>
        <a:lt2>
          <a:srgbClr val="4D4D4D"/>
        </a:lt2>
        <a:accent1>
          <a:srgbClr val="008000"/>
        </a:accent1>
        <a:accent2>
          <a:srgbClr val="00FFFF"/>
        </a:accent2>
        <a:accent3>
          <a:srgbClr val="B8F6DB"/>
        </a:accent3>
        <a:accent4>
          <a:srgbClr val="000000"/>
        </a:accent4>
        <a:accent5>
          <a:srgbClr val="AAC0AA"/>
        </a:accent5>
        <a:accent6>
          <a:srgbClr val="00E7E7"/>
        </a:accent6>
        <a:hlink>
          <a:srgbClr val="3366FF"/>
        </a:hlink>
        <a:folHlink>
          <a:srgbClr val="FFCC66"/>
        </a:folHlink>
      </a:clrScheme>
      <a:clrMap bg1="lt1" tx1="dk1" bg2="lt2" tx2="dk2" accent1="accent1" accent2="accent2" accent3="accent3" accent4="accent4" accent5="accent5" accent6="accent6" hlink="hlink" folHlink="folHlink"/>
    </a:extraClrScheme>
    <a:extraClrScheme>
      <a:clrScheme name="vees 9">
        <a:dk1>
          <a:srgbClr val="C0C0C0"/>
        </a:dk1>
        <a:lt1>
          <a:srgbClr val="FFFFFF"/>
        </a:lt1>
        <a:dk2>
          <a:srgbClr val="CC9900"/>
        </a:dk2>
        <a:lt2>
          <a:srgbClr val="FFFFCC"/>
        </a:lt2>
        <a:accent1>
          <a:srgbClr val="FF3300"/>
        </a:accent1>
        <a:accent2>
          <a:srgbClr val="FFCC66"/>
        </a:accent2>
        <a:accent3>
          <a:srgbClr val="E2CAAA"/>
        </a:accent3>
        <a:accent4>
          <a:srgbClr val="DADADA"/>
        </a:accent4>
        <a:accent5>
          <a:srgbClr val="FFADAA"/>
        </a:accent5>
        <a:accent6>
          <a:srgbClr val="E7B95C"/>
        </a:accent6>
        <a:hlink>
          <a:srgbClr val="008080"/>
        </a:hlink>
        <a:folHlink>
          <a:srgbClr val="3399FF"/>
        </a:folHlink>
      </a:clrScheme>
      <a:clrMap bg1="dk2" tx1="lt1" bg2="dk1" tx2="lt2" accent1="accent1" accent2="accent2" accent3="accent3" accent4="accent4" accent5="accent5" accent6="accent6" hlink="hlink" folHlink="folHlink"/>
    </a:extraClrScheme>
    <a:extraClrScheme>
      <a:clrScheme name="vees 10">
        <a:dk1>
          <a:srgbClr val="000000"/>
        </a:dk1>
        <a:lt1>
          <a:srgbClr val="EFF274"/>
        </a:lt1>
        <a:dk2>
          <a:srgbClr val="1C1C1C"/>
        </a:dk2>
        <a:lt2>
          <a:srgbClr val="4D4D4D"/>
        </a:lt2>
        <a:accent1>
          <a:srgbClr val="9966FF"/>
        </a:accent1>
        <a:accent2>
          <a:srgbClr val="FFFFCC"/>
        </a:accent2>
        <a:accent3>
          <a:srgbClr val="F6F7BC"/>
        </a:accent3>
        <a:accent4>
          <a:srgbClr val="000000"/>
        </a:accent4>
        <a:accent5>
          <a:srgbClr val="CAB8FF"/>
        </a:accent5>
        <a:accent6>
          <a:srgbClr val="E7E7B9"/>
        </a:accent6>
        <a:hlink>
          <a:srgbClr val="6666FF"/>
        </a:hlink>
        <a:folHlink>
          <a:srgbClr val="99CCFF"/>
        </a:folHlink>
      </a:clrScheme>
      <a:clrMap bg1="lt1" tx1="dk1" bg2="lt2" tx2="dk2" accent1="accent1" accent2="accent2" accent3="accent3" accent4="accent4" accent5="accent5" accent6="accent6" hlink="hlink" folHlink="folHlink"/>
    </a:extraClrScheme>
    <a:extraClrScheme>
      <a:clrScheme name="vees 11">
        <a:dk1>
          <a:srgbClr val="C0C0C0"/>
        </a:dk1>
        <a:lt1>
          <a:srgbClr val="FFFFFF"/>
        </a:lt1>
        <a:dk2>
          <a:srgbClr val="6600CC"/>
        </a:dk2>
        <a:lt2>
          <a:srgbClr val="CCCCFF"/>
        </a:lt2>
        <a:accent1>
          <a:srgbClr val="D60093"/>
        </a:accent1>
        <a:accent2>
          <a:srgbClr val="9999FF"/>
        </a:accent2>
        <a:accent3>
          <a:srgbClr val="B8AAE2"/>
        </a:accent3>
        <a:accent4>
          <a:srgbClr val="DADADA"/>
        </a:accent4>
        <a:accent5>
          <a:srgbClr val="E8AAC8"/>
        </a:accent5>
        <a:accent6>
          <a:srgbClr val="8A8AE7"/>
        </a:accent6>
        <a:hlink>
          <a:srgbClr val="008000"/>
        </a:hlink>
        <a:folHlink>
          <a:srgbClr val="FF9966"/>
        </a:folHlink>
      </a:clrScheme>
      <a:clrMap bg1="dk2" tx1="lt1" bg2="dk1" tx2="lt2" accent1="accent1" accent2="accent2" accent3="accent3" accent4="accent4" accent5="accent5" accent6="accent6" hlink="hlink" folHlink="folHlink"/>
    </a:extraClrScheme>
    <a:extraClrScheme>
      <a:clrScheme name="vees 12">
        <a:dk1>
          <a:srgbClr val="000000"/>
        </a:dk1>
        <a:lt1>
          <a:srgbClr val="CC99FF"/>
        </a:lt1>
        <a:dk2>
          <a:srgbClr val="1C1C1C"/>
        </a:dk2>
        <a:lt2>
          <a:srgbClr val="4D4D4D"/>
        </a:lt2>
        <a:accent1>
          <a:srgbClr val="0066FF"/>
        </a:accent1>
        <a:accent2>
          <a:srgbClr val="CCCCFF"/>
        </a:accent2>
        <a:accent3>
          <a:srgbClr val="E2CAFF"/>
        </a:accent3>
        <a:accent4>
          <a:srgbClr val="000000"/>
        </a:accent4>
        <a:accent5>
          <a:srgbClr val="AAB8FF"/>
        </a:accent5>
        <a:accent6>
          <a:srgbClr val="B9B9E7"/>
        </a:accent6>
        <a:hlink>
          <a:srgbClr val="FF0066"/>
        </a:hlink>
        <a:folHlink>
          <a:srgbClr val="66CCFF"/>
        </a:folHlink>
      </a:clrScheme>
      <a:clrMap bg1="lt1" tx1="dk1" bg2="lt2" tx2="dk2" accent1="accent1" accent2="accent2" accent3="accent3" accent4="accent4" accent5="accent5" accent6="accent6" hlink="hlink" folHlink="folHlink"/>
    </a:extraClrScheme>
    <a:extraClrScheme>
      <a:clrScheme name="vees 13">
        <a:dk1>
          <a:srgbClr val="C0C0C0"/>
        </a:dk1>
        <a:lt1>
          <a:srgbClr val="FFFFFF"/>
        </a:lt1>
        <a:dk2>
          <a:srgbClr val="CC0066"/>
        </a:dk2>
        <a:lt2>
          <a:srgbClr val="FFCCCC"/>
        </a:lt2>
        <a:accent1>
          <a:srgbClr val="993366"/>
        </a:accent1>
        <a:accent2>
          <a:srgbClr val="FF9999"/>
        </a:accent2>
        <a:accent3>
          <a:srgbClr val="E2AAB8"/>
        </a:accent3>
        <a:accent4>
          <a:srgbClr val="DADADA"/>
        </a:accent4>
        <a:accent5>
          <a:srgbClr val="CAADB8"/>
        </a:accent5>
        <a:accent6>
          <a:srgbClr val="E78A8A"/>
        </a:accent6>
        <a:hlink>
          <a:srgbClr val="009999"/>
        </a:hlink>
        <a:folHlink>
          <a:srgbClr val="FF9933"/>
        </a:folHlink>
      </a:clrScheme>
      <a:clrMap bg1="dk2" tx1="lt1" bg2="dk1" tx2="lt2" accent1="accent1" accent2="accent2" accent3="accent3" accent4="accent4" accent5="accent5" accent6="accent6" hlink="hlink" folHlink="folHlink"/>
    </a:extraClrScheme>
    <a:extraClrScheme>
      <a:clrScheme name="vees 14">
        <a:dk1>
          <a:srgbClr val="000000"/>
        </a:dk1>
        <a:lt1>
          <a:srgbClr val="FF99CC"/>
        </a:lt1>
        <a:dk2>
          <a:srgbClr val="1C1C1C"/>
        </a:dk2>
        <a:lt2>
          <a:srgbClr val="4D4D4D"/>
        </a:lt2>
        <a:accent1>
          <a:srgbClr val="FF0000"/>
        </a:accent1>
        <a:accent2>
          <a:srgbClr val="FF99CC"/>
        </a:accent2>
        <a:accent3>
          <a:srgbClr val="FFCAE2"/>
        </a:accent3>
        <a:accent4>
          <a:srgbClr val="000000"/>
        </a:accent4>
        <a:accent5>
          <a:srgbClr val="FFAAAA"/>
        </a:accent5>
        <a:accent6>
          <a:srgbClr val="E78AB9"/>
        </a:accent6>
        <a:hlink>
          <a:srgbClr val="9933FF"/>
        </a:hlink>
        <a:folHlink>
          <a:srgbClr val="44C63A"/>
        </a:folHlink>
      </a:clrScheme>
      <a:clrMap bg1="lt1" tx1="dk1" bg2="lt2" tx2="dk2" accent1="accent1" accent2="accent2" accent3="accent3" accent4="accent4" accent5="accent5" accent6="accent6" hlink="hlink" folHlink="folHlink"/>
    </a:extraClrScheme>
    <a:extraClrScheme>
      <a:clrScheme name="vees 15">
        <a:dk1>
          <a:srgbClr val="C0C0C0"/>
        </a:dk1>
        <a:lt1>
          <a:srgbClr val="FFFFFF"/>
        </a:lt1>
        <a:dk2>
          <a:srgbClr val="000000"/>
        </a:dk2>
        <a:lt2>
          <a:srgbClr val="DDDDDD"/>
        </a:lt2>
        <a:accent1>
          <a:srgbClr val="4D4D4D"/>
        </a:accent1>
        <a:accent2>
          <a:srgbClr val="C0C0C0"/>
        </a:accent2>
        <a:accent3>
          <a:srgbClr val="AAAAAA"/>
        </a:accent3>
        <a:accent4>
          <a:srgbClr val="DADADA"/>
        </a:accent4>
        <a:accent5>
          <a:srgbClr val="B2B2B2"/>
        </a:accent5>
        <a:accent6>
          <a:srgbClr val="AEAEAE"/>
        </a:accent6>
        <a:hlink>
          <a:srgbClr val="777777"/>
        </a:hlink>
        <a:folHlink>
          <a:srgbClr val="FFFFFF"/>
        </a:folHlink>
      </a:clrScheme>
      <a:clrMap bg1="dk2" tx1="lt1" bg2="dk1" tx2="lt2" accent1="accent1" accent2="accent2" accent3="accent3" accent4="accent4" accent5="accent5" accent6="accent6" hlink="hlink" folHlink="folHlink"/>
    </a:extraClrScheme>
    <a:extraClrScheme>
      <a:clrScheme name="vees 16">
        <a:dk1>
          <a:srgbClr val="000000"/>
        </a:dk1>
        <a:lt1>
          <a:srgbClr val="FFFFFF"/>
        </a:lt1>
        <a:dk2>
          <a:srgbClr val="1C1C1C"/>
        </a:dk2>
        <a:lt2>
          <a:srgbClr val="4D4D4D"/>
        </a:lt2>
        <a:accent1>
          <a:srgbClr val="4D4D4D"/>
        </a:accent1>
        <a:accent2>
          <a:srgbClr val="DDDDDD"/>
        </a:accent2>
        <a:accent3>
          <a:srgbClr val="FFFFFF"/>
        </a:accent3>
        <a:accent4>
          <a:srgbClr val="000000"/>
        </a:accent4>
        <a:accent5>
          <a:srgbClr val="B2B2B2"/>
        </a:accent5>
        <a:accent6>
          <a:srgbClr val="C8C8C8"/>
        </a:accent6>
        <a:hlink>
          <a:srgbClr val="808080"/>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040</Template>
  <TotalTime>5872</TotalTime>
  <Words>2795</Words>
  <Application>Microsoft Macintosh PowerPoint</Application>
  <PresentationFormat>On-screen Show (4:3)</PresentationFormat>
  <Paragraphs>401</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DejaVu Sans</vt:lpstr>
      <vt:lpstr>Times New Roman</vt:lpstr>
      <vt:lpstr>vees</vt:lpstr>
      <vt:lpstr>Collection API Updates  </vt:lpstr>
      <vt:lpstr>Static Factory Methods</vt:lpstr>
      <vt:lpstr>Immutable Collections</vt:lpstr>
      <vt:lpstr>records</vt:lpstr>
      <vt:lpstr>Records </vt:lpstr>
      <vt:lpstr>Records</vt:lpstr>
      <vt:lpstr>Using Record</vt:lpstr>
      <vt:lpstr>Methods in Records</vt:lpstr>
      <vt:lpstr>Custom Constructor</vt:lpstr>
      <vt:lpstr>Custom Methods</vt:lpstr>
      <vt:lpstr>Inheritance and Records</vt:lpstr>
      <vt:lpstr>Use Cases </vt:lpstr>
      <vt:lpstr>Sealed classes</vt:lpstr>
      <vt:lpstr> Sealed Classes </vt:lpstr>
      <vt:lpstr>Creating Sealed Class</vt:lpstr>
      <vt:lpstr>Sub Classing Rules</vt:lpstr>
      <vt:lpstr> Benefits of Sealed Classes: </vt:lpstr>
      <vt:lpstr>Hidden Classes</vt:lpstr>
      <vt:lpstr>Text block</vt:lpstr>
      <vt:lpstr>Text Blocks</vt:lpstr>
      <vt:lpstr>Text Block</vt:lpstr>
      <vt:lpstr> Switch Expressions </vt:lpstr>
      <vt:lpstr> Switch Expressions </vt:lpstr>
      <vt:lpstr> Switch Expressions </vt:lpstr>
      <vt:lpstr>Switch Expression - Yield</vt:lpstr>
      <vt:lpstr>Stream Enhancements</vt:lpstr>
      <vt:lpstr>takeWhile</vt:lpstr>
      <vt:lpstr>takeWhile</vt:lpstr>
      <vt:lpstr>Drop While</vt:lpstr>
      <vt:lpstr>Iterate</vt:lpstr>
      <vt:lpstr>HttpClient</vt:lpstr>
      <vt:lpstr>Introduction</vt:lpstr>
      <vt:lpstr> HTTP Client API Overview </vt:lpstr>
      <vt:lpstr>HttpClient</vt:lpstr>
      <vt:lpstr> Http Response Object </vt:lpstr>
      <vt:lpstr>Get Request</vt:lpstr>
      <vt:lpstr>Setting Headers</vt:lpstr>
      <vt:lpstr>Methods to read the HTTP Body</vt:lpstr>
      <vt:lpstr>String Body Processor</vt:lpstr>
      <vt:lpstr>Input Stream Body Processor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Srivatsan Krishnamachari</cp:lastModifiedBy>
  <cp:revision>547</cp:revision>
  <dcterms:created xsi:type="dcterms:W3CDTF">1601-01-01T00:00:00Z</dcterms:created>
  <dcterms:modified xsi:type="dcterms:W3CDTF">2026-01-08T04:08:54Z</dcterms:modified>
</cp:coreProperties>
</file>