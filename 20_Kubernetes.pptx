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2"/>
  </p:notesMasterIdLst>
  <p:sldIdLst>
    <p:sldId id="914" r:id="rId2"/>
    <p:sldId id="916" r:id="rId3"/>
    <p:sldId id="915" r:id="rId4"/>
    <p:sldId id="969" r:id="rId5"/>
    <p:sldId id="982" r:id="rId6"/>
    <p:sldId id="983" r:id="rId7"/>
    <p:sldId id="984" r:id="rId8"/>
    <p:sldId id="985" r:id="rId9"/>
    <p:sldId id="986" r:id="rId10"/>
    <p:sldId id="987" r:id="rId11"/>
    <p:sldId id="918" r:id="rId12"/>
    <p:sldId id="988" r:id="rId13"/>
    <p:sldId id="991" r:id="rId14"/>
    <p:sldId id="978" r:id="rId15"/>
    <p:sldId id="990" r:id="rId16"/>
    <p:sldId id="992" r:id="rId17"/>
    <p:sldId id="993" r:id="rId18"/>
    <p:sldId id="973" r:id="rId19"/>
    <p:sldId id="981" r:id="rId20"/>
    <p:sldId id="974" r:id="rId21"/>
    <p:sldId id="980" r:id="rId22"/>
    <p:sldId id="935" r:id="rId23"/>
    <p:sldId id="958" r:id="rId24"/>
    <p:sldId id="962" r:id="rId25"/>
    <p:sldId id="1006" r:id="rId26"/>
    <p:sldId id="938" r:id="rId27"/>
    <p:sldId id="994" r:id="rId28"/>
    <p:sldId id="995" r:id="rId29"/>
    <p:sldId id="996" r:id="rId30"/>
    <p:sldId id="1026" r:id="rId31"/>
    <p:sldId id="997" r:id="rId32"/>
    <p:sldId id="1005" r:id="rId33"/>
    <p:sldId id="1002" r:id="rId34"/>
    <p:sldId id="1003" r:id="rId35"/>
    <p:sldId id="1027" r:id="rId36"/>
    <p:sldId id="1004" r:id="rId37"/>
    <p:sldId id="1029" r:id="rId38"/>
    <p:sldId id="1030" r:id="rId39"/>
    <p:sldId id="1008" r:id="rId40"/>
    <p:sldId id="1010" r:id="rId4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>
      <p:cViewPr varScale="1">
        <p:scale>
          <a:sx n="113" d="100"/>
          <a:sy n="113" d="100"/>
        </p:scale>
        <p:origin x="1736" y="4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0008"/>
    </p:cViewPr>
  </p:sorterViewPr>
  <p:notesViewPr>
    <p:cSldViewPr>
      <p:cViewPr varScale="1">
        <p:scale>
          <a:sx n="96" d="100"/>
          <a:sy n="96" d="100"/>
        </p:scale>
        <p:origin x="3808" y="17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67AD9F2B-E252-8F69-720A-E933172CF00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C2E721A0-111E-66DF-7AA5-62D194FD0C8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DE97473E-32A3-2E90-370B-5B3212522E8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3" name="Rectangle 5">
            <a:extLst>
              <a:ext uri="{FF2B5EF4-FFF2-40B4-BE49-F238E27FC236}">
                <a16:creationId xmlns:a16="http://schemas.microsoft.com/office/drawing/2014/main" id="{67CCB31C-1C24-F2E3-1AF4-B611090D3B1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4214" name="Rectangle 6">
            <a:extLst>
              <a:ext uri="{FF2B5EF4-FFF2-40B4-BE49-F238E27FC236}">
                <a16:creationId xmlns:a16="http://schemas.microsoft.com/office/drawing/2014/main" id="{8D32412C-72E9-D603-9219-37B8BD4CF69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215" name="Rectangle 7">
            <a:extLst>
              <a:ext uri="{FF2B5EF4-FFF2-40B4-BE49-F238E27FC236}">
                <a16:creationId xmlns:a16="http://schemas.microsoft.com/office/drawing/2014/main" id="{8B1EB549-5BE4-1FA0-9366-84ACAE0487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01B6A51-76BD-A649-B62A-BFD9E25B7BF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1B6A51-76BD-A649-B62A-BFD9E25B7BF2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62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1B6A51-76BD-A649-B62A-BFD9E25B7BF2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6217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1B6A51-76BD-A649-B62A-BFD9E25B7BF2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0622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BDE124-09C9-2E56-D086-7B75BADD6D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6CE851D-3968-0AFD-0904-8EAD090EED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B2F25FB-C8C1-2B89-0E8C-610B026E66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CB2726-5B5F-7441-88C8-43A21B400A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5928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BF72116-5C02-7196-CAEE-1CDB87D3C1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E2BF8D4-2856-02AB-A8AC-F7B632DF1F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ED40945-6113-EF79-09BE-61B5CFA3FB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B07A6-B1E0-9449-9B3D-3291FD2CA9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710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98B54-9731-2820-43D5-042106A474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AEB04AE-69B1-356D-1E7A-BA95C937FA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F522109-634D-782B-E635-0B9C92A1A1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06659A-357A-384C-8AFD-5B49A542B1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9139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135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135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4877F3-4260-326A-20DA-C8A74126B4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3489C6-1370-C343-ABE4-1E3D1206AB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52F24F-1D5F-9F1A-F0FC-99339E22EA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5B7266-B821-C448-B667-7CEB057674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1591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2E1AD75-958F-D5B0-E4C0-441EC3EA91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BBDE893-145D-F955-CD46-E8B6B006EF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E6FF454-86E1-6D4D-CE4B-334EA04851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20B267-FD03-B748-99F3-AACBFA0206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6062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B44EDDA-7197-78DA-9A14-EE742730E6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454D16B-F260-3698-5083-87F893C89D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4AFF0A4-CFCB-924A-9E19-8BAEB149E8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BE71E8-ABB9-D840-98AA-7AA2CCD818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1007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8033C0D-C6AE-BD66-48A6-4A2477B3E7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756557F-723B-48C8-A4E4-FF0DC64EF6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9E0DCCA-5F33-0BA9-3F24-3425BC483F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D614D2-B130-234D-B257-F3A4D5166DA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6598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5E406-DFB9-4BBD-E81B-A9884F24CC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5A9962-57A3-AC37-AD75-ADB8B21ABE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0721CB-C87A-4D91-8952-78D4D5046E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64A34-3FA0-064E-8341-25CCE66213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2245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4F625A-CED8-7494-F03F-AE771693C7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5DE59D-C8AC-53B9-E773-663FB04EAA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845C8F-8231-E23D-8BEC-68639E582E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6C8D36-B444-2240-A03A-F41B4733D11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1796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9B3B442-9073-F382-6C4B-D7BBB23E0C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74F4CE2-B980-4B27-48F1-62C2C9DDCE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50F1A18-DAEB-2FEB-4298-F80DA186C7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EFDE3D-2A35-F64D-920D-BBD087553B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731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0C1887-EFA5-F904-B798-5E493D07A8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1AFC19-E1EB-4F5A-6BEB-CFD3806509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7AB8C86-3024-1810-5C47-A25ACB2795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A605C3-AD85-C147-9585-9D84B6B2FA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8235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320FA30-7071-8A00-13CD-2458C5B3E0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25F5F0A-878A-E934-6A6D-4B6BBC6594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13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53988" name="Rectangle 4">
            <a:extLst>
              <a:ext uri="{FF2B5EF4-FFF2-40B4-BE49-F238E27FC236}">
                <a16:creationId xmlns:a16="http://schemas.microsoft.com/office/drawing/2014/main" id="{28659AA1-0B64-0337-11A8-2288586296E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989" name="Rectangle 5">
            <a:extLst>
              <a:ext uri="{FF2B5EF4-FFF2-40B4-BE49-F238E27FC236}">
                <a16:creationId xmlns:a16="http://schemas.microsoft.com/office/drawing/2014/main" id="{9D3D6FB6-9739-ED2E-3AD7-7150902C58D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990" name="Rectangle 6">
            <a:extLst>
              <a:ext uri="{FF2B5EF4-FFF2-40B4-BE49-F238E27FC236}">
                <a16:creationId xmlns:a16="http://schemas.microsoft.com/office/drawing/2014/main" id="{9CDEAA8C-E6CC-07C2-CE99-94543C8F2F4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BDCBEAB2-71A1-994C-B7C7-777112B1CE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2020/payments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://url/endpoin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A53DBB-643E-A6B0-87FB-E9DC493CD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IN" dirty="0">
                <a:solidFill>
                  <a:srgbClr val="2C3E50"/>
                </a:solidFill>
                <a:latin typeface="Helvetica" panose="020B0604020202020204" pitchFamily="34" charset="0"/>
              </a:rPr>
              <a:t>Kubernetes</a:t>
            </a:r>
          </a:p>
        </p:txBody>
      </p:sp>
      <p:sp>
        <p:nvSpPr>
          <p:cNvPr id="14338" name="Text Placeholder 4">
            <a:extLst>
              <a:ext uri="{FF2B5EF4-FFF2-40B4-BE49-F238E27FC236}">
                <a16:creationId xmlns:a16="http://schemas.microsoft.com/office/drawing/2014/main" id="{E1637DFE-260C-5C70-A010-7C1A9E0797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33967E20-51A3-CB5C-D9EB-5FA306A4FE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Kubernetes</a:t>
            </a:r>
            <a:endParaRPr lang="en-IN" altLang="en-US"/>
          </a:p>
        </p:txBody>
      </p:sp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D38E36A6-3658-47F9-6808-2C1C441B5F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 i="1">
                <a:solidFill>
                  <a:srgbClr val="222222"/>
                </a:solidFill>
                <a:latin typeface="open sans" panose="020B0606030504020204" pitchFamily="34" charset="0"/>
              </a:rPr>
              <a:t>An open-source system for automating deployment, scaling, and management of containerized applications.</a:t>
            </a:r>
          </a:p>
          <a:p>
            <a:pPr>
              <a:lnSpc>
                <a:spcPct val="150000"/>
              </a:lnSpc>
            </a:pPr>
            <a:endParaRPr lang="en-US" altLang="en-US" sz="2000">
              <a:solidFill>
                <a:srgbClr val="2C3E50"/>
              </a:solidFill>
              <a:latin typeface="Helvetica" pitchFamily="2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000">
                <a:solidFill>
                  <a:srgbClr val="2C3E50"/>
                </a:solidFill>
                <a:latin typeface="Helvetica" pitchFamily="2" charset="0"/>
              </a:rPr>
              <a:t> It's Greek for </a:t>
            </a:r>
            <a:r>
              <a:rPr lang="en-US" altLang="en-US" sz="2000" b="1">
                <a:solidFill>
                  <a:srgbClr val="2C3E50"/>
                </a:solidFill>
                <a:latin typeface="Helvetica" pitchFamily="2" charset="0"/>
              </a:rPr>
              <a:t>Helmsman</a:t>
            </a:r>
            <a:r>
              <a:rPr lang="en-US" altLang="en-US" sz="2000">
                <a:solidFill>
                  <a:srgbClr val="2C3E50"/>
                </a:solidFill>
                <a:latin typeface="Helvetica" pitchFamily="2" charset="0"/>
              </a:rPr>
              <a:t>, the person who steers the ship. </a:t>
            </a:r>
          </a:p>
          <a:p>
            <a:pPr>
              <a:lnSpc>
                <a:spcPct val="150000"/>
              </a:lnSpc>
            </a:pPr>
            <a:endParaRPr lang="en-US" altLang="en-US" sz="2000"/>
          </a:p>
          <a:p>
            <a:pPr lvl="1"/>
            <a:r>
              <a:rPr lang="en-US" altLang="en-US" sz="2000"/>
              <a:t>It is written in Go-language and Released by 2015 </a:t>
            </a:r>
          </a:p>
          <a:p>
            <a:endParaRPr lang="en-US" altLang="en-US" sz="2000">
              <a:solidFill>
                <a:srgbClr val="2C3E50"/>
              </a:solidFill>
            </a:endParaRPr>
          </a:p>
          <a:p>
            <a:r>
              <a:rPr lang="en-US" altLang="en-US" sz="2000">
                <a:solidFill>
                  <a:srgbClr val="2C3E50"/>
                </a:solidFill>
              </a:rPr>
              <a:t>Also called </a:t>
            </a:r>
            <a:r>
              <a:rPr lang="en-US" altLang="en-US" sz="2000" b="1">
                <a:solidFill>
                  <a:srgbClr val="2C3E50"/>
                </a:solidFill>
              </a:rPr>
              <a:t>K8s</a:t>
            </a:r>
            <a:r>
              <a:rPr lang="en-US" altLang="en-US" sz="2000">
                <a:solidFill>
                  <a:srgbClr val="2C3E50"/>
                </a:solidFill>
              </a:rPr>
              <a:t> </a:t>
            </a:r>
          </a:p>
          <a:p>
            <a:pPr lvl="1">
              <a:lnSpc>
                <a:spcPct val="150000"/>
              </a:lnSpc>
            </a:pPr>
            <a:r>
              <a:rPr lang="en-US" altLang="en-US" sz="2000" b="1">
                <a:solidFill>
                  <a:srgbClr val="2C3E50"/>
                </a:solidFill>
              </a:rPr>
              <a:t>K </a:t>
            </a:r>
            <a:r>
              <a:rPr lang="en-US" altLang="en-US" sz="2000">
                <a:solidFill>
                  <a:srgbClr val="2C3E50"/>
                </a:solidFill>
              </a:rPr>
              <a:t>ubernete </a:t>
            </a:r>
            <a:r>
              <a:rPr lang="en-US" altLang="en-US" sz="2000" b="1">
                <a:solidFill>
                  <a:srgbClr val="2C3E50"/>
                </a:solidFill>
              </a:rPr>
              <a:t>s</a:t>
            </a:r>
            <a:r>
              <a:rPr lang="en-US" altLang="en-US" sz="2000">
                <a:solidFill>
                  <a:srgbClr val="2C3E50"/>
                </a:solidFill>
              </a:rPr>
              <a:t>, 8 characters in the middle are removed.</a:t>
            </a:r>
          </a:p>
        </p:txBody>
      </p:sp>
      <p:pic>
        <p:nvPicPr>
          <p:cNvPr id="15363" name="Picture 1">
            <a:extLst>
              <a:ext uri="{FF2B5EF4-FFF2-40B4-BE49-F238E27FC236}">
                <a16:creationId xmlns:a16="http://schemas.microsoft.com/office/drawing/2014/main" id="{7885D80A-8847-D664-9AB3-7007969FC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524000"/>
            <a:ext cx="2209800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3">
            <a:extLst>
              <a:ext uri="{FF2B5EF4-FFF2-40B4-BE49-F238E27FC236}">
                <a16:creationId xmlns:a16="http://schemas.microsoft.com/office/drawing/2014/main" id="{C1C383CA-2E27-26A8-9EDE-58B5754860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IN" altLang="en-US"/>
            </a:br>
            <a:r>
              <a:rPr lang="en-IN" altLang="en-US"/>
              <a:t>Orchestration</a:t>
            </a:r>
            <a:br>
              <a:rPr lang="en-IN" altLang="en-US"/>
            </a:br>
            <a:endParaRPr lang="en-IN" altLang="en-US"/>
          </a:p>
        </p:txBody>
      </p:sp>
      <p:sp>
        <p:nvSpPr>
          <p:cNvPr id="16386" name="Content Placeholder 4">
            <a:extLst>
              <a:ext uri="{FF2B5EF4-FFF2-40B4-BE49-F238E27FC236}">
                <a16:creationId xmlns:a16="http://schemas.microsoft.com/office/drawing/2014/main" id="{CBA99653-2048-8CA6-65A2-6ECFC2B45B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r>
              <a:rPr lang="en-US" altLang="en-US" sz="2000"/>
              <a:t>Containers can create repeatable environments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Dev, staging, and prod all looked and functioned the same way.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They are light-weight ,drew resources from the host operating system. </a:t>
            </a:r>
          </a:p>
          <a:p>
            <a:endParaRPr lang="en-US" altLang="en-US" sz="2000"/>
          </a:p>
          <a:p>
            <a:r>
              <a:rPr lang="en-US" altLang="en-US" sz="2000"/>
              <a:t>Larger systems might consist many containers </a:t>
            </a:r>
          </a:p>
          <a:p>
            <a:pPr lvl="1"/>
            <a:r>
              <a:rPr lang="en-US" altLang="en-US" sz="2000"/>
              <a:t>Managing, scheduling , load balancing and  distribution are a challenge to look into</a:t>
            </a:r>
          </a:p>
          <a:p>
            <a:endParaRPr lang="en-US" altLang="en-US" sz="2000"/>
          </a:p>
          <a:p>
            <a:r>
              <a:rPr lang="en-US" altLang="en-US" sz="2000" b="1" i="1">
                <a:solidFill>
                  <a:srgbClr val="FF0000"/>
                </a:solidFill>
              </a:rPr>
              <a:t>Kubernetes  </a:t>
            </a:r>
            <a:r>
              <a:rPr lang="en-US" altLang="en-US" sz="2000"/>
              <a:t>does the</a:t>
            </a:r>
            <a:r>
              <a:rPr lang="en-US" altLang="en-US" sz="2000" b="1" i="1">
                <a:solidFill>
                  <a:srgbClr val="FF0000"/>
                </a:solidFill>
              </a:rPr>
              <a:t> </a:t>
            </a:r>
            <a:r>
              <a:rPr lang="en-US" altLang="en-US" sz="2000" b="1">
                <a:solidFill>
                  <a:srgbClr val="7030A0"/>
                </a:solidFill>
              </a:rPr>
              <a:t>Orchestration</a:t>
            </a:r>
            <a:r>
              <a:rPr lang="en-US" altLang="en-US" sz="2000"/>
              <a:t> of all  the container instances. </a:t>
            </a:r>
          </a:p>
          <a:p>
            <a:endParaRPr lang="en-IN" alt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95340BF-007F-0226-54B5-2A2F3773B5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Need for K8</a:t>
            </a:r>
            <a:endParaRPr lang="en-IN" altLang="en-US"/>
          </a:p>
        </p:txBody>
      </p:sp>
      <p:sp>
        <p:nvSpPr>
          <p:cNvPr id="17410" name="Content Placeholder 2">
            <a:extLst>
              <a:ext uri="{FF2B5EF4-FFF2-40B4-BE49-F238E27FC236}">
                <a16:creationId xmlns:a16="http://schemas.microsoft.com/office/drawing/2014/main" id="{3840A6DA-1E84-51CF-3004-83C3A818FD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Developers expect to deploy new versions of applications several times a day. </a:t>
            </a:r>
          </a:p>
          <a:p>
            <a:pPr>
              <a:lnSpc>
                <a:spcPct val="15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Containerization helps package software enabling applications to be released and updated without downtime. </a:t>
            </a:r>
          </a:p>
          <a:p>
            <a:pPr>
              <a:lnSpc>
                <a:spcPct val="15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Kubernetes helps to  make sure the  containerized applications run and helps them find the resources and tools they need to work. </a:t>
            </a:r>
          </a:p>
          <a:p>
            <a:pPr>
              <a:lnSpc>
                <a:spcPct val="15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Used by many companies  including Google, </a:t>
            </a:r>
            <a:r>
              <a:rPr lang="en-US" altLang="en-US" sz="2000" u="sng">
                <a:solidFill>
                  <a:srgbClr val="292929"/>
                </a:solidFill>
              </a:rPr>
              <a:t>Amazon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2E8E16CA-2D49-16F5-D67C-8755C0C458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  <a:t>Kubernetes Clusters</a:t>
            </a:r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br>
              <a:rPr lang="en-IN" altLang="en-US"/>
            </a:br>
            <a:endParaRPr lang="en-IN" altLang="en-US"/>
          </a:p>
        </p:txBody>
      </p:sp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0FBB69D1-94B9-059C-8638-AE09D40515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Works with a  cluster of computers that are connected to work as a single unit. </a:t>
            </a:r>
          </a:p>
          <a:p>
            <a:pPr lvl="1"/>
            <a:r>
              <a:rPr lang="en-US" altLang="en-US" sz="2000"/>
              <a:t>Helps to  deploy containerized applications to a cluster without tying them specifically to individual machines. </a:t>
            </a:r>
          </a:p>
          <a:p>
            <a:endParaRPr lang="en-US" altLang="en-US" sz="2000"/>
          </a:p>
          <a:p>
            <a:r>
              <a:rPr lang="en-US" altLang="en-US" sz="2000"/>
              <a:t>The applications needs to be containerized. </a:t>
            </a:r>
          </a:p>
          <a:p>
            <a:pPr lvl="1"/>
            <a:r>
              <a:rPr lang="en-US" altLang="en-US" sz="2000"/>
              <a:t>Hence its decoupled from individual hosts </a:t>
            </a:r>
          </a:p>
          <a:p>
            <a:endParaRPr lang="en-US" altLang="en-US" sz="2000"/>
          </a:p>
          <a:p>
            <a:r>
              <a:rPr lang="en-US" altLang="en-US" sz="2000"/>
              <a:t>Kubernetes automates the distribution and scheduling of application containers across a cluster in a more efficient way. </a:t>
            </a:r>
          </a:p>
          <a:p>
            <a:endParaRPr lang="en-US" altLang="en-US" sz="1200">
              <a:solidFill>
                <a:srgbClr val="222222"/>
              </a:solidFill>
              <a:latin typeface="open sans" panose="020B0606030504020204" pitchFamily="34" charset="0"/>
            </a:endParaRPr>
          </a:p>
          <a:p>
            <a:r>
              <a:rPr lang="en-US" altLang="en-US" sz="2000">
                <a:solidFill>
                  <a:srgbClr val="222222"/>
                </a:solidFill>
              </a:rPr>
              <a:t>A Kubernetes cluster consists of two types of resources: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rgbClr val="222222"/>
                </a:solidFill>
              </a:rPr>
              <a:t>The </a:t>
            </a:r>
            <a:r>
              <a:rPr lang="en-US" altLang="en-US" sz="2000" b="1">
                <a:solidFill>
                  <a:srgbClr val="222222"/>
                </a:solidFill>
              </a:rPr>
              <a:t>Control Plane</a:t>
            </a:r>
            <a:r>
              <a:rPr lang="en-US" altLang="en-US" sz="2000">
                <a:solidFill>
                  <a:srgbClr val="222222"/>
                </a:solidFill>
              </a:rPr>
              <a:t> coordinates the cluster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b="1">
                <a:solidFill>
                  <a:srgbClr val="222222"/>
                </a:solidFill>
              </a:rPr>
              <a:t>Nodes</a:t>
            </a:r>
            <a:r>
              <a:rPr lang="en-US" altLang="en-US" sz="2000">
                <a:solidFill>
                  <a:srgbClr val="222222"/>
                </a:solidFill>
              </a:rPr>
              <a:t> are the workers that run applications</a:t>
            </a:r>
          </a:p>
          <a:p>
            <a:br>
              <a:rPr lang="en-US" altLang="en-US" sz="1200">
                <a:solidFill>
                  <a:srgbClr val="222222"/>
                </a:solidFill>
                <a:latin typeface="open sans" panose="020B0606030504020204" pitchFamily="34" charset="0"/>
              </a:rPr>
            </a:br>
            <a:endParaRPr lang="en-US" altLang="en-US" sz="2000"/>
          </a:p>
          <a:p>
            <a:endParaRPr lang="en-IN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8EC8B294-26FA-407E-3918-B6963B7AE4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442912"/>
          </a:xfrm>
        </p:spPr>
        <p:txBody>
          <a:bodyPr/>
          <a:lstStyle/>
          <a:p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  <a:t>Kubernetes Clusters</a:t>
            </a:r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endParaRPr lang="en-IN" altLang="en-US"/>
          </a:p>
        </p:txBody>
      </p:sp>
      <p:pic>
        <p:nvPicPr>
          <p:cNvPr id="19458" name="Content Placeholder 4">
            <a:extLst>
              <a:ext uri="{FF2B5EF4-FFF2-40B4-BE49-F238E27FC236}">
                <a16:creationId xmlns:a16="http://schemas.microsoft.com/office/drawing/2014/main" id="{27F5ECFF-7D5B-A403-DD99-AC195837F0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1216025"/>
            <a:ext cx="5638800" cy="4176713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B4FAB7FB-8A3D-372F-8B4A-A83445514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55588"/>
            <a:ext cx="8229600" cy="487362"/>
          </a:xfrm>
        </p:spPr>
        <p:txBody>
          <a:bodyPr/>
          <a:lstStyle/>
          <a:p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  <a:t>Kubernetes Clusters</a:t>
            </a:r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endParaRPr lang="en-IN" altLang="en-US"/>
          </a:p>
        </p:txBody>
      </p:sp>
      <p:sp>
        <p:nvSpPr>
          <p:cNvPr id="20482" name="Content Placeholder 2">
            <a:extLst>
              <a:ext uri="{FF2B5EF4-FFF2-40B4-BE49-F238E27FC236}">
                <a16:creationId xmlns:a16="http://schemas.microsoft.com/office/drawing/2014/main" id="{6E5E9C3C-3695-AE60-2E0C-0228A020CE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r>
              <a:rPr lang="en-US" altLang="en-US" sz="2000" b="1">
                <a:solidFill>
                  <a:srgbClr val="222222"/>
                </a:solidFill>
                <a:latin typeface="open sans" panose="020B0606030504020204" pitchFamily="34" charset="0"/>
              </a:rPr>
              <a:t>Control Plane </a:t>
            </a:r>
          </a:p>
          <a:p>
            <a:pPr lvl="1">
              <a:lnSpc>
                <a:spcPct val="150000"/>
              </a:lnSpc>
            </a:pPr>
            <a:r>
              <a:rPr lang="en-US" altLang="en-US" sz="1800">
                <a:solidFill>
                  <a:srgbClr val="222222"/>
                </a:solidFill>
              </a:rPr>
              <a:t>Responsible for managing the cluster and Nodes</a:t>
            </a:r>
          </a:p>
          <a:p>
            <a:pPr lvl="1">
              <a:lnSpc>
                <a:spcPct val="150000"/>
              </a:lnSpc>
            </a:pPr>
            <a:r>
              <a:rPr lang="en-US" altLang="en-US" sz="1800">
                <a:solidFill>
                  <a:srgbClr val="222222"/>
                </a:solidFill>
              </a:rPr>
              <a:t>Coordinates scheduling applications, maintaining applications' desired state, scaling applications, and rolling out new updates.</a:t>
            </a:r>
          </a:p>
          <a:p>
            <a:r>
              <a:rPr lang="en-US" altLang="en-US" sz="2000" b="1">
                <a:solidFill>
                  <a:srgbClr val="222222"/>
                </a:solidFill>
                <a:latin typeface="open sans" panose="020B0606030504020204" pitchFamily="34" charset="0"/>
              </a:rPr>
              <a:t>Node </a:t>
            </a:r>
          </a:p>
          <a:p>
            <a:pPr lvl="1">
              <a:lnSpc>
                <a:spcPct val="150000"/>
              </a:lnSpc>
            </a:pPr>
            <a:r>
              <a:rPr lang="en-US" altLang="en-US" sz="2000" b="1">
                <a:solidFill>
                  <a:srgbClr val="222222"/>
                </a:solidFill>
              </a:rPr>
              <a:t>Its VM or a physical computer that serves as a worker machine in a Kubernetes cluster.</a:t>
            </a:r>
            <a:r>
              <a:rPr lang="en-US" altLang="en-US" sz="2000">
                <a:solidFill>
                  <a:srgbClr val="222222"/>
                </a:solidFill>
              </a:rPr>
              <a:t> </a:t>
            </a:r>
          </a:p>
          <a:p>
            <a:pPr lvl="1">
              <a:lnSpc>
                <a:spcPct val="150000"/>
              </a:lnSpc>
            </a:pPr>
            <a:r>
              <a:rPr lang="en-US" altLang="en-US" sz="2000">
                <a:solidFill>
                  <a:srgbClr val="222222"/>
                </a:solidFill>
              </a:rPr>
              <a:t>Each node has a Kubelet, which is an agent for managing the node and communicating with the Kubernetes control plane. </a:t>
            </a:r>
          </a:p>
          <a:p>
            <a:pPr lvl="1">
              <a:lnSpc>
                <a:spcPct val="150000"/>
              </a:lnSpc>
            </a:pPr>
            <a:r>
              <a:rPr lang="en-US" altLang="en-US" sz="2000">
                <a:solidFill>
                  <a:srgbClr val="222222"/>
                </a:solidFill>
              </a:rPr>
              <a:t>The node has tools for handling container operations, such as Docker.</a:t>
            </a:r>
          </a:p>
          <a:p>
            <a:endParaRPr lang="en-IN" altLang="en-US" sz="2000"/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>
            <a:extLst>
              <a:ext uri="{FF2B5EF4-FFF2-40B4-BE49-F238E27FC236}">
                <a16:creationId xmlns:a16="http://schemas.microsoft.com/office/drawing/2014/main" id="{5FA98C22-E837-6DA4-1C48-104676F518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  <a:t>Kubernetes Clusters</a:t>
            </a:r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endParaRPr lang="en-IN" altLang="en-US"/>
          </a:p>
        </p:txBody>
      </p:sp>
      <p:sp>
        <p:nvSpPr>
          <p:cNvPr id="21506" name="Content Placeholder 2">
            <a:extLst>
              <a:ext uri="{FF2B5EF4-FFF2-40B4-BE49-F238E27FC236}">
                <a16:creationId xmlns:a16="http://schemas.microsoft.com/office/drawing/2014/main" id="{837E6FEC-66CC-B3BE-2520-16420E33E7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A Kubernetes cluster can be deployed on either physical or virtual machines. </a:t>
            </a:r>
          </a:p>
          <a:p>
            <a:endParaRPr lang="en-US" altLang="en-US" sz="2000"/>
          </a:p>
          <a:p>
            <a:r>
              <a:rPr lang="en-US" altLang="en-US" sz="2000"/>
              <a:t>The following command is used to get cluster information</a:t>
            </a:r>
          </a:p>
          <a:p>
            <a:endParaRPr lang="en-US" altLang="en-US" sz="2000"/>
          </a:p>
          <a:p>
            <a:r>
              <a:rPr lang="en-US" altLang="en-US" sz="2000"/>
              <a:t>kubectl cluster-info</a:t>
            </a:r>
          </a:p>
          <a:p>
            <a:endParaRPr lang="en-US" altLang="en-US" sz="2000"/>
          </a:p>
          <a:p>
            <a:r>
              <a:rPr lang="en-US" altLang="en-US" sz="2000"/>
              <a:t>kubectl get nodes</a:t>
            </a:r>
          </a:p>
          <a:p>
            <a:endParaRPr lang="en-US" altLang="en-US" sz="2000"/>
          </a:p>
          <a:p>
            <a:endParaRPr lang="en-IN" altLang="en-US" sz="2000"/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D186D728-5428-0EB7-601E-C2CFCC8199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  <a:t>Kubernetes Deployments</a:t>
            </a:r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br>
              <a:rPr lang="en-IN" altLang="en-US"/>
            </a:br>
            <a:endParaRPr lang="en-IN" altLang="en-US"/>
          </a:p>
        </p:txBody>
      </p:sp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14815E68-48C0-1D89-726C-A898D66924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Containerized Applications can be deployed on  a running Kubernetes cluster</a:t>
            </a:r>
          </a:p>
          <a:p>
            <a:pPr lvl="1"/>
            <a:r>
              <a:rPr lang="en-US" altLang="en-US" sz="2000"/>
              <a:t>The Deployment instructs Kubernetes how to create and update instances of  application. </a:t>
            </a:r>
          </a:p>
          <a:p>
            <a:pPr lvl="1"/>
            <a:r>
              <a:rPr lang="en-US" altLang="en-US" sz="2000"/>
              <a:t>Deployment Controller continuously monitors those instances. </a:t>
            </a:r>
          </a:p>
          <a:p>
            <a:endParaRPr lang="en-US" altLang="en-US" sz="2000"/>
          </a:p>
          <a:p>
            <a:r>
              <a:rPr lang="en-US" altLang="en-US" sz="2000" b="1"/>
              <a:t>Self Healing </a:t>
            </a:r>
          </a:p>
          <a:p>
            <a:pPr lvl="1"/>
            <a:r>
              <a:rPr lang="en-US" altLang="en-US" sz="2000"/>
              <a:t>If the Node hosting an instance goes down or is deleted, the Deployment controller replaces the instance with an instance on another Node in the cluster. </a:t>
            </a:r>
          </a:p>
          <a:p>
            <a:endParaRPr lang="en-US" altLang="en-US" sz="2000"/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3874016E-F1D9-0C66-B0AC-40F5C7ABD9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Deploying Application</a:t>
            </a:r>
            <a:endParaRPr lang="en-IN" altLang="en-US"/>
          </a:p>
        </p:txBody>
      </p:sp>
      <p:pic>
        <p:nvPicPr>
          <p:cNvPr id="23554" name="Content Placeholder 4">
            <a:extLst>
              <a:ext uri="{FF2B5EF4-FFF2-40B4-BE49-F238E27FC236}">
                <a16:creationId xmlns:a16="http://schemas.microsoft.com/office/drawing/2014/main" id="{4A1851CF-BCA5-D1CA-8D63-1AE9EA792AB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0600" y="838200"/>
            <a:ext cx="6705600" cy="4545013"/>
          </a:xfrm>
        </p:spPr>
      </p:pic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3D560232-0A9B-DD63-C4FD-314F9B0E0D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IN" altLang="en-US" b="1">
                <a:solidFill>
                  <a:srgbClr val="2C3E50"/>
                </a:solidFill>
                <a:latin typeface="Helvetica" pitchFamily="2" charset="0"/>
              </a:rPr>
            </a:br>
            <a:r>
              <a:rPr lang="en-IN" altLang="en-US" b="1">
                <a:solidFill>
                  <a:srgbClr val="2C3E50"/>
                </a:solidFill>
                <a:latin typeface="Helvetica" pitchFamily="2" charset="0"/>
              </a:rPr>
              <a:t>kubectl</a:t>
            </a:r>
            <a:br>
              <a:rPr lang="en-IN" altLang="en-US" b="1">
                <a:solidFill>
                  <a:srgbClr val="2C3E50"/>
                </a:solidFill>
                <a:latin typeface="Helvetica" pitchFamily="2" charset="0"/>
              </a:rPr>
            </a:br>
            <a:endParaRPr lang="en-IN" altLang="en-US"/>
          </a:p>
        </p:txBody>
      </p:sp>
      <p:sp>
        <p:nvSpPr>
          <p:cNvPr id="24578" name="Content Placeholder 2">
            <a:extLst>
              <a:ext uri="{FF2B5EF4-FFF2-40B4-BE49-F238E27FC236}">
                <a16:creationId xmlns:a16="http://schemas.microsoft.com/office/drawing/2014/main" id="{FEA3F22B-1435-004B-9308-CF667A7A42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A  command line program to interact with Clusters</a:t>
            </a:r>
          </a:p>
          <a:p>
            <a:pPr lvl="1"/>
            <a:endParaRPr lang="en-US" altLang="en-US" sz="2000"/>
          </a:p>
          <a:p>
            <a:pPr lvl="1"/>
            <a:r>
              <a:rPr lang="en-US" altLang="en-US" sz="2000"/>
              <a:t>Also used to deploy and manage applications on Clusters.</a:t>
            </a:r>
          </a:p>
          <a:p>
            <a:endParaRPr lang="en-US" altLang="en-US" sz="2000"/>
          </a:p>
          <a:p>
            <a:r>
              <a:rPr lang="en-US" altLang="en-US" sz="2000"/>
              <a:t>Check installation of kubectl</a:t>
            </a:r>
          </a:p>
          <a:p>
            <a:pPr lvl="1"/>
            <a:endParaRPr lang="en-US" altLang="en-US" sz="2000" b="1">
              <a:solidFill>
                <a:srgbClr val="FF0000"/>
              </a:solidFill>
            </a:endParaRPr>
          </a:p>
          <a:p>
            <a:pPr lvl="1"/>
            <a:r>
              <a:rPr lang="en-US" altLang="en-US" sz="2000" b="1">
                <a:solidFill>
                  <a:srgbClr val="FF0000"/>
                </a:solidFill>
              </a:rPr>
              <a:t>kubectl version</a:t>
            </a:r>
          </a:p>
          <a:p>
            <a:pPr lvl="1"/>
            <a:endParaRPr lang="en-US" altLang="en-US" sz="2000" b="1">
              <a:solidFill>
                <a:srgbClr val="FF0000"/>
              </a:solidFill>
            </a:endParaRPr>
          </a:p>
          <a:p>
            <a:endParaRPr lang="en-US" altLang="en-US" sz="2000"/>
          </a:p>
          <a:p>
            <a:endParaRPr lang="en-US" altLang="en-US" sz="2000"/>
          </a:p>
          <a:p>
            <a:endParaRPr lang="en-IN" altLang="en-US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>
            <a:extLst>
              <a:ext uri="{FF2B5EF4-FFF2-40B4-BE49-F238E27FC236}">
                <a16:creationId xmlns:a16="http://schemas.microsoft.com/office/drawing/2014/main" id="{E4C6BE8D-021F-207E-FC8B-9CCB6DA076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63525"/>
            <a:ext cx="8229600" cy="487363"/>
          </a:xfrm>
        </p:spPr>
        <p:txBody>
          <a:bodyPr/>
          <a:lstStyle/>
          <a:p>
            <a:r>
              <a:rPr lang="en-US" altLang="en-US"/>
              <a:t>Deployments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319F9-BD85-9CBA-FC0F-09962ACE8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pPr>
              <a:defRPr/>
            </a:pPr>
            <a:r>
              <a:rPr lang="en-US" altLang="en-US" sz="2000" b="1" dirty="0"/>
              <a:t>Deployment:</a:t>
            </a:r>
          </a:p>
          <a:p>
            <a:pPr lvl="1">
              <a:defRPr/>
            </a:pPr>
            <a:r>
              <a:rPr lang="en-US" altLang="en-US" sz="2000" dirty="0"/>
              <a:t>Done by specifying a container image of the application </a:t>
            </a:r>
          </a:p>
          <a:p>
            <a:pPr lvl="2">
              <a:defRPr/>
            </a:pPr>
            <a:r>
              <a:rPr lang="en-US" altLang="en-US" sz="2000" dirty="0"/>
              <a:t>Applications need to be packaged into container format to be deployed on Kubernetes</a:t>
            </a:r>
          </a:p>
          <a:p>
            <a:pPr lvl="2">
              <a:defRPr/>
            </a:pPr>
            <a:endParaRPr lang="en-US" altLang="en-US" sz="2000" dirty="0"/>
          </a:p>
          <a:p>
            <a:pPr>
              <a:defRPr/>
            </a:pPr>
            <a:r>
              <a:rPr lang="en-IN" sz="2000" b="1" dirty="0" err="1"/>
              <a:t>kubectl</a:t>
            </a:r>
            <a:r>
              <a:rPr lang="en-IN" sz="2000" b="1" dirty="0"/>
              <a:t> create deployment </a:t>
            </a:r>
          </a:p>
          <a:p>
            <a:pPr lvl="1">
              <a:defRPr/>
            </a:pPr>
            <a:r>
              <a:rPr lang="en-IN" sz="2000" b="1" i="1" dirty="0" err="1">
                <a:solidFill>
                  <a:srgbClr val="FF0000"/>
                </a:solidFill>
              </a:rPr>
              <a:t>kubectl</a:t>
            </a:r>
            <a:r>
              <a:rPr lang="en-IN" sz="2000" i="1" dirty="0"/>
              <a:t> </a:t>
            </a:r>
            <a:r>
              <a:rPr lang="en-IN" sz="2000" b="1" i="1" dirty="0">
                <a:solidFill>
                  <a:srgbClr val="003399"/>
                </a:solidFill>
              </a:rPr>
              <a:t>create deployment</a:t>
            </a:r>
            <a:r>
              <a:rPr lang="en-IN" sz="2000" i="1" dirty="0"/>
              <a:t> </a:t>
            </a:r>
            <a:r>
              <a:rPr lang="en-IN" sz="2000" i="1" dirty="0" err="1"/>
              <a:t>kubernetes</a:t>
            </a:r>
            <a:r>
              <a:rPr lang="en-IN" sz="2000" i="1" dirty="0"/>
              <a:t>-bootcamp –</a:t>
            </a:r>
            <a:r>
              <a:rPr lang="en-IN" sz="2000" b="1" i="1" dirty="0">
                <a:solidFill>
                  <a:srgbClr val="7030A0"/>
                </a:solidFill>
              </a:rPr>
              <a:t>image</a:t>
            </a:r>
          </a:p>
          <a:p>
            <a:pPr marL="457200" lvl="1" indent="0">
              <a:buFontTx/>
              <a:buNone/>
              <a:defRPr/>
            </a:pPr>
            <a:r>
              <a:rPr lang="en-IN" sz="2000" b="1" i="1" dirty="0">
                <a:solidFill>
                  <a:srgbClr val="7030A0"/>
                </a:solidFill>
              </a:rPr>
              <a:t>        </a:t>
            </a:r>
            <a:r>
              <a:rPr lang="en-IN" sz="2000" i="1" dirty="0"/>
              <a:t>=gcr.io/google-samples/kubernetes-bootcamp:v1</a:t>
            </a:r>
          </a:p>
          <a:p>
            <a:pPr marL="457200" lvl="1" indent="0">
              <a:buFontTx/>
              <a:buNone/>
              <a:defRPr/>
            </a:pPr>
            <a:endParaRPr lang="en-IN" sz="2000" i="1" dirty="0"/>
          </a:p>
          <a:p>
            <a:pPr>
              <a:defRPr/>
            </a:pPr>
            <a:r>
              <a:rPr lang="en-US" sz="2000" dirty="0"/>
              <a:t>Will Search for a node to run the application and schedule the application to run on that node. Will also configure the cluster</a:t>
            </a:r>
          </a:p>
          <a:p>
            <a:pPr marL="457200" lvl="1" indent="0">
              <a:buFontTx/>
              <a:buNone/>
              <a:defRPr/>
            </a:pPr>
            <a:endParaRPr lang="en-US" sz="2000" i="1" dirty="0"/>
          </a:p>
          <a:p>
            <a:pPr marL="400050">
              <a:defRPr/>
            </a:pPr>
            <a:r>
              <a:rPr lang="en-US" sz="2000" b="1" dirty="0" err="1">
                <a:solidFill>
                  <a:srgbClr val="0000FF"/>
                </a:solidFill>
              </a:rPr>
              <a:t>kubectl</a:t>
            </a:r>
            <a:r>
              <a:rPr lang="en-US" sz="2000" b="1" dirty="0">
                <a:solidFill>
                  <a:srgbClr val="0000FF"/>
                </a:solidFill>
              </a:rPr>
              <a:t> get deployments</a:t>
            </a:r>
          </a:p>
          <a:p>
            <a:pPr lvl="1">
              <a:defRPr/>
            </a:pPr>
            <a:r>
              <a:rPr lang="en-US" sz="2000" b="1" i="1" dirty="0">
                <a:solidFill>
                  <a:srgbClr val="0000FF"/>
                </a:solidFill>
              </a:rPr>
              <a:t>	</a:t>
            </a:r>
            <a:r>
              <a:rPr lang="en-US" sz="2000" i="1" dirty="0"/>
              <a:t> To list deployments </a:t>
            </a:r>
          </a:p>
          <a:p>
            <a:pPr marL="457200" lvl="1" indent="0">
              <a:buFontTx/>
              <a:buNone/>
              <a:defRPr/>
            </a:pPr>
            <a:endParaRPr lang="en-US" sz="2000" i="1" dirty="0"/>
          </a:p>
          <a:p>
            <a:pPr marL="457200" lvl="1" indent="0">
              <a:buFontTx/>
              <a:buNone/>
              <a:defRPr/>
            </a:pPr>
            <a:endParaRPr lang="en-IN" sz="2000" i="1" dirty="0"/>
          </a:p>
          <a:p>
            <a:pPr marL="457200" lvl="1" indent="0">
              <a:buFontTx/>
              <a:buNone/>
              <a:defRPr/>
            </a:pPr>
            <a:endParaRPr lang="en-IN" sz="2000" i="1" dirty="0"/>
          </a:p>
          <a:p>
            <a:pPr>
              <a:defRPr/>
            </a:pP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>
            <a:extLst>
              <a:ext uri="{FF2B5EF4-FFF2-40B4-BE49-F238E27FC236}">
                <a16:creationId xmlns:a16="http://schemas.microsoft.com/office/drawing/2014/main" id="{52008247-6F34-E738-CDA6-D4CA131F9F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/>
            </a:br>
            <a:r>
              <a:rPr lang="en-US" altLang="en-US"/>
              <a:t>Kubernetes Pods</a:t>
            </a:r>
            <a:br>
              <a:rPr lang="en-US" altLang="en-US"/>
            </a:br>
            <a:endParaRPr lang="en-IN" altLang="en-US"/>
          </a:p>
        </p:txBody>
      </p:sp>
      <p:sp>
        <p:nvSpPr>
          <p:cNvPr id="29698" name="Content Placeholder 2">
            <a:extLst>
              <a:ext uri="{FF2B5EF4-FFF2-40B4-BE49-F238E27FC236}">
                <a16:creationId xmlns:a16="http://schemas.microsoft.com/office/drawing/2014/main" id="{E0C35CE5-B5F7-0772-8D19-0E553D1BE3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/>
              <a:t>Pod represents a group of one or more application containers </a:t>
            </a:r>
          </a:p>
          <a:p>
            <a:pPr lvl="1"/>
            <a:r>
              <a:rPr lang="en-US" altLang="en-US" sz="2000" dirty="0"/>
              <a:t>Example : Docker</a:t>
            </a:r>
          </a:p>
          <a:p>
            <a:pPr lvl="1"/>
            <a:r>
              <a:rPr lang="en-US" altLang="en-US" sz="2000" dirty="0"/>
              <a:t>It also has some shared resources for those containers. </a:t>
            </a:r>
          </a:p>
          <a:p>
            <a:endParaRPr lang="en-US" altLang="en-US" sz="2000" dirty="0"/>
          </a:p>
          <a:p>
            <a:r>
              <a:rPr lang="en-US" altLang="en-US" sz="2000" dirty="0"/>
              <a:t>Share Resource are : </a:t>
            </a:r>
          </a:p>
          <a:p>
            <a:pPr lvl="1"/>
            <a:r>
              <a:rPr lang="en-US" altLang="en-US" sz="2000" dirty="0"/>
              <a:t>Shared storage, as Volumes</a:t>
            </a:r>
          </a:p>
          <a:p>
            <a:pPr lvl="1"/>
            <a:r>
              <a:rPr lang="en-US" altLang="en-US" sz="2000" dirty="0"/>
              <a:t>Networking, as a unique cluster IP address</a:t>
            </a:r>
          </a:p>
          <a:p>
            <a:pPr lvl="1"/>
            <a:r>
              <a:rPr lang="en-US" altLang="en-US" sz="2000" dirty="0"/>
              <a:t>Information about how to run each container, such as the container image version or specific ports to use</a:t>
            </a:r>
          </a:p>
          <a:p>
            <a:pPr lvl="1"/>
            <a:r>
              <a:rPr lang="en-US" altLang="en-US" sz="2000" dirty="0"/>
              <a:t>In case of a Node failure, identical Pods are scheduled on other available Nodes in the cluster.</a:t>
            </a:r>
          </a:p>
          <a:p>
            <a:pPr lvl="1"/>
            <a:endParaRPr lang="en-US" altLang="en-US" sz="2000" dirty="0"/>
          </a:p>
          <a:p>
            <a:endParaRPr lang="en-US" altLang="en-US" sz="2000" dirty="0"/>
          </a:p>
          <a:p>
            <a:endParaRPr lang="en-IN" altLang="en-US" sz="2000" dirty="0"/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38C87CAE-739E-D8A9-8C69-5142B8F0ED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Pods</a:t>
            </a:r>
            <a:endParaRPr lang="en-IN" altLang="en-US"/>
          </a:p>
        </p:txBody>
      </p:sp>
      <p:sp>
        <p:nvSpPr>
          <p:cNvPr id="30722" name="Content Placeholder 2">
            <a:extLst>
              <a:ext uri="{FF2B5EF4-FFF2-40B4-BE49-F238E27FC236}">
                <a16:creationId xmlns:a16="http://schemas.microsoft.com/office/drawing/2014/main" id="{4CCA8160-5F08-873F-5393-CB0A2EA0EF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A pod’s life-cycle has 3 stages:</a:t>
            </a:r>
          </a:p>
          <a:p>
            <a:endParaRPr lang="en-US" altLang="en-US" sz="2000"/>
          </a:p>
          <a:p>
            <a:r>
              <a:rPr lang="en-US" altLang="en-US" sz="2000"/>
              <a:t>Pending → Running → Succeeded/Failed</a:t>
            </a:r>
          </a:p>
          <a:p>
            <a:endParaRPr lang="en-US" altLang="en-US" sz="2000"/>
          </a:p>
          <a:p>
            <a:r>
              <a:rPr lang="en-US" altLang="en-US" sz="2000"/>
              <a:t>If a Pod died without completing his task, a new Pod will be created to replace the dead Pod. </a:t>
            </a:r>
          </a:p>
          <a:p>
            <a:endParaRPr lang="en-US" altLang="en-US" sz="2000"/>
          </a:p>
          <a:p>
            <a:r>
              <a:rPr lang="en-US" altLang="en-US" sz="2000"/>
              <a:t>The new pod’s IP and all other factors will be different from old one </a:t>
            </a:r>
          </a:p>
          <a:p>
            <a:endParaRPr lang="en-IN" altLang="en-US" sz="2000"/>
          </a:p>
          <a:p>
            <a:endParaRPr lang="en-IN" altLang="en-US" sz="2000"/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>
            <a:extLst>
              <a:ext uri="{FF2B5EF4-FFF2-40B4-BE49-F238E27FC236}">
                <a16:creationId xmlns:a16="http://schemas.microsoft.com/office/drawing/2014/main" id="{7FB958DE-9231-2531-0B82-0A45307400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Pods</a:t>
            </a:r>
            <a:endParaRPr lang="en-IN" altLang="en-US"/>
          </a:p>
        </p:txBody>
      </p:sp>
      <p:pic>
        <p:nvPicPr>
          <p:cNvPr id="31746" name="Content Placeholder 4">
            <a:extLst>
              <a:ext uri="{FF2B5EF4-FFF2-40B4-BE49-F238E27FC236}">
                <a16:creationId xmlns:a16="http://schemas.microsoft.com/office/drawing/2014/main" id="{917DDB1A-E6AD-793B-5F95-2F1CD069EFA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1524000"/>
            <a:ext cx="7391400" cy="3810000"/>
          </a:xfrm>
        </p:spPr>
      </p:pic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11222932-8924-61B7-198C-C2F46DEBA5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Nodes</a:t>
            </a:r>
            <a:endParaRPr lang="en-IN" altLang="en-US"/>
          </a:p>
        </p:txBody>
      </p:sp>
      <p:sp>
        <p:nvSpPr>
          <p:cNvPr id="32770" name="Content Placeholder 2">
            <a:extLst>
              <a:ext uri="{FF2B5EF4-FFF2-40B4-BE49-F238E27FC236}">
                <a16:creationId xmlns:a16="http://schemas.microsoft.com/office/drawing/2014/main" id="{E1C777D0-34BA-F607-07E9-CDE0604C74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r>
              <a:rPr lang="en-US" altLang="en-US" sz="2000"/>
              <a:t>Node </a:t>
            </a:r>
          </a:p>
          <a:p>
            <a:pPr lvl="1"/>
            <a:r>
              <a:rPr lang="en-US" altLang="en-US" sz="2000"/>
              <a:t>Worker machine may be either a virtual or a physical machine</a:t>
            </a:r>
          </a:p>
          <a:p>
            <a:pPr lvl="1"/>
            <a:r>
              <a:rPr lang="en-US" altLang="en-US" sz="2000"/>
              <a:t>A Pod always runs on a Node</a:t>
            </a:r>
          </a:p>
          <a:p>
            <a:pPr lvl="1"/>
            <a:r>
              <a:rPr lang="en-US" altLang="en-US" sz="2000"/>
              <a:t>Node can have multiple pods</a:t>
            </a:r>
          </a:p>
          <a:p>
            <a:endParaRPr lang="en-US" altLang="en-US" sz="2000"/>
          </a:p>
          <a:p>
            <a:r>
              <a:rPr lang="en-US" altLang="en-US" sz="2000"/>
              <a:t>Kubernetes Node runs the following:</a:t>
            </a:r>
          </a:p>
          <a:p>
            <a:endParaRPr lang="en-US" altLang="en-US" sz="2000"/>
          </a:p>
          <a:p>
            <a:r>
              <a:rPr lang="en-US" altLang="en-US" sz="2000" b="1"/>
              <a:t>Kubelet: </a:t>
            </a:r>
          </a:p>
          <a:p>
            <a:pPr lvl="1"/>
            <a:r>
              <a:rPr lang="en-US" altLang="en-US" sz="2000"/>
              <a:t>Process responsible for communication between the Kubernetes control plane and the Node; </a:t>
            </a:r>
          </a:p>
          <a:p>
            <a:pPr lvl="1"/>
            <a:r>
              <a:rPr lang="en-US" altLang="en-US" sz="2000"/>
              <a:t>Manages the Pods and the containers running on a machine.</a:t>
            </a:r>
          </a:p>
          <a:p>
            <a:r>
              <a:rPr lang="en-US" altLang="en-US" sz="2000" b="1"/>
              <a:t>A container runtime (Docker) </a:t>
            </a:r>
          </a:p>
          <a:p>
            <a:pPr lvl="1"/>
            <a:r>
              <a:rPr lang="en-US" altLang="en-US" sz="2000"/>
              <a:t>Responsible for pulling the container image from a registry, unpacking the container, and running the application.</a:t>
            </a:r>
          </a:p>
          <a:p>
            <a:endParaRPr lang="en-IN" altLang="en-US" sz="2000"/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>
            <a:extLst>
              <a:ext uri="{FF2B5EF4-FFF2-40B4-BE49-F238E27FC236}">
                <a16:creationId xmlns:a16="http://schemas.microsoft.com/office/drawing/2014/main" id="{1A3C2EAE-6BEE-A5F5-7412-1AA4F663B1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  <a:t>kubectl</a:t>
            </a:r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endParaRPr lang="en-IN" altLang="en-US"/>
          </a:p>
        </p:txBody>
      </p:sp>
      <p:sp>
        <p:nvSpPr>
          <p:cNvPr id="33794" name="Content Placeholder 2">
            <a:extLst>
              <a:ext uri="{FF2B5EF4-FFF2-40B4-BE49-F238E27FC236}">
                <a16:creationId xmlns:a16="http://schemas.microsoft.com/office/drawing/2014/main" id="{17820996-1786-565F-D53F-67986509B3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sz="2000" b="1">
                <a:solidFill>
                  <a:srgbClr val="222222"/>
                </a:solidFill>
                <a:latin typeface="open sans" panose="020B0606030504020204" pitchFamily="34" charset="0"/>
              </a:rPr>
              <a:t>kubectl commands:</a:t>
            </a:r>
          </a:p>
          <a:p>
            <a:endParaRPr lang="en-IN" altLang="en-US" sz="2000" b="1">
              <a:solidFill>
                <a:srgbClr val="222222"/>
              </a:solidFill>
              <a:latin typeface="open sans" panose="020B0606030504020204" pitchFamily="34" charset="0"/>
            </a:endParaRPr>
          </a:p>
          <a:p>
            <a:r>
              <a:rPr lang="en-IN" altLang="en-US" sz="2000" b="1">
                <a:solidFill>
                  <a:srgbClr val="222222"/>
                </a:solidFill>
                <a:latin typeface="open sans" panose="020B0606030504020204" pitchFamily="34" charset="0"/>
              </a:rPr>
              <a:t>kubectl get</a:t>
            </a:r>
            <a:r>
              <a:rPr lang="en-IN" altLang="en-US" sz="2000">
                <a:solidFill>
                  <a:srgbClr val="222222"/>
                </a:solidFill>
                <a:latin typeface="open sans" panose="020B0606030504020204" pitchFamily="34" charset="0"/>
              </a:rPr>
              <a:t> 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altLang="en-US" sz="2000">
                <a:solidFill>
                  <a:srgbClr val="0000FF"/>
                </a:solidFill>
                <a:latin typeface="open sans" panose="020B0606030504020204" pitchFamily="34" charset="0"/>
              </a:rPr>
              <a:t>Kubectl get deployments</a:t>
            </a:r>
          </a:p>
          <a:p>
            <a:pPr lvl="2"/>
            <a:r>
              <a:rPr lang="en-IN" altLang="en-US" sz="2000">
                <a:solidFill>
                  <a:srgbClr val="222222"/>
                </a:solidFill>
                <a:latin typeface="open sans" panose="020B0606030504020204" pitchFamily="34" charset="0"/>
              </a:rPr>
              <a:t> list resources</a:t>
            </a:r>
          </a:p>
          <a:p>
            <a:r>
              <a:rPr lang="en-IN" altLang="en-US" sz="2000" b="1">
                <a:solidFill>
                  <a:srgbClr val="222222"/>
                </a:solidFill>
                <a:latin typeface="open sans" panose="020B0606030504020204" pitchFamily="34" charset="0"/>
              </a:rPr>
              <a:t>kubectl describe</a:t>
            </a:r>
            <a:r>
              <a:rPr lang="en-IN" altLang="en-US" sz="2000">
                <a:solidFill>
                  <a:srgbClr val="222222"/>
                </a:solidFill>
                <a:latin typeface="open sans" panose="020B0606030504020204" pitchFamily="34" charset="0"/>
              </a:rPr>
              <a:t> 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altLang="en-US" sz="2000">
                <a:solidFill>
                  <a:srgbClr val="0000FF"/>
                </a:solidFill>
                <a:latin typeface="open sans" panose="020B0606030504020204" pitchFamily="34" charset="0"/>
              </a:rPr>
              <a:t>kubectl describe pods</a:t>
            </a:r>
          </a:p>
          <a:p>
            <a:pPr lvl="2"/>
            <a:r>
              <a:rPr lang="en-IN" altLang="en-US" sz="2000">
                <a:solidFill>
                  <a:srgbClr val="222222"/>
                </a:solidFill>
                <a:latin typeface="open sans" panose="020B0606030504020204" pitchFamily="34" charset="0"/>
              </a:rPr>
              <a:t>show detailed information about a resource</a:t>
            </a:r>
          </a:p>
          <a:p>
            <a:r>
              <a:rPr lang="en-IN" altLang="en-US" sz="2000" b="1">
                <a:solidFill>
                  <a:srgbClr val="222222"/>
                </a:solidFill>
                <a:latin typeface="open sans" panose="020B0606030504020204" pitchFamily="34" charset="0"/>
              </a:rPr>
              <a:t>kubectl logs</a:t>
            </a:r>
            <a:r>
              <a:rPr lang="en-IN" altLang="en-US" sz="2000">
                <a:solidFill>
                  <a:srgbClr val="222222"/>
                </a:solidFill>
                <a:latin typeface="open sans" panose="020B0606030504020204" pitchFamily="34" charset="0"/>
              </a:rPr>
              <a:t> 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altLang="en-US" sz="2000">
                <a:solidFill>
                  <a:srgbClr val="0000FF"/>
                </a:solidFill>
                <a:latin typeface="open sans" panose="020B0606030504020204" pitchFamily="34" charset="0"/>
              </a:rPr>
              <a:t>Kubectl logs k8s-training-57978f5f5d-xfk4n</a:t>
            </a:r>
          </a:p>
          <a:p>
            <a:pPr lvl="2"/>
            <a:r>
              <a:rPr lang="en-IN" altLang="en-US" sz="2000">
                <a:solidFill>
                  <a:srgbClr val="222222"/>
                </a:solidFill>
                <a:latin typeface="open sans" panose="020B0606030504020204" pitchFamily="34" charset="0"/>
              </a:rPr>
              <a:t>print the logs from a container in a pod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95EFFACD-3502-A9A3-E52F-E2823F4064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Service</a:t>
            </a:r>
            <a:endParaRPr lang="en-IN" altLang="en-US"/>
          </a:p>
        </p:txBody>
      </p:sp>
      <p:sp>
        <p:nvSpPr>
          <p:cNvPr id="34818" name="Content Placeholder 2">
            <a:extLst>
              <a:ext uri="{FF2B5EF4-FFF2-40B4-BE49-F238E27FC236}">
                <a16:creationId xmlns:a16="http://schemas.microsoft.com/office/drawing/2014/main" id="{948ABA6F-03B7-42C9-D039-0F8C4243A8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Services have  own IP address and DNS which are stable.</a:t>
            </a:r>
          </a:p>
          <a:p>
            <a:pPr lvl="1">
              <a:lnSpc>
                <a:spcPct val="20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They are High-level stable abstract point for multiple pods.</a:t>
            </a:r>
          </a:p>
          <a:p>
            <a:pPr>
              <a:lnSpc>
                <a:spcPct val="20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Service discover Pods by labels </a:t>
            </a:r>
          </a:p>
          <a:p>
            <a:pPr lvl="1">
              <a:lnSpc>
                <a:spcPct val="20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Pods belong to a Service via labels.</a:t>
            </a:r>
          </a:p>
          <a:p>
            <a:pPr lvl="1">
              <a:lnSpc>
                <a:spcPct val="20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It will append its endpoint list and add the pod to the list.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>
            <a:extLst>
              <a:ext uri="{FF2B5EF4-FFF2-40B4-BE49-F238E27FC236}">
                <a16:creationId xmlns:a16="http://schemas.microsoft.com/office/drawing/2014/main" id="{BE93C7FB-B6C0-A5CA-D61D-6358E06F5F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Services</a:t>
            </a:r>
            <a:endParaRPr lang="en-IN" altLang="en-US"/>
          </a:p>
        </p:txBody>
      </p:sp>
      <p:sp>
        <p:nvSpPr>
          <p:cNvPr id="35842" name="Content Placeholder 2">
            <a:extLst>
              <a:ext uri="{FF2B5EF4-FFF2-40B4-BE49-F238E27FC236}">
                <a16:creationId xmlns:a16="http://schemas.microsoft.com/office/drawing/2014/main" id="{4D53F564-0192-D8FE-7A5D-6262F11A99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The Services will Receive a Request</a:t>
            </a:r>
          </a:p>
          <a:p>
            <a:pPr lvl="1">
              <a:lnSpc>
                <a:spcPct val="20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They then forward the request to a pod</a:t>
            </a:r>
          </a:p>
          <a:p>
            <a:pPr lvl="1">
              <a:lnSpc>
                <a:spcPct val="20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Uses Round-Robin or Random method for forwarding to pod.</a:t>
            </a:r>
          </a:p>
          <a:p>
            <a:pPr lvl="1">
              <a:lnSpc>
                <a:spcPct val="20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Will use only healthy pods, will do load balancing, roll-back of versions, etc. </a:t>
            </a:r>
          </a:p>
          <a:p>
            <a:pPr lvl="1">
              <a:lnSpc>
                <a:spcPct val="20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Service decouples System components.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919EAD9A-52B8-C089-ACF1-504346DC7B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Types of Services</a:t>
            </a:r>
            <a:endParaRPr lang="en-IN" altLang="en-US"/>
          </a:p>
        </p:txBody>
      </p:sp>
      <p:sp>
        <p:nvSpPr>
          <p:cNvPr id="36866" name="Content Placeholder 2">
            <a:extLst>
              <a:ext uri="{FF2B5EF4-FFF2-40B4-BE49-F238E27FC236}">
                <a16:creationId xmlns:a16="http://schemas.microsoft.com/office/drawing/2014/main" id="{2A4BB103-2386-9BFA-D2C1-9C04B5487D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r>
              <a:rPr lang="en-US" altLang="en-US" sz="1800" b="1"/>
              <a:t>ClusterIP: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 Exposes the service on a cluster-internal IP. 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Makes the service only reachable from within the cluster. 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This is the default ServiceType.</a:t>
            </a:r>
          </a:p>
          <a:p>
            <a:r>
              <a:rPr lang="en-US" altLang="en-US" sz="1800" b="1"/>
              <a:t>NodePort: 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Exposes the service on each Node’s IP at a static port  called as  NodePort 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A ClusterIP service, to which the NodePort service will route, is automatically created. 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Can contact the NodePort service, from outside the cluster, by requesting &lt;NodeIP&gt;:&lt;NodePort&gt;.</a:t>
            </a:r>
          </a:p>
          <a:p>
            <a:pPr lvl="1"/>
            <a:endParaRPr lang="en-US" altLang="en-US"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>
            <a:extLst>
              <a:ext uri="{FF2B5EF4-FFF2-40B4-BE49-F238E27FC236}">
                <a16:creationId xmlns:a16="http://schemas.microsoft.com/office/drawing/2014/main" id="{B0D163EA-A693-58DC-0531-39A045B366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Types of Services</a:t>
            </a:r>
            <a:endParaRPr lang="en-IN" altLang="en-US"/>
          </a:p>
        </p:txBody>
      </p:sp>
      <p:sp>
        <p:nvSpPr>
          <p:cNvPr id="37890" name="Content Placeholder 2">
            <a:extLst>
              <a:ext uri="{FF2B5EF4-FFF2-40B4-BE49-F238E27FC236}">
                <a16:creationId xmlns:a16="http://schemas.microsoft.com/office/drawing/2014/main" id="{B2EAB192-37EC-F2BE-3B95-B662A9BCC8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 b="1"/>
              <a:t>LoadBalancer: 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Exposes the service externally using a cloud provider’s load balancer. 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NodePort and ClusterIP services,are automatically created.</a:t>
            </a:r>
          </a:p>
          <a:p>
            <a:pPr lvl="1">
              <a:lnSpc>
                <a:spcPct val="150000"/>
              </a:lnSpc>
            </a:pPr>
            <a:endParaRPr lang="en-US" altLang="en-US" sz="1800"/>
          </a:p>
          <a:p>
            <a:pPr>
              <a:lnSpc>
                <a:spcPct val="150000"/>
              </a:lnSpc>
            </a:pPr>
            <a:r>
              <a:rPr lang="en-US" altLang="en-US" sz="2000" b="1"/>
              <a:t>Service Discovery</a:t>
            </a:r>
          </a:p>
          <a:p>
            <a:pPr lvl="1"/>
            <a:r>
              <a:rPr lang="en-US" altLang="en-US" sz="2000"/>
              <a:t>They are exposed to the outside world using the expose command</a:t>
            </a:r>
          </a:p>
          <a:p>
            <a:pPr lvl="1"/>
            <a:endParaRPr lang="en-US" altLang="en-US" sz="2000"/>
          </a:p>
          <a:p>
            <a:endParaRPr lang="en-US" altLang="en-US"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22775411-917B-496A-5680-A55A9DFE41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Deploy Service Using kubectl</a:t>
            </a:r>
            <a:endParaRPr lang="en-IN" altLang="en-US"/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53A2656F-9E2D-82AB-0669-0824E02B39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pPr>
              <a:defRPr/>
            </a:pPr>
            <a:endParaRPr lang="en-IN" altLang="en-US" sz="2000" dirty="0"/>
          </a:p>
          <a:p>
            <a:pPr>
              <a:defRPr/>
            </a:pPr>
            <a:r>
              <a:rPr lang="en-IN" altLang="en-US" sz="2000" dirty="0"/>
              <a:t>create a spring-boot starter project =&gt; </a:t>
            </a:r>
            <a:r>
              <a:rPr lang="en-IN" altLang="en-US" sz="2000" dirty="0" err="1"/>
              <a:t>server.port</a:t>
            </a:r>
            <a:r>
              <a:rPr lang="en-IN" altLang="en-US" sz="2000" dirty="0"/>
              <a:t> =</a:t>
            </a:r>
            <a:r>
              <a:rPr lang="en-IN" altLang="en-US" sz="2000" b="1" dirty="0">
                <a:solidFill>
                  <a:srgbClr val="C00000"/>
                </a:solidFill>
              </a:rPr>
              <a:t>3535</a:t>
            </a:r>
          </a:p>
          <a:p>
            <a:pPr lvl="1">
              <a:lnSpc>
                <a:spcPct val="150000"/>
              </a:lnSpc>
              <a:defRPr/>
            </a:pPr>
            <a:r>
              <a:rPr lang="en-IN" altLang="en-US" sz="2000" dirty="0"/>
              <a:t>Add a </a:t>
            </a:r>
            <a:r>
              <a:rPr lang="en-IN" altLang="en-US" sz="2000" dirty="0" err="1"/>
              <a:t>finalName</a:t>
            </a:r>
            <a:r>
              <a:rPr lang="en-IN" altLang="en-US" sz="2000" dirty="0"/>
              <a:t> to pom.xml</a:t>
            </a:r>
          </a:p>
          <a:p>
            <a:pPr lvl="1">
              <a:lnSpc>
                <a:spcPct val="150000"/>
              </a:lnSpc>
              <a:defRPr/>
            </a:pPr>
            <a:r>
              <a:rPr lang="en-IN" altLang="en-US" sz="2000" dirty="0"/>
              <a:t>Test the application by invoking http://localhost:</a:t>
            </a:r>
            <a:r>
              <a:rPr lang="en-IN" altLang="en-US" sz="2000" b="1" dirty="0">
                <a:solidFill>
                  <a:srgbClr val="C00000"/>
                </a:solidFill>
                <a:ea typeface="+mn-ea"/>
                <a:cs typeface="+mn-cs"/>
              </a:rPr>
              <a:t>3535</a:t>
            </a:r>
            <a:r>
              <a:rPr lang="en-IN" altLang="en-US" sz="2000" dirty="0"/>
              <a:t>/&lt;path&gt;</a:t>
            </a:r>
          </a:p>
          <a:p>
            <a:pPr lvl="1">
              <a:lnSpc>
                <a:spcPct val="150000"/>
              </a:lnSpc>
              <a:defRPr/>
            </a:pPr>
            <a:r>
              <a:rPr lang="en-IN" altLang="en-US" sz="2000" dirty="0"/>
              <a:t>Add a Docker File in the </a:t>
            </a:r>
            <a:r>
              <a:rPr lang="en-IN" altLang="en-US" sz="2000" dirty="0" err="1"/>
              <a:t>contextPath</a:t>
            </a:r>
            <a:r>
              <a:rPr lang="en-IN" altLang="en-US" sz="2000" dirty="0"/>
              <a:t>: </a:t>
            </a:r>
            <a:r>
              <a:rPr lang="en-IN" altLang="en-US" sz="2000" dirty="0" err="1">
                <a:solidFill>
                  <a:srgbClr val="0000FF"/>
                </a:solidFill>
              </a:rPr>
              <a:t>Dockerfile</a:t>
            </a:r>
            <a:endParaRPr lang="en-IN" altLang="en-US" sz="2000" dirty="0">
              <a:solidFill>
                <a:srgbClr val="0000FF"/>
              </a:solidFill>
            </a:endParaRPr>
          </a:p>
          <a:p>
            <a:pPr lvl="1">
              <a:lnSpc>
                <a:spcPct val="150000"/>
              </a:lnSpc>
              <a:defRPr/>
            </a:pPr>
            <a:r>
              <a:rPr lang="en-IN" altLang="en-US" sz="2000" dirty="0" err="1"/>
              <a:t>mvn</a:t>
            </a:r>
            <a:r>
              <a:rPr lang="en-IN" altLang="en-US" sz="2000" dirty="0"/>
              <a:t> clean package</a:t>
            </a:r>
          </a:p>
          <a:p>
            <a:pPr>
              <a:defRPr/>
            </a:pPr>
            <a:r>
              <a:rPr lang="en-IN" altLang="en-US" sz="2000" b="1" dirty="0" err="1"/>
              <a:t>Dockerizing</a:t>
            </a:r>
            <a:endParaRPr lang="en-IN" altLang="en-US" sz="2000" b="1" dirty="0"/>
          </a:p>
          <a:p>
            <a:pPr lvl="1">
              <a:lnSpc>
                <a:spcPct val="150000"/>
              </a:lnSpc>
              <a:defRPr/>
            </a:pPr>
            <a:r>
              <a:rPr lang="en-IN" altLang="en-US" sz="2000" dirty="0"/>
              <a:t>Create a repository in </a:t>
            </a:r>
            <a:r>
              <a:rPr lang="en-IN" altLang="en-US" sz="2000" dirty="0" err="1"/>
              <a:t>dockerhub</a:t>
            </a:r>
            <a:r>
              <a:rPr lang="en-IN" altLang="en-US" sz="2000" dirty="0"/>
              <a:t> -&gt; </a:t>
            </a:r>
            <a:r>
              <a:rPr lang="en-IN" altLang="en-US" sz="2000" dirty="0" err="1"/>
              <a:t>vatsank</a:t>
            </a:r>
            <a:r>
              <a:rPr lang="en-IN" altLang="en-US" sz="2000" dirty="0"/>
              <a:t>/driver-service</a:t>
            </a:r>
          </a:p>
          <a:p>
            <a:pPr lvl="1">
              <a:lnSpc>
                <a:spcPct val="150000"/>
              </a:lnSpc>
              <a:defRPr/>
            </a:pPr>
            <a:r>
              <a:rPr lang="en-IN" altLang="en-US" sz="2000" dirty="0"/>
              <a:t>docker build --tag </a:t>
            </a:r>
            <a:r>
              <a:rPr lang="en-IN" altLang="en-US" sz="2000" dirty="0" err="1"/>
              <a:t>vatsank</a:t>
            </a:r>
            <a:r>
              <a:rPr lang="en-IN" altLang="en-US" sz="2000" dirty="0"/>
              <a:t>/driver-service:1.0 .</a:t>
            </a:r>
          </a:p>
          <a:p>
            <a:pPr lvl="1">
              <a:lnSpc>
                <a:spcPct val="150000"/>
              </a:lnSpc>
              <a:defRPr/>
            </a:pPr>
            <a:r>
              <a:rPr lang="en-IN" altLang="en-US" sz="2000" dirty="0"/>
              <a:t>docker run -it -p:2025:</a:t>
            </a:r>
            <a:r>
              <a:rPr lang="en-IN" altLang="en-US" sz="2000" b="1" dirty="0">
                <a:solidFill>
                  <a:srgbClr val="C00000"/>
                </a:solidFill>
                <a:ea typeface="+mn-ea"/>
                <a:cs typeface="+mn-cs"/>
              </a:rPr>
              <a:t>3535</a:t>
            </a:r>
            <a:r>
              <a:rPr lang="en-IN" altLang="en-US" sz="2000" dirty="0"/>
              <a:t> </a:t>
            </a:r>
            <a:r>
              <a:rPr lang="en-IN" altLang="en-US" sz="2000" dirty="0" err="1"/>
              <a:t>vatsank</a:t>
            </a:r>
            <a:r>
              <a:rPr lang="en-IN" altLang="en-US" sz="2000" dirty="0"/>
              <a:t>/driver-service:1.0   </a:t>
            </a:r>
          </a:p>
          <a:p>
            <a:pPr lvl="1">
              <a:lnSpc>
                <a:spcPct val="150000"/>
              </a:lnSpc>
              <a:defRPr/>
            </a:pPr>
            <a:r>
              <a:rPr lang="en-IN" altLang="en-US" sz="2000" dirty="0"/>
              <a:t>docker push </a:t>
            </a:r>
            <a:r>
              <a:rPr lang="en-IN" altLang="en-US" sz="2000" dirty="0" err="1"/>
              <a:t>vatsank</a:t>
            </a:r>
            <a:r>
              <a:rPr lang="en-IN" altLang="en-US" sz="2000" dirty="0"/>
              <a:t>/driver-service:1.0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E97EA403-EB75-AD39-F695-E15245F2FE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Create a Deployment</a:t>
            </a:r>
            <a:endParaRPr lang="en-IN" altLang="en-US"/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D2265FC2-FDE5-885F-10D4-6A64DF0F3A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000" dirty="0"/>
              <a:t>Deployments are the recommended way to manage the creation and scaling of Pods.</a:t>
            </a:r>
          </a:p>
          <a:p>
            <a:pPr lvl="1">
              <a:defRPr/>
            </a:pPr>
            <a:r>
              <a:rPr lang="en-US" altLang="en-US" sz="2000" dirty="0"/>
              <a:t>Created with  </a:t>
            </a:r>
            <a:r>
              <a:rPr lang="en-US" altLang="en-US" sz="2000" dirty="0" err="1"/>
              <a:t>kubectl</a:t>
            </a:r>
            <a:r>
              <a:rPr lang="en-US" altLang="en-US" sz="2000" dirty="0"/>
              <a:t> command </a:t>
            </a:r>
          </a:p>
          <a:p>
            <a:pPr marL="457200" lvl="1" indent="0">
              <a:buFontTx/>
              <a:buNone/>
              <a:defRPr/>
            </a:pPr>
            <a:endParaRPr lang="en-US" altLang="en-US" sz="2000" b="1" dirty="0"/>
          </a:p>
          <a:p>
            <a:pPr lvl="1">
              <a:defRPr/>
            </a:pPr>
            <a:r>
              <a:rPr lang="en-US" altLang="en-US" sz="2000" b="1" dirty="0" err="1">
                <a:solidFill>
                  <a:srgbClr val="7030A0"/>
                </a:solidFill>
              </a:rPr>
              <a:t>kubectl</a:t>
            </a:r>
            <a:r>
              <a:rPr lang="en-US" altLang="en-US" sz="2000" b="1" dirty="0"/>
              <a:t> </a:t>
            </a:r>
            <a:r>
              <a:rPr lang="en-US" altLang="en-US" sz="2000" b="1" dirty="0">
                <a:solidFill>
                  <a:srgbClr val="FF0000"/>
                </a:solidFill>
              </a:rPr>
              <a:t>create</a:t>
            </a:r>
            <a:r>
              <a:rPr lang="en-US" altLang="en-US" sz="2000" b="1" dirty="0"/>
              <a:t> </a:t>
            </a:r>
            <a:r>
              <a:rPr lang="en-US" altLang="en-US" sz="2000" b="1" dirty="0">
                <a:solidFill>
                  <a:schemeClr val="accent2">
                    <a:lumMod val="25000"/>
                  </a:schemeClr>
                </a:solidFill>
              </a:rPr>
              <a:t>deployment</a:t>
            </a:r>
            <a:r>
              <a:rPr lang="en-US" altLang="en-US" sz="2000" b="1" dirty="0"/>
              <a:t> NAME --image=image -- [COMMAND] [</a:t>
            </a:r>
            <a:r>
              <a:rPr lang="en-US" altLang="en-US" sz="2000" b="1" dirty="0" err="1"/>
              <a:t>args</a:t>
            </a:r>
            <a:r>
              <a:rPr lang="en-US" altLang="en-US" sz="2000" b="1" dirty="0"/>
              <a:t>...]</a:t>
            </a:r>
            <a:endParaRPr lang="en-IN" altLang="en-US" sz="2000" b="1" dirty="0"/>
          </a:p>
          <a:p>
            <a:pPr lvl="1">
              <a:defRPr/>
            </a:pPr>
            <a:endParaRPr lang="en-US" altLang="en-US" sz="2000" dirty="0"/>
          </a:p>
          <a:p>
            <a:pPr lvl="1">
              <a:defRPr/>
            </a:pPr>
            <a:r>
              <a:rPr lang="en-US" altLang="en-US" sz="2000" dirty="0" err="1"/>
              <a:t>kubectl</a:t>
            </a:r>
            <a:r>
              <a:rPr lang="en-US" altLang="en-US" sz="2000" dirty="0"/>
              <a:t> create deployment student-depo --image=vatsank/student-service:1.0  --replicas=3</a:t>
            </a:r>
          </a:p>
          <a:p>
            <a:pPr lvl="1">
              <a:defRPr/>
            </a:pPr>
            <a:endParaRPr lang="en-US" altLang="en-US" sz="2000" dirty="0"/>
          </a:p>
          <a:p>
            <a:pPr>
              <a:defRPr/>
            </a:pPr>
            <a:r>
              <a:rPr lang="en-US" altLang="en-US" sz="2000" dirty="0"/>
              <a:t>The Pod runs a Container based on the provided Docker image.</a:t>
            </a:r>
          </a:p>
          <a:p>
            <a:pPr>
              <a:defRPr/>
            </a:pPr>
            <a:endParaRPr lang="en-US" altLang="en-US" sz="2000" dirty="0"/>
          </a:p>
          <a:p>
            <a:pPr>
              <a:defRPr/>
            </a:pPr>
            <a:r>
              <a:rPr lang="en-US" altLang="en-US" sz="2000" dirty="0"/>
              <a:t>View the Deployment:</a:t>
            </a:r>
          </a:p>
          <a:p>
            <a:pPr lvl="1">
              <a:defRPr/>
            </a:pPr>
            <a:r>
              <a:rPr lang="en-US" altLang="en-US" sz="2000" b="1" dirty="0" err="1">
                <a:solidFill>
                  <a:srgbClr val="7030A0"/>
                </a:solidFill>
              </a:rPr>
              <a:t>kubectl</a:t>
            </a:r>
            <a:r>
              <a:rPr lang="en-US" altLang="en-US" sz="2000" b="1" dirty="0"/>
              <a:t> get deployments</a:t>
            </a:r>
          </a:p>
          <a:p>
            <a:pPr>
              <a:defRPr/>
            </a:pPr>
            <a:endParaRPr lang="en-IN" alt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>
            <a:extLst>
              <a:ext uri="{FF2B5EF4-FFF2-40B4-BE49-F238E27FC236}">
                <a16:creationId xmlns:a16="http://schemas.microsoft.com/office/drawing/2014/main" id="{3047B12C-5DE6-DB2C-9EA3-955599A6F5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Deploy Service Using kubectl</a:t>
            </a:r>
            <a:endParaRPr lang="en-IN" altLang="en-US"/>
          </a:p>
        </p:txBody>
      </p:sp>
      <p:sp>
        <p:nvSpPr>
          <p:cNvPr id="44034" name="Content Placeholder 2">
            <a:extLst>
              <a:ext uri="{FF2B5EF4-FFF2-40B4-BE49-F238E27FC236}">
                <a16:creationId xmlns:a16="http://schemas.microsoft.com/office/drawing/2014/main" id="{3AD2E9E0-227C-AB51-F4BF-F31336A968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altLang="en-US" sz="2000"/>
              <a:t>docker build --tag vatsank/payment-service:1.0 .</a:t>
            </a:r>
          </a:p>
          <a:p>
            <a:pPr>
              <a:lnSpc>
                <a:spcPct val="150000"/>
              </a:lnSpc>
            </a:pPr>
            <a:r>
              <a:rPr lang="en-IN" altLang="en-US" sz="2000"/>
              <a:t>docker push vatsank/payment-service</a:t>
            </a:r>
          </a:p>
          <a:p>
            <a:pPr>
              <a:lnSpc>
                <a:spcPct val="150000"/>
              </a:lnSpc>
            </a:pPr>
            <a:r>
              <a:rPr lang="en-IN" altLang="en-US" sz="2000"/>
              <a:t>note</a:t>
            </a:r>
          </a:p>
          <a:p>
            <a:pPr lvl="1">
              <a:lnSpc>
                <a:spcPct val="150000"/>
              </a:lnSpc>
            </a:pPr>
            <a:r>
              <a:rPr lang="en-IN" altLang="en-US" sz="2000"/>
              <a:t>kubectl get deployments</a:t>
            </a:r>
          </a:p>
          <a:p>
            <a:pPr>
              <a:lnSpc>
                <a:spcPct val="150000"/>
              </a:lnSpc>
            </a:pPr>
            <a:r>
              <a:rPr lang="en-IN" altLang="en-US" sz="2000"/>
              <a:t>kubectl expose deployment personal-expenses --type=LoadBalancer --name=payment-service --port=2020</a:t>
            </a:r>
          </a:p>
          <a:p>
            <a:pPr lvl="1">
              <a:lnSpc>
                <a:spcPct val="150000"/>
              </a:lnSpc>
            </a:pPr>
            <a:r>
              <a:rPr lang="en-IN" altLang="en-US" sz="2000"/>
              <a:t>kubectl get services</a:t>
            </a:r>
          </a:p>
          <a:p>
            <a:pPr>
              <a:lnSpc>
                <a:spcPct val="150000"/>
              </a:lnSpc>
            </a:pPr>
            <a:r>
              <a:rPr lang="en-IN" altLang="en-US" sz="2000"/>
              <a:t>Curl –v </a:t>
            </a:r>
            <a:r>
              <a:rPr lang="en-IN" altLang="en-US" sz="2000">
                <a:hlinkClick r:id="rId2"/>
              </a:rPr>
              <a:t>http://localhost:2020/payments</a:t>
            </a:r>
            <a:endParaRPr lang="en-IN" altLang="en-US" sz="2000"/>
          </a:p>
          <a:p>
            <a:pPr>
              <a:lnSpc>
                <a:spcPct val="150000"/>
              </a:lnSpc>
            </a:pPr>
            <a:endParaRPr lang="en-IN" altLang="en-US" sz="1800"/>
          </a:p>
          <a:p>
            <a:pPr>
              <a:lnSpc>
                <a:spcPct val="150000"/>
              </a:lnSpc>
            </a:pPr>
            <a:endParaRPr lang="en-IN" altLang="en-US"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>
            <a:extLst>
              <a:ext uri="{FF2B5EF4-FFF2-40B4-BE49-F238E27FC236}">
                <a16:creationId xmlns:a16="http://schemas.microsoft.com/office/drawing/2014/main" id="{14C1F64B-6775-094A-9C3A-A785A37A30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Node Port</a:t>
            </a:r>
          </a:p>
        </p:txBody>
      </p:sp>
      <p:sp>
        <p:nvSpPr>
          <p:cNvPr id="45058" name="Content Placeholder 2">
            <a:extLst>
              <a:ext uri="{FF2B5EF4-FFF2-40B4-BE49-F238E27FC236}">
                <a16:creationId xmlns:a16="http://schemas.microsoft.com/office/drawing/2014/main" id="{C6F72633-4BDD-A74C-7D67-37C42C6E07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sz="1600"/>
              <a:t>kubectl create deployment teacher-demo2 --image=vatsank/professor-service:1.0  --replicas=3</a:t>
            </a:r>
          </a:p>
          <a:p>
            <a:endParaRPr lang="en-IN" altLang="en-US" sz="1600"/>
          </a:p>
          <a:p>
            <a:r>
              <a:rPr lang="en-IN" altLang="en-US" sz="1600"/>
              <a:t>kubectl expose deployment teacher-demo2 --type=NodePort --name=prof-service --port=5050</a:t>
            </a:r>
          </a:p>
          <a:p>
            <a:endParaRPr lang="en-IN" altLang="en-US" sz="1600"/>
          </a:p>
          <a:p>
            <a:r>
              <a:rPr lang="en-IN" altLang="en-US" sz="1600"/>
              <a:t>kubectl get svc</a:t>
            </a:r>
          </a:p>
          <a:p>
            <a:endParaRPr lang="en-IN" altLang="en-US" sz="1600"/>
          </a:p>
          <a:p>
            <a:r>
              <a:rPr lang="en-IN" altLang="en-US" sz="1600"/>
              <a:t>Note the External IP and port number</a:t>
            </a:r>
          </a:p>
          <a:p>
            <a:endParaRPr lang="en-IN" altLang="en-US" sz="1600"/>
          </a:p>
          <a:p>
            <a:r>
              <a:rPr lang="en-IN" altLang="en-US" sz="1600"/>
              <a:t>curl -v http://localhost:30892/api/v1/teachers </a:t>
            </a:r>
          </a:p>
          <a:p>
            <a:endParaRPr lang="en-IN" altLang="en-US" sz="1600"/>
          </a:p>
          <a:p>
            <a:endParaRPr lang="en-IN" altLang="en-US" sz="1600"/>
          </a:p>
          <a:p>
            <a:endParaRPr lang="en-IN" altLang="en-US" sz="1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>
            <a:extLst>
              <a:ext uri="{FF2B5EF4-FFF2-40B4-BE49-F238E27FC236}">
                <a16:creationId xmlns:a16="http://schemas.microsoft.com/office/drawing/2014/main" id="{22694020-4600-B35A-2720-EE9F48C1B6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Kubectl Commands</a:t>
            </a:r>
            <a:endParaRPr lang="en-IN" altLang="en-US"/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C4B6E52B-5C2B-3D6D-679F-7D587C6950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en-US" sz="2000" dirty="0" err="1"/>
              <a:t>kubectl</a:t>
            </a:r>
            <a:r>
              <a:rPr lang="en-US" altLang="en-US" sz="2000" dirty="0"/>
              <a:t> get nodes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en-US" sz="1800" dirty="0" err="1"/>
              <a:t>kubectl</a:t>
            </a:r>
            <a:r>
              <a:rPr lang="en-US" altLang="en-US" sz="1800" dirty="0"/>
              <a:t> get pods</a:t>
            </a:r>
          </a:p>
          <a:p>
            <a:pPr lvl="1">
              <a:lnSpc>
                <a:spcPct val="150000"/>
              </a:lnSpc>
              <a:defRPr/>
            </a:pPr>
            <a:r>
              <a:rPr lang="en-IN" altLang="en-US" sz="1800" dirty="0" err="1"/>
              <a:t>kubectl</a:t>
            </a:r>
            <a:r>
              <a:rPr lang="en-IN" altLang="en-US" sz="1800" dirty="0"/>
              <a:t> get services –o wide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en-US" sz="1800" dirty="0" err="1"/>
              <a:t>kubectl</a:t>
            </a:r>
            <a:r>
              <a:rPr lang="en-US" altLang="en-US" sz="1800" dirty="0"/>
              <a:t> get deployments</a:t>
            </a:r>
          </a:p>
          <a:p>
            <a:pPr>
              <a:lnSpc>
                <a:spcPct val="150000"/>
              </a:lnSpc>
              <a:defRPr/>
            </a:pPr>
            <a:r>
              <a:rPr lang="en-IN" altLang="en-US" sz="2000" dirty="0" err="1"/>
              <a:t>kubectl</a:t>
            </a:r>
            <a:r>
              <a:rPr lang="en-IN" altLang="en-US" sz="2000" dirty="0"/>
              <a:t> describe pod </a:t>
            </a:r>
          </a:p>
          <a:p>
            <a:pPr>
              <a:lnSpc>
                <a:spcPct val="150000"/>
              </a:lnSpc>
              <a:defRPr/>
            </a:pPr>
            <a:r>
              <a:rPr lang="en-IN" altLang="en-US" sz="2000" dirty="0" err="1"/>
              <a:t>kubectl</a:t>
            </a:r>
            <a:r>
              <a:rPr lang="en-IN" altLang="en-US" sz="2000" dirty="0"/>
              <a:t> delete service hello-node</a:t>
            </a:r>
          </a:p>
          <a:p>
            <a:pPr lvl="1">
              <a:lnSpc>
                <a:spcPct val="150000"/>
              </a:lnSpc>
              <a:defRPr/>
            </a:pPr>
            <a:r>
              <a:rPr lang="en-IN" altLang="en-US" sz="1800" dirty="0" err="1"/>
              <a:t>kubectl</a:t>
            </a:r>
            <a:r>
              <a:rPr lang="en-IN" altLang="en-US" sz="1800" dirty="0"/>
              <a:t> delete deployment hello-node</a:t>
            </a:r>
          </a:p>
          <a:p>
            <a:pPr>
              <a:lnSpc>
                <a:spcPct val="150000"/>
              </a:lnSpc>
              <a:defRPr/>
            </a:pPr>
            <a:endParaRPr lang="en-US" altLang="en-US" sz="2000" dirty="0"/>
          </a:p>
          <a:p>
            <a:pPr>
              <a:lnSpc>
                <a:spcPct val="150000"/>
              </a:lnSpc>
              <a:defRPr/>
            </a:pPr>
            <a:r>
              <a:rPr lang="en-US" altLang="en-US" sz="2000" dirty="0" err="1"/>
              <a:t>kubectl</a:t>
            </a:r>
            <a:r>
              <a:rPr lang="en-US" altLang="en-US" sz="2000" dirty="0"/>
              <a:t> scale deployment </a:t>
            </a:r>
            <a:r>
              <a:rPr lang="en-US" altLang="en-US" sz="2000" dirty="0" err="1"/>
              <a:t>userapi</a:t>
            </a:r>
            <a:r>
              <a:rPr lang="en-US" altLang="en-US" sz="2000" dirty="0"/>
              <a:t> --replicas=2</a:t>
            </a: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IN" alt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>
            <a:extLst>
              <a:ext uri="{FF2B5EF4-FFF2-40B4-BE49-F238E27FC236}">
                <a16:creationId xmlns:a16="http://schemas.microsoft.com/office/drawing/2014/main" id="{EF72C69B-CF54-D40A-68E1-C69A2654FD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Spring Boot Client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44EB5-E948-1746-1FCD-28A79E1D8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Create a Spring Boot Starter Project with following Modules</a:t>
            </a:r>
          </a:p>
          <a:p>
            <a:pPr lvl="1">
              <a:defRPr/>
            </a:pPr>
            <a:r>
              <a:rPr lang="en-IN" sz="1600" dirty="0"/>
              <a:t>spring-boot-starter-web</a:t>
            </a:r>
          </a:p>
          <a:p>
            <a:pPr lvl="1">
              <a:defRPr/>
            </a:pPr>
            <a:r>
              <a:rPr lang="en-IN" sz="1600" dirty="0"/>
              <a:t>spring-cloud-starter</a:t>
            </a:r>
          </a:p>
          <a:p>
            <a:pPr>
              <a:defRPr/>
            </a:pPr>
            <a:endParaRPr lang="en-IN" sz="2000" dirty="0"/>
          </a:p>
          <a:p>
            <a:pPr>
              <a:defRPr/>
            </a:pPr>
            <a:r>
              <a:rPr lang="en-IN" sz="2000" dirty="0"/>
              <a:t>Additionally  Update the pom.xml file with following Modules</a:t>
            </a:r>
          </a:p>
          <a:p>
            <a:pPr>
              <a:defRPr/>
            </a:pPr>
            <a:endParaRPr lang="en-IN" sz="2000" dirty="0"/>
          </a:p>
          <a:p>
            <a:pPr marL="457200" lvl="1" indent="0">
              <a:buFontTx/>
              <a:buNone/>
              <a:defRPr/>
            </a:pPr>
            <a:r>
              <a:rPr lang="en-IN" sz="1800" dirty="0"/>
              <a:t>&lt;dependency&gt;</a:t>
            </a:r>
          </a:p>
          <a:p>
            <a:pPr marL="457200" lvl="1" indent="0">
              <a:buFontTx/>
              <a:buNone/>
              <a:defRPr/>
            </a:pPr>
            <a:r>
              <a:rPr lang="en-IN" sz="1800" dirty="0"/>
              <a:t>    &lt;</a:t>
            </a:r>
            <a:r>
              <a:rPr lang="en-IN" sz="1800" dirty="0" err="1"/>
              <a:t>groupId</a:t>
            </a:r>
            <a:r>
              <a:rPr lang="en-IN" sz="1800" dirty="0"/>
              <a:t>&gt;</a:t>
            </a:r>
            <a:r>
              <a:rPr lang="en-IN" sz="1800" dirty="0" err="1"/>
              <a:t>org.springframework.cloud</a:t>
            </a:r>
            <a:r>
              <a:rPr lang="en-IN" sz="1800" dirty="0"/>
              <a:t>&lt;/</a:t>
            </a:r>
            <a:r>
              <a:rPr lang="en-IN" sz="1800" dirty="0" err="1"/>
              <a:t>groupId</a:t>
            </a:r>
            <a:r>
              <a:rPr lang="en-IN" sz="1800" dirty="0"/>
              <a:t>&gt;</a:t>
            </a:r>
          </a:p>
          <a:p>
            <a:pPr marL="457200" lvl="1" indent="0">
              <a:buFontTx/>
              <a:buNone/>
              <a:defRPr/>
            </a:pPr>
            <a:r>
              <a:rPr lang="en-IN" sz="1800" dirty="0"/>
              <a:t>    &lt;</a:t>
            </a:r>
            <a:r>
              <a:rPr lang="en-IN" sz="1800" dirty="0" err="1"/>
              <a:t>artifactId</a:t>
            </a:r>
            <a:r>
              <a:rPr lang="en-IN" sz="1800" dirty="0"/>
              <a:t>&gt;spring-cloud-starter-</a:t>
            </a:r>
            <a:r>
              <a:rPr lang="en-IN" sz="1800" dirty="0" err="1"/>
              <a:t>kubernetes</a:t>
            </a:r>
            <a:r>
              <a:rPr lang="en-IN" sz="1800" dirty="0"/>
              <a:t>&lt;/</a:t>
            </a:r>
            <a:r>
              <a:rPr lang="en-IN" sz="1800" dirty="0" err="1"/>
              <a:t>artifactId</a:t>
            </a:r>
            <a:r>
              <a:rPr lang="en-IN" sz="1800" dirty="0"/>
              <a:t>&gt;</a:t>
            </a:r>
          </a:p>
          <a:p>
            <a:pPr marL="457200" lvl="1" indent="0">
              <a:buFontTx/>
              <a:buNone/>
              <a:defRPr/>
            </a:pPr>
            <a:r>
              <a:rPr lang="en-IN" sz="1800" dirty="0"/>
              <a:t>    &lt;version&gt;1.1.10.RELEASE&lt;/version&gt;</a:t>
            </a:r>
          </a:p>
          <a:p>
            <a:pPr marL="457200" lvl="1" indent="0">
              <a:buFontTx/>
              <a:buNone/>
              <a:defRPr/>
            </a:pPr>
            <a:r>
              <a:rPr lang="en-IN" sz="1800" dirty="0"/>
              <a:t>&lt;/dependency&gt;</a:t>
            </a:r>
          </a:p>
          <a:p>
            <a:pPr>
              <a:defRPr/>
            </a:pPr>
            <a:endParaRPr lang="en-IN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2A413FF2-0B15-C330-179A-47146AA082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Discovery Client</a:t>
            </a:r>
            <a:endParaRPr lang="en-IN" altLang="en-US"/>
          </a:p>
        </p:txBody>
      </p:sp>
      <p:sp>
        <p:nvSpPr>
          <p:cNvPr id="48130" name="Content Placeholder 2">
            <a:extLst>
              <a:ext uri="{FF2B5EF4-FFF2-40B4-BE49-F238E27FC236}">
                <a16:creationId xmlns:a16="http://schemas.microsoft.com/office/drawing/2014/main" id="{EAD86DC9-DCBA-BD64-A77E-54EF12A295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IN" altLang="en-US" sz="2000" dirty="0">
                <a:solidFill>
                  <a:srgbClr val="646464"/>
                </a:solidFill>
              </a:rPr>
              <a:t>@</a:t>
            </a:r>
            <a:r>
              <a:rPr lang="en-IN" altLang="en-US" sz="2000" dirty="0" err="1">
                <a:solidFill>
                  <a:srgbClr val="646464"/>
                </a:solidFill>
              </a:rPr>
              <a:t>SpringBootApplication</a:t>
            </a:r>
            <a:endParaRPr lang="en-IN" altLang="en-US" sz="2000" dirty="0">
              <a:solidFill>
                <a:srgbClr val="646464"/>
              </a:solidFill>
            </a:endParaRPr>
          </a:p>
          <a:p>
            <a:pPr marL="457200" lvl="1" indent="0">
              <a:buFontTx/>
              <a:buNone/>
            </a:pPr>
            <a:r>
              <a:rPr lang="en-IN" altLang="en-US" sz="2000" b="1" dirty="0">
                <a:solidFill>
                  <a:srgbClr val="C00000"/>
                </a:solidFill>
              </a:rPr>
              <a:t>@</a:t>
            </a:r>
            <a:r>
              <a:rPr lang="en-IN" altLang="en-US" sz="2000" b="1" dirty="0" err="1">
                <a:solidFill>
                  <a:srgbClr val="C00000"/>
                </a:solidFill>
              </a:rPr>
              <a:t>EnableDiscoveryClient</a:t>
            </a:r>
            <a:endParaRPr lang="en-IN" altLang="en-US" sz="2000" b="1" dirty="0">
              <a:solidFill>
                <a:srgbClr val="C00000"/>
              </a:solidFill>
            </a:endParaRPr>
          </a:p>
          <a:p>
            <a:pPr marL="457200" lvl="1" indent="0">
              <a:buFontTx/>
              <a:buNone/>
            </a:pPr>
            <a:r>
              <a:rPr lang="en-IN" altLang="en-US" sz="2000" b="1" dirty="0">
                <a:solidFill>
                  <a:srgbClr val="7F0055"/>
                </a:solidFill>
              </a:rPr>
              <a:t>public</a:t>
            </a:r>
            <a:r>
              <a:rPr lang="en-IN" altLang="en-US" sz="2000" b="1" dirty="0">
                <a:solidFill>
                  <a:srgbClr val="000000"/>
                </a:solidFill>
              </a:rPr>
              <a:t> </a:t>
            </a:r>
            <a:r>
              <a:rPr lang="en-IN" altLang="en-US" sz="2000" b="1" dirty="0">
                <a:solidFill>
                  <a:srgbClr val="7F0055"/>
                </a:solidFill>
              </a:rPr>
              <a:t>class</a:t>
            </a:r>
            <a:r>
              <a:rPr lang="en-IN" altLang="en-US" sz="2000" b="1" dirty="0">
                <a:solidFill>
                  <a:srgbClr val="000000"/>
                </a:solidFill>
              </a:rPr>
              <a:t> </a:t>
            </a:r>
            <a:r>
              <a:rPr lang="en-IN" altLang="en-US" sz="2000" b="1" dirty="0" err="1">
                <a:solidFill>
                  <a:srgbClr val="000000"/>
                </a:solidFill>
              </a:rPr>
              <a:t>ClientForKubeServiceApplication</a:t>
            </a:r>
            <a:r>
              <a:rPr lang="en-IN" altLang="en-US" sz="2000" b="1" dirty="0">
                <a:solidFill>
                  <a:srgbClr val="000000"/>
                </a:solidFill>
              </a:rPr>
              <a:t> {</a:t>
            </a:r>
          </a:p>
          <a:p>
            <a:pPr marL="457200" lvl="1" indent="0">
              <a:buFontTx/>
              <a:buNone/>
            </a:pPr>
            <a:endParaRPr lang="en-IN" altLang="en-US" sz="2000" dirty="0"/>
          </a:p>
          <a:p>
            <a:pPr marL="457200" lvl="1" indent="0">
              <a:buFontTx/>
              <a:buNone/>
            </a:pPr>
            <a:r>
              <a:rPr lang="en-US" altLang="en-US" sz="2000" b="1" dirty="0">
                <a:solidFill>
                  <a:srgbClr val="7F0055"/>
                </a:solidFill>
              </a:rPr>
              <a:t>public</a:t>
            </a:r>
            <a:r>
              <a:rPr lang="en-US" altLang="en-US" sz="2000" b="1" dirty="0">
                <a:solidFill>
                  <a:srgbClr val="000000"/>
                </a:solidFill>
              </a:rPr>
              <a:t> </a:t>
            </a:r>
            <a:r>
              <a:rPr lang="en-US" altLang="en-US" sz="2000" b="1" dirty="0">
                <a:solidFill>
                  <a:srgbClr val="7F0055"/>
                </a:solidFill>
              </a:rPr>
              <a:t>static</a:t>
            </a:r>
            <a:r>
              <a:rPr lang="en-US" altLang="en-US" sz="2000" b="1" dirty="0">
                <a:solidFill>
                  <a:srgbClr val="000000"/>
                </a:solidFill>
              </a:rPr>
              <a:t> </a:t>
            </a:r>
            <a:r>
              <a:rPr lang="en-US" altLang="en-US" sz="2000" b="1" dirty="0">
                <a:solidFill>
                  <a:srgbClr val="7F0055"/>
                </a:solidFill>
              </a:rPr>
              <a:t>void</a:t>
            </a:r>
            <a:r>
              <a:rPr lang="en-US" altLang="en-US" sz="2000" b="1" dirty="0">
                <a:solidFill>
                  <a:srgbClr val="000000"/>
                </a:solidFill>
              </a:rPr>
              <a:t> main(String[] </a:t>
            </a:r>
            <a:r>
              <a:rPr lang="en-US" altLang="en-US" sz="2000" b="1" dirty="0" err="1">
                <a:solidFill>
                  <a:srgbClr val="6A3E3E"/>
                </a:solidFill>
              </a:rPr>
              <a:t>args</a:t>
            </a:r>
            <a:r>
              <a:rPr lang="en-US" altLang="en-US" sz="2000" b="1" dirty="0">
                <a:solidFill>
                  <a:srgbClr val="000000"/>
                </a:solidFill>
              </a:rPr>
              <a:t>) {</a:t>
            </a:r>
          </a:p>
          <a:p>
            <a:pPr marL="457200" lvl="1" indent="0">
              <a:buFontTx/>
              <a:buNone/>
            </a:pPr>
            <a:r>
              <a:rPr lang="en-IN" altLang="en-US" sz="2000" dirty="0" err="1">
                <a:solidFill>
                  <a:srgbClr val="000000"/>
                </a:solidFill>
              </a:rPr>
              <a:t>SpringApplication.</a:t>
            </a:r>
            <a:r>
              <a:rPr lang="en-IN" altLang="en-US" sz="2000" i="1" dirty="0" err="1">
                <a:solidFill>
                  <a:srgbClr val="000000"/>
                </a:solidFill>
              </a:rPr>
              <a:t>run</a:t>
            </a:r>
            <a:r>
              <a:rPr lang="en-IN" altLang="en-US" sz="2000" i="1" dirty="0">
                <a:solidFill>
                  <a:srgbClr val="000000"/>
                </a:solidFill>
              </a:rPr>
              <a:t>(</a:t>
            </a:r>
            <a:r>
              <a:rPr lang="en-IN" altLang="en-US" sz="2000" i="1" dirty="0" err="1">
                <a:solidFill>
                  <a:srgbClr val="000000"/>
                </a:solidFill>
              </a:rPr>
              <a:t>ClientForKubeServiceApplication.</a:t>
            </a:r>
            <a:r>
              <a:rPr lang="en-IN" altLang="en-US" sz="2000" b="1" i="1" dirty="0" err="1">
                <a:solidFill>
                  <a:srgbClr val="7F0055"/>
                </a:solidFill>
              </a:rPr>
              <a:t>class</a:t>
            </a:r>
            <a:r>
              <a:rPr lang="en-IN" altLang="en-US" sz="2000" b="1" i="1" dirty="0">
                <a:solidFill>
                  <a:srgbClr val="000000"/>
                </a:solidFill>
              </a:rPr>
              <a:t>, </a:t>
            </a:r>
            <a:r>
              <a:rPr lang="en-IN" altLang="en-US" sz="2000" b="1" i="1" dirty="0" err="1">
                <a:solidFill>
                  <a:srgbClr val="6A3E3E"/>
                </a:solidFill>
              </a:rPr>
              <a:t>args</a:t>
            </a:r>
            <a:r>
              <a:rPr lang="en-IN" altLang="en-US" sz="2000" b="1" i="1" dirty="0">
                <a:solidFill>
                  <a:srgbClr val="000000"/>
                </a:solidFill>
              </a:rPr>
              <a:t>);</a:t>
            </a:r>
          </a:p>
          <a:p>
            <a:pPr marL="457200" lvl="1" indent="0">
              <a:buFontTx/>
              <a:buNone/>
            </a:pPr>
            <a:r>
              <a:rPr lang="en-IN" altLang="en-US" sz="2000" dirty="0">
                <a:solidFill>
                  <a:srgbClr val="000000"/>
                </a:solidFill>
              </a:rPr>
              <a:t>}</a:t>
            </a:r>
          </a:p>
          <a:p>
            <a:pPr marL="457200" lvl="1" indent="0">
              <a:buFontTx/>
              <a:buNone/>
            </a:pPr>
            <a:endParaRPr lang="en-IN" altLang="en-US" sz="2000" dirty="0"/>
          </a:p>
          <a:p>
            <a:pPr marL="457200" lvl="1" indent="0">
              <a:buFontTx/>
              <a:buNone/>
            </a:pPr>
            <a:r>
              <a:rPr lang="en-IN" altLang="en-US" sz="2000" dirty="0">
                <a:solidFill>
                  <a:srgbClr val="646464"/>
                </a:solidFill>
              </a:rPr>
              <a:t>@Bean</a:t>
            </a:r>
          </a:p>
          <a:p>
            <a:pPr marL="457200" lvl="1" indent="0">
              <a:buFontTx/>
              <a:buNone/>
            </a:pPr>
            <a:r>
              <a:rPr lang="en-IN" altLang="en-US" sz="2000" b="1" dirty="0">
                <a:solidFill>
                  <a:srgbClr val="7F0055"/>
                </a:solidFill>
              </a:rPr>
              <a:t>public</a:t>
            </a:r>
            <a:r>
              <a:rPr lang="en-IN" altLang="en-US" sz="2000" b="1" dirty="0">
                <a:solidFill>
                  <a:srgbClr val="000000"/>
                </a:solidFill>
              </a:rPr>
              <a:t> </a:t>
            </a:r>
            <a:r>
              <a:rPr lang="en-IN" altLang="en-US" sz="2000" b="1" dirty="0" err="1">
                <a:solidFill>
                  <a:srgbClr val="000000"/>
                </a:solidFill>
              </a:rPr>
              <a:t>RestTemplate</a:t>
            </a:r>
            <a:r>
              <a:rPr lang="en-IN" altLang="en-US" sz="2000" b="1" dirty="0">
                <a:solidFill>
                  <a:srgbClr val="000000"/>
                </a:solidFill>
              </a:rPr>
              <a:t> </a:t>
            </a:r>
            <a:r>
              <a:rPr lang="en-IN" altLang="en-US" sz="2000" b="1" dirty="0" err="1">
                <a:solidFill>
                  <a:srgbClr val="000000"/>
                </a:solidFill>
              </a:rPr>
              <a:t>restTemplate</a:t>
            </a:r>
            <a:r>
              <a:rPr lang="en-IN" altLang="en-US" sz="2000" b="1" dirty="0">
                <a:solidFill>
                  <a:srgbClr val="000000"/>
                </a:solidFill>
              </a:rPr>
              <a:t>() {</a:t>
            </a:r>
          </a:p>
          <a:p>
            <a:pPr marL="457200" lvl="1" indent="0">
              <a:buFontTx/>
              <a:buNone/>
            </a:pPr>
            <a:r>
              <a:rPr lang="en-IN" altLang="en-US" sz="2000" b="1" dirty="0">
                <a:solidFill>
                  <a:srgbClr val="7F0055"/>
                </a:solidFill>
              </a:rPr>
              <a:t>return</a:t>
            </a:r>
            <a:r>
              <a:rPr lang="en-IN" altLang="en-US" sz="2000" b="1" dirty="0">
                <a:solidFill>
                  <a:srgbClr val="000000"/>
                </a:solidFill>
              </a:rPr>
              <a:t> </a:t>
            </a:r>
            <a:r>
              <a:rPr lang="en-IN" altLang="en-US" sz="2000" b="1" dirty="0">
                <a:solidFill>
                  <a:srgbClr val="7F0055"/>
                </a:solidFill>
              </a:rPr>
              <a:t>new</a:t>
            </a:r>
            <a:r>
              <a:rPr lang="en-IN" altLang="en-US" sz="2000" b="1" dirty="0">
                <a:solidFill>
                  <a:srgbClr val="000000"/>
                </a:solidFill>
              </a:rPr>
              <a:t> </a:t>
            </a:r>
            <a:r>
              <a:rPr lang="en-IN" altLang="en-US" sz="2000" b="1" dirty="0" err="1">
                <a:solidFill>
                  <a:srgbClr val="000000"/>
                </a:solidFill>
              </a:rPr>
              <a:t>RestTemplate</a:t>
            </a:r>
            <a:r>
              <a:rPr lang="en-IN" altLang="en-US" sz="2000" b="1" dirty="0">
                <a:solidFill>
                  <a:srgbClr val="000000"/>
                </a:solidFill>
              </a:rPr>
              <a:t>();</a:t>
            </a:r>
          </a:p>
          <a:p>
            <a:pPr marL="457200" lvl="1" indent="0">
              <a:buFontTx/>
              <a:buNone/>
            </a:pPr>
            <a:r>
              <a:rPr lang="en-IN" altLang="en-US" sz="2000" dirty="0">
                <a:solidFill>
                  <a:srgbClr val="000000"/>
                </a:solidFill>
              </a:rPr>
              <a:t>}</a:t>
            </a:r>
            <a:endParaRPr lang="en-IN" altLang="en-US" sz="2000" dirty="0"/>
          </a:p>
          <a:p>
            <a:pPr marL="457200" lvl="1" indent="0">
              <a:buFontTx/>
              <a:buNone/>
            </a:pPr>
            <a:r>
              <a:rPr lang="en-IN" altLang="en-US" sz="2000" dirty="0">
                <a:solidFill>
                  <a:srgbClr val="000000"/>
                </a:solidFill>
              </a:rPr>
              <a:t>}</a:t>
            </a:r>
            <a:endParaRPr lang="en-IN" alt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>
            <a:extLst>
              <a:ext uri="{FF2B5EF4-FFF2-40B4-BE49-F238E27FC236}">
                <a16:creationId xmlns:a16="http://schemas.microsoft.com/office/drawing/2014/main" id="{340DEDA4-6BC6-B4C2-FFB4-213A17F03B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Client Controller</a:t>
            </a:r>
            <a:endParaRPr lang="en-IN" altLang="en-US"/>
          </a:p>
        </p:txBody>
      </p:sp>
      <p:sp>
        <p:nvSpPr>
          <p:cNvPr id="49154" name="Content Placeholder 2">
            <a:extLst>
              <a:ext uri="{FF2B5EF4-FFF2-40B4-BE49-F238E27FC236}">
                <a16:creationId xmlns:a16="http://schemas.microsoft.com/office/drawing/2014/main" id="{3069F91F-B53B-C1F5-06BF-AE8C1C4B23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IN" sz="1800" dirty="0"/>
              <a:t> private final </a:t>
            </a:r>
            <a:r>
              <a:rPr lang="en-IN" sz="1800" dirty="0" err="1"/>
              <a:t>WebClient</a:t>
            </a:r>
            <a:r>
              <a:rPr lang="en-IN" sz="1800" dirty="0"/>
              <a:t> </a:t>
            </a:r>
            <a:r>
              <a:rPr lang="en-IN" sz="1800" dirty="0" err="1"/>
              <a:t>webClient</a:t>
            </a:r>
            <a:r>
              <a:rPr lang="en-IN" sz="1800" dirty="0"/>
              <a:t> = </a:t>
            </a:r>
            <a:r>
              <a:rPr lang="en-IN" sz="1800" dirty="0" err="1"/>
              <a:t>WebClient.create</a:t>
            </a:r>
            <a:r>
              <a:rPr lang="en-IN" sz="1800" dirty="0"/>
              <a:t>("http://52.140.56.101");</a:t>
            </a:r>
          </a:p>
          <a:p>
            <a:pPr marL="457200" lvl="1" indent="0">
              <a:buNone/>
            </a:pPr>
            <a:endParaRPr lang="en-IN" sz="1800" dirty="0"/>
          </a:p>
          <a:p>
            <a:pPr marL="457200" lvl="1" indent="0">
              <a:buNone/>
            </a:pPr>
            <a:r>
              <a:rPr lang="en-IN" sz="1800" dirty="0"/>
              <a:t>    public void </a:t>
            </a:r>
            <a:r>
              <a:rPr lang="en-IN" sz="1800" dirty="0" err="1"/>
              <a:t>getHotelHeaders</a:t>
            </a:r>
            <a:r>
              <a:rPr lang="en-IN" sz="1800" dirty="0"/>
              <a:t>() {</a:t>
            </a:r>
          </a:p>
          <a:p>
            <a:pPr marL="457200" lvl="1" indent="0">
              <a:buNone/>
            </a:pPr>
            <a:r>
              <a:rPr lang="en-IN" sz="1800" dirty="0"/>
              <a:t>        </a:t>
            </a:r>
            <a:r>
              <a:rPr lang="en-IN" sz="1800" dirty="0" err="1"/>
              <a:t>webClient.get</a:t>
            </a:r>
            <a:r>
              <a:rPr lang="en-IN" sz="1800" dirty="0"/>
              <a:t>()</a:t>
            </a:r>
          </a:p>
          <a:p>
            <a:pPr marL="457200" lvl="1" indent="0">
              <a:buNone/>
            </a:pPr>
            <a:r>
              <a:rPr lang="en-IN" sz="1800" dirty="0"/>
              <a:t>                .</a:t>
            </a:r>
            <a:r>
              <a:rPr lang="en-IN" sz="1800" dirty="0" err="1"/>
              <a:t>uri</a:t>
            </a:r>
            <a:r>
              <a:rPr lang="en-IN" sz="1800" dirty="0"/>
              <a:t>("/</a:t>
            </a:r>
            <a:r>
              <a:rPr lang="en-IN" sz="1800" dirty="0" err="1"/>
              <a:t>api</a:t>
            </a:r>
            <a:r>
              <a:rPr lang="en-IN" sz="1800" dirty="0"/>
              <a:t>/v1/hotels")</a:t>
            </a:r>
          </a:p>
          <a:p>
            <a:pPr marL="457200" lvl="1" indent="0">
              <a:buNone/>
            </a:pPr>
            <a:r>
              <a:rPr lang="en-IN" sz="1800" dirty="0"/>
              <a:t>                .retrieve()</a:t>
            </a:r>
          </a:p>
          <a:p>
            <a:pPr marL="457200" lvl="1" indent="0">
              <a:buNone/>
            </a:pPr>
            <a:r>
              <a:rPr lang="en-IN" sz="1800" dirty="0"/>
              <a:t>                .subscribe(response -&gt; {</a:t>
            </a:r>
          </a:p>
          <a:p>
            <a:pPr marL="457200" lvl="1" indent="0">
              <a:buNone/>
            </a:pPr>
            <a:r>
              <a:rPr lang="en-IN" sz="1800" dirty="0"/>
              <a:t>                    </a:t>
            </a:r>
            <a:r>
              <a:rPr lang="en-IN" sz="1800" dirty="0" err="1"/>
              <a:t>System.out.println</a:t>
            </a:r>
            <a:r>
              <a:rPr lang="en-IN" sz="1800" dirty="0"/>
              <a:t>("Status Code: " + </a:t>
            </a:r>
            <a:r>
              <a:rPr lang="en-IN" sz="1800" dirty="0" err="1"/>
              <a:t>response.getStatusCode</a:t>
            </a:r>
            <a:r>
              <a:rPr lang="en-IN" sz="1800" dirty="0"/>
              <a:t>());</a:t>
            </a:r>
          </a:p>
          <a:p>
            <a:pPr marL="457200" lvl="1" indent="0">
              <a:buNone/>
            </a:pPr>
            <a:r>
              <a:rPr lang="en-IN" sz="1800" dirty="0"/>
              <a:t>});</a:t>
            </a:r>
          </a:p>
          <a:p>
            <a:pPr marL="457200" lvl="1" indent="0">
              <a:buNone/>
            </a:pPr>
            <a:r>
              <a:rPr lang="en-IN" sz="1800" dirty="0"/>
              <a:t>    }</a:t>
            </a:r>
            <a:endParaRPr lang="en-IN" alt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493C4-ED8D-FEA3-5A22-9AE093F45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2FDD5-2533-4A23-1A95-11F0B0C94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Responsible for managing the lifecycle of application's Pods </a:t>
            </a:r>
          </a:p>
          <a:p>
            <a:pPr lvl="1"/>
            <a:r>
              <a:rPr lang="en-IN" sz="2000" i="1" dirty="0">
                <a:solidFill>
                  <a:srgbClr val="7030A0"/>
                </a:solidFill>
              </a:rPr>
              <a:t>Defines a desired state for application, and the Kubernetes controller ensures that the actual state matches that desire. </a:t>
            </a:r>
          </a:p>
          <a:p>
            <a:endParaRPr lang="en-IN" sz="2000" dirty="0"/>
          </a:p>
          <a:p>
            <a:r>
              <a:rPr lang="en-IN" sz="2000" dirty="0"/>
              <a:t>It guarantees a specified number of replica Pods are always running</a:t>
            </a:r>
          </a:p>
          <a:p>
            <a:pPr lvl="1"/>
            <a:r>
              <a:rPr lang="en-IN" sz="2000" dirty="0"/>
              <a:t> If a Pod crashes or a Node fails, the Deployment controller automatically replaces it.</a:t>
            </a:r>
          </a:p>
          <a:p>
            <a:endParaRPr lang="en-IN" sz="2000" dirty="0"/>
          </a:p>
          <a:p>
            <a:pPr lvl="1"/>
            <a:r>
              <a:rPr lang="en-IN" sz="2000" dirty="0"/>
              <a:t>To scale the number of application replicas up or down, manually or automatically. </a:t>
            </a:r>
          </a:p>
          <a:p>
            <a:endParaRPr lang="en-IN" sz="2000" dirty="0"/>
          </a:p>
          <a:p>
            <a:r>
              <a:rPr lang="en-IN" sz="2000" b="1" dirty="0"/>
              <a:t>It ensures </a:t>
            </a:r>
            <a:r>
              <a:rPr lang="en-IN" sz="2000" b="1" i="1" dirty="0"/>
              <a:t>running</a:t>
            </a:r>
            <a:r>
              <a:rPr lang="en-IN" sz="2000" b="1" dirty="0"/>
              <a:t> and </a:t>
            </a:r>
            <a:r>
              <a:rPr lang="en-IN" sz="2000" b="1" i="1" dirty="0"/>
              <a:t>managing</a:t>
            </a:r>
            <a:r>
              <a:rPr lang="en-IN" sz="2000" b="1" dirty="0"/>
              <a:t>  application workloads</a:t>
            </a:r>
            <a:r>
              <a:rPr lang="en-IN" sz="2000" dirty="0"/>
              <a:t> reliably.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076579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>
            <a:extLst>
              <a:ext uri="{FF2B5EF4-FFF2-40B4-BE49-F238E27FC236}">
                <a16:creationId xmlns:a16="http://schemas.microsoft.com/office/drawing/2014/main" id="{1A8DEA82-215D-BE93-5600-B2B41FA285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Deployment With File</a:t>
            </a:r>
            <a:endParaRPr lang="en-IN" altLang="en-US"/>
          </a:p>
        </p:txBody>
      </p:sp>
      <p:sp>
        <p:nvSpPr>
          <p:cNvPr id="50178" name="Content Placeholder 2">
            <a:extLst>
              <a:ext uri="{FF2B5EF4-FFF2-40B4-BE49-F238E27FC236}">
                <a16:creationId xmlns:a16="http://schemas.microsoft.com/office/drawing/2014/main" id="{51DD028A-941C-F06E-3D7A-CF662B4BE8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>
                <a:solidFill>
                  <a:srgbClr val="1D1D1D"/>
                </a:solidFill>
              </a:rPr>
              <a:t>Deployment can also be done with file configurations</a:t>
            </a:r>
          </a:p>
          <a:p>
            <a:endParaRPr lang="en-US" altLang="en-US" sz="2000" dirty="0"/>
          </a:p>
          <a:p>
            <a:r>
              <a:rPr lang="en-US" altLang="en-US" sz="2000" b="1" dirty="0" err="1"/>
              <a:t>apiVersion</a:t>
            </a:r>
            <a:r>
              <a:rPr lang="en-US" altLang="en-US" sz="2000" b="1" dirty="0"/>
              <a:t> </a:t>
            </a:r>
          </a:p>
          <a:p>
            <a:pPr lvl="1"/>
            <a:r>
              <a:rPr lang="en-US" altLang="en-US" sz="2000" dirty="0"/>
              <a:t> Which version of the Kubernetes API you're using to create this object</a:t>
            </a:r>
          </a:p>
          <a:p>
            <a:r>
              <a:rPr lang="en-US" altLang="en-US" sz="2000" b="1" dirty="0"/>
              <a:t>kind </a:t>
            </a:r>
          </a:p>
          <a:p>
            <a:pPr lvl="1"/>
            <a:r>
              <a:rPr lang="en-US" altLang="en-US" sz="2000" dirty="0"/>
              <a:t> What kind of object you want to create</a:t>
            </a:r>
          </a:p>
          <a:p>
            <a:r>
              <a:rPr lang="en-US" altLang="en-US" sz="2000" b="1" dirty="0"/>
              <a:t>metadata </a:t>
            </a:r>
          </a:p>
          <a:p>
            <a:pPr lvl="1"/>
            <a:r>
              <a:rPr lang="en-US" altLang="en-US" sz="2000" dirty="0"/>
              <a:t> Data that helps uniquely identify the object, including a name string, UID, and optional namespace</a:t>
            </a:r>
          </a:p>
          <a:p>
            <a:r>
              <a:rPr lang="en-US" altLang="en-US" sz="2000" b="1" dirty="0"/>
              <a:t>spec </a:t>
            </a:r>
          </a:p>
          <a:p>
            <a:pPr lvl="1"/>
            <a:r>
              <a:rPr lang="en-US" altLang="en-US" sz="2000" dirty="0"/>
              <a:t>The  state  desired for the object</a:t>
            </a:r>
          </a:p>
          <a:p>
            <a:pPr lvl="1"/>
            <a:endParaRPr lang="en-US" alt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>
            <a:extLst>
              <a:ext uri="{FF2B5EF4-FFF2-40B4-BE49-F238E27FC236}">
                <a16:creationId xmlns:a16="http://schemas.microsoft.com/office/drawing/2014/main" id="{B4F68855-A3C4-E1F5-2809-A46B569252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Deployment With File</a:t>
            </a:r>
            <a:endParaRPr lang="en-IN" altLang="en-US"/>
          </a:p>
        </p:txBody>
      </p:sp>
      <p:sp>
        <p:nvSpPr>
          <p:cNvPr id="51202" name="Content Placeholder 2">
            <a:extLst>
              <a:ext uri="{FF2B5EF4-FFF2-40B4-BE49-F238E27FC236}">
                <a16:creationId xmlns:a16="http://schemas.microsoft.com/office/drawing/2014/main" id="{13712ED7-C0FD-68A3-1C25-7789A48D63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r>
              <a:rPr lang="en-US" altLang="en-US" sz="2000" b="1" dirty="0"/>
              <a:t>selector </a:t>
            </a:r>
          </a:p>
          <a:p>
            <a:pPr lvl="1"/>
            <a:r>
              <a:rPr lang="en-US" altLang="en-US" sz="2000" dirty="0"/>
              <a:t>specifies that as the </a:t>
            </a:r>
            <a:r>
              <a:rPr lang="en-US" altLang="en-US" sz="2000" dirty="0" err="1"/>
              <a:t>matchLabels</a:t>
            </a:r>
            <a:r>
              <a:rPr lang="en-US" altLang="en-US" sz="2000" dirty="0"/>
              <a:t>.</a:t>
            </a:r>
          </a:p>
          <a:p>
            <a:pPr lvl="1"/>
            <a:r>
              <a:rPr lang="en-IN" sz="2000" dirty="0" err="1"/>
              <a:t>spec.selector.matchLabels</a:t>
            </a:r>
            <a:r>
              <a:rPr lang="en-IN" sz="2000" dirty="0"/>
              <a:t> </a:t>
            </a:r>
            <a:r>
              <a:rPr lang="en-IN" sz="2000" b="1" dirty="0"/>
              <a:t>must</a:t>
            </a:r>
            <a:r>
              <a:rPr lang="en-IN" sz="2000" dirty="0"/>
              <a:t> match the </a:t>
            </a:r>
            <a:r>
              <a:rPr lang="en-IN" sz="2000" dirty="0" err="1"/>
              <a:t>spec.template.metadata.labels</a:t>
            </a:r>
            <a:r>
              <a:rPr lang="en-IN" sz="2000" dirty="0"/>
              <a:t>. </a:t>
            </a:r>
            <a:endParaRPr lang="en-US" altLang="en-US" sz="2000" dirty="0"/>
          </a:p>
          <a:p>
            <a:r>
              <a:rPr lang="en-US" altLang="en-US" sz="2000" b="1" dirty="0">
                <a:solidFill>
                  <a:srgbClr val="1D1D1D"/>
                </a:solidFill>
              </a:rPr>
              <a:t>replicas </a:t>
            </a:r>
          </a:p>
          <a:p>
            <a:pPr lvl="1"/>
            <a:r>
              <a:rPr lang="en-US" altLang="en-US" sz="2000" dirty="0">
                <a:solidFill>
                  <a:srgbClr val="1D1D1D"/>
                </a:solidFill>
              </a:rPr>
              <a:t>The Number of pods to be created, </a:t>
            </a:r>
          </a:p>
          <a:p>
            <a:r>
              <a:rPr lang="en-US" altLang="en-US" sz="2000" b="1" dirty="0">
                <a:solidFill>
                  <a:srgbClr val="1D1D1D"/>
                </a:solidFill>
              </a:rPr>
              <a:t>selector </a:t>
            </a:r>
          </a:p>
          <a:p>
            <a:pPr lvl="1"/>
            <a:r>
              <a:rPr lang="en-US" altLang="en-US" sz="2000" dirty="0">
                <a:solidFill>
                  <a:srgbClr val="1D1D1D"/>
                </a:solidFill>
              </a:rPr>
              <a:t>The One which the controller will select the targeted pods. </a:t>
            </a:r>
          </a:p>
          <a:p>
            <a:r>
              <a:rPr lang="en-US" altLang="en-US" sz="2000" b="1" dirty="0">
                <a:solidFill>
                  <a:srgbClr val="1D1D1D"/>
                </a:solidFill>
              </a:rPr>
              <a:t>label </a:t>
            </a:r>
          </a:p>
          <a:p>
            <a:pPr lvl="1"/>
            <a:r>
              <a:rPr lang="en-US" altLang="en-US" sz="2000" dirty="0">
                <a:solidFill>
                  <a:srgbClr val="1D1D1D"/>
                </a:solidFill>
              </a:rPr>
              <a:t>is used to select the necessary pods using the </a:t>
            </a:r>
            <a:r>
              <a:rPr lang="en-US" altLang="en-US" sz="2000" dirty="0" err="1">
                <a:solidFill>
                  <a:srgbClr val="1D1D1D"/>
                </a:solidFill>
              </a:rPr>
              <a:t>matchLabels</a:t>
            </a:r>
            <a:r>
              <a:rPr lang="en-US" altLang="en-US" sz="2000" dirty="0">
                <a:solidFill>
                  <a:srgbClr val="1D1D1D"/>
                </a:solidFill>
              </a:rPr>
              <a:t> field. </a:t>
            </a:r>
          </a:p>
          <a:p>
            <a:r>
              <a:rPr lang="en-US" altLang="en-US" sz="2000" b="1" dirty="0">
                <a:solidFill>
                  <a:srgbClr val="1D1D1D"/>
                </a:solidFill>
              </a:rPr>
              <a:t>template </a:t>
            </a:r>
          </a:p>
          <a:p>
            <a:pPr lvl="1"/>
            <a:r>
              <a:rPr lang="en-US" altLang="en-US" sz="2000" dirty="0">
                <a:solidFill>
                  <a:srgbClr val="1D1D1D"/>
                </a:solidFill>
              </a:rPr>
              <a:t>Actual template for the pod. </a:t>
            </a:r>
          </a:p>
          <a:p>
            <a:pPr lvl="1"/>
            <a:r>
              <a:rPr lang="en-US" altLang="en-US" sz="2000" dirty="0">
                <a:solidFill>
                  <a:srgbClr val="1D1D1D"/>
                </a:solidFill>
              </a:rPr>
              <a:t>Metadata that each pod will have with the specs</a:t>
            </a:r>
            <a:endParaRPr lang="en-I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>
            <a:extLst>
              <a:ext uri="{FF2B5EF4-FFF2-40B4-BE49-F238E27FC236}">
                <a16:creationId xmlns:a16="http://schemas.microsoft.com/office/drawing/2014/main" id="{E87EAF49-003E-21FA-99A0-AEFE021F06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deployment.yaml</a:t>
            </a:r>
            <a:endParaRPr lang="en-IN" altLang="en-US"/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88F1DFAC-3125-BA34-23CB-BCA7A0C3B5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FontTx/>
              <a:buNone/>
              <a:defRPr/>
            </a:pPr>
            <a:r>
              <a:rPr lang="en-IN" altLang="en-US" sz="2000" dirty="0" err="1">
                <a:latin typeface="Consolas" panose="020B0609020204030204" pitchFamily="49" charset="0"/>
              </a:rPr>
              <a:t>apiVersion</a:t>
            </a:r>
            <a:r>
              <a:rPr lang="en-IN" altLang="en-US" sz="2000" dirty="0">
                <a:latin typeface="Consolas" panose="020B0609020204030204" pitchFamily="49" charset="0"/>
              </a:rPr>
              <a:t>: apps/v1</a:t>
            </a:r>
          </a:p>
          <a:p>
            <a:pPr marL="457200" lvl="1" indent="0">
              <a:buFontTx/>
              <a:buNone/>
              <a:defRPr/>
            </a:pPr>
            <a:r>
              <a:rPr lang="en-IN" altLang="en-US" sz="2000" dirty="0">
                <a:latin typeface="Consolas" panose="020B0609020204030204" pitchFamily="49" charset="0"/>
              </a:rPr>
              <a:t>kind: Deployment </a:t>
            </a:r>
          </a:p>
          <a:p>
            <a:pPr marL="457200" lvl="1" indent="0">
              <a:buFontTx/>
              <a:buNone/>
              <a:defRPr/>
            </a:pPr>
            <a:r>
              <a:rPr lang="en-IN" altLang="en-US" sz="2000" dirty="0">
                <a:latin typeface="Consolas" panose="020B0609020204030204" pitchFamily="49" charset="0"/>
              </a:rPr>
              <a:t>metadata:</a:t>
            </a:r>
          </a:p>
          <a:p>
            <a:pPr marL="457200" lvl="1" indent="0">
              <a:buFontTx/>
              <a:buNone/>
              <a:defRPr/>
            </a:pPr>
            <a:r>
              <a:rPr lang="en-US" altLang="en-US" sz="2000" dirty="0">
                <a:latin typeface="Consolas" panose="020B0609020204030204" pitchFamily="49" charset="0"/>
              </a:rPr>
              <a:t>  name: </a:t>
            </a: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teacher-k8s</a:t>
            </a:r>
          </a:p>
          <a:p>
            <a:pPr marL="457200" lvl="1" indent="0">
              <a:buFontTx/>
              <a:buNone/>
              <a:defRPr/>
            </a:pPr>
            <a:r>
              <a:rPr lang="en-IN" altLang="en-US" sz="2000" dirty="0">
                <a:latin typeface="Consolas" panose="020B0609020204030204" pitchFamily="49" charset="0"/>
              </a:rPr>
              <a:t>spec:</a:t>
            </a:r>
          </a:p>
          <a:p>
            <a:pPr marL="457200" lvl="1" indent="0">
              <a:buFontTx/>
              <a:buNone/>
              <a:defRPr/>
            </a:pPr>
            <a:r>
              <a:rPr lang="en-IN" altLang="en-US" sz="2000" dirty="0">
                <a:latin typeface="Consolas" panose="020B0609020204030204" pitchFamily="49" charset="0"/>
              </a:rPr>
              <a:t>  selector:</a:t>
            </a:r>
          </a:p>
          <a:p>
            <a:pPr marL="457200" lvl="1" indent="0">
              <a:buFontTx/>
              <a:buNone/>
              <a:defRPr/>
            </a:pPr>
            <a:r>
              <a:rPr lang="en-IN" altLang="en-US" sz="2000" dirty="0">
                <a:latin typeface="Consolas" panose="020B0609020204030204" pitchFamily="49" charset="0"/>
              </a:rPr>
              <a:t>    </a:t>
            </a:r>
            <a:r>
              <a:rPr lang="en-IN" altLang="en-US" sz="2000" dirty="0" err="1">
                <a:latin typeface="Consolas" panose="020B0609020204030204" pitchFamily="49" charset="0"/>
              </a:rPr>
              <a:t>matchLabels</a:t>
            </a:r>
            <a:r>
              <a:rPr lang="en-IN" altLang="en-US" sz="2000" dirty="0">
                <a:latin typeface="Consolas" panose="020B0609020204030204" pitchFamily="49" charset="0"/>
              </a:rPr>
              <a:t>:</a:t>
            </a:r>
          </a:p>
          <a:p>
            <a:pPr marL="457200" lvl="1" indent="0">
              <a:buFontTx/>
              <a:buNone/>
              <a:defRPr/>
            </a:pPr>
            <a:r>
              <a:rPr lang="en-US" altLang="en-US" sz="2000" dirty="0">
                <a:latin typeface="Consolas" panose="020B0609020204030204" pitchFamily="49" charset="0"/>
              </a:rPr>
              <a:t>      app: </a:t>
            </a: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teacher-k8s</a:t>
            </a:r>
            <a:r>
              <a:rPr lang="en-US" altLang="en-US" sz="2000" dirty="0">
                <a:latin typeface="Consolas" panose="020B0609020204030204" pitchFamily="49" charset="0"/>
              </a:rPr>
              <a:t>    </a:t>
            </a:r>
          </a:p>
          <a:p>
            <a:pPr marL="457200" lvl="1" indent="0">
              <a:buFontTx/>
              <a:buNone/>
              <a:defRPr/>
            </a:pP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replicas</a:t>
            </a:r>
            <a:r>
              <a:rPr lang="en-US" altLang="en-US" sz="2000" dirty="0">
                <a:latin typeface="Consolas" panose="020B0609020204030204" pitchFamily="49" charset="0"/>
              </a:rPr>
              <a:t>: 2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>
            <a:extLst>
              <a:ext uri="{FF2B5EF4-FFF2-40B4-BE49-F238E27FC236}">
                <a16:creationId xmlns:a16="http://schemas.microsoft.com/office/drawing/2014/main" id="{54BDFCD8-509B-D017-F8B3-8F3FA9F1BF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Deployment.yaml</a:t>
            </a:r>
            <a:endParaRPr lang="en-IN" altLang="en-US"/>
          </a:p>
        </p:txBody>
      </p:sp>
      <p:sp>
        <p:nvSpPr>
          <p:cNvPr id="53250" name="Content Placeholder 2">
            <a:extLst>
              <a:ext uri="{FF2B5EF4-FFF2-40B4-BE49-F238E27FC236}">
                <a16:creationId xmlns:a16="http://schemas.microsoft.com/office/drawing/2014/main" id="{3C2F4A10-5E87-F46E-4ED2-0DBEBC44F2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00050" lvl="1" indent="0">
              <a:buFontTx/>
              <a:buNone/>
            </a:pPr>
            <a:r>
              <a:rPr lang="en-IN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sz="2000">
                <a:latin typeface="Consolas" panose="020B0609020204030204" pitchFamily="49" charset="0"/>
              </a:rPr>
              <a:t>template: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latin typeface="Consolas" panose="020B0609020204030204" pitchFamily="49" charset="0"/>
              </a:rPr>
              <a:t>    metadata: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latin typeface="Consolas" panose="020B0609020204030204" pitchFamily="49" charset="0"/>
              </a:rPr>
              <a:t>      labels: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latin typeface="Consolas" panose="020B0609020204030204" pitchFamily="49" charset="0"/>
              </a:rPr>
              <a:t>        app: teacher-k8s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latin typeface="Consolas" panose="020B0609020204030204" pitchFamily="49" charset="0"/>
              </a:rPr>
              <a:t>    spec: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latin typeface="Consolas" panose="020B0609020204030204" pitchFamily="49" charset="0"/>
              </a:rPr>
              <a:t>      containers: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latin typeface="Consolas" panose="020B0609020204030204" pitchFamily="49" charset="0"/>
              </a:rPr>
              <a:t>        - name: teacher-service</a:t>
            </a:r>
          </a:p>
          <a:p>
            <a:pPr marL="400050" lvl="1" indent="0">
              <a:buFontTx/>
              <a:buNone/>
            </a:pPr>
            <a:r>
              <a:rPr lang="en-US" altLang="en-US" sz="2000">
                <a:latin typeface="Consolas" panose="020B0609020204030204" pitchFamily="49" charset="0"/>
              </a:rPr>
              <a:t>          image: vatsank/teacher-service:2.0 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latin typeface="Consolas" panose="020B0609020204030204" pitchFamily="49" charset="0"/>
              </a:rPr>
              <a:t>		imagePullPolicy: IfNotPresent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latin typeface="Consolas" panose="020B0609020204030204" pitchFamily="49" charset="0"/>
              </a:rPr>
              <a:t>          ports:</a:t>
            </a:r>
          </a:p>
          <a:p>
            <a:pPr marL="400050" lvl="1" indent="0">
              <a:buFontTx/>
              <a:buNone/>
            </a:pPr>
            <a:r>
              <a:rPr lang="en-US" altLang="en-US" sz="2000">
                <a:latin typeface="Consolas" panose="020B0609020204030204" pitchFamily="49" charset="0"/>
              </a:rPr>
              <a:t>            - containerPort: 6065 </a:t>
            </a:r>
          </a:p>
          <a:p>
            <a:pPr marL="400050" lvl="1" indent="0">
              <a:buFontTx/>
              <a:buNone/>
            </a:pPr>
            <a:endParaRPr lang="en-US" altLang="en-US" sz="2000">
              <a:latin typeface="Consolas" panose="020B0609020204030204" pitchFamily="49" charset="0"/>
            </a:endParaRPr>
          </a:p>
          <a:p>
            <a:pPr marL="400050" lvl="1" indent="0">
              <a:buFontTx/>
              <a:buNone/>
            </a:pPr>
            <a:r>
              <a:rPr lang="en-US" altLang="en-US" sz="2000" b="1">
                <a:solidFill>
                  <a:srgbClr val="0000FF"/>
                </a:solidFill>
              </a:rPr>
              <a:t>kubectl apply -f deployment.yaml</a:t>
            </a:r>
          </a:p>
          <a:p>
            <a:pPr marL="400050" lvl="1" indent="0">
              <a:buFontTx/>
              <a:buNone/>
            </a:pPr>
            <a:endParaRPr lang="en-US" altLang="en-US" sz="200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80416-2E2F-2C6D-6529-9F6E1B75A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35081-C73E-3BFF-99B4-C10DD4B32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A </a:t>
            </a:r>
            <a:r>
              <a:rPr lang="en-IN" sz="2000" dirty="0" err="1"/>
              <a:t>Servicedefines</a:t>
            </a:r>
            <a:r>
              <a:rPr lang="en-IN" sz="2000" dirty="0"/>
              <a:t> a logical set of Pods and a consistent policy for accessing them. </a:t>
            </a:r>
          </a:p>
          <a:p>
            <a:r>
              <a:rPr lang="en-IN" sz="2000" dirty="0"/>
              <a:t>Pods can be created and destroyed, and their IP addresses change frequently. </a:t>
            </a:r>
          </a:p>
          <a:p>
            <a:r>
              <a:rPr lang="en-IN" sz="2000" dirty="0"/>
              <a:t>A Service solves this problem by providing a stable, persistent IP address and DNS name. </a:t>
            </a:r>
            <a:endParaRPr lang="en-IN" sz="2000" b="1" dirty="0"/>
          </a:p>
          <a:p>
            <a:r>
              <a:rPr lang="en-IN" sz="2000" dirty="0"/>
              <a:t>It automatically load-balances incoming network requests across all the healthy Pods that match its defined label selector.</a:t>
            </a:r>
          </a:p>
          <a:p>
            <a:r>
              <a:rPr lang="en-IN" sz="2000" dirty="0"/>
              <a:t>Other components within the cluster can easily discover and communicate with the application using the Service's stable DNS name. </a:t>
            </a:r>
          </a:p>
          <a:p>
            <a:r>
              <a:rPr lang="en-IN" sz="2000" b="1" dirty="0"/>
              <a:t>Service is </a:t>
            </a:r>
            <a:r>
              <a:rPr lang="en-IN" sz="2000" b="1" i="1" dirty="0"/>
              <a:t>networking</a:t>
            </a:r>
            <a:r>
              <a:rPr lang="en-IN" sz="2000" b="1" dirty="0"/>
              <a:t> and </a:t>
            </a:r>
            <a:r>
              <a:rPr lang="en-IN" sz="2000" b="1" i="1" dirty="0"/>
              <a:t>exposing</a:t>
            </a:r>
            <a:r>
              <a:rPr lang="en-IN" sz="2000" b="1" dirty="0"/>
              <a:t>  application</a:t>
            </a:r>
            <a:r>
              <a:rPr lang="en-IN" sz="2000" dirty="0"/>
              <a:t> via a stable entry point. 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998232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>
            <a:extLst>
              <a:ext uri="{FF2B5EF4-FFF2-40B4-BE49-F238E27FC236}">
                <a16:creationId xmlns:a16="http://schemas.microsoft.com/office/drawing/2014/main" id="{9538A23E-BADB-729F-D7C6-7CE0A7A2A7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Service.yaml</a:t>
            </a:r>
            <a:endParaRPr lang="en-IN" altLang="en-US"/>
          </a:p>
        </p:txBody>
      </p:sp>
      <p:sp>
        <p:nvSpPr>
          <p:cNvPr id="54274" name="Content Placeholder 2">
            <a:extLst>
              <a:ext uri="{FF2B5EF4-FFF2-40B4-BE49-F238E27FC236}">
                <a16:creationId xmlns:a16="http://schemas.microsoft.com/office/drawing/2014/main" id="{7318FF4B-1B2A-2318-B982-48BBC070B2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IN" altLang="en-US" sz="2000">
                <a:latin typeface="Consolas" panose="020B0609020204030204" pitchFamily="49" charset="0"/>
              </a:rPr>
              <a:t>apiVersion: v1 </a:t>
            </a:r>
          </a:p>
          <a:p>
            <a:pPr marL="457200" lvl="1" indent="0">
              <a:buFontTx/>
              <a:buNone/>
            </a:pPr>
            <a:r>
              <a:rPr lang="en-US" altLang="en-US" sz="2000">
                <a:latin typeface="Consolas" panose="020B0609020204030204" pitchFamily="49" charset="0"/>
              </a:rPr>
              <a:t>kind: Service </a:t>
            </a:r>
          </a:p>
          <a:p>
            <a:pPr marL="457200" lvl="1" indent="0">
              <a:buFontTx/>
              <a:buNone/>
            </a:pPr>
            <a:r>
              <a:rPr lang="en-US" altLang="en-US" sz="2000">
                <a:latin typeface="Consolas" panose="020B0609020204030204" pitchFamily="49" charset="0"/>
              </a:rPr>
              <a:t>metadata: 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latin typeface="Consolas" panose="020B0609020204030204" pitchFamily="49" charset="0"/>
              </a:rPr>
              <a:t>  name: my-service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latin typeface="Consolas" panose="020B0609020204030204" pitchFamily="49" charset="0"/>
              </a:rPr>
              <a:t>spec: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latin typeface="Consolas" panose="020B0609020204030204" pitchFamily="49" charset="0"/>
              </a:rPr>
              <a:t>  selector: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latin typeface="Consolas" panose="020B0609020204030204" pitchFamily="49" charset="0"/>
              </a:rPr>
              <a:t>    app: teacher-k8s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latin typeface="Consolas" panose="020B0609020204030204" pitchFamily="49" charset="0"/>
              </a:rPr>
              <a:t>  ports:</a:t>
            </a:r>
          </a:p>
          <a:p>
            <a:pPr marL="457200" lvl="1" indent="0">
              <a:buFontTx/>
              <a:buNone/>
            </a:pPr>
            <a:r>
              <a:rPr lang="en-IN" altLang="en-US" sz="2000">
                <a:latin typeface="Consolas" panose="020B0609020204030204" pitchFamily="49" charset="0"/>
              </a:rPr>
              <a:t>    - protocol: "TCP"</a:t>
            </a:r>
          </a:p>
          <a:p>
            <a:pPr marL="457200" lvl="1" indent="0">
              <a:buFontTx/>
              <a:buNone/>
            </a:pPr>
            <a:r>
              <a:rPr lang="en-US" altLang="en-US" sz="2000">
                <a:latin typeface="Consolas" panose="020B0609020204030204" pitchFamily="49" charset="0"/>
              </a:rPr>
              <a:t>      port: 7070 </a:t>
            </a:r>
          </a:p>
          <a:p>
            <a:pPr marL="457200" lvl="1" indent="0">
              <a:buFontTx/>
              <a:buNone/>
            </a:pPr>
            <a:r>
              <a:rPr lang="en-US" altLang="en-US" sz="2000">
                <a:latin typeface="Consolas" panose="020B0609020204030204" pitchFamily="49" charset="0"/>
              </a:rPr>
              <a:t>      targetPort:  </a:t>
            </a:r>
          </a:p>
          <a:p>
            <a:pPr marL="457200" lvl="1" indent="0">
              <a:buFontTx/>
              <a:buNone/>
            </a:pPr>
            <a:r>
              <a:rPr lang="en-US" altLang="en-US" sz="2000">
                <a:latin typeface="Consolas" panose="020B0609020204030204" pitchFamily="49" charset="0"/>
              </a:rPr>
              <a:t>  type: LoadBalancer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CFAFB-EF26-3E74-759B-F7D5EB877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Specificity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18DE5-0442-6AC9-C490-C16316E92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1800" dirty="0">
                <a:solidFill>
                  <a:srgbClr val="7030A0"/>
                </a:solidFill>
              </a:rPr>
              <a:t>For a </a:t>
            </a:r>
            <a:r>
              <a:rPr lang="en-IN" sz="1800" b="1" dirty="0">
                <a:solidFill>
                  <a:srgbClr val="7030A0"/>
                </a:solidFill>
              </a:rPr>
              <a:t>Pod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Spec defines the containers to run, the images to use, ports to expose, volumes, and restart policies.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solidFill>
                  <a:srgbClr val="C00000"/>
                </a:solidFill>
              </a:rPr>
              <a:t>For a </a:t>
            </a:r>
            <a:r>
              <a:rPr lang="en-IN" sz="1800" b="1" dirty="0">
                <a:solidFill>
                  <a:srgbClr val="C00000"/>
                </a:solidFill>
              </a:rPr>
              <a:t>Deployment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Spec defines the number of replicas , the selector to find the pods it manages, and a template which contains the </a:t>
            </a:r>
            <a:r>
              <a:rPr lang="en-IN" sz="1800" i="1" dirty="0"/>
              <a:t>pod's own</a:t>
            </a:r>
            <a:r>
              <a:rPr lang="en-IN" sz="1800" dirty="0"/>
              <a:t> specification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solidFill>
                  <a:schemeClr val="accent6">
                    <a:lumMod val="75000"/>
                  </a:schemeClr>
                </a:solidFill>
              </a:rPr>
              <a:t>For a </a:t>
            </a:r>
            <a:r>
              <a:rPr lang="en-IN" sz="1800" b="1" dirty="0">
                <a:solidFill>
                  <a:schemeClr val="accent6">
                    <a:lumMod val="75000"/>
                  </a:schemeClr>
                </a:solidFill>
              </a:rPr>
              <a:t>Service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Spec defines how to expose the application to the network, including the selector to match pods, ports, and the type of service</a:t>
            </a:r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265645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354E-146A-EA9A-C11C-9A1368E92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 err="1"/>
              <a:t>Kompose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A76E4-E26A-BB10-0047-2DE27B24C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2000" dirty="0"/>
              <a:t>brew install </a:t>
            </a:r>
            <a:r>
              <a:rPr lang="en-IN" sz="2000" dirty="0" err="1"/>
              <a:t>kompose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dirty="0" err="1"/>
              <a:t>kompose</a:t>
            </a:r>
            <a:r>
              <a:rPr lang="en-IN" sz="2000" dirty="0"/>
              <a:t> convert -f </a:t>
            </a:r>
            <a:r>
              <a:rPr lang="en-IN" sz="2000" dirty="0" err="1"/>
              <a:t>compose.yaml</a:t>
            </a:r>
            <a:endParaRPr lang="en-IN" sz="2000" dirty="0"/>
          </a:p>
          <a:p>
            <a:pPr lvl="1">
              <a:lnSpc>
                <a:spcPct val="150000"/>
              </a:lnSpc>
            </a:pPr>
            <a:r>
              <a:rPr lang="en-IN" sz="1800" dirty="0"/>
              <a:t>By default it creates separate </a:t>
            </a:r>
            <a:r>
              <a:rPr lang="en-IN" sz="1800" dirty="0" err="1"/>
              <a:t>yaml</a:t>
            </a:r>
            <a:r>
              <a:rPr lang="en-IN" sz="1800" dirty="0"/>
              <a:t> file for each resource </a:t>
            </a:r>
            <a:r>
              <a:rPr lang="en-IN" sz="1800" dirty="0" err="1"/>
              <a:t>service,deployment</a:t>
            </a:r>
            <a:r>
              <a:rPr lang="en-IN" sz="1800" dirty="0"/>
              <a:t> etc.,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To get to single consolidated output file use –o option</a:t>
            </a:r>
            <a:endParaRPr lang="en-IN" sz="1600" dirty="0"/>
          </a:p>
          <a:p>
            <a:pPr marL="342900" lvl="1" indent="-342900">
              <a:lnSpc>
                <a:spcPct val="150000"/>
              </a:lnSpc>
              <a:buChar char="•"/>
            </a:pPr>
            <a:r>
              <a:rPr lang="en-IN" sz="2000" dirty="0" err="1">
                <a:ea typeface="+mn-ea"/>
                <a:cs typeface="+mn-cs"/>
              </a:rPr>
              <a:t>kompose</a:t>
            </a:r>
            <a:r>
              <a:rPr lang="en-IN" sz="2000" dirty="0">
                <a:ea typeface="+mn-ea"/>
                <a:cs typeface="+mn-cs"/>
              </a:rPr>
              <a:t> convert -f docker-</a:t>
            </a:r>
            <a:r>
              <a:rPr lang="en-IN" sz="2000" dirty="0" err="1">
                <a:ea typeface="+mn-ea"/>
                <a:cs typeface="+mn-cs"/>
              </a:rPr>
              <a:t>compose.yaml</a:t>
            </a:r>
            <a:r>
              <a:rPr lang="en-IN" sz="2000" dirty="0">
                <a:ea typeface="+mn-ea"/>
                <a:cs typeface="+mn-cs"/>
              </a:rPr>
              <a:t> -o </a:t>
            </a:r>
            <a:r>
              <a:rPr lang="en-IN" sz="2000" dirty="0" err="1">
                <a:ea typeface="+mn-ea"/>
                <a:cs typeface="+mn-cs"/>
              </a:rPr>
              <a:t>output.yaml</a:t>
            </a:r>
            <a:endParaRPr lang="en-IN" sz="2000" dirty="0"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IN" sz="2000" dirty="0" err="1"/>
              <a:t>kubectl</a:t>
            </a:r>
            <a:r>
              <a:rPr lang="en-IN" sz="2000" dirty="0"/>
              <a:t> apply -f </a:t>
            </a:r>
            <a:r>
              <a:rPr lang="en-IN" sz="4400" dirty="0">
                <a:solidFill>
                  <a:schemeClr val="accent6">
                    <a:lumMod val="75000"/>
                  </a:schemeClr>
                </a:solidFill>
              </a:rPr>
              <a:t>.  </a:t>
            </a:r>
            <a:r>
              <a:rPr lang="en-IN" sz="1800" dirty="0">
                <a:solidFill>
                  <a:schemeClr val="accent6">
                    <a:lumMod val="75000"/>
                  </a:schemeClr>
                </a:solidFill>
              </a:rPr>
              <a:t>Note the dot applies all </a:t>
            </a:r>
            <a:r>
              <a:rPr lang="en-IN" sz="1800">
                <a:solidFill>
                  <a:schemeClr val="accent6">
                    <a:lumMod val="75000"/>
                  </a:schemeClr>
                </a:solidFill>
              </a:rPr>
              <a:t>the file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dirty="0" err="1"/>
              <a:t>Kubectl</a:t>
            </a:r>
            <a:r>
              <a:rPr lang="en-IN" sz="2000" dirty="0"/>
              <a:t> apply –f </a:t>
            </a:r>
            <a:r>
              <a:rPr lang="en-IN" sz="2000" dirty="0" err="1"/>
              <a:t>output.yaml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614482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>
            <a:extLst>
              <a:ext uri="{FF2B5EF4-FFF2-40B4-BE49-F238E27FC236}">
                <a16:creationId xmlns:a16="http://schemas.microsoft.com/office/drawing/2014/main" id="{78096963-195B-EC68-C0CA-658DB4D06C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pic>
        <p:nvPicPr>
          <p:cNvPr id="55298" name="Picture 2">
            <a:extLst>
              <a:ext uri="{FF2B5EF4-FFF2-40B4-BE49-F238E27FC236}">
                <a16:creationId xmlns:a16="http://schemas.microsoft.com/office/drawing/2014/main" id="{55D49231-549B-9C97-344C-A8B35030F99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0725" y="990600"/>
            <a:ext cx="7702550" cy="5135563"/>
          </a:xfr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>
            <a:extLst>
              <a:ext uri="{FF2B5EF4-FFF2-40B4-BE49-F238E27FC236}">
                <a16:creationId xmlns:a16="http://schemas.microsoft.com/office/drawing/2014/main" id="{BA52855A-EC1B-9C97-635F-F70CE5A108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Kubernetes –Node Port</a:t>
            </a:r>
          </a:p>
        </p:txBody>
      </p:sp>
      <p:sp>
        <p:nvSpPr>
          <p:cNvPr id="57346" name="Content Placeholder 2">
            <a:extLst>
              <a:ext uri="{FF2B5EF4-FFF2-40B4-BE49-F238E27FC236}">
                <a16:creationId xmlns:a16="http://schemas.microsoft.com/office/drawing/2014/main" id="{91BDF9D9-F304-4C23-5912-38B8F4F5AE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sz="2000">
                <a:solidFill>
                  <a:srgbClr val="000000"/>
                </a:solidFill>
              </a:rPr>
              <a:t>kubectl apply -f deployment.yml</a:t>
            </a:r>
          </a:p>
          <a:p>
            <a:r>
              <a:rPr lang="en-IN" altLang="en-US" sz="2000">
                <a:solidFill>
                  <a:srgbClr val="000000"/>
                </a:solidFill>
              </a:rPr>
              <a:t>kubectl get deployments</a:t>
            </a:r>
          </a:p>
          <a:p>
            <a:r>
              <a:rPr lang="en-IN" altLang="en-US" sz="2000">
                <a:solidFill>
                  <a:srgbClr val="000000"/>
                </a:solidFill>
              </a:rPr>
              <a:t>Kubectl get pods</a:t>
            </a:r>
          </a:p>
          <a:p>
            <a:r>
              <a:rPr lang="en-IN" altLang="en-US" sz="2000">
                <a:solidFill>
                  <a:srgbClr val="000000"/>
                </a:solidFill>
              </a:rPr>
              <a:t>kubectl logs &lt;podname&gt;spring-boot-k8s-56d8869685-864cx</a:t>
            </a:r>
            <a:endParaRPr lang="en-IN" altLang="en-US" sz="2000" b="1">
              <a:solidFill>
                <a:srgbClr val="000000"/>
              </a:solidFill>
            </a:endParaRPr>
          </a:p>
          <a:p>
            <a:r>
              <a:rPr lang="en-IN" altLang="en-US" sz="2000">
                <a:solidFill>
                  <a:srgbClr val="000000"/>
                </a:solidFill>
              </a:rPr>
              <a:t>kubectl apply -f service.yml</a:t>
            </a:r>
          </a:p>
          <a:p>
            <a:r>
              <a:rPr lang="en-IN" altLang="en-US" sz="2000">
                <a:solidFill>
                  <a:srgbClr val="000000"/>
                </a:solidFill>
              </a:rPr>
              <a:t>Kubectl get services</a:t>
            </a:r>
          </a:p>
          <a:p>
            <a:r>
              <a:rPr lang="en-IN" altLang="en-US" sz="2000">
                <a:solidFill>
                  <a:srgbClr val="000000"/>
                </a:solidFill>
              </a:rPr>
              <a:t>Minikube service list</a:t>
            </a:r>
          </a:p>
          <a:p>
            <a:r>
              <a:rPr lang="en-IN" altLang="en-US" sz="2000">
                <a:solidFill>
                  <a:srgbClr val="000000"/>
                </a:solidFill>
              </a:rPr>
              <a:t>minikube service springboot-k8s-svc –url</a:t>
            </a:r>
          </a:p>
          <a:p>
            <a:r>
              <a:rPr lang="en-IN" altLang="en-US" sz="2000">
                <a:solidFill>
                  <a:srgbClr val="000000"/>
                </a:solidFill>
                <a:hlinkClick r:id="rId2"/>
              </a:rPr>
              <a:t>http://url/endpoint</a:t>
            </a:r>
            <a:endParaRPr lang="en-IN" altLang="en-US" sz="2000">
              <a:solidFill>
                <a:srgbClr val="000000"/>
              </a:solidFill>
            </a:endParaRPr>
          </a:p>
          <a:p>
            <a:endParaRPr lang="en-IN" altLang="en-US" sz="2000">
              <a:solidFill>
                <a:srgbClr val="000000"/>
              </a:solidFill>
            </a:endParaRPr>
          </a:p>
          <a:p>
            <a:endParaRPr lang="en-IN" altLang="en-US" sz="12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altLang="en-US" sz="1200">
                <a:solidFill>
                  <a:srgbClr val="000000"/>
                </a:solidFill>
                <a:latin typeface="Menlo" panose="020B0609030804020204" pitchFamily="49" charset="0"/>
              </a:rPr>
              <a:t>kubectl logs deployment/springboot-crud-deployment   </a:t>
            </a:r>
          </a:p>
          <a:p>
            <a:endParaRPr lang="en-IN" altLang="en-US" sz="2000">
              <a:solidFill>
                <a:srgbClr val="000000"/>
              </a:solidFill>
            </a:endParaRPr>
          </a:p>
          <a:p>
            <a:endParaRPr lang="en-US" altLang="en-US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es">
  <a:themeElements>
    <a:clrScheme name="vees 14">
      <a:dk1>
        <a:srgbClr val="000000"/>
      </a:dk1>
      <a:lt1>
        <a:srgbClr val="FF99CC"/>
      </a:lt1>
      <a:dk2>
        <a:srgbClr val="1C1C1C"/>
      </a:dk2>
      <a:lt2>
        <a:srgbClr val="4D4D4D"/>
      </a:lt2>
      <a:accent1>
        <a:srgbClr val="FF0000"/>
      </a:accent1>
      <a:accent2>
        <a:srgbClr val="FF99CC"/>
      </a:accent2>
      <a:accent3>
        <a:srgbClr val="FFCAE2"/>
      </a:accent3>
      <a:accent4>
        <a:srgbClr val="000000"/>
      </a:accent4>
      <a:accent5>
        <a:srgbClr val="FFAAAA"/>
      </a:accent5>
      <a:accent6>
        <a:srgbClr val="E78AB9"/>
      </a:accent6>
      <a:hlink>
        <a:srgbClr val="9933FF"/>
      </a:hlink>
      <a:folHlink>
        <a:srgbClr val="44C63A"/>
      </a:folHlink>
    </a:clrScheme>
    <a:fontScheme name="ve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ees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040</Template>
  <TotalTime>39896</TotalTime>
  <Words>2161</Words>
  <Application>Microsoft Macintosh PowerPoint</Application>
  <PresentationFormat>On-screen Show (4:3)</PresentationFormat>
  <Paragraphs>359</Paragraphs>
  <Slides>40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Consolas</vt:lpstr>
      <vt:lpstr>Helvetica</vt:lpstr>
      <vt:lpstr>Menlo</vt:lpstr>
      <vt:lpstr>open sans</vt:lpstr>
      <vt:lpstr>Times New Roman</vt:lpstr>
      <vt:lpstr>vees</vt:lpstr>
      <vt:lpstr>Kubernetes</vt:lpstr>
      <vt:lpstr>Kubernetes</vt:lpstr>
      <vt:lpstr> Orchestration </vt:lpstr>
      <vt:lpstr>Need for K8</vt:lpstr>
      <vt:lpstr>  Kubernetes Clusters  </vt:lpstr>
      <vt:lpstr> Kubernetes Clusters </vt:lpstr>
      <vt:lpstr> Kubernetes Clusters </vt:lpstr>
      <vt:lpstr> Kubernetes Clusters </vt:lpstr>
      <vt:lpstr>  Kubernetes Deployments  </vt:lpstr>
      <vt:lpstr>Deploying Application</vt:lpstr>
      <vt:lpstr> kubectl </vt:lpstr>
      <vt:lpstr>Deployments</vt:lpstr>
      <vt:lpstr> Kubernetes Pods </vt:lpstr>
      <vt:lpstr>Pods</vt:lpstr>
      <vt:lpstr>Pods</vt:lpstr>
      <vt:lpstr>Nodes</vt:lpstr>
      <vt:lpstr> kubectl </vt:lpstr>
      <vt:lpstr>Service</vt:lpstr>
      <vt:lpstr>Services</vt:lpstr>
      <vt:lpstr>Types of Services</vt:lpstr>
      <vt:lpstr>Types of Services</vt:lpstr>
      <vt:lpstr>Deploy Service Using kubectl</vt:lpstr>
      <vt:lpstr>Create a Deployment</vt:lpstr>
      <vt:lpstr>Deploy Service Using kubectl</vt:lpstr>
      <vt:lpstr>Node Port</vt:lpstr>
      <vt:lpstr>Kubectl Commands</vt:lpstr>
      <vt:lpstr>Spring Boot Client</vt:lpstr>
      <vt:lpstr>Discovery Client</vt:lpstr>
      <vt:lpstr>Client Controller</vt:lpstr>
      <vt:lpstr>Deployment</vt:lpstr>
      <vt:lpstr>Deployment With File</vt:lpstr>
      <vt:lpstr>Deployment With File</vt:lpstr>
      <vt:lpstr>deployment.yaml</vt:lpstr>
      <vt:lpstr>Deployment.yaml</vt:lpstr>
      <vt:lpstr>Service</vt:lpstr>
      <vt:lpstr>Service.yaml</vt:lpstr>
      <vt:lpstr>Resource Specificity</vt:lpstr>
      <vt:lpstr> Kompose </vt:lpstr>
      <vt:lpstr>PowerPoint Presentation</vt:lpstr>
      <vt:lpstr>Kubernetes –Node Port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.</dc:creator>
  <cp:lastModifiedBy>Srivatsan Krishnamachari</cp:lastModifiedBy>
  <cp:revision>644</cp:revision>
  <dcterms:created xsi:type="dcterms:W3CDTF">2005-01-17T05:49:17Z</dcterms:created>
  <dcterms:modified xsi:type="dcterms:W3CDTF">2026-02-05T03:04:27Z</dcterms:modified>
</cp:coreProperties>
</file>