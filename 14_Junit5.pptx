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60"/>
  </p:notesMasterIdLst>
  <p:sldIdLst>
    <p:sldId id="861" r:id="rId2"/>
    <p:sldId id="1237" r:id="rId3"/>
    <p:sldId id="1042" r:id="rId4"/>
    <p:sldId id="1057" r:id="rId5"/>
    <p:sldId id="893" r:id="rId6"/>
    <p:sldId id="1100" r:id="rId7"/>
    <p:sldId id="1099" r:id="rId8"/>
    <p:sldId id="1101" r:id="rId9"/>
    <p:sldId id="1107" r:id="rId10"/>
    <p:sldId id="1139" r:id="rId11"/>
    <p:sldId id="1137" r:id="rId12"/>
    <p:sldId id="1138" r:id="rId13"/>
    <p:sldId id="937" r:id="rId14"/>
    <p:sldId id="1141" r:id="rId15"/>
    <p:sldId id="1142" r:id="rId16"/>
    <p:sldId id="1143" r:id="rId17"/>
    <p:sldId id="1144" r:id="rId18"/>
    <p:sldId id="1110" r:id="rId19"/>
    <p:sldId id="1104" r:id="rId20"/>
    <p:sldId id="1250" r:id="rId21"/>
    <p:sldId id="1140" r:id="rId22"/>
    <p:sldId id="863" r:id="rId23"/>
    <p:sldId id="1125" r:id="rId24"/>
    <p:sldId id="1145" r:id="rId25"/>
    <p:sldId id="1112" r:id="rId26"/>
    <p:sldId id="1146" r:id="rId27"/>
    <p:sldId id="1147" r:id="rId28"/>
    <p:sldId id="929" r:id="rId29"/>
    <p:sldId id="932" r:id="rId30"/>
    <p:sldId id="1153" r:id="rId31"/>
    <p:sldId id="1150" r:id="rId32"/>
    <p:sldId id="1155" r:id="rId33"/>
    <p:sldId id="1151" r:id="rId34"/>
    <p:sldId id="1152" r:id="rId35"/>
    <p:sldId id="953" r:id="rId36"/>
    <p:sldId id="1156" r:id="rId37"/>
    <p:sldId id="1157" r:id="rId38"/>
    <p:sldId id="1256" r:id="rId39"/>
    <p:sldId id="1177" r:id="rId40"/>
    <p:sldId id="1159" r:id="rId41"/>
    <p:sldId id="1134" r:id="rId42"/>
    <p:sldId id="1095" r:id="rId43"/>
    <p:sldId id="1179" r:id="rId44"/>
    <p:sldId id="1184" r:id="rId45"/>
    <p:sldId id="1180" r:id="rId46"/>
    <p:sldId id="1257" r:id="rId47"/>
    <p:sldId id="1258" r:id="rId48"/>
    <p:sldId id="1261" r:id="rId49"/>
    <p:sldId id="1262" r:id="rId50"/>
    <p:sldId id="1263" r:id="rId51"/>
    <p:sldId id="1251" r:id="rId52"/>
    <p:sldId id="1252" r:id="rId53"/>
    <p:sldId id="1253" r:id="rId54"/>
    <p:sldId id="1254" r:id="rId55"/>
    <p:sldId id="1255" r:id="rId56"/>
    <p:sldId id="1096" r:id="rId57"/>
    <p:sldId id="1259" r:id="rId58"/>
    <p:sldId id="1260" r:id="rId5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7" autoAdjust="0"/>
    <p:restoredTop sz="93767" autoAdjust="0"/>
  </p:normalViewPr>
  <p:slideViewPr>
    <p:cSldViewPr>
      <p:cViewPr varScale="1">
        <p:scale>
          <a:sx n="119" d="100"/>
          <a:sy n="119" d="100"/>
        </p:scale>
        <p:origin x="208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775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4248"/>
    </p:cViewPr>
  </p:sorterViewPr>
  <p:notesViewPr>
    <p:cSldViewPr>
      <p:cViewPr varScale="1">
        <p:scale>
          <a:sx n="96" d="100"/>
          <a:sy n="96" d="100"/>
        </p:scale>
        <p:origin x="3808" y="17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0D5D368-6EFF-2FD8-5928-9F975C1260E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E62A0-CC3C-80AC-0E21-CDBADCFBB7A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5EF2259-EA3A-0C01-E3E4-1A512C8E0BF5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0EB0CD8-C941-5321-B425-42BF6BFB76D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6090E8AF-2808-9E55-D478-D723C81A8BF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16E16971-9B53-96E3-FDAC-C551BE47FE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E2CEE064-C666-9842-AF8D-A952876FBD5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77958072-63CB-595E-A22E-D95529302B5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1652C5A-A61D-804E-A2C1-5E2D51F51368}" type="slidenum">
              <a:rPr lang="en-US" altLang="en-US" smtClean="0"/>
              <a:pPr>
                <a:spcBef>
                  <a:spcPct val="0"/>
                </a:spcBef>
              </a:pPr>
              <a:t>22</a:t>
            </a:fld>
            <a:endParaRPr lang="en-US" altLang="en-US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F70A52DE-7E8C-95D1-0E1C-A89E1B6A71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4BD1125A-35A1-68E7-3BE5-D07A69E634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IN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2CEE064-C666-9842-AF8D-A952876FBD56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1562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23114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7119605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4740307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838200"/>
            <a:ext cx="4038600" cy="5287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8200"/>
            <a:ext cx="4038600" cy="5287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0497422"/>
      </p:ext>
    </p:extLst>
  </p:cSld>
  <p:clrMapOvr>
    <a:masterClrMapping/>
  </p:clrMapOvr>
  <p:transition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4986790"/>
      </p:ext>
    </p:extLst>
  </p:cSld>
  <p:clrMapOvr>
    <a:masterClrMapping/>
  </p:clrMapOvr>
  <p:transition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9311546"/>
      </p:ext>
    </p:extLst>
  </p:cSld>
  <p:clrMapOvr>
    <a:masterClrMapping/>
  </p:clrMapOvr>
  <p:transition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460730"/>
      </p:ext>
    </p:extLst>
  </p:cSld>
  <p:clrMapOvr>
    <a:masterClrMapping/>
  </p:clrMapOvr>
  <p:transition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3516224"/>
      </p:ext>
    </p:extLst>
  </p:cSld>
  <p:clrMapOvr>
    <a:masterClrMapping/>
  </p:clrMapOvr>
  <p:transition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1068240"/>
      </p:ext>
    </p:extLst>
  </p:cSld>
  <p:clrMapOvr>
    <a:masterClrMapping/>
  </p:clrMapOvr>
  <p:transition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1124752"/>
      </p:ext>
    </p:extLst>
  </p:cSld>
  <p:clrMapOvr>
    <a:masterClrMapping/>
  </p:clrMapOvr>
  <p:transition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4854191"/>
      </p:ext>
    </p:extLst>
  </p:cSld>
  <p:clrMapOvr>
    <a:masterClrMapping/>
  </p:clrMapOvr>
  <p:transition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3349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838200"/>
            <a:ext cx="4038600" cy="5287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8200"/>
            <a:ext cx="4038600" cy="5287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8992863"/>
      </p:ext>
    </p:extLst>
  </p:cSld>
  <p:clrMapOvr>
    <a:masterClrMapping/>
  </p:clrMapOvr>
  <p:transition advClick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364B461-7791-13C5-B381-9F0F7955C710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5D75BD60-B26F-404E-8277-97C862BD02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017590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C517BFF2-9EDD-3E6D-4C6E-9C6D66BE3197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C301BF64-0013-364C-B013-9110007A68C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53082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C67062F-6D5E-06CF-DE7A-9D66EC935F11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CE61D08A-106C-B843-B2BC-1419157C8E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0643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D64AD93-CBB8-9DE3-1148-CC2D9179D492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03F4EACB-ABD4-D443-9E28-DC932292852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07309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BBD08C7E-E32A-C4C2-7E77-55BB7363F3F7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450E1536-08A0-004C-9232-7AD15FE5480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0686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055864" cy="5029200"/>
          </a:xfrm>
        </p:spPr>
        <p:txBody>
          <a:bodyPr/>
          <a:lstStyle>
            <a:lvl3pPr>
              <a:defRPr/>
            </a:lvl3pPr>
            <a:lvl4pPr>
              <a:buFont typeface="Calibri" pitchFamily="34" charset="0"/>
              <a:buChar char="»"/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304800" y="0"/>
            <a:ext cx="2667000" cy="457199"/>
          </a:xfrm>
        </p:spPr>
        <p:txBody>
          <a:bodyPr anchor="ctr" anchorCtr="1"/>
          <a:lstStyle>
            <a:lvl1pPr algn="ctr">
              <a:buNone/>
              <a:defRPr sz="1800">
                <a:solidFill>
                  <a:schemeClr val="bg1"/>
                </a:solidFill>
                <a:latin typeface="Hand Of Sean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6">
            <a:extLst>
              <a:ext uri="{FF2B5EF4-FFF2-40B4-BE49-F238E27FC236}">
                <a16:creationId xmlns:a16="http://schemas.microsoft.com/office/drawing/2014/main" id="{1F4EC8A4-C15A-6D16-2F5D-6B993B52F1F5}"/>
              </a:ext>
            </a:extLst>
          </p:cNvPr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152400" y="6596063"/>
            <a:ext cx="381000" cy="2619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 b="1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3D2A9E6B-5C45-1A43-8910-D6E722FF5AA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64411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20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D1026E3-384B-479F-A8DE-59854B0F81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334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5F2BC16-8EE5-276B-6E14-44F9A6EFDB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38200"/>
            <a:ext cx="8229600" cy="528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302" r:id="rId4"/>
    <p:sldLayoutId id="2147484303" r:id="rId5"/>
    <p:sldLayoutId id="2147484304" r:id="rId6"/>
    <p:sldLayoutId id="2147484305" r:id="rId7"/>
    <p:sldLayoutId id="2147484306" r:id="rId8"/>
    <p:sldLayoutId id="2147484307" r:id="rId9"/>
    <p:sldLayoutId id="2147484308" r:id="rId10"/>
    <p:sldLayoutId id="2147484309" r:id="rId11"/>
    <p:sldLayoutId id="2147484310" r:id="rId12"/>
    <p:sldLayoutId id="2147484311" r:id="rId13"/>
    <p:sldLayoutId id="2147484312" r:id="rId14"/>
    <p:sldLayoutId id="2147484313" r:id="rId15"/>
    <p:sldLayoutId id="2147484314" r:id="rId16"/>
    <p:sldLayoutId id="2147484315" r:id="rId17"/>
    <p:sldLayoutId id="2147484316" r:id="rId18"/>
  </p:sldLayoutIdLst>
  <p:transition advClick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junit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3">
            <a:extLst>
              <a:ext uri="{FF2B5EF4-FFF2-40B4-BE49-F238E27FC236}">
                <a16:creationId xmlns:a16="http://schemas.microsoft.com/office/drawing/2014/main" id="{F04D74B9-1BB8-295A-DF41-F4DE6ADA899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en-US" dirty="0"/>
              <a:t>Testing Frameworks</a:t>
            </a:r>
          </a:p>
        </p:txBody>
      </p:sp>
      <p:pic>
        <p:nvPicPr>
          <p:cNvPr id="9219" name="Picture 4" descr="erichgamma">
            <a:extLst>
              <a:ext uri="{FF2B5EF4-FFF2-40B4-BE49-F238E27FC236}">
                <a16:creationId xmlns:a16="http://schemas.microsoft.com/office/drawing/2014/main" id="{758F3301-10E6-865F-6795-4686491F5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7388" y="3276600"/>
            <a:ext cx="2741612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20" name="Picture 5" descr="kentbeck">
            <a:extLst>
              <a:ext uri="{FF2B5EF4-FFF2-40B4-BE49-F238E27FC236}">
                <a16:creationId xmlns:a16="http://schemas.microsoft.com/office/drawing/2014/main" id="{B45C87AA-324F-656D-4BD3-792197A22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3276600"/>
            <a:ext cx="2438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6EE475-568D-5AB6-0829-35BA9771852E}"/>
              </a:ext>
            </a:extLst>
          </p:cNvPr>
          <p:cNvSpPr/>
          <p:nvPr/>
        </p:nvSpPr>
        <p:spPr bwMode="auto">
          <a:xfrm>
            <a:off x="2133600" y="5562600"/>
            <a:ext cx="1752600" cy="381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Kent Beck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B48AB5-5809-C591-79E7-4B325B2D493E}"/>
              </a:ext>
            </a:extLst>
          </p:cNvPr>
          <p:cNvSpPr/>
          <p:nvPr/>
        </p:nvSpPr>
        <p:spPr bwMode="auto">
          <a:xfrm>
            <a:off x="5105400" y="5562600"/>
            <a:ext cx="1752600" cy="381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Erich Gamma</a:t>
            </a:r>
          </a:p>
        </p:txBody>
      </p:sp>
    </p:spTree>
  </p:cSld>
  <p:clrMapOvr>
    <a:masterClrMapping/>
  </p:clrMapOvr>
  <p:transition advClick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>
            <a:extLst>
              <a:ext uri="{FF2B5EF4-FFF2-40B4-BE49-F238E27FC236}">
                <a16:creationId xmlns:a16="http://schemas.microsoft.com/office/drawing/2014/main" id="{BE5E5100-317E-0AC9-E6FB-97AB4DD6D3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>
                <a:solidFill>
                  <a:srgbClr val="000000"/>
                </a:solidFill>
                <a:latin typeface="Verdana" panose="020B0604030504040204" pitchFamily="34" charset="0"/>
              </a:rPr>
              <a:t>Strategy of testing</a:t>
            </a:r>
            <a:endParaRPr lang="en-IN" altLang="en-US"/>
          </a:p>
        </p:txBody>
      </p:sp>
      <p:sp>
        <p:nvSpPr>
          <p:cNvPr id="46083" name="Content Placeholder 2">
            <a:extLst>
              <a:ext uri="{FF2B5EF4-FFF2-40B4-BE49-F238E27FC236}">
                <a16:creationId xmlns:a16="http://schemas.microsoft.com/office/drawing/2014/main" id="{B7950398-8679-D16A-D9DE-D3CD79B5DEF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 dirty="0">
                <a:solidFill>
                  <a:srgbClr val="000000"/>
                </a:solidFill>
              </a:rPr>
              <a:t>Unit testing</a:t>
            </a:r>
          </a:p>
          <a:p>
            <a:pPr lvl="1"/>
            <a:r>
              <a:rPr lang="en-US" altLang="en-US" sz="2000" dirty="0">
                <a:solidFill>
                  <a:srgbClr val="000000"/>
                </a:solidFill>
              </a:rPr>
              <a:t>Unit testing starts at the </a:t>
            </a:r>
            <a:r>
              <a:rPr lang="en-US" altLang="en-US" sz="2000" dirty="0" err="1">
                <a:solidFill>
                  <a:srgbClr val="000000"/>
                </a:solidFill>
              </a:rPr>
              <a:t>centre</a:t>
            </a:r>
            <a:r>
              <a:rPr lang="en-US" altLang="en-US" sz="2000" dirty="0">
                <a:solidFill>
                  <a:srgbClr val="000000"/>
                </a:solidFill>
              </a:rPr>
              <a:t> and each unit is implemented in source code.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Integration testing</a:t>
            </a:r>
          </a:p>
          <a:p>
            <a:pPr lvl="1"/>
            <a:r>
              <a:rPr lang="en-US" altLang="en-US" sz="2000" dirty="0">
                <a:solidFill>
                  <a:srgbClr val="000000"/>
                </a:solidFill>
              </a:rPr>
              <a:t>An integration testing focuses on the construction and design of the software.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Validation testing</a:t>
            </a:r>
          </a:p>
          <a:p>
            <a:pPr lvl="1"/>
            <a:r>
              <a:rPr lang="en-US" altLang="en-US" sz="1800" dirty="0">
                <a:solidFill>
                  <a:srgbClr val="000000"/>
                </a:solidFill>
              </a:rPr>
              <a:t>Check all the requirements like functional, behavioral and performance requirement validated against the construction software.</a:t>
            </a:r>
          </a:p>
          <a:p>
            <a:r>
              <a:rPr lang="en-US" altLang="en-US" sz="2000" b="1" dirty="0">
                <a:solidFill>
                  <a:srgbClr val="000000"/>
                </a:solidFill>
              </a:rPr>
              <a:t>System testing</a:t>
            </a:r>
          </a:p>
          <a:p>
            <a:pPr lvl="1"/>
            <a:r>
              <a:rPr lang="en-US" altLang="en-US" sz="1800" dirty="0">
                <a:solidFill>
                  <a:srgbClr val="000000"/>
                </a:solidFill>
              </a:rPr>
              <a:t>System testing confirms all system elements and performance are tested entirely.</a:t>
            </a:r>
            <a:br>
              <a:rPr lang="en-US" altLang="en-US" sz="1800" dirty="0"/>
            </a:br>
            <a:endParaRPr lang="en-I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38014134"/>
      </p:ext>
    </p:extLst>
  </p:cSld>
  <p:clrMapOvr>
    <a:masterClrMapping/>
  </p:clrMapOvr>
  <p:transition advClick="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519466D0-1CF6-9727-59CE-19B43CD51B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Driven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92377-3B0A-F26D-9C69-632DA5CC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dirty="0"/>
              <a:t>TDD starts with developing test for each one of the features.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The test might fail as the tests are developed even before the development.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Development team then develops and refactors the code to pass the test.</a:t>
            </a:r>
          </a:p>
          <a:p>
            <a:pPr>
              <a:defRPr/>
            </a:pPr>
            <a:endParaRPr lang="en-US" sz="2400" dirty="0"/>
          </a:p>
          <a:p>
            <a:pPr lvl="1">
              <a:defRPr/>
            </a:pPr>
            <a:r>
              <a:rPr lang="en-US" sz="2400" i="1" dirty="0">
                <a:ea typeface="+mn-ea"/>
                <a:cs typeface="+mn-cs"/>
              </a:rPr>
              <a:t>test-first as part of extreme programming concepts.</a:t>
            </a:r>
          </a:p>
        </p:txBody>
      </p:sp>
    </p:spTree>
  </p:cSld>
  <p:clrMapOvr>
    <a:masterClrMapping/>
  </p:clrMapOvr>
  <p:transition advClick="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>
            <a:extLst>
              <a:ext uri="{FF2B5EF4-FFF2-40B4-BE49-F238E27FC236}">
                <a16:creationId xmlns:a16="http://schemas.microsoft.com/office/drawing/2014/main" id="{17F6582A-C88B-3EC1-90E5-038A608954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Testing Tools -JUNIT</a:t>
            </a:r>
          </a:p>
        </p:txBody>
      </p:sp>
      <p:sp>
        <p:nvSpPr>
          <p:cNvPr id="20483" name="Content Placeholder 2">
            <a:extLst>
              <a:ext uri="{FF2B5EF4-FFF2-40B4-BE49-F238E27FC236}">
                <a16:creationId xmlns:a16="http://schemas.microsoft.com/office/drawing/2014/main" id="{84DFC24B-EA0A-4CD7-49EB-6E809CE8F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altLang="en-US" sz="1800"/>
          </a:p>
          <a:p>
            <a:pPr eaLnBrk="1" hangingPunct="1"/>
            <a:r>
              <a:rPr lang="en-US" altLang="en-US" sz="2000"/>
              <a:t>Open source for automated test ,developed by </a:t>
            </a:r>
            <a:r>
              <a:rPr lang="en-US" altLang="en-US" sz="2000">
                <a:ea typeface="MS PGothic" panose="020B0600070205080204" pitchFamily="34" charset="-128"/>
              </a:rPr>
              <a:t> </a:t>
            </a:r>
            <a:r>
              <a:rPr lang="en-US" altLang="en-US" sz="2000" b="1">
                <a:ea typeface="MS PGothic" panose="020B0600070205080204" pitchFamily="34" charset="-128"/>
              </a:rPr>
              <a:t>Kent Beck</a:t>
            </a:r>
            <a:r>
              <a:rPr lang="en-US" altLang="en-US" sz="2000">
                <a:ea typeface="MS PGothic" panose="020B0600070205080204" pitchFamily="34" charset="-128"/>
              </a:rPr>
              <a:t> and </a:t>
            </a:r>
            <a:r>
              <a:rPr lang="en-US" altLang="en-US" sz="2000" b="1">
                <a:ea typeface="MS PGothic" panose="020B0600070205080204" pitchFamily="34" charset="-128"/>
              </a:rPr>
              <a:t>Erich Gamma</a:t>
            </a:r>
          </a:p>
          <a:p>
            <a:pPr eaLnBrk="1" hangingPunct="1"/>
            <a:endParaRPr lang="en-US" altLang="en-US" sz="2000"/>
          </a:p>
          <a:p>
            <a:pPr eaLnBrk="1" hangingPunct="1"/>
            <a:r>
              <a:rPr lang="en-US" altLang="en-US" sz="2000"/>
              <a:t>Widely used in industry and can be used as stand alone or within an IDE such as Eclipse.</a:t>
            </a:r>
          </a:p>
          <a:p>
            <a:endParaRPr lang="en-US" altLang="en-US" sz="2000"/>
          </a:p>
          <a:p>
            <a:r>
              <a:rPr lang="en-US" altLang="en-US" sz="2000"/>
              <a:t>Part of a family known as the xUnit </a:t>
            </a:r>
          </a:p>
          <a:p>
            <a:endParaRPr lang="en-US" altLang="en-US" sz="2000"/>
          </a:p>
          <a:p>
            <a:r>
              <a:rPr lang="en-US" altLang="en-US" sz="2000"/>
              <a:t>Linked as a JAR at compile-time and can be used to write repeatable tests</a:t>
            </a:r>
          </a:p>
        </p:txBody>
      </p:sp>
    </p:spTree>
  </p:cSld>
  <p:clrMapOvr>
    <a:masterClrMapping/>
  </p:clrMapOvr>
  <p:transition advClick="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7C5C56F3-C142-4DD7-5EC8-99BEC793FA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Features</a:t>
            </a:r>
            <a:endParaRPr lang="en-US" altLang="en-US"/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CEDD447A-3CD8-60CF-4804-4DC39F31DE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 sz="2000">
              <a:hlinkClick r:id="rId2"/>
            </a:endParaRPr>
          </a:p>
          <a:p>
            <a:endParaRPr lang="en-US" altLang="en-US" sz="2000" b="1"/>
          </a:p>
          <a:p>
            <a:pPr lvl="1"/>
            <a:r>
              <a:rPr lang="en-US" altLang="en-US" sz="2000"/>
              <a:t>Assertions for testing expected results.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Test features for sharing common test data.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Test suites for easily organizing and running tests.</a:t>
            </a:r>
          </a:p>
          <a:p>
            <a:pPr lvl="1"/>
            <a:endParaRPr lang="en-US" altLang="en-US" sz="2000"/>
          </a:p>
          <a:p>
            <a:pPr lvl="1"/>
            <a:r>
              <a:rPr lang="en-US" altLang="en-US" sz="2000"/>
              <a:t>Graphical and textual test runners.</a:t>
            </a:r>
          </a:p>
        </p:txBody>
      </p:sp>
    </p:spTree>
  </p:cSld>
  <p:clrMapOvr>
    <a:masterClrMapping/>
  </p:clrMapOvr>
  <p:transition advClick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7B3323A8-88BB-A0E5-8B84-93468A7395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Junit 5</a:t>
            </a:r>
            <a:endParaRPr lang="en-IN" altLang="en-US"/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AD8223DD-6286-9A79-577E-5333DB493F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/>
              <a:t>Composed of  modules from three different sub-projects.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Requires Java 8 (or higher) at runtime.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Can also test code that has been compiled with previous versions of the JDK.</a:t>
            </a:r>
          </a:p>
          <a:p>
            <a:endParaRPr lang="en-US" altLang="en-US"/>
          </a:p>
          <a:p>
            <a:endParaRPr lang="en-IN" altLang="en-US"/>
          </a:p>
        </p:txBody>
      </p:sp>
      <p:pic>
        <p:nvPicPr>
          <p:cNvPr id="22532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683536DE-D6D2-2E01-FE56-678E10419E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3581400"/>
            <a:ext cx="7162800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DA136573-91E5-AEBB-DA30-C9C6F118C3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JUnit Platform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23555" name="Content Placeholder 2">
            <a:extLst>
              <a:ext uri="{FF2B5EF4-FFF2-40B4-BE49-F238E27FC236}">
                <a16:creationId xmlns:a16="http://schemas.microsoft.com/office/drawing/2014/main" id="{DCCFB929-96B0-B931-51ED-63135532C4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r>
              <a:rPr lang="en-US" altLang="en-US" sz="2000" dirty="0"/>
              <a:t>The Foundation for launching testing frameworks on the JVM.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Defines the API for developing a testing framework that runs on the platform.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Provides a Console Launcher to launch the platform from the command line </a:t>
            </a:r>
          </a:p>
          <a:p>
            <a:pPr>
              <a:lnSpc>
                <a:spcPct val="150000"/>
              </a:lnSpc>
            </a:pPr>
            <a:r>
              <a:rPr lang="en-US" altLang="en-US" sz="2000" dirty="0"/>
              <a:t>Platform also exists in popular IDEs </a:t>
            </a:r>
          </a:p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endParaRPr lang="en-US" altLang="en-US" sz="2000" dirty="0"/>
          </a:p>
          <a:p>
            <a:pPr>
              <a:lnSpc>
                <a:spcPct val="150000"/>
              </a:lnSpc>
            </a:pP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1E9E7F17-47B8-0E92-7E1F-5E4146F1CF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Junit Jupiter</a:t>
            </a:r>
            <a:endParaRPr lang="en-IN" altLang="en-US"/>
          </a:p>
        </p:txBody>
      </p:sp>
      <p:sp>
        <p:nvSpPr>
          <p:cNvPr id="24579" name="Content Placeholder 2">
            <a:extLst>
              <a:ext uri="{FF2B5EF4-FFF2-40B4-BE49-F238E27FC236}">
                <a16:creationId xmlns:a16="http://schemas.microsoft.com/office/drawing/2014/main" id="{DFD94F9C-A85B-D2EA-A8BF-DFB3D3A98B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JUnit Jupiter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Combination of the new programming model and extension model for writing tests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Provides a TestEngine for running Jupiter based tests on the platform.</a:t>
            </a:r>
          </a:p>
          <a:p>
            <a:pPr>
              <a:lnSpc>
                <a:spcPct val="150000"/>
              </a:lnSpc>
            </a:pPr>
            <a:endParaRPr lang="en-US" altLang="en-US" sz="2000"/>
          </a:p>
          <a:p>
            <a:pPr>
              <a:lnSpc>
                <a:spcPct val="150000"/>
              </a:lnSpc>
            </a:pPr>
            <a:r>
              <a:rPr lang="en-US" altLang="en-US" sz="2000" b="1"/>
              <a:t>JUnit Vintage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A TestEngine for running JUnit 3 and JUnit 4 based tests on the platform.</a:t>
            </a:r>
          </a:p>
          <a:p>
            <a:pPr>
              <a:lnSpc>
                <a:spcPct val="150000"/>
              </a:lnSpc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CFD764D4-CC0C-588B-AA54-709A312348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/>
          <a:lstStyle/>
          <a:p>
            <a:r>
              <a:rPr lang="en-US" altLang="en-US"/>
              <a:t>Test Classes and Methods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27651" name="Content Placeholder 2">
            <a:extLst>
              <a:ext uri="{FF2B5EF4-FFF2-40B4-BE49-F238E27FC236}">
                <a16:creationId xmlns:a16="http://schemas.microsoft.com/office/drawing/2014/main" id="{72FAC7AC-23CF-D531-A5EF-1D0FB5B32C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/>
              <a:t>Test Class</a:t>
            </a:r>
          </a:p>
          <a:p>
            <a:pPr lvl="1"/>
            <a:r>
              <a:rPr lang="en-US" altLang="en-US" sz="2000"/>
              <a:t>Top-level class,</a:t>
            </a:r>
            <a:r>
              <a:rPr lang="en-US" altLang="en-US" sz="2000" i="1"/>
              <a:t> Must</a:t>
            </a:r>
            <a:r>
              <a:rPr lang="en-US" altLang="en-US" sz="2000" b="1" i="1">
                <a:solidFill>
                  <a:srgbClr val="C00000"/>
                </a:solidFill>
              </a:rPr>
              <a:t> NOT be abstract</a:t>
            </a:r>
          </a:p>
          <a:p>
            <a:pPr lvl="1"/>
            <a:r>
              <a:rPr lang="en-US" altLang="en-US" sz="2000"/>
              <a:t>Static member class,</a:t>
            </a:r>
          </a:p>
          <a:p>
            <a:pPr lvl="1"/>
            <a:r>
              <a:rPr lang="en-US" altLang="en-US" sz="2000"/>
              <a:t>@Nested class that contains at least one test method.</a:t>
            </a:r>
          </a:p>
          <a:p>
            <a:pPr lvl="1"/>
            <a:r>
              <a:rPr lang="en-US" altLang="en-US" sz="2000" b="1"/>
              <a:t>Can </a:t>
            </a:r>
            <a:r>
              <a:rPr lang="en-US" altLang="en-US" sz="2000"/>
              <a:t>declare custom display name with @DisplayName</a:t>
            </a:r>
          </a:p>
          <a:p>
            <a:endParaRPr lang="en-US" altLang="en-US" sz="2000" b="1"/>
          </a:p>
          <a:p>
            <a:r>
              <a:rPr lang="en-US" altLang="en-US" sz="2000" b="1"/>
              <a:t>Test Method: </a:t>
            </a:r>
          </a:p>
          <a:p>
            <a:pPr lvl="1"/>
            <a:r>
              <a:rPr lang="en-US" altLang="en-US" sz="2000" b="1">
                <a:solidFill>
                  <a:srgbClr val="7030A0"/>
                </a:solidFill>
              </a:rPr>
              <a:t>Instance method</a:t>
            </a:r>
            <a:r>
              <a:rPr lang="en-US" altLang="en-US" sz="2000"/>
              <a:t> annotated with </a:t>
            </a:r>
            <a:r>
              <a:rPr lang="en-US" altLang="en-US" sz="2000" b="1">
                <a:solidFill>
                  <a:srgbClr val="7030A0"/>
                </a:solidFill>
              </a:rPr>
              <a:t>@Test</a:t>
            </a:r>
          </a:p>
          <a:p>
            <a:pPr lvl="1"/>
            <a:r>
              <a:rPr lang="en-US" altLang="en-US" sz="2000" b="1" i="1">
                <a:solidFill>
                  <a:srgbClr val="C00000"/>
                </a:solidFill>
              </a:rPr>
              <a:t>Method </a:t>
            </a:r>
            <a:r>
              <a:rPr lang="en-US" altLang="en-US" sz="2000" i="1"/>
              <a:t>must </a:t>
            </a:r>
            <a:r>
              <a:rPr lang="en-US" altLang="en-US" sz="2000" b="1" i="1">
                <a:solidFill>
                  <a:srgbClr val="C00000"/>
                </a:solidFill>
              </a:rPr>
              <a:t>be void</a:t>
            </a:r>
          </a:p>
          <a:p>
            <a:pPr lvl="1"/>
            <a:r>
              <a:rPr lang="en-US" altLang="en-US" sz="2000"/>
              <a:t>Need not be Public but </a:t>
            </a:r>
            <a:r>
              <a:rPr lang="en-US" altLang="en-US" sz="2000" b="1">
                <a:solidFill>
                  <a:srgbClr val="00B0F0"/>
                </a:solidFill>
              </a:rPr>
              <a:t>should not be private</a:t>
            </a:r>
          </a:p>
          <a:p>
            <a:pPr lvl="1"/>
            <a:r>
              <a:rPr lang="en-US" altLang="en-US" sz="2000" b="1"/>
              <a:t>Can </a:t>
            </a:r>
            <a:r>
              <a:rPr lang="en-US" altLang="en-US" sz="2000"/>
              <a:t>declare custom display name with @DisplayName</a:t>
            </a:r>
          </a:p>
          <a:p>
            <a:pPr lvl="1"/>
            <a:r>
              <a:rPr lang="en-US" altLang="en-US" sz="2000"/>
              <a:t>Can also have following annotations</a:t>
            </a:r>
          </a:p>
          <a:p>
            <a:pPr lvl="2"/>
            <a:r>
              <a:rPr lang="en-US" altLang="en-US" sz="2000"/>
              <a:t>@RepeatedTest, @ParameterizedTest</a:t>
            </a:r>
          </a:p>
        </p:txBody>
      </p:sp>
    </p:spTree>
  </p:cSld>
  <p:clrMapOvr>
    <a:masterClrMapping/>
  </p:clrMapOvr>
  <p:transition advClick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62889CAE-9A32-A073-EA54-4D5C71FDE0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Write Unit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3A2D6-BF16-C466-D9F9-549668DA8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  <a:defRPr/>
            </a:pPr>
            <a:r>
              <a:rPr lang="en-IN" sz="2000" b="1" dirty="0">
                <a:solidFill>
                  <a:srgbClr val="7F0055"/>
                </a:solidFill>
              </a:rPr>
              <a:t>public</a:t>
            </a:r>
            <a:r>
              <a:rPr lang="en-IN" sz="2000" b="1" dirty="0">
                <a:solidFill>
                  <a:srgbClr val="000000"/>
                </a:solidFill>
              </a:rPr>
              <a:t> </a:t>
            </a:r>
            <a:r>
              <a:rPr lang="en-IN" sz="2000" b="1" dirty="0">
                <a:solidFill>
                  <a:srgbClr val="7F0055"/>
                </a:solidFill>
              </a:rPr>
              <a:t>class</a:t>
            </a:r>
            <a:r>
              <a:rPr lang="en-IN" sz="2000" b="1" dirty="0">
                <a:solidFill>
                  <a:srgbClr val="000000"/>
                </a:solidFill>
              </a:rPr>
              <a:t> Greeting {</a:t>
            </a:r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r>
              <a:rPr lang="en-IN" sz="2000" b="1" dirty="0">
                <a:solidFill>
                  <a:srgbClr val="7F0055"/>
                </a:solidFill>
              </a:rPr>
              <a:t>public</a:t>
            </a:r>
            <a:r>
              <a:rPr lang="en-IN" sz="2000" b="1" dirty="0">
                <a:solidFill>
                  <a:srgbClr val="000000"/>
                </a:solidFill>
              </a:rPr>
              <a:t> String </a:t>
            </a:r>
            <a:r>
              <a:rPr lang="en-IN" sz="2000" b="1" dirty="0" err="1">
                <a:solidFill>
                  <a:srgbClr val="000000"/>
                </a:solidFill>
              </a:rPr>
              <a:t>getMessage</a:t>
            </a:r>
            <a:r>
              <a:rPr lang="en-IN" sz="2000" b="1" dirty="0">
                <a:solidFill>
                  <a:srgbClr val="000000"/>
                </a:solidFill>
              </a:rPr>
              <a:t>() {</a:t>
            </a:r>
          </a:p>
          <a:p>
            <a:pPr marL="457200" lvl="1" indent="0">
              <a:buFontTx/>
              <a:buNone/>
              <a:defRPr/>
            </a:pPr>
            <a:endParaRPr lang="en-IN" sz="2000" dirty="0"/>
          </a:p>
          <a:p>
            <a:pPr marL="457200" lvl="1" indent="0">
              <a:buFontTx/>
              <a:buNone/>
              <a:defRPr/>
            </a:pPr>
            <a:r>
              <a:rPr lang="en-US" sz="2000" b="1" dirty="0">
                <a:solidFill>
                  <a:srgbClr val="7F0055"/>
                </a:solidFill>
              </a:rPr>
              <a:t>    return</a:t>
            </a:r>
            <a:r>
              <a:rPr lang="en-US" sz="2000" b="1" dirty="0">
                <a:solidFill>
                  <a:srgbClr val="000000"/>
                </a:solidFill>
              </a:rPr>
              <a:t> </a:t>
            </a:r>
            <a:r>
              <a:rPr lang="en-US" sz="2000" b="1" u="sng" dirty="0">
                <a:solidFill>
                  <a:srgbClr val="2A00FF"/>
                </a:solidFill>
              </a:rPr>
              <a:t>"Welcome to Java Programming"</a:t>
            </a:r>
            <a:r>
              <a:rPr lang="en-US" sz="2000" b="1" u="sng" dirty="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  <a:defRPr/>
            </a:pPr>
            <a:endParaRPr lang="en-US" sz="2000" b="1" u="sng" dirty="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  <a:defRPr/>
            </a:pPr>
            <a:r>
              <a:rPr lang="en-IN" sz="2000" dirty="0">
                <a:solidFill>
                  <a:srgbClr val="000000"/>
                </a:solidFill>
              </a:rPr>
              <a:t> }</a:t>
            </a:r>
          </a:p>
          <a:p>
            <a:pPr marL="457200" lvl="1" indent="0">
              <a:buFontTx/>
              <a:buNone/>
              <a:defRPr/>
            </a:pPr>
            <a:endParaRPr lang="en-IN" sz="2000" dirty="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  <a:defRPr/>
            </a:pPr>
            <a:r>
              <a:rPr lang="en-IN" sz="2000" dirty="0">
                <a:solidFill>
                  <a:srgbClr val="000000"/>
                </a:solidFill>
              </a:rPr>
              <a:t>}</a:t>
            </a:r>
          </a:p>
          <a:p>
            <a:pPr marL="914400" lvl="2" indent="0">
              <a:buFontTx/>
              <a:buNone/>
              <a:defRPr/>
            </a:pPr>
            <a:endParaRPr lang="en-US" sz="2000" b="1" dirty="0">
              <a:ea typeface="+mn-ea"/>
              <a:cs typeface="+mn-cs"/>
            </a:endParaRPr>
          </a:p>
        </p:txBody>
      </p:sp>
    </p:spTree>
  </p:cSld>
  <p:clrMapOvr>
    <a:masterClrMapping/>
  </p:clrMapOvr>
  <p:transition advClick="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85367B0E-C325-5F20-C6EB-BE772D7C87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Assertions</a:t>
            </a:r>
            <a:endParaRPr lang="en-IN" altLang="en-US"/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082D1B80-9DEF-86B4-F5E6-51E038B6A5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 dirty="0"/>
              <a:t>Assertions</a:t>
            </a:r>
          </a:p>
          <a:p>
            <a:pPr lvl="1">
              <a:lnSpc>
                <a:spcPct val="150000"/>
              </a:lnSpc>
            </a:pPr>
            <a:r>
              <a:rPr lang="en-US" altLang="en-US" sz="2000" dirty="0"/>
              <a:t>Static methods in </a:t>
            </a:r>
            <a:r>
              <a:rPr lang="en-US" altLang="en-US" sz="2000" b="1" dirty="0" err="1">
                <a:solidFill>
                  <a:srgbClr val="C00000"/>
                </a:solidFill>
              </a:rPr>
              <a:t>org.junit.jupiter.api.Assertions</a:t>
            </a:r>
            <a:r>
              <a:rPr lang="en-US" altLang="en-US" sz="2000" dirty="0"/>
              <a:t> class.</a:t>
            </a:r>
          </a:p>
          <a:p>
            <a:endParaRPr lang="en-US" altLang="en-US" sz="2000" b="1" dirty="0"/>
          </a:p>
          <a:p>
            <a:r>
              <a:rPr lang="en-US" altLang="en-US" sz="2000" b="1" dirty="0" err="1"/>
              <a:t>assertEquals</a:t>
            </a:r>
            <a:r>
              <a:rPr lang="en-US" altLang="en-US" sz="2000" b="1" dirty="0"/>
              <a:t>(expected, actual)	</a:t>
            </a:r>
          </a:p>
          <a:p>
            <a:pPr lvl="1"/>
            <a:r>
              <a:rPr lang="en-US" altLang="en-US" sz="2000" dirty="0"/>
              <a:t>Fails when expected does not equal actual</a:t>
            </a:r>
          </a:p>
          <a:p>
            <a:r>
              <a:rPr lang="en-US" altLang="en-US" sz="2000" b="1" dirty="0" err="1"/>
              <a:t>assertNull</a:t>
            </a:r>
            <a:r>
              <a:rPr lang="en-US" altLang="en-US" sz="2000" b="1" dirty="0"/>
              <a:t>(actual)	</a:t>
            </a:r>
          </a:p>
          <a:p>
            <a:pPr lvl="1"/>
            <a:r>
              <a:rPr lang="en-US" altLang="en-US" sz="2000" dirty="0"/>
              <a:t>Fails when actual is not null</a:t>
            </a:r>
          </a:p>
          <a:p>
            <a:r>
              <a:rPr lang="en-US" altLang="en-US" sz="2000" b="1" dirty="0" err="1"/>
              <a:t>assertAll</a:t>
            </a:r>
            <a:r>
              <a:rPr lang="en-US" altLang="en-US" sz="2000" b="1" dirty="0"/>
              <a:t>()	</a:t>
            </a:r>
          </a:p>
          <a:p>
            <a:pPr lvl="1"/>
            <a:r>
              <a:rPr lang="en-US" altLang="en-US" sz="2000" dirty="0"/>
              <a:t>Group many assertions </a:t>
            </a:r>
          </a:p>
          <a:p>
            <a:pPr lvl="1"/>
            <a:r>
              <a:rPr lang="en-US" altLang="en-US" sz="2000" dirty="0"/>
              <a:t>Every assertion is executed even if one or more of them fails</a:t>
            </a:r>
          </a:p>
          <a:p>
            <a:r>
              <a:rPr lang="en-US" altLang="en-US" sz="2000" b="1" dirty="0" err="1"/>
              <a:t>assertThrows</a:t>
            </a:r>
            <a:r>
              <a:rPr lang="en-US" altLang="en-US" sz="2000" b="1" dirty="0"/>
              <a:t>()	</a:t>
            </a:r>
          </a:p>
          <a:p>
            <a:pPr lvl="1"/>
            <a:r>
              <a:rPr lang="en-US" altLang="en-US" sz="2000" dirty="0"/>
              <a:t>Class to be tested is expected to throw an exception</a:t>
            </a:r>
          </a:p>
          <a:p>
            <a:pPr>
              <a:lnSpc>
                <a:spcPct val="150000"/>
              </a:lnSpc>
            </a:pPr>
            <a:endParaRPr lang="en-IN" altLang="en-US" dirty="0"/>
          </a:p>
        </p:txBody>
      </p:sp>
    </p:spTree>
  </p:cSld>
  <p:clrMapOvr>
    <a:masterClrMapping/>
  </p:clrMapOvr>
  <p:transition advClick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EA665A32-98A2-21FD-93CC-B8B2196205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23838"/>
            <a:ext cx="8229600" cy="334962"/>
          </a:xfrm>
        </p:spPr>
        <p:txBody>
          <a:bodyPr/>
          <a:lstStyle/>
          <a:p>
            <a:r>
              <a:rPr lang="en-US" altLang="en-US"/>
              <a:t>Writing a Junit Test – Assert Equals </a:t>
            </a:r>
            <a:endParaRPr lang="en-IN" altLang="en-US"/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5FE815F4-7678-BA97-B79F-195BACC649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0" y="784225"/>
            <a:ext cx="8229600" cy="5287963"/>
          </a:xfrm>
        </p:spPr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</a:t>
            </a:r>
            <a:r>
              <a:rPr lang="en-IN" altLang="en-US" sz="1800" b="1">
                <a:solidFill>
                  <a:srgbClr val="7030A0"/>
                </a:solidFill>
              </a:rPr>
              <a:t>Assertions.*</a:t>
            </a:r>
            <a:r>
              <a:rPr lang="en-IN" altLang="en-US" sz="18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org.junit.jupiter.api.Test;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class</a:t>
            </a:r>
            <a:r>
              <a:rPr lang="en-IN" altLang="en-US" sz="1800" b="1">
                <a:solidFill>
                  <a:srgbClr val="000000"/>
                </a:solidFill>
              </a:rPr>
              <a:t> TestGreeting {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US" altLang="en-US" sz="1800" b="1">
                <a:solidFill>
                  <a:srgbClr val="7F0055"/>
                </a:solidFill>
              </a:rPr>
              <a:t>private</a:t>
            </a:r>
            <a:r>
              <a:rPr lang="en-US" altLang="en-US" sz="1800" b="1">
                <a:solidFill>
                  <a:srgbClr val="000000"/>
                </a:solidFill>
              </a:rPr>
              <a:t>  Greeting </a:t>
            </a:r>
            <a:r>
              <a:rPr lang="en-US" altLang="en-US" sz="1800" b="1">
                <a:solidFill>
                  <a:srgbClr val="0000C0"/>
                </a:solidFill>
              </a:rPr>
              <a:t>grtObj</a:t>
            </a:r>
            <a:r>
              <a:rPr lang="en-US" altLang="en-US" sz="1800" b="1">
                <a:solidFill>
                  <a:srgbClr val="000000"/>
                </a:solidFill>
              </a:rPr>
              <a:t> =  </a:t>
            </a:r>
            <a:r>
              <a:rPr lang="en-US" altLang="en-US" sz="1800" b="1">
                <a:solidFill>
                  <a:srgbClr val="7F0055"/>
                </a:solidFill>
              </a:rPr>
              <a:t>new</a:t>
            </a:r>
            <a:r>
              <a:rPr lang="en-US" altLang="en-US" sz="1800" b="1">
                <a:solidFill>
                  <a:srgbClr val="000000"/>
                </a:solidFill>
              </a:rPr>
              <a:t> Greeting();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C00000"/>
                </a:solidFill>
              </a:rPr>
              <a:t>@Test</a:t>
            </a:r>
          </a:p>
          <a:p>
            <a:pPr marL="457200" lvl="1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void</a:t>
            </a:r>
            <a:r>
              <a:rPr lang="en-IN" altLang="en-US" sz="1800" b="1">
                <a:solidFill>
                  <a:srgbClr val="000000"/>
                </a:solidFill>
              </a:rPr>
              <a:t> testGetMessageLength() {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        </a:t>
            </a:r>
          </a:p>
          <a:p>
            <a:pPr marL="457200" lvl="1" indent="0">
              <a:buFontTx/>
              <a:buNone/>
            </a:pPr>
            <a:r>
              <a:rPr lang="en-US" altLang="en-US" sz="1800" b="1">
                <a:solidFill>
                  <a:srgbClr val="7F0055"/>
                </a:solidFill>
              </a:rPr>
              <a:t>    int</a:t>
            </a:r>
            <a:r>
              <a:rPr lang="en-US" altLang="en-US" sz="1800" b="1">
                <a:solidFill>
                  <a:srgbClr val="000000"/>
                </a:solidFill>
              </a:rPr>
              <a:t> </a:t>
            </a:r>
            <a:r>
              <a:rPr lang="en-US" altLang="en-US" sz="1800" b="1">
                <a:solidFill>
                  <a:srgbClr val="6A3E3E"/>
                </a:solidFill>
              </a:rPr>
              <a:t>actual</a:t>
            </a:r>
            <a:r>
              <a:rPr lang="en-US" altLang="en-US" sz="1800" b="1">
                <a:solidFill>
                  <a:srgbClr val="000000"/>
                </a:solidFill>
              </a:rPr>
              <a:t> = </a:t>
            </a:r>
            <a:r>
              <a:rPr lang="en-US" altLang="en-US" sz="1800" b="1">
                <a:solidFill>
                  <a:srgbClr val="0000C0"/>
                </a:solidFill>
              </a:rPr>
              <a:t>grtObj</a:t>
            </a:r>
            <a:r>
              <a:rPr lang="en-US" altLang="en-US" sz="1800" b="1">
                <a:solidFill>
                  <a:srgbClr val="000000"/>
                </a:solidFill>
              </a:rPr>
              <a:t>.getMessage().length();</a:t>
            </a:r>
          </a:p>
          <a:p>
            <a:pPr marL="457200" lvl="1" indent="0">
              <a:buFontTx/>
              <a:buNone/>
            </a:pPr>
            <a:endParaRPr lang="en-IN" altLang="en-US" sz="1800"/>
          </a:p>
          <a:p>
            <a:pPr marL="457200" lvl="1" indent="0">
              <a:buFontTx/>
              <a:buNone/>
            </a:pPr>
            <a:r>
              <a:rPr lang="en-IN" altLang="en-US" sz="1800" i="1">
                <a:solidFill>
                  <a:srgbClr val="000000"/>
                </a:solidFill>
              </a:rPr>
              <a:t>       </a:t>
            </a:r>
            <a:r>
              <a:rPr lang="en-IN" altLang="en-US" sz="1800" b="1" i="1">
                <a:solidFill>
                  <a:srgbClr val="7030A0"/>
                </a:solidFill>
              </a:rPr>
              <a:t>assertEquals(5,actual)</a:t>
            </a:r>
            <a:r>
              <a:rPr lang="en-IN" altLang="en-US" sz="1800" i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  }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endParaRPr lang="en-IN" altLang="en-US" sz="1800"/>
          </a:p>
        </p:txBody>
      </p:sp>
    </p:spTree>
  </p:cSld>
  <p:clrMapOvr>
    <a:masterClrMapping/>
  </p:clrMapOvr>
  <p:transition advClick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65A15B8A-0D96-D5D3-A21A-760E614B73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52164BDE-E71E-0B8E-F50F-0A8466E0D3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findResult(</a:t>
            </a:r>
            <a:r>
              <a:rPr lang="en-IN" altLang="en-US" sz="2000" b="1">
                <a:solidFill>
                  <a:srgbClr val="7F0055"/>
                </a:solidFill>
              </a:rPr>
              <a:t>int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mark</a:t>
            </a:r>
            <a:r>
              <a:rPr lang="en-IN" altLang="en-US" sz="2000" b="1">
                <a:solidFill>
                  <a:srgbClr val="000000"/>
                </a:solidFill>
              </a:rPr>
              <a:t>){</a:t>
            </a:r>
          </a:p>
          <a:p>
            <a:pPr marL="400050" lvl="1" indent="0">
              <a:buFontTx/>
              <a:buNone/>
            </a:pPr>
            <a:endParaRPr lang="en-IN" altLang="en-US" sz="2000"/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String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  <a:r>
              <a:rPr lang="en-IN" altLang="en-US" sz="2000" b="1">
                <a:solidFill>
                  <a:srgbClr val="7F0055"/>
                </a:solidFill>
              </a:rPr>
              <a:t>null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if</a:t>
            </a:r>
            <a:r>
              <a:rPr lang="en-IN" altLang="en-US" sz="2000" b="1">
                <a:solidFill>
                  <a:srgbClr val="000000"/>
                </a:solidFill>
              </a:rPr>
              <a:t>(</a:t>
            </a:r>
            <a:r>
              <a:rPr lang="en-IN" altLang="en-US" sz="2000" b="1">
                <a:solidFill>
                  <a:srgbClr val="6A3E3E"/>
                </a:solidFill>
              </a:rPr>
              <a:t>mark</a:t>
            </a:r>
            <a:r>
              <a:rPr lang="en-IN" altLang="en-US" sz="2000" b="1">
                <a:solidFill>
                  <a:srgbClr val="000000"/>
                </a:solidFill>
              </a:rPr>
              <a:t>&lt;60)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{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=</a:t>
            </a:r>
            <a:r>
              <a:rPr lang="en-IN" altLang="en-US" sz="2000">
                <a:solidFill>
                  <a:srgbClr val="2A00FF"/>
                </a:solidFill>
              </a:rPr>
              <a:t>"B"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</a:p>
          <a:p>
            <a:pPr marL="400050" lvl="1" indent="0">
              <a:buFontTx/>
              <a:buNone/>
            </a:pPr>
            <a:r>
              <a:rPr lang="de-DE" altLang="en-US" sz="2000">
                <a:solidFill>
                  <a:srgbClr val="000000"/>
                </a:solidFill>
              </a:rPr>
              <a:t>   </a:t>
            </a:r>
            <a:r>
              <a:rPr lang="de-DE" altLang="en-US" sz="2000" b="1">
                <a:solidFill>
                  <a:srgbClr val="7F0055"/>
                </a:solidFill>
              </a:rPr>
              <a:t>if</a:t>
            </a:r>
            <a:r>
              <a:rPr lang="de-DE" altLang="en-US" sz="2000" b="1">
                <a:solidFill>
                  <a:srgbClr val="000000"/>
                </a:solidFill>
              </a:rPr>
              <a:t>(</a:t>
            </a:r>
            <a:r>
              <a:rPr lang="de-DE" altLang="en-US" sz="2000" b="1">
                <a:solidFill>
                  <a:srgbClr val="6A3E3E"/>
                </a:solidFill>
              </a:rPr>
              <a:t>mark</a:t>
            </a:r>
            <a:r>
              <a:rPr lang="de-DE" altLang="en-US" sz="2000" b="1">
                <a:solidFill>
                  <a:srgbClr val="000000"/>
                </a:solidFill>
              </a:rPr>
              <a:t>&gt;60 &amp;&amp; </a:t>
            </a:r>
            <a:r>
              <a:rPr lang="de-DE" altLang="en-US" sz="2000" b="1">
                <a:solidFill>
                  <a:srgbClr val="6A3E3E"/>
                </a:solidFill>
              </a:rPr>
              <a:t>mark</a:t>
            </a:r>
            <a:r>
              <a:rPr lang="de-DE" altLang="en-US" sz="2000" b="1">
                <a:solidFill>
                  <a:srgbClr val="000000"/>
                </a:solidFill>
              </a:rPr>
              <a:t>&lt;80)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{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>
                <a:solidFill>
                  <a:srgbClr val="6A3E3E"/>
                </a:solidFill>
              </a:rPr>
              <a:t>result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  <a:r>
              <a:rPr lang="en-IN" altLang="en-US" sz="2000">
                <a:solidFill>
                  <a:srgbClr val="2A00FF"/>
                </a:solidFill>
              </a:rPr>
              <a:t>"C"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result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00050" lvl="1" indent="0">
              <a:buFontTx/>
              <a:buNone/>
            </a:pPr>
            <a:endParaRPr lang="en-IN" altLang="en-US" sz="2000"/>
          </a:p>
          <a:p>
            <a:pPr marL="40005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}</a:t>
            </a:r>
            <a:endParaRPr lang="en-US" altLang="en-US" sz="2000"/>
          </a:p>
        </p:txBody>
      </p:sp>
    </p:spTree>
  </p:cSld>
  <p:clrMapOvr>
    <a:masterClrMapping/>
  </p:clrMapOvr>
  <p:transition advClick="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B1384C15-A988-3815-48A9-8F15A0C12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Not Null</a:t>
            </a:r>
            <a:endParaRPr lang="en-IN" altLang="en-US"/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2088701F-6907-6A26-607D-92BE9E64CE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646464"/>
                </a:solidFill>
              </a:rPr>
              <a:t>@DisplayName</a:t>
            </a:r>
            <a:r>
              <a:rPr lang="en-US" altLang="en-US" sz="2000">
                <a:solidFill>
                  <a:srgbClr val="000000"/>
                </a:solidFill>
              </a:rPr>
              <a:t>(</a:t>
            </a:r>
            <a:r>
              <a:rPr lang="en-US" altLang="en-US" sz="2000">
                <a:solidFill>
                  <a:srgbClr val="2A00FF"/>
                </a:solidFill>
              </a:rPr>
              <a:t>"Test for Method  Should Not Throw  Null Value"</a:t>
            </a:r>
            <a:r>
              <a:rPr lang="en-US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testFindResultForNotNull()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endParaRPr lang="en-IN" altLang="en-US" sz="2000"/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String </a:t>
            </a:r>
            <a:r>
              <a:rPr lang="en-US" altLang="en-US" sz="2000">
                <a:solidFill>
                  <a:srgbClr val="6A3E3E"/>
                </a:solidFill>
              </a:rPr>
              <a:t>actual</a:t>
            </a:r>
            <a:r>
              <a:rPr lang="en-US" altLang="en-US" sz="2000">
                <a:solidFill>
                  <a:srgbClr val="000000"/>
                </a:solidFill>
              </a:rPr>
              <a:t> = </a:t>
            </a:r>
            <a:r>
              <a:rPr lang="en-US" altLang="en-US" sz="2000">
                <a:solidFill>
                  <a:srgbClr val="0000C0"/>
                </a:solidFill>
              </a:rPr>
              <a:t>grtObj</a:t>
            </a:r>
            <a:r>
              <a:rPr lang="en-US" altLang="en-US" sz="2000">
                <a:solidFill>
                  <a:srgbClr val="000000"/>
                </a:solidFill>
              </a:rPr>
              <a:t>.findResult(95);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i="1">
                <a:solidFill>
                  <a:srgbClr val="000000"/>
                </a:solidFill>
              </a:rPr>
              <a:t>     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 i="1">
                <a:solidFill>
                  <a:srgbClr val="C00000"/>
                </a:solidFill>
              </a:rPr>
              <a:t>           assertNotNull(actual);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6F508964-AEF9-D062-9271-558112A9FF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All</a:t>
            </a:r>
            <a:endParaRPr lang="en-IN" altLang="en-US"/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68085FAB-A7B1-DFFF-4520-410B35DB6E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@DisplayName</a:t>
            </a:r>
            <a:r>
              <a:rPr lang="en-IN" altLang="en-US" sz="2000">
                <a:solidFill>
                  <a:srgbClr val="000000"/>
                </a:solidFill>
              </a:rPr>
              <a:t>(</a:t>
            </a:r>
            <a:r>
              <a:rPr lang="en-IN" altLang="en-US" sz="2000">
                <a:solidFill>
                  <a:srgbClr val="2A00FF"/>
                </a:solidFill>
              </a:rPr>
              <a:t>"Using Assert All"</a:t>
            </a:r>
            <a:r>
              <a:rPr lang="en-IN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testFindUsingAssertAll()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</a:t>
            </a:r>
            <a:r>
              <a:rPr lang="en-IN" altLang="en-US" sz="2000" i="1">
                <a:solidFill>
                  <a:srgbClr val="000000"/>
                </a:solidFill>
              </a:rPr>
              <a:t>assertAll(</a:t>
            </a:r>
            <a:r>
              <a:rPr lang="en-IN" altLang="en-US" sz="2000" i="1">
                <a:solidFill>
                  <a:srgbClr val="2A00FF"/>
                </a:solidFill>
              </a:rPr>
              <a:t>"Testing Cases"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() -&gt; {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  String </a:t>
            </a:r>
            <a:r>
              <a:rPr lang="en-IN" altLang="en-US" sz="2000">
                <a:solidFill>
                  <a:srgbClr val="6A3E3E"/>
                </a:solidFill>
              </a:rPr>
              <a:t>expected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  <a:r>
              <a:rPr lang="en-IN" altLang="en-US" sz="2000">
                <a:solidFill>
                  <a:srgbClr val="0000C0"/>
                </a:solidFill>
              </a:rPr>
              <a:t>grtObj</a:t>
            </a:r>
            <a:r>
              <a:rPr lang="en-IN" altLang="en-US" sz="2000">
                <a:solidFill>
                  <a:srgbClr val="000000"/>
                </a:solidFill>
              </a:rPr>
              <a:t>.getMessage();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  </a:t>
            </a:r>
            <a:r>
              <a:rPr lang="en-IN" altLang="en-US" sz="2000" i="1">
                <a:solidFill>
                  <a:srgbClr val="000000"/>
                </a:solidFill>
              </a:rPr>
              <a:t>assertNotNull(</a:t>
            </a:r>
            <a:r>
              <a:rPr lang="en-IN" altLang="en-US" sz="2000" i="1">
                <a:solidFill>
                  <a:srgbClr val="6A3E3E"/>
                </a:solidFill>
              </a:rPr>
              <a:t>expected</a:t>
            </a:r>
            <a:r>
              <a:rPr lang="en-IN" altLang="en-US" sz="2000" i="1">
                <a:solidFill>
                  <a:srgbClr val="000000"/>
                </a:solidFill>
              </a:rPr>
              <a:t>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  },</a:t>
            </a:r>
          </a:p>
          <a:p>
            <a:pPr marL="0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        () -&gt; </a:t>
            </a:r>
            <a:r>
              <a:rPr lang="en-US" altLang="en-US" sz="2000" i="1">
                <a:solidFill>
                  <a:srgbClr val="000000"/>
                </a:solidFill>
              </a:rPr>
              <a:t>assertEquals(</a:t>
            </a:r>
            <a:r>
              <a:rPr lang="en-US" altLang="en-US" sz="2000" i="1">
                <a:solidFill>
                  <a:srgbClr val="2A00FF"/>
                </a:solidFill>
              </a:rPr>
              <a:t>"Hello World"</a:t>
            </a:r>
            <a:r>
              <a:rPr lang="en-US" altLang="en-US" sz="2000" i="1">
                <a:solidFill>
                  <a:srgbClr val="000000"/>
                </a:solidFill>
              </a:rPr>
              <a:t>,</a:t>
            </a:r>
            <a:r>
              <a:rPr lang="en-US" altLang="en-US" sz="2000" i="1">
                <a:solidFill>
                  <a:srgbClr val="0000C0"/>
                </a:solidFill>
              </a:rPr>
              <a:t>grtObj</a:t>
            </a:r>
            <a:r>
              <a:rPr lang="en-US" altLang="en-US" sz="2000" i="1">
                <a:solidFill>
                  <a:srgbClr val="000000"/>
                </a:solidFill>
              </a:rPr>
              <a:t>.getMessage())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    );</a:t>
            </a:r>
          </a:p>
          <a:p>
            <a:pPr marL="0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}</a:t>
            </a:r>
          </a:p>
          <a:p>
            <a:pPr marL="457200" lvl="1" indent="0">
              <a:buFontTx/>
              <a:buNone/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9516A692-AB5B-1719-7166-A54C9B4DBF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</a:t>
            </a:r>
            <a:endParaRPr lang="en-IN" altLang="en-US"/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1CFF8BF7-FCB4-8F46-041F-13C9CF3A18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</a:t>
            </a:r>
            <a:r>
              <a:rPr lang="en-US" altLang="en-US" sz="2000" b="1">
                <a:solidFill>
                  <a:srgbClr val="7F0055"/>
                </a:solidFill>
              </a:rPr>
              <a:t>public</a:t>
            </a:r>
            <a:r>
              <a:rPr lang="en-US" altLang="en-US" sz="2000" b="1">
                <a:solidFill>
                  <a:srgbClr val="000000"/>
                </a:solidFill>
              </a:rPr>
              <a:t> String checkUserId(String ... </a:t>
            </a:r>
            <a:r>
              <a:rPr lang="en-US" altLang="en-US" sz="2000" b="1">
                <a:solidFill>
                  <a:srgbClr val="6A3E3E"/>
                </a:solidFill>
              </a:rPr>
              <a:t>values</a:t>
            </a:r>
            <a:r>
              <a:rPr lang="en-US" altLang="en-US" sz="2000" b="1">
                <a:solidFill>
                  <a:srgbClr val="000000"/>
                </a:solidFill>
              </a:rPr>
              <a:t>) 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String </a:t>
            </a:r>
            <a:r>
              <a:rPr lang="en-IN" altLang="en-US" sz="2000">
                <a:solidFill>
                  <a:srgbClr val="6A3E3E"/>
                </a:solidFill>
              </a:rPr>
              <a:t>message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  <a:r>
              <a:rPr lang="en-IN" altLang="en-US" sz="2000">
                <a:solidFill>
                  <a:srgbClr val="2A00FF"/>
                </a:solidFill>
              </a:rPr>
              <a:t>"invalid"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</a:t>
            </a:r>
            <a:r>
              <a:rPr lang="en-IN" altLang="en-US" sz="2000" b="1">
                <a:solidFill>
                  <a:srgbClr val="7F0055"/>
                </a:solidFill>
              </a:rPr>
              <a:t>try</a:t>
            </a:r>
            <a:r>
              <a:rPr lang="en-IN" altLang="en-US" sz="2000" b="1">
                <a:solidFill>
                  <a:srgbClr val="000000"/>
                </a:solidFill>
              </a:rPr>
              <a:t>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nn-NO" altLang="en-US" sz="2000">
                <a:solidFill>
                  <a:srgbClr val="000000"/>
                </a:solidFill>
              </a:rPr>
              <a:t>   </a:t>
            </a:r>
            <a:r>
              <a:rPr lang="nn-NO" altLang="en-US" sz="2000" b="1">
                <a:solidFill>
                  <a:srgbClr val="7F0055"/>
                </a:solidFill>
              </a:rPr>
              <a:t>int</a:t>
            </a:r>
            <a:r>
              <a:rPr lang="nn-NO" altLang="en-US" sz="2000" b="1">
                <a:solidFill>
                  <a:srgbClr val="000000"/>
                </a:solidFill>
              </a:rPr>
              <a:t> </a:t>
            </a:r>
            <a:r>
              <a:rPr lang="nn-NO" altLang="en-US" sz="2000" b="1">
                <a:solidFill>
                  <a:srgbClr val="6A3E3E"/>
                </a:solidFill>
              </a:rPr>
              <a:t>id</a:t>
            </a:r>
            <a:r>
              <a:rPr lang="nn-NO" altLang="en-US" sz="2000" b="1">
                <a:solidFill>
                  <a:srgbClr val="000000"/>
                </a:solidFill>
              </a:rPr>
              <a:t> = Integer.</a:t>
            </a:r>
            <a:r>
              <a:rPr lang="nn-NO" altLang="en-US" sz="2000" b="1" i="1">
                <a:solidFill>
                  <a:srgbClr val="000000"/>
                </a:solidFill>
              </a:rPr>
              <a:t>parseInt(</a:t>
            </a:r>
            <a:r>
              <a:rPr lang="nn-NO" altLang="en-US" sz="2000" b="1" i="1">
                <a:solidFill>
                  <a:srgbClr val="6A3E3E"/>
                </a:solidFill>
              </a:rPr>
              <a:t>values</a:t>
            </a:r>
            <a:r>
              <a:rPr lang="nn-NO" altLang="en-US" sz="2000" b="1" i="1">
                <a:solidFill>
                  <a:srgbClr val="000000"/>
                </a:solidFill>
              </a:rPr>
              <a:t>[1]);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</a:t>
            </a:r>
            <a:r>
              <a:rPr lang="en-IN" altLang="en-US" sz="2000">
                <a:solidFill>
                  <a:srgbClr val="6A3E3E"/>
                </a:solidFill>
              </a:rPr>
              <a:t>message</a:t>
            </a:r>
            <a:r>
              <a:rPr lang="en-IN" altLang="en-US" sz="2000">
                <a:solidFill>
                  <a:srgbClr val="000000"/>
                </a:solidFill>
              </a:rPr>
              <a:t>=</a:t>
            </a:r>
            <a:r>
              <a:rPr lang="en-IN" altLang="en-US" sz="2000">
                <a:solidFill>
                  <a:srgbClr val="2A00FF"/>
                </a:solidFill>
              </a:rPr>
              <a:t>"valid"</a:t>
            </a:r>
            <a:r>
              <a:rPr lang="en-IN" altLang="en-US" sz="2000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 </a:t>
            </a:r>
            <a:r>
              <a:rPr lang="en-IN" altLang="en-US" sz="2000" b="1">
                <a:solidFill>
                  <a:srgbClr val="7F0055"/>
                </a:solidFill>
              </a:rPr>
              <a:t>catch</a:t>
            </a:r>
            <a:r>
              <a:rPr lang="en-IN" altLang="en-US" sz="2000" b="1">
                <a:solidFill>
                  <a:srgbClr val="000000"/>
                </a:solidFill>
              </a:rPr>
              <a:t> (NumberFormatException </a:t>
            </a:r>
            <a:r>
              <a:rPr lang="en-IN" altLang="en-US" sz="2000" b="1">
                <a:solidFill>
                  <a:srgbClr val="6A3E3E"/>
                </a:solidFill>
              </a:rPr>
              <a:t>e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System.</a:t>
            </a:r>
            <a:r>
              <a:rPr lang="en-IN" altLang="en-US" sz="2000" b="1" i="1">
                <a:solidFill>
                  <a:srgbClr val="0000C0"/>
                </a:solidFill>
              </a:rPr>
              <a:t>err</a:t>
            </a:r>
            <a:r>
              <a:rPr lang="en-IN" altLang="en-US" sz="2000" b="1" i="1">
                <a:solidFill>
                  <a:srgbClr val="000000"/>
                </a:solidFill>
              </a:rPr>
              <a:t>.println(</a:t>
            </a:r>
            <a:r>
              <a:rPr lang="en-IN" altLang="en-US" sz="2000" b="1" i="1">
                <a:solidFill>
                  <a:srgbClr val="6A3E3E"/>
                </a:solidFill>
              </a:rPr>
              <a:t>e</a:t>
            </a:r>
            <a:r>
              <a:rPr lang="en-IN" altLang="en-US" sz="2000" b="1" i="1">
                <a:solidFill>
                  <a:srgbClr val="000000"/>
                </a:solidFill>
              </a:rPr>
              <a:t>.getMessage());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message</a:t>
            </a:r>
            <a:r>
              <a:rPr lang="en-IN" altLang="en-US" sz="20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539FD1D1-23C9-77A3-5648-B68D372FCA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– Assert Throws</a:t>
            </a:r>
            <a:endParaRPr lang="en-IN" altLang="en-US"/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D77E9C82-04EE-6A0C-19C6-C602F87232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646464"/>
                </a:solidFill>
              </a:rPr>
              <a:t>@DisplayName</a:t>
            </a:r>
            <a:r>
              <a:rPr lang="en-US" altLang="en-US" sz="2000">
                <a:solidFill>
                  <a:srgbClr val="000000"/>
                </a:solidFill>
              </a:rPr>
              <a:t>(</a:t>
            </a:r>
            <a:r>
              <a:rPr lang="en-US" altLang="en-US" sz="2000">
                <a:solidFill>
                  <a:srgbClr val="2A00FF"/>
                </a:solidFill>
              </a:rPr>
              <a:t>"Test For Number Format Exception "</a:t>
            </a:r>
            <a:r>
              <a:rPr lang="en-US" altLang="en-US" sz="2000">
                <a:solidFill>
                  <a:srgbClr val="000000"/>
                </a:solidFill>
              </a:rPr>
              <a:t>)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testForException()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Throwable </a:t>
            </a:r>
            <a:r>
              <a:rPr lang="en-IN" altLang="en-US" sz="2000" b="1">
                <a:solidFill>
                  <a:srgbClr val="00B050"/>
                </a:solidFill>
              </a:rPr>
              <a:t>exception</a:t>
            </a:r>
            <a:r>
              <a:rPr lang="en-IN" altLang="en-US" sz="2000">
                <a:solidFill>
                  <a:srgbClr val="000000"/>
                </a:solidFill>
              </a:rPr>
              <a:t> =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i="1">
                <a:solidFill>
                  <a:srgbClr val="000000"/>
                </a:solidFill>
              </a:rPr>
              <a:t>            </a:t>
            </a:r>
            <a:r>
              <a:rPr lang="en-IN" altLang="en-US" sz="2000" b="1" i="1">
                <a:solidFill>
                  <a:srgbClr val="C00000"/>
                </a:solidFill>
              </a:rPr>
              <a:t>assertThrows</a:t>
            </a:r>
            <a:r>
              <a:rPr lang="en-IN" altLang="en-US" sz="2000" i="1">
                <a:solidFill>
                  <a:srgbClr val="000000"/>
                </a:solidFill>
              </a:rPr>
              <a:t>(NumberFormatException.</a:t>
            </a:r>
            <a:r>
              <a:rPr lang="en-IN" altLang="en-US" sz="2000" b="1" i="1">
                <a:solidFill>
                  <a:srgbClr val="7F0055"/>
                </a:solidFill>
              </a:rPr>
              <a:t>class</a:t>
            </a:r>
            <a:r>
              <a:rPr lang="en-IN" altLang="en-US" sz="2000" b="1" i="1">
                <a:solidFill>
                  <a:srgbClr val="000000"/>
                </a:solidFill>
              </a:rPr>
              <a:t>, ()-&gt;                    		</a:t>
            </a:r>
            <a:r>
              <a:rPr lang="en-IN" altLang="en-US" sz="2000" b="1" i="1">
                <a:solidFill>
                  <a:srgbClr val="0000C0"/>
                </a:solidFill>
              </a:rPr>
              <a:t>grtObj</a:t>
            </a:r>
            <a:r>
              <a:rPr lang="en-IN" altLang="en-US" sz="2000" b="1" i="1">
                <a:solidFill>
                  <a:srgbClr val="000000"/>
                </a:solidFill>
              </a:rPr>
              <a:t>.checkUserId(</a:t>
            </a:r>
            <a:r>
              <a:rPr lang="en-IN" altLang="en-US" sz="2000" b="1" i="1">
                <a:solidFill>
                  <a:srgbClr val="2A00FF"/>
                </a:solidFill>
              </a:rPr>
              <a:t>"fourTwenty"</a:t>
            </a:r>
            <a:r>
              <a:rPr lang="en-IN" altLang="en-US" sz="2000" b="1" i="1">
                <a:solidFill>
                  <a:srgbClr val="000000"/>
                </a:solidFill>
              </a:rPr>
              <a:t>));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US" altLang="en-US" sz="2000" i="1">
                <a:solidFill>
                  <a:srgbClr val="000000"/>
                </a:solidFill>
              </a:rPr>
              <a:t>	</a:t>
            </a:r>
            <a:r>
              <a:rPr lang="en-US" altLang="en-US" sz="2000" b="1" i="1">
                <a:solidFill>
                  <a:srgbClr val="7030A0"/>
                </a:solidFill>
              </a:rPr>
              <a:t>assertEquals</a:t>
            </a:r>
            <a:r>
              <a:rPr lang="en-US" altLang="en-US" sz="2000" i="1">
                <a:solidFill>
                  <a:srgbClr val="000000"/>
                </a:solidFill>
              </a:rPr>
              <a:t>(</a:t>
            </a:r>
            <a:r>
              <a:rPr lang="en-US" altLang="en-US" sz="2000" i="1">
                <a:solidFill>
                  <a:srgbClr val="2A00FF"/>
                </a:solidFill>
              </a:rPr>
              <a:t>"Invalid Number"</a:t>
            </a:r>
            <a:r>
              <a:rPr lang="en-US" altLang="en-US" sz="2000" i="1">
                <a:solidFill>
                  <a:srgbClr val="000000"/>
                </a:solidFill>
              </a:rPr>
              <a:t>,</a:t>
            </a:r>
            <a:r>
              <a:rPr lang="en-US" altLang="en-US" sz="2000" b="1" i="1">
                <a:solidFill>
                  <a:srgbClr val="00B050"/>
                </a:solidFill>
              </a:rPr>
              <a:t>exception</a:t>
            </a:r>
            <a:r>
              <a:rPr lang="en-US" altLang="en-US" sz="2000" i="1">
                <a:solidFill>
                  <a:srgbClr val="000000"/>
                </a:solidFill>
              </a:rPr>
              <a:t>.getMessage());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}</a:t>
            </a:r>
          </a:p>
          <a:p>
            <a:pPr marL="0" indent="0">
              <a:buFontTx/>
              <a:buNone/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D2C44A7D-88BE-E2E3-A619-012627B831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Disabling Tests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73731" name="Content Placeholder 2">
            <a:extLst>
              <a:ext uri="{FF2B5EF4-FFF2-40B4-BE49-F238E27FC236}">
                <a16:creationId xmlns:a16="http://schemas.microsoft.com/office/drawing/2014/main" id="{2CF7DCF1-F8F6-DA05-15BE-3AF4DC5817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en-US" sz="2000" dirty="0"/>
              <a:t>@Disabled </a:t>
            </a:r>
          </a:p>
          <a:p>
            <a:pPr lvl="1" indent="-342900">
              <a:defRPr/>
            </a:pPr>
            <a:r>
              <a:rPr lang="en-US" altLang="en-US" sz="2000" dirty="0"/>
              <a:t>Entire test classes or individual test methods can  be disabled</a:t>
            </a:r>
          </a:p>
          <a:p>
            <a:pPr lvl="1" indent="-342900">
              <a:defRPr/>
            </a:pPr>
            <a:r>
              <a:rPr lang="en-US" altLang="en-US" sz="2000" dirty="0"/>
              <a:t>Can also be declared without providing a reason</a:t>
            </a:r>
          </a:p>
          <a:p>
            <a:pPr lvl="1" indent="-342900"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b="1" dirty="0"/>
              <a:t>@</a:t>
            </a:r>
            <a:r>
              <a:rPr lang="en-US" altLang="en-US" sz="2000" b="1" dirty="0">
                <a:solidFill>
                  <a:srgbClr val="FF0000"/>
                </a:solidFill>
              </a:rPr>
              <a:t>Disabled</a:t>
            </a:r>
            <a:r>
              <a:rPr lang="en-US" altLang="en-US" sz="2000" b="1" dirty="0"/>
              <a:t>("Disabled until bug #560 has been fixed")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class </a:t>
            </a:r>
            <a:r>
              <a:rPr lang="en-US" altLang="en-US" sz="2000" dirty="0" err="1"/>
              <a:t>DisabledClassDemo</a:t>
            </a:r>
            <a:r>
              <a:rPr lang="en-US" altLang="en-US" sz="2000" dirty="0"/>
              <a:t> {</a:t>
            </a:r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@Test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void </a:t>
            </a:r>
            <a:r>
              <a:rPr lang="en-US" altLang="en-US" sz="2000" dirty="0" err="1"/>
              <a:t>testWillBeSkipped</a:t>
            </a:r>
            <a:r>
              <a:rPr lang="en-US" altLang="en-US" sz="2000" dirty="0"/>
              <a:t>() {</a:t>
            </a:r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    }</a:t>
            </a:r>
          </a:p>
          <a:p>
            <a:pPr marL="400050" lvl="1" indent="0">
              <a:buFontTx/>
              <a:buNone/>
              <a:defRPr/>
            </a:pPr>
            <a:endParaRPr lang="en-US" altLang="en-US" sz="2000" dirty="0"/>
          </a:p>
          <a:p>
            <a:pPr marL="400050" lvl="1" indent="0">
              <a:buFontTx/>
              <a:buNone/>
              <a:defRPr/>
            </a:pPr>
            <a:r>
              <a:rPr lang="en-US" altLang="en-US" sz="2000" dirty="0"/>
              <a:t>}</a:t>
            </a:r>
          </a:p>
        </p:txBody>
      </p:sp>
    </p:spTree>
  </p:cSld>
  <p:clrMapOvr>
    <a:masterClrMapping/>
  </p:clrMapOvr>
  <p:transition advClick="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D43F9BB9-24B7-B3B2-48F7-66BCB4CA2F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Lifecycle Method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A4420901-31FF-D6B0-142C-496FC3AF523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@BeforeAll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once  before all Test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000" b="1" i="1">
                <a:solidFill>
                  <a:srgbClr val="7030A0"/>
                </a:solidFill>
              </a:rPr>
              <a:t>Methods must be static </a:t>
            </a:r>
          </a:p>
          <a:p>
            <a:pPr lvl="1">
              <a:lnSpc>
                <a:spcPct val="150000"/>
              </a:lnSpc>
            </a:pPr>
            <a:r>
              <a:rPr lang="en-US" altLang="en-US" sz="2000">
                <a:solidFill>
                  <a:srgbClr val="333333"/>
                </a:solidFill>
              </a:rPr>
              <a:t>Used for expensive common operation like database connection or the startup of a server.</a:t>
            </a:r>
            <a:endParaRPr lang="en-US" altLang="en-US" sz="2000" b="1" i="1">
              <a:solidFill>
                <a:srgbClr val="7030A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en-US" sz="2000" b="1"/>
              <a:t>@AfterAll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after all the Test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000" b="1" i="1">
                <a:solidFill>
                  <a:srgbClr val="7030A0"/>
                </a:solidFill>
              </a:rPr>
              <a:t>Methods must be static</a:t>
            </a:r>
            <a:r>
              <a:rPr lang="en-US" altLang="en-US" sz="2000" i="1"/>
              <a:t> </a:t>
            </a:r>
          </a:p>
          <a:p>
            <a:pPr lvl="1">
              <a:lnSpc>
                <a:spcPct val="150000"/>
              </a:lnSpc>
            </a:pPr>
            <a:endParaRPr lang="en-US" altLang="en-US" sz="2000" b="1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</a:pPr>
            <a:endParaRPr lang="en-US" altLang="en-US" sz="2000"/>
          </a:p>
        </p:txBody>
      </p:sp>
    </p:spTree>
  </p:cSld>
  <p:clrMapOvr>
    <a:masterClrMapping/>
  </p:clrMapOvr>
  <p:transition advClick="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7FBD-E1CA-EC4C-7DD8-D2F3CD28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BeforeAll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1F4F3-A22A-FFEB-2CEA-F123C98CB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b="1" dirty="0"/>
              <a:t>static</a:t>
            </a:r>
            <a:r>
              <a:rPr lang="en-IN" sz="2000" dirty="0"/>
              <a:t> List&lt;String&gt; </a:t>
            </a:r>
            <a:r>
              <a:rPr lang="en-IN" sz="2000" i="1" u="sng" dirty="0" err="1"/>
              <a:t>entityList</a:t>
            </a:r>
            <a:r>
              <a:rPr lang="en-IN" sz="2000" dirty="0"/>
              <a:t>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@</a:t>
            </a:r>
            <a:r>
              <a:rPr lang="en-IN" sz="2000" dirty="0" err="1"/>
              <a:t>BeforeAll</a:t>
            </a:r>
            <a:endParaRPr lang="en-IN" sz="2000" dirty="0"/>
          </a:p>
          <a:p>
            <a:pPr marL="457200" lvl="1" indent="0">
              <a:lnSpc>
                <a:spcPct val="150000"/>
              </a:lnSpc>
              <a:buNone/>
            </a:pPr>
            <a:endParaRPr lang="en-IN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b="1" dirty="0"/>
              <a:t>static</a:t>
            </a:r>
            <a:r>
              <a:rPr lang="en-IN" sz="2000" dirty="0"/>
              <a:t> </a:t>
            </a:r>
            <a:r>
              <a:rPr lang="en-IN" sz="2000" b="1" dirty="0"/>
              <a:t>void</a:t>
            </a:r>
            <a:r>
              <a:rPr lang="en-IN" sz="2000" dirty="0"/>
              <a:t> </a:t>
            </a:r>
            <a:r>
              <a:rPr lang="en-IN" sz="2000" dirty="0" err="1"/>
              <a:t>initAll</a:t>
            </a:r>
            <a:r>
              <a:rPr lang="en-IN" sz="2000" dirty="0"/>
              <a:t>() {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i="1" dirty="0" err="1"/>
              <a:t>entityList</a:t>
            </a:r>
            <a:r>
              <a:rPr lang="en-IN" sz="2000" dirty="0"/>
              <a:t> = </a:t>
            </a:r>
            <a:r>
              <a:rPr lang="en-IN" sz="2000" dirty="0" err="1"/>
              <a:t>List.</a:t>
            </a:r>
            <a:r>
              <a:rPr lang="en-IN" sz="2000" i="1" dirty="0" err="1"/>
              <a:t>of</a:t>
            </a:r>
            <a:r>
              <a:rPr lang="en-IN" sz="2000" dirty="0"/>
              <a:t>(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"Entity1",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"Entity2",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"Entity3"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);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0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636518"/>
      </p:ext>
    </p:extLst>
  </p:cSld>
  <p:clrMapOvr>
    <a:masterClrMapping/>
  </p:clrMapOvr>
  <p:transition advClick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37350F8D-05CB-73F8-8C7C-8E4363B215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Lifecycle Method</a:t>
            </a:r>
            <a:endParaRPr lang="en-IN" altLang="en-US"/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487A13ED-3CEE-3C67-568D-AE08753EF4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@BeforeEach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 </a:t>
            </a:r>
            <a:r>
              <a:rPr lang="en-US" altLang="en-US" sz="2000" b="1">
                <a:solidFill>
                  <a:srgbClr val="C00000"/>
                </a:solidFill>
              </a:rPr>
              <a:t>before EACH Test Method</a:t>
            </a:r>
          </a:p>
          <a:p>
            <a:pPr lvl="1">
              <a:lnSpc>
                <a:spcPct val="150000"/>
              </a:lnSpc>
            </a:pPr>
            <a:r>
              <a:rPr lang="en-US" altLang="en-US" sz="2000">
                <a:solidFill>
                  <a:srgbClr val="333333"/>
                </a:solidFill>
              </a:rPr>
              <a:t>To execute some common code before running a test</a:t>
            </a:r>
            <a:endParaRPr lang="en-US" altLang="en-US" sz="2000" b="1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</a:pPr>
            <a:endParaRPr lang="en-US" altLang="en-US" sz="2000" b="1"/>
          </a:p>
          <a:p>
            <a:pPr>
              <a:lnSpc>
                <a:spcPct val="150000"/>
              </a:lnSpc>
            </a:pPr>
            <a:r>
              <a:rPr lang="en-US" altLang="en-US" sz="2000" b="1"/>
              <a:t>@AfterEach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Denotes that the annotated method should be executed</a:t>
            </a:r>
            <a:r>
              <a:rPr lang="en-US" altLang="en-US" sz="2000" b="1">
                <a:solidFill>
                  <a:srgbClr val="C00000"/>
                </a:solidFill>
              </a:rPr>
              <a:t> after EACH Test Method</a:t>
            </a:r>
          </a:p>
          <a:p>
            <a:pPr>
              <a:lnSpc>
                <a:spcPct val="150000"/>
              </a:lnSpc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DCE5F487-6079-279E-9379-789D7610B8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Writing a Junit Test Life Cycle Methods</a:t>
            </a:r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7D8461FC-8939-04A9-44DD-21D5251B63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C00000"/>
                </a:solidFill>
              </a:rPr>
              <a:t>@BeforeEach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void</a:t>
            </a:r>
            <a:r>
              <a:rPr lang="en-US" altLang="en-US" sz="2000">
                <a:solidFill>
                  <a:srgbClr val="000000"/>
                </a:solidFill>
              </a:rPr>
              <a:t> setUp</a:t>
            </a:r>
            <a:r>
              <a:rPr lang="en-US" altLang="en-US" sz="2000" b="1">
                <a:solidFill>
                  <a:srgbClr val="000000"/>
                </a:solidFill>
              </a:rPr>
              <a:t>(TestInfo </a:t>
            </a:r>
            <a:r>
              <a:rPr lang="en-US" altLang="en-US" sz="2000" b="1">
                <a:solidFill>
                  <a:srgbClr val="6A3E3E"/>
                </a:solidFill>
              </a:rPr>
              <a:t>info</a:t>
            </a:r>
            <a:r>
              <a:rPr lang="en-US" altLang="en-US" sz="2000" b="1">
                <a:solidFill>
                  <a:srgbClr val="000000"/>
                </a:solidFill>
              </a:rPr>
              <a:t>) </a:t>
            </a:r>
            <a:r>
              <a:rPr lang="en-US" altLang="en-US" sz="2000" b="1">
                <a:solidFill>
                  <a:srgbClr val="7F0055"/>
                </a:solidFill>
              </a:rPr>
              <a:t>throws</a:t>
            </a:r>
            <a:r>
              <a:rPr lang="en-US" altLang="en-US" sz="2000" b="1">
                <a:solidFill>
                  <a:srgbClr val="000000"/>
                </a:solidFill>
              </a:rPr>
              <a:t> Exception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System.</a:t>
            </a:r>
            <a:r>
              <a:rPr lang="en-US" altLang="en-US" sz="2000" i="1">
                <a:solidFill>
                  <a:srgbClr val="0000C0"/>
                </a:solidFill>
              </a:rPr>
              <a:t>out</a:t>
            </a:r>
            <a:r>
              <a:rPr lang="en-US" altLang="en-US" sz="2000" i="1">
                <a:solidFill>
                  <a:srgbClr val="000000"/>
                </a:solidFill>
              </a:rPr>
              <a:t>.println(</a:t>
            </a:r>
            <a:r>
              <a:rPr lang="en-US" altLang="en-US" sz="2000" i="1">
                <a:solidFill>
                  <a:srgbClr val="2A00FF"/>
                </a:solidFill>
              </a:rPr>
              <a:t>"</a:t>
            </a:r>
            <a:r>
              <a:rPr lang="en-US" altLang="en-US" sz="2000" i="1"/>
              <a:t>BEFORE EACH Called on </a:t>
            </a:r>
            <a:r>
              <a:rPr lang="en-US" altLang="en-US" sz="2000" i="1">
                <a:solidFill>
                  <a:srgbClr val="2A00FF"/>
                </a:solidFill>
              </a:rPr>
              <a:t>"</a:t>
            </a:r>
            <a:r>
              <a:rPr lang="en-US" altLang="en-US" sz="2000" i="1">
                <a:solidFill>
                  <a:srgbClr val="000000"/>
                </a:solidFill>
              </a:rPr>
              <a:t>+          			</a:t>
            </a:r>
            <a:r>
              <a:rPr lang="en-US" altLang="en-US" sz="2000" i="1">
                <a:solidFill>
                  <a:srgbClr val="1206FA"/>
                </a:solidFill>
              </a:rPr>
              <a:t>info.getDisplayName</a:t>
            </a:r>
            <a:r>
              <a:rPr lang="en-US" altLang="en-US" sz="2000" i="1">
                <a:solidFill>
                  <a:srgbClr val="000000"/>
                </a:solidFill>
              </a:rPr>
              <a:t>());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endParaRPr lang="en-IN" altLang="en-US" sz="2000" b="1">
              <a:solidFill>
                <a:srgbClr val="C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 b="1">
                <a:solidFill>
                  <a:srgbClr val="C00000"/>
                </a:solidFill>
              </a:rPr>
              <a:t>@AfterEach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void</a:t>
            </a:r>
            <a:r>
              <a:rPr lang="en-US" altLang="en-US" sz="2000" b="1">
                <a:solidFill>
                  <a:srgbClr val="000000"/>
                </a:solidFill>
              </a:rPr>
              <a:t> </a:t>
            </a:r>
            <a:r>
              <a:rPr lang="en-US" altLang="en-US" sz="2000">
                <a:solidFill>
                  <a:srgbClr val="000000"/>
                </a:solidFill>
              </a:rPr>
              <a:t>tearDown</a:t>
            </a:r>
            <a:r>
              <a:rPr lang="en-US" altLang="en-US" sz="2000" b="1">
                <a:solidFill>
                  <a:srgbClr val="000000"/>
                </a:solidFill>
              </a:rPr>
              <a:t>(TestInfo </a:t>
            </a:r>
            <a:r>
              <a:rPr lang="en-US" altLang="en-US" sz="2000" b="1">
                <a:solidFill>
                  <a:srgbClr val="6A3E3E"/>
                </a:solidFill>
              </a:rPr>
              <a:t>info</a:t>
            </a:r>
            <a:r>
              <a:rPr lang="en-US" altLang="en-US" sz="2000" b="1">
                <a:solidFill>
                  <a:srgbClr val="000000"/>
                </a:solidFill>
              </a:rPr>
              <a:t>) </a:t>
            </a:r>
            <a:r>
              <a:rPr lang="en-US" altLang="en-US" sz="2000" b="1">
                <a:solidFill>
                  <a:srgbClr val="7F0055"/>
                </a:solidFill>
              </a:rPr>
              <a:t>throws</a:t>
            </a:r>
            <a:r>
              <a:rPr lang="en-US" altLang="en-US" sz="2000" b="1">
                <a:solidFill>
                  <a:srgbClr val="000000"/>
                </a:solidFill>
              </a:rPr>
              <a:t> Exception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System.</a:t>
            </a:r>
            <a:r>
              <a:rPr lang="en-US" altLang="en-US" sz="2000" b="1" i="1">
                <a:solidFill>
                  <a:srgbClr val="0000C0"/>
                </a:solidFill>
              </a:rPr>
              <a:t>out</a:t>
            </a:r>
            <a:r>
              <a:rPr lang="en-US" altLang="en-US" sz="2000" b="1" i="1">
                <a:solidFill>
                  <a:srgbClr val="000000"/>
                </a:solidFill>
              </a:rPr>
              <a:t>.println(</a:t>
            </a:r>
            <a:r>
              <a:rPr lang="en-US" altLang="en-US" sz="2000" b="1" i="1">
                <a:solidFill>
                  <a:srgbClr val="2A00FF"/>
                </a:solidFill>
              </a:rPr>
              <a:t>"</a:t>
            </a:r>
            <a:r>
              <a:rPr lang="en-US" altLang="en-US" sz="2000" i="1"/>
              <a:t>AFTER EACH Called on</a:t>
            </a:r>
            <a:r>
              <a:rPr lang="en-US" altLang="en-US" sz="2000" b="1" i="1">
                <a:solidFill>
                  <a:srgbClr val="2A00FF"/>
                </a:solidFill>
              </a:rPr>
              <a:t>"</a:t>
            </a:r>
            <a:r>
              <a:rPr lang="en-US" altLang="en-US" sz="2000" b="1" i="1">
                <a:solidFill>
                  <a:srgbClr val="000000"/>
                </a:solidFill>
              </a:rPr>
              <a:t>+                        			</a:t>
            </a:r>
            <a:r>
              <a:rPr lang="en-US" altLang="en-US" sz="2000" i="1">
                <a:solidFill>
                  <a:srgbClr val="1206FA"/>
                </a:solidFill>
              </a:rPr>
              <a:t>info.getDisplayName());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857250" lvl="2" indent="0">
              <a:buFontTx/>
              <a:buNone/>
            </a:pPr>
            <a:endParaRPr lang="en-IN" altLang="en-US" sz="2000"/>
          </a:p>
          <a:p>
            <a:pPr marL="1314450" lvl="3" indent="0">
              <a:lnSpc>
                <a:spcPct val="90000"/>
              </a:lnSpc>
              <a:buFontTx/>
              <a:buNone/>
            </a:pPr>
            <a:endParaRPr lang="en-US" altLang="en-US"/>
          </a:p>
        </p:txBody>
      </p:sp>
    </p:spTree>
  </p:cSld>
  <p:clrMapOvr>
    <a:masterClrMapping/>
  </p:clrMapOvr>
  <p:transition advClick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tle 1">
            <a:extLst>
              <a:ext uri="{FF2B5EF4-FFF2-40B4-BE49-F238E27FC236}">
                <a16:creationId xmlns:a16="http://schemas.microsoft.com/office/drawing/2014/main" id="{92AF0F5C-6B03-0366-A46B-9EDD1533D1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 - Timeouts</a:t>
            </a:r>
            <a:endParaRPr lang="en-IN" altLang="en-US"/>
          </a:p>
        </p:txBody>
      </p:sp>
      <p:sp>
        <p:nvSpPr>
          <p:cNvPr id="43011" name="Content Placeholder 2">
            <a:extLst>
              <a:ext uri="{FF2B5EF4-FFF2-40B4-BE49-F238E27FC236}">
                <a16:creationId xmlns:a16="http://schemas.microsoft.com/office/drawing/2014/main" id="{F783DA3F-715D-6072-1145-554473F30A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/>
              <a:t>    </a:t>
            </a:r>
            <a:r>
              <a:rPr lang="en-IN" altLang="en-US" sz="2000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getMessage() {</a:t>
            </a:r>
          </a:p>
          <a:p>
            <a:pPr marL="457200" lvl="1" indent="0">
              <a:buFontTx/>
              <a:buNone/>
            </a:pP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  <a:r>
              <a:rPr lang="en-IN" altLang="en-US" sz="2000" b="1">
                <a:solidFill>
                  <a:srgbClr val="7F0055"/>
                </a:solidFill>
              </a:rPr>
              <a:t>try</a:t>
            </a:r>
            <a:r>
              <a:rPr lang="en-IN" altLang="en-US" sz="2000" b="1">
                <a:solidFill>
                  <a:srgbClr val="000000"/>
                </a:solidFill>
              </a:rPr>
              <a:t> {</a:t>
            </a:r>
          </a:p>
          <a:p>
            <a:pPr marL="457200" lvl="1" indent="0">
              <a:buFontTx/>
              <a:buNone/>
            </a:pPr>
            <a:endParaRPr lang="en-IN" altLang="en-US" sz="2000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Thread.</a:t>
            </a:r>
            <a:r>
              <a:rPr lang="en-IN" altLang="en-US" sz="2000" i="1">
                <a:solidFill>
                  <a:srgbClr val="000000"/>
                </a:solidFill>
              </a:rPr>
              <a:t>sleep(5000);</a:t>
            </a:r>
          </a:p>
          <a:p>
            <a:pPr marL="457200" lvl="1" indent="0">
              <a:buFontTx/>
              <a:buNone/>
            </a:pPr>
            <a:endParaRPr lang="en-IN" altLang="en-US" sz="2000" i="1">
              <a:solidFill>
                <a:srgbClr val="00000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 </a:t>
            </a:r>
            <a:r>
              <a:rPr lang="en-IN" altLang="en-US" sz="2000" b="1">
                <a:solidFill>
                  <a:srgbClr val="7F0055"/>
                </a:solidFill>
              </a:rPr>
              <a:t>catch</a:t>
            </a:r>
            <a:r>
              <a:rPr lang="en-IN" altLang="en-US" sz="2000" b="1">
                <a:solidFill>
                  <a:srgbClr val="000000"/>
                </a:solidFill>
              </a:rPr>
              <a:t> (InterruptedException </a:t>
            </a:r>
            <a:r>
              <a:rPr lang="en-IN" altLang="en-US" sz="2000" b="1">
                <a:solidFill>
                  <a:srgbClr val="6A3E3E"/>
                </a:solidFill>
              </a:rPr>
              <a:t>e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6A3E3E"/>
                </a:solidFill>
              </a:rPr>
              <a:t>       e</a:t>
            </a:r>
            <a:r>
              <a:rPr lang="en-IN" altLang="en-US" sz="2000">
                <a:solidFill>
                  <a:srgbClr val="000000"/>
                </a:solidFill>
              </a:rPr>
              <a:t>.printStackTrace();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US" altLang="en-US" sz="2000" b="1">
                <a:solidFill>
                  <a:srgbClr val="7F0055"/>
                </a:solidFill>
              </a:rPr>
              <a:t>    return</a:t>
            </a:r>
            <a:r>
              <a:rPr lang="en-US" altLang="en-US" sz="2000" b="1">
                <a:solidFill>
                  <a:srgbClr val="000000"/>
                </a:solidFill>
              </a:rPr>
              <a:t>  </a:t>
            </a:r>
            <a:r>
              <a:rPr lang="en-US" altLang="en-US" sz="2000" b="1">
                <a:solidFill>
                  <a:srgbClr val="2A00FF"/>
                </a:solidFill>
              </a:rPr>
              <a:t>"Welcome to Java Programming"</a:t>
            </a:r>
            <a:r>
              <a:rPr lang="en-US" altLang="en-US" sz="2000" b="1">
                <a:solidFill>
                  <a:srgbClr val="000000"/>
                </a:solidFill>
              </a:rPr>
              <a:t>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}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tle 1">
            <a:extLst>
              <a:ext uri="{FF2B5EF4-FFF2-40B4-BE49-F238E27FC236}">
                <a16:creationId xmlns:a16="http://schemas.microsoft.com/office/drawing/2014/main" id="{2AD4F9A2-A0F8-54E9-4009-B917AE1CA2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Timeouts</a:t>
            </a:r>
            <a:endParaRPr lang="en-IN" altLang="en-US"/>
          </a:p>
        </p:txBody>
      </p:sp>
      <p:sp>
        <p:nvSpPr>
          <p:cNvPr id="44035" name="Content Placeholder 2">
            <a:extLst>
              <a:ext uri="{FF2B5EF4-FFF2-40B4-BE49-F238E27FC236}">
                <a16:creationId xmlns:a16="http://schemas.microsoft.com/office/drawing/2014/main" id="{8E399A64-0993-9F49-EFA5-FC097EE993D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java.time.Duration.</a:t>
            </a:r>
            <a:r>
              <a:rPr lang="en-IN" altLang="en-US" sz="1800" b="1" i="1">
                <a:solidFill>
                  <a:srgbClr val="000000"/>
                </a:solidFill>
              </a:rPr>
              <a:t>ofMillis;</a:t>
            </a:r>
          </a:p>
          <a:p>
            <a:pPr marL="0" indent="0">
              <a:buFontTx/>
              <a:buNone/>
            </a:pPr>
            <a:r>
              <a:rPr lang="en-IN" altLang="en-US" sz="1800" b="1">
                <a:solidFill>
                  <a:srgbClr val="7F0055"/>
                </a:solidFill>
              </a:rPr>
              <a:t>import</a:t>
            </a:r>
            <a:r>
              <a:rPr lang="en-IN" altLang="en-US" sz="1800" b="1">
                <a:solidFill>
                  <a:srgbClr val="000000"/>
                </a:solidFill>
              </a:rPr>
              <a:t> </a:t>
            </a:r>
            <a:r>
              <a:rPr lang="en-IN" altLang="en-US" sz="1800" b="1">
                <a:solidFill>
                  <a:srgbClr val="7F0055"/>
                </a:solidFill>
              </a:rPr>
              <a:t>static</a:t>
            </a:r>
            <a:r>
              <a:rPr lang="en-IN" altLang="en-US" sz="1800" b="1">
                <a:solidFill>
                  <a:srgbClr val="000000"/>
                </a:solidFill>
              </a:rPr>
              <a:t> org.junit.jupiter.api.Assertions.</a:t>
            </a:r>
            <a:r>
              <a:rPr lang="en-IN" altLang="en-US" sz="1800" b="1" i="1">
                <a:solidFill>
                  <a:srgbClr val="000000"/>
                </a:solidFill>
              </a:rPr>
              <a:t>assertTimeout;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endParaRPr lang="en-IN" altLang="en-US" sz="2000">
              <a:solidFill>
                <a:srgbClr val="646464"/>
              </a:solidFill>
            </a:endParaRP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@Test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646464"/>
                </a:solidFill>
              </a:rPr>
              <a:t>@DisplayName</a:t>
            </a:r>
            <a:r>
              <a:rPr lang="en-IN" altLang="en-US" sz="2000">
                <a:solidFill>
                  <a:srgbClr val="000000"/>
                </a:solidFill>
              </a:rPr>
              <a:t>(</a:t>
            </a:r>
            <a:r>
              <a:rPr lang="en-IN" altLang="en-US" sz="2000">
                <a:solidFill>
                  <a:srgbClr val="2A00FF"/>
                </a:solidFill>
              </a:rPr>
              <a:t>"Testing For Timeout"</a:t>
            </a:r>
            <a:r>
              <a:rPr lang="en-IN" altLang="en-US" sz="2000">
                <a:solidFill>
                  <a:srgbClr val="000000"/>
                </a:solidFill>
              </a:rPr>
              <a:t>)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</a:t>
            </a:r>
            <a:r>
              <a:rPr lang="en-IN" altLang="en-US" sz="2000" b="1">
                <a:solidFill>
                  <a:srgbClr val="7F0055"/>
                </a:solidFill>
              </a:rPr>
              <a:t>void</a:t>
            </a:r>
            <a:r>
              <a:rPr lang="en-IN" altLang="en-US" sz="2000" b="1">
                <a:solidFill>
                  <a:srgbClr val="000000"/>
                </a:solidFill>
              </a:rPr>
              <a:t> timeoutNotExceededWithMethod() {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      String </a:t>
            </a:r>
            <a:r>
              <a:rPr lang="en-US" altLang="en-US" sz="2000">
                <a:solidFill>
                  <a:srgbClr val="6A3E3E"/>
                </a:solidFill>
              </a:rPr>
              <a:t>actualGreeting</a:t>
            </a:r>
            <a:r>
              <a:rPr lang="en-US" altLang="en-US" sz="2000">
                <a:solidFill>
                  <a:srgbClr val="000000"/>
                </a:solidFill>
              </a:rPr>
              <a:t> = </a:t>
            </a:r>
            <a:r>
              <a:rPr lang="en-US" altLang="en-US" sz="2000" i="1">
                <a:solidFill>
                  <a:srgbClr val="C00000"/>
                </a:solidFill>
              </a:rPr>
              <a:t>assertTimeout</a:t>
            </a:r>
            <a:r>
              <a:rPr lang="en-US" altLang="en-US" sz="2000" i="1">
                <a:solidFill>
                  <a:srgbClr val="000000"/>
                </a:solidFill>
              </a:rPr>
              <a:t>(</a:t>
            </a:r>
            <a:r>
              <a:rPr lang="en-US" altLang="en-US" sz="2000" b="1" i="1">
                <a:solidFill>
                  <a:srgbClr val="7030A0"/>
                </a:solidFill>
              </a:rPr>
              <a:t>ofMillis</a:t>
            </a:r>
            <a:r>
              <a:rPr lang="en-US" altLang="en-US" sz="2000" i="1">
                <a:solidFill>
                  <a:srgbClr val="000000"/>
                </a:solidFill>
              </a:rPr>
              <a:t>(1000),</a:t>
            </a:r>
            <a:r>
              <a:rPr lang="en-US" altLang="en-US" sz="2000" b="1" i="1">
                <a:solidFill>
                  <a:srgbClr val="000000"/>
                </a:solidFill>
              </a:rPr>
              <a:t>()</a:t>
            </a:r>
            <a:r>
              <a:rPr lang="en-US" altLang="en-US" sz="2000" i="1">
                <a:solidFill>
                  <a:srgbClr val="000000"/>
                </a:solidFill>
              </a:rPr>
              <a:t> -&gt;                            			</a:t>
            </a:r>
            <a:r>
              <a:rPr lang="en-US" altLang="en-US" sz="2000" i="1">
                <a:solidFill>
                  <a:srgbClr val="0000C0"/>
                </a:solidFill>
              </a:rPr>
              <a:t>grtObj</a:t>
            </a:r>
            <a:r>
              <a:rPr lang="en-US" altLang="en-US" sz="2000" i="1">
                <a:solidFill>
                  <a:srgbClr val="000000"/>
                </a:solidFill>
              </a:rPr>
              <a:t>.getMessage());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 i="1">
                <a:solidFill>
                  <a:srgbClr val="000000"/>
                </a:solidFill>
              </a:rPr>
              <a:t>assertEquals(</a:t>
            </a:r>
            <a:r>
              <a:rPr lang="en-IN" altLang="en-US" sz="2000" i="1">
                <a:solidFill>
                  <a:srgbClr val="2A00FF"/>
                </a:solidFill>
              </a:rPr>
              <a:t>"Hello, World!"</a:t>
            </a:r>
            <a:r>
              <a:rPr lang="en-IN" altLang="en-US" sz="2000" i="1">
                <a:solidFill>
                  <a:srgbClr val="000000"/>
                </a:solidFill>
              </a:rPr>
              <a:t>, </a:t>
            </a:r>
            <a:r>
              <a:rPr lang="en-IN" altLang="en-US" sz="2000" i="1">
                <a:solidFill>
                  <a:srgbClr val="6A3E3E"/>
                </a:solidFill>
              </a:rPr>
              <a:t>actualGreeting</a:t>
            </a:r>
            <a:r>
              <a:rPr lang="en-IN" altLang="en-US" sz="2000" i="1">
                <a:solidFill>
                  <a:srgbClr val="000000"/>
                </a:solidFill>
              </a:rPr>
              <a:t>);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}</a:t>
            </a:r>
          </a:p>
          <a:p>
            <a:pPr marL="400050" lvl="1" indent="0">
              <a:lnSpc>
                <a:spcPct val="150000"/>
              </a:lnSpc>
              <a:buFontTx/>
              <a:buNone/>
            </a:pP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le 1">
            <a:extLst>
              <a:ext uri="{FF2B5EF4-FFF2-40B4-BE49-F238E27FC236}">
                <a16:creationId xmlns:a16="http://schemas.microsoft.com/office/drawing/2014/main" id="{17BA037D-2E31-6B33-9248-01B317B5FB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ParameterizedTest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76803" name="Content Placeholder 2">
            <a:extLst>
              <a:ext uri="{FF2B5EF4-FFF2-40B4-BE49-F238E27FC236}">
                <a16:creationId xmlns:a16="http://schemas.microsoft.com/office/drawing/2014/main" id="{68FEDFEE-B4CC-1149-DB1A-BE80205C95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lang="en-US" altLang="en-US" sz="2000" b="1" dirty="0"/>
              <a:t>@ParameterizedTest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Denotes that a method is a parameterized test. 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When executing the parameterized test method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en-US" sz="2000" dirty="0"/>
              <a:t>Each invocation will be passed with arguments and reported separately.</a:t>
            </a:r>
          </a:p>
          <a:p>
            <a:pPr>
              <a:lnSpc>
                <a:spcPct val="150000"/>
              </a:lnSpc>
              <a:defRPr/>
            </a:pPr>
            <a:endParaRPr lang="en-US" sz="1200" b="1" dirty="0">
              <a:solidFill>
                <a:srgbClr val="333333"/>
              </a:solidFill>
              <a:latin typeface="raleway"/>
            </a:endParaRPr>
          </a:p>
          <a:p>
            <a:pPr>
              <a:lnSpc>
                <a:spcPct val="150000"/>
              </a:lnSpc>
              <a:defRPr/>
            </a:pPr>
            <a:r>
              <a:rPr lang="en-US" sz="1200" b="1" dirty="0">
                <a:solidFill>
                  <a:srgbClr val="333333"/>
                </a:solidFill>
                <a:latin typeface="raleway"/>
              </a:rPr>
              <a:t> </a:t>
            </a:r>
            <a:r>
              <a:rPr lang="en-US" sz="2000" b="1" dirty="0"/>
              <a:t>@ValueSource </a:t>
            </a:r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Used to pass an array of values to the test method.</a:t>
            </a:r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Values can be </a:t>
            </a:r>
            <a:r>
              <a:rPr lang="en-US" sz="2000" dirty="0" err="1"/>
              <a:t>int,byte,short</a:t>
            </a:r>
            <a:r>
              <a:rPr lang="en-US" sz="2000" dirty="0"/>
              <a:t> ,</a:t>
            </a:r>
            <a:r>
              <a:rPr lang="en-US" sz="2000" dirty="0" err="1"/>
              <a:t>double,char,String</a:t>
            </a:r>
            <a:endParaRPr lang="en-US" sz="2000" dirty="0"/>
          </a:p>
          <a:p>
            <a:pPr lvl="1">
              <a:lnSpc>
                <a:spcPct val="150000"/>
              </a:lnSpc>
              <a:defRPr/>
            </a:pPr>
            <a:r>
              <a:rPr lang="en-US" sz="2000" dirty="0"/>
              <a:t>Can Pass Only one Argument to the method.</a:t>
            </a:r>
          </a:p>
          <a:p>
            <a:pPr>
              <a:lnSpc>
                <a:spcPct val="150000"/>
              </a:lnSpc>
              <a:defRPr/>
            </a:pPr>
            <a:endParaRPr lang="en-US" altLang="en-US" sz="2000" dirty="0"/>
          </a:p>
          <a:p>
            <a:pPr marL="457200" lvl="1" indent="0">
              <a:lnSpc>
                <a:spcPct val="150000"/>
              </a:lnSpc>
              <a:buFontTx/>
              <a:buNone/>
              <a:defRPr/>
            </a:pPr>
            <a:endParaRPr lang="en-IN" sz="200" b="1" dirty="0">
              <a:solidFill>
                <a:srgbClr val="7F0055"/>
              </a:solidFill>
            </a:endParaRPr>
          </a:p>
          <a:p>
            <a:pPr marL="457200" lvl="1" indent="0">
              <a:lnSpc>
                <a:spcPct val="150000"/>
              </a:lnSpc>
              <a:buFontTx/>
              <a:buNone/>
              <a:defRPr/>
            </a:pPr>
            <a:r>
              <a:rPr lang="en-IN" sz="200" b="1" dirty="0">
                <a:solidFill>
                  <a:srgbClr val="7F0055"/>
                </a:solidFill>
              </a:rPr>
              <a:t> </a:t>
            </a: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>
            <a:extLst>
              <a:ext uri="{FF2B5EF4-FFF2-40B4-BE49-F238E27FC236}">
                <a16:creationId xmlns:a16="http://schemas.microsoft.com/office/drawing/2014/main" id="{08045AD1-09AA-4F4F-CF9B-6E7FE4F403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ParameterizedTest</a:t>
            </a:r>
            <a:endParaRPr lang="en-IN" altLang="en-US"/>
          </a:p>
        </p:txBody>
      </p:sp>
      <p:sp>
        <p:nvSpPr>
          <p:cNvPr id="47107" name="Content Placeholder 2">
            <a:extLst>
              <a:ext uri="{FF2B5EF4-FFF2-40B4-BE49-F238E27FC236}">
                <a16:creationId xmlns:a16="http://schemas.microsoft.com/office/drawing/2014/main" id="{A4D45C4C-47C8-C061-7F14-3CD4B26FE0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US" altLang="en-US" sz="2000" dirty="0">
                <a:solidFill>
                  <a:srgbClr val="646464"/>
                </a:solidFill>
              </a:rPr>
              <a:t>@DisplayName</a:t>
            </a:r>
            <a:r>
              <a:rPr lang="en-US" altLang="en-US" sz="2000" dirty="0">
                <a:solidFill>
                  <a:srgbClr val="000000"/>
                </a:solidFill>
              </a:rPr>
              <a:t>(</a:t>
            </a:r>
            <a:r>
              <a:rPr lang="en-US" altLang="en-US" sz="2000" dirty="0">
                <a:solidFill>
                  <a:srgbClr val="2A00FF"/>
                </a:solidFill>
              </a:rPr>
              <a:t>"Testing For elements in even position should not be null"</a:t>
            </a:r>
            <a:r>
              <a:rPr lang="en-US" altLang="en-US" sz="2000" dirty="0">
                <a:solidFill>
                  <a:srgbClr val="000000"/>
                </a:solidFill>
              </a:rPr>
              <a:t>)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b="1" dirty="0">
                <a:solidFill>
                  <a:srgbClr val="00B0F0"/>
                </a:solidFill>
              </a:rPr>
              <a:t>@ParameterizedTest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b="1" dirty="0">
                <a:solidFill>
                  <a:schemeClr val="accent6">
                    <a:lumMod val="50000"/>
                  </a:schemeClr>
                </a:solidFill>
              </a:rPr>
              <a:t>@ValueSource</a:t>
            </a:r>
            <a:r>
              <a:rPr lang="en-IN" altLang="en-US" sz="2000" dirty="0">
                <a:solidFill>
                  <a:srgbClr val="000000"/>
                </a:solidFill>
              </a:rPr>
              <a:t>(ints = {0,2,4,6})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</a:t>
            </a:r>
            <a:r>
              <a:rPr lang="en-IN" altLang="en-US" sz="2000" b="1" dirty="0">
                <a:solidFill>
                  <a:srgbClr val="7F0055"/>
                </a:solidFill>
              </a:rPr>
              <a:t>void</a:t>
            </a:r>
            <a:r>
              <a:rPr lang="en-IN" altLang="en-US" sz="2000" b="1" dirty="0">
                <a:solidFill>
                  <a:srgbClr val="000000"/>
                </a:solidFill>
              </a:rPr>
              <a:t> </a:t>
            </a:r>
            <a:r>
              <a:rPr lang="en-IN" altLang="en-US" sz="2000" b="1" dirty="0" err="1">
                <a:solidFill>
                  <a:srgbClr val="000000"/>
                </a:solidFill>
              </a:rPr>
              <a:t>checkingForNullInList</a:t>
            </a:r>
            <a:r>
              <a:rPr lang="en-IN" altLang="en-US" sz="2000" b="1" dirty="0">
                <a:solidFill>
                  <a:srgbClr val="000000"/>
                </a:solidFill>
              </a:rPr>
              <a:t>(</a:t>
            </a:r>
            <a:r>
              <a:rPr lang="en-IN" altLang="en-US" sz="2000" b="1" dirty="0">
                <a:solidFill>
                  <a:srgbClr val="7F0055"/>
                </a:solidFill>
              </a:rPr>
              <a:t>int</a:t>
            </a:r>
            <a:r>
              <a:rPr lang="en-IN" altLang="en-US" sz="2000" b="1" dirty="0">
                <a:solidFill>
                  <a:srgbClr val="000000"/>
                </a:solidFill>
              </a:rPr>
              <a:t> </a:t>
            </a:r>
            <a:r>
              <a:rPr lang="en-IN" altLang="en-US" sz="2000" b="1" dirty="0" err="1">
                <a:solidFill>
                  <a:srgbClr val="6A3E3E"/>
                </a:solidFill>
              </a:rPr>
              <a:t>idxPos</a:t>
            </a:r>
            <a:r>
              <a:rPr lang="en-IN" altLang="en-US" sz="2000" b="1" dirty="0">
                <a:solidFill>
                  <a:srgbClr val="000000"/>
                </a:solidFill>
              </a:rPr>
              <a:t>) {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  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i="1" dirty="0" err="1">
                <a:solidFill>
                  <a:srgbClr val="000000"/>
                </a:solidFill>
              </a:rPr>
              <a:t>assertNotNull</a:t>
            </a:r>
            <a:r>
              <a:rPr lang="en-IN" altLang="en-US" sz="2000" i="1" dirty="0">
                <a:solidFill>
                  <a:srgbClr val="000000"/>
                </a:solidFill>
              </a:rPr>
              <a:t>(</a:t>
            </a:r>
            <a:r>
              <a:rPr lang="en-IN" altLang="en-US" sz="2000" i="1" dirty="0" err="1">
                <a:solidFill>
                  <a:srgbClr val="0000C0"/>
                </a:solidFill>
              </a:rPr>
              <a:t>grtObj</a:t>
            </a:r>
            <a:r>
              <a:rPr lang="en-IN" altLang="en-US" sz="2000" i="1" dirty="0" err="1">
                <a:solidFill>
                  <a:srgbClr val="000000"/>
                </a:solidFill>
              </a:rPr>
              <a:t>.findElement</a:t>
            </a:r>
            <a:r>
              <a:rPr lang="en-IN" altLang="en-US" sz="2000" i="1" dirty="0">
                <a:solidFill>
                  <a:srgbClr val="000000"/>
                </a:solidFill>
              </a:rPr>
              <a:t>(</a:t>
            </a:r>
            <a:r>
              <a:rPr lang="en-IN" altLang="en-US" sz="2000" i="1" dirty="0" err="1">
                <a:solidFill>
                  <a:srgbClr val="6A3E3E"/>
                </a:solidFill>
              </a:rPr>
              <a:t>idxPos</a:t>
            </a:r>
            <a:r>
              <a:rPr lang="en-IN" altLang="en-US" sz="2000" i="1" dirty="0">
                <a:solidFill>
                  <a:srgbClr val="000000"/>
                </a:solidFill>
              </a:rPr>
              <a:t>));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r>
              <a:rPr lang="en-IN" altLang="en-US" sz="2000" dirty="0">
                <a:solidFill>
                  <a:srgbClr val="000000"/>
                </a:solidFill>
              </a:rPr>
              <a:t>    }</a:t>
            </a:r>
          </a:p>
          <a:p>
            <a:pPr marL="400050" lvl="1" indent="0">
              <a:lnSpc>
                <a:spcPct val="150000"/>
              </a:lnSpc>
              <a:buFontTx/>
              <a:buNone/>
              <a:defRPr/>
            </a:pPr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>
            <a:extLst>
              <a:ext uri="{FF2B5EF4-FFF2-40B4-BE49-F238E27FC236}">
                <a16:creationId xmlns:a16="http://schemas.microsoft.com/office/drawing/2014/main" id="{F03126F6-DF9A-A02A-7EA6-B92752B634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ParameterizedTest</a:t>
            </a:r>
            <a:endParaRPr lang="en-IN" altLang="en-US"/>
          </a:p>
        </p:txBody>
      </p:sp>
      <p:sp>
        <p:nvSpPr>
          <p:cNvPr id="47107" name="Content Placeholder 2">
            <a:extLst>
              <a:ext uri="{FF2B5EF4-FFF2-40B4-BE49-F238E27FC236}">
                <a16:creationId xmlns:a16="http://schemas.microsoft.com/office/drawing/2014/main" id="{B026DA65-BDA2-FC8A-5061-C361EF2E854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 b="1">
                <a:solidFill>
                  <a:srgbClr val="7F0055"/>
                </a:solidFill>
              </a:rPr>
              <a:t>public</a:t>
            </a:r>
            <a:r>
              <a:rPr lang="en-IN" altLang="en-US" sz="2000" b="1">
                <a:solidFill>
                  <a:srgbClr val="000000"/>
                </a:solidFill>
              </a:rPr>
              <a:t> String findElement(</a:t>
            </a:r>
            <a:r>
              <a:rPr lang="en-IN" altLang="en-US" sz="2000" b="1">
                <a:solidFill>
                  <a:srgbClr val="7F0055"/>
                </a:solidFill>
              </a:rPr>
              <a:t>int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idxPos</a:t>
            </a:r>
            <a:r>
              <a:rPr lang="en-IN" altLang="en-US" sz="2000" b="1">
                <a:solidFill>
                  <a:srgbClr val="000000"/>
                </a:solidFill>
              </a:rPr>
              <a:t>) {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List&lt;String&gt; </a:t>
            </a:r>
            <a:r>
              <a:rPr lang="en-IN" altLang="en-US" sz="2000">
                <a:solidFill>
                  <a:srgbClr val="6A3E3E"/>
                </a:solidFill>
              </a:rPr>
              <a:t>names</a:t>
            </a:r>
            <a:r>
              <a:rPr lang="en-IN" altLang="en-US" sz="2000">
                <a:solidFill>
                  <a:srgbClr val="000000"/>
                </a:solidFill>
              </a:rPr>
              <a:t> = 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endParaRPr lang="en-IN" altLang="en-US" sz="2000">
              <a:solidFill>
                <a:srgbClr val="000000"/>
              </a:solidFill>
            </a:endParaRP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Arrays.</a:t>
            </a:r>
            <a:r>
              <a:rPr lang="en-IN" altLang="en-US" sz="2000" i="1">
                <a:solidFill>
                  <a:srgbClr val="000000"/>
                </a:solidFill>
              </a:rPr>
              <a:t>asList(</a:t>
            </a:r>
            <a:r>
              <a:rPr lang="en-IN" altLang="en-US" sz="2000" i="1">
                <a:solidFill>
                  <a:srgbClr val="2A00FF"/>
                </a:solidFill>
              </a:rPr>
              <a:t>"Ramesh"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  <a:r>
              <a:rPr lang="en-IN" altLang="en-US" sz="2000" i="1">
                <a:solidFill>
                  <a:srgbClr val="2A00FF"/>
                </a:solidFill>
              </a:rPr>
              <a:t>"Suresh"</a:t>
            </a:r>
            <a:r>
              <a:rPr lang="en-IN" altLang="en-US" sz="2000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7F0055"/>
                </a:solidFill>
              </a:rPr>
              <a:t>null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"magesh"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7F0055"/>
                </a:solidFill>
              </a:rPr>
              <a:t>null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"Rajesh"</a:t>
            </a:r>
            <a:r>
              <a:rPr lang="en-IN" altLang="en-US" sz="2000" b="1" i="1">
                <a:solidFill>
                  <a:srgbClr val="000000"/>
                </a:solidFill>
              </a:rPr>
              <a:t>,</a:t>
            </a:r>
            <a:r>
              <a:rPr lang="en-IN" altLang="en-US" sz="2000" b="1" i="1">
                <a:solidFill>
                  <a:srgbClr val="2A00FF"/>
                </a:solidFill>
              </a:rPr>
              <a:t>"Siva"</a:t>
            </a:r>
            <a:r>
              <a:rPr lang="en-IN" altLang="en-US" sz="2000" b="1" i="1">
                <a:solidFill>
                  <a:srgbClr val="000000"/>
                </a:solidFill>
              </a:rPr>
              <a:t>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 b="1">
                <a:solidFill>
                  <a:srgbClr val="7F0055"/>
                </a:solidFill>
              </a:rPr>
              <a:t>return</a:t>
            </a:r>
            <a:r>
              <a:rPr lang="en-IN" altLang="en-US" sz="2000" b="1">
                <a:solidFill>
                  <a:srgbClr val="000000"/>
                </a:solidFill>
              </a:rPr>
              <a:t> </a:t>
            </a:r>
            <a:r>
              <a:rPr lang="en-IN" altLang="en-US" sz="2000" b="1">
                <a:solidFill>
                  <a:srgbClr val="6A3E3E"/>
                </a:solidFill>
              </a:rPr>
              <a:t>names</a:t>
            </a:r>
            <a:r>
              <a:rPr lang="en-IN" altLang="en-US" sz="2000" b="1">
                <a:solidFill>
                  <a:srgbClr val="000000"/>
                </a:solidFill>
              </a:rPr>
              <a:t>.get(</a:t>
            </a:r>
            <a:r>
              <a:rPr lang="en-IN" altLang="en-US" sz="2000" b="1">
                <a:solidFill>
                  <a:srgbClr val="6A3E3E"/>
                </a:solidFill>
              </a:rPr>
              <a:t>idxPos</a:t>
            </a:r>
            <a:r>
              <a:rPr lang="en-IN" altLang="en-US" sz="2000" b="1">
                <a:solidFill>
                  <a:srgbClr val="000000"/>
                </a:solidFill>
              </a:rPr>
              <a:t>);</a:t>
            </a:r>
          </a:p>
          <a:p>
            <a:pPr marL="457200" lvl="1" indent="0">
              <a:lnSpc>
                <a:spcPct val="150000"/>
              </a:lnSpc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}</a:t>
            </a:r>
            <a:endParaRPr lang="en-US" altLang="en-US" sz="2000"/>
          </a:p>
          <a:p>
            <a:pPr>
              <a:lnSpc>
                <a:spcPct val="150000"/>
              </a:lnSpc>
            </a:pPr>
            <a:endParaRPr lang="en-IN" altLang="en-US" sz="2000"/>
          </a:p>
          <a:p>
            <a:pPr>
              <a:lnSpc>
                <a:spcPct val="150000"/>
              </a:lnSpc>
            </a:pPr>
            <a:endParaRPr lang="en-IN" altLang="en-US"/>
          </a:p>
        </p:txBody>
      </p:sp>
    </p:spTree>
  </p:cSld>
  <p:clrMapOvr>
    <a:masterClrMapping/>
  </p:clrMapOvr>
  <p:transition advClick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id="{8EE295CD-9CD6-06AB-B58C-8779918538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Tips for testing</a:t>
            </a:r>
          </a:p>
        </p:txBody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BA7864BC-CA23-609C-2D9D-D0C93DC2CD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>
                <a:solidFill>
                  <a:srgbClr val="262626"/>
                </a:solidFill>
              </a:rPr>
              <a:t>You cannot test every possible input, parameter value, etc.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So you must think of a limited set of tests likely to expose bugs.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Think about boundary cases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positive; zero; negative numbers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right at the edge of an array or collection's size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Think about empty cases and error cases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0, -1, null;  an empty list or array</a:t>
            </a:r>
          </a:p>
          <a:p>
            <a:pPr lvl="1"/>
            <a:endParaRPr lang="en-US" altLang="en-US" sz="2000">
              <a:solidFill>
                <a:srgbClr val="404040"/>
              </a:solidFill>
            </a:endParaRPr>
          </a:p>
          <a:p>
            <a:r>
              <a:rPr lang="en-US" altLang="en-US" sz="2000" b="1">
                <a:solidFill>
                  <a:srgbClr val="262626"/>
                </a:solidFill>
              </a:rPr>
              <a:t>test behavior in combination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maybe add usually works, but fails after you call remove</a:t>
            </a:r>
          </a:p>
          <a:p>
            <a:pPr lvl="1"/>
            <a:r>
              <a:rPr lang="en-US" altLang="en-US" sz="2000">
                <a:solidFill>
                  <a:srgbClr val="404040"/>
                </a:solidFill>
              </a:rPr>
              <a:t>make multiple calls;  maybe size fails the second time only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tle 1">
            <a:extLst>
              <a:ext uri="{FF2B5EF4-FFF2-40B4-BE49-F238E27FC236}">
                <a16:creationId xmlns:a16="http://schemas.microsoft.com/office/drawing/2014/main" id="{51AF6A93-1748-D65A-0257-66A3905AD9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Tips for testing-Effective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7D3D-5292-9F8F-39B9-A5111D81A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b="1" u="sng" dirty="0"/>
              <a:t>Should Not Test</a:t>
            </a:r>
          </a:p>
          <a:p>
            <a:pPr>
              <a:defRPr/>
            </a:pPr>
            <a:endParaRPr lang="en-US" sz="2000" b="1" u="sng" dirty="0"/>
          </a:p>
          <a:p>
            <a:pPr lvl="1">
              <a:defRPr/>
            </a:pPr>
            <a:r>
              <a:rPr lang="en-US" sz="2000" dirty="0"/>
              <a:t>Other framework libraries (you should assume they work correctly)</a:t>
            </a:r>
          </a:p>
          <a:p>
            <a:pPr lvl="1">
              <a:defRPr/>
            </a:pPr>
            <a:r>
              <a:rPr lang="en-US" sz="2000" dirty="0"/>
              <a:t>The database (you should assume it works correctly when it is available)</a:t>
            </a:r>
          </a:p>
          <a:p>
            <a:pPr lvl="1">
              <a:defRPr/>
            </a:pPr>
            <a:r>
              <a:rPr lang="en-US" sz="2000" dirty="0"/>
              <a:t>Other external resources (again you assume they work correctly when available)</a:t>
            </a:r>
          </a:p>
          <a:p>
            <a:pPr lvl="1">
              <a:defRPr/>
            </a:pPr>
            <a:r>
              <a:rPr lang="en-US" sz="2000" dirty="0"/>
              <a:t>Really trivial code (like getters and setters for example)</a:t>
            </a:r>
          </a:p>
          <a:p>
            <a:pPr lvl="1">
              <a:defRPr/>
            </a:pPr>
            <a:endParaRPr lang="en-US" sz="2000" dirty="0"/>
          </a:p>
          <a:p>
            <a:pPr>
              <a:defRPr/>
            </a:pPr>
            <a:r>
              <a:rPr lang="en-US" sz="2400" u="sng" dirty="0"/>
              <a:t>Should Test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Tests should cover code with “business logic”. 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Core code that is accessed by a lot of other modules</a:t>
            </a:r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Code that seems to gather a lot of bugs</a:t>
            </a:r>
          </a:p>
          <a:p>
            <a:pPr lvl="1">
              <a:defRPr/>
            </a:pPr>
            <a:endParaRPr lang="en-US" sz="2000" dirty="0"/>
          </a:p>
        </p:txBody>
      </p:sp>
    </p:spTree>
  </p:cSld>
  <p:clrMapOvr>
    <a:masterClrMapping/>
  </p:clrMapOvr>
  <p:transition advClick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Title 1">
            <a:extLst>
              <a:ext uri="{FF2B5EF4-FFF2-40B4-BE49-F238E27FC236}">
                <a16:creationId xmlns:a16="http://schemas.microsoft.com/office/drawing/2014/main" id="{DF787A0A-42BF-04A2-4872-6D94F7E4EBB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IN" altLang="en-US"/>
              <a:t>JUNIT Test Report</a:t>
            </a:r>
          </a:p>
        </p:txBody>
      </p:sp>
      <p:sp>
        <p:nvSpPr>
          <p:cNvPr id="55299" name="Subtitle 2">
            <a:extLst>
              <a:ext uri="{FF2B5EF4-FFF2-40B4-BE49-F238E27FC236}">
                <a16:creationId xmlns:a16="http://schemas.microsoft.com/office/drawing/2014/main" id="{A2FD415D-F0EA-0AEF-4979-B5F2A7E6449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IN" altLang="en-US"/>
          </a:p>
        </p:txBody>
      </p:sp>
    </p:spTree>
  </p:cSld>
  <p:clrMapOvr>
    <a:masterClrMapping/>
  </p:clrMapOvr>
  <p:transition advClick="0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le 1">
            <a:extLst>
              <a:ext uri="{FF2B5EF4-FFF2-40B4-BE49-F238E27FC236}">
                <a16:creationId xmlns:a16="http://schemas.microsoft.com/office/drawing/2014/main" id="{EF29B165-0EFF-C6C1-2A4A-87D75C0A4F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Test Report</a:t>
            </a:r>
            <a:endParaRPr lang="en-I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391D9-820D-11C4-7813-988A6107E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/>
            </a:pPr>
            <a:r>
              <a:rPr lang="en-IN" sz="1800" b="1" dirty="0">
                <a:solidFill>
                  <a:srgbClr val="1206FA"/>
                </a:solidFill>
              </a:rPr>
              <a:t>Generate Report by  : </a:t>
            </a:r>
            <a:r>
              <a:rPr lang="en-IN" sz="1800" b="1" dirty="0" err="1">
                <a:solidFill>
                  <a:srgbClr val="1206FA"/>
                </a:solidFill>
              </a:rPr>
              <a:t>mvn</a:t>
            </a:r>
            <a:r>
              <a:rPr lang="en-IN" sz="1800" b="1" dirty="0">
                <a:solidFill>
                  <a:srgbClr val="1206FA"/>
                </a:solidFill>
              </a:rPr>
              <a:t>  site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&lt;reporting&gt;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&lt;plugins&gt;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&lt;plugin&gt;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  <a:r>
              <a:rPr lang="en-IN" sz="1800" dirty="0" err="1"/>
              <a:t>org.apache.maven.plugins</a:t>
            </a:r>
            <a:r>
              <a:rPr lang="en-IN" sz="1800" dirty="0"/>
              <a:t>&lt;/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artifactId</a:t>
            </a:r>
            <a:r>
              <a:rPr lang="en-IN" sz="1800" dirty="0"/>
              <a:t>&gt;maven-</a:t>
            </a:r>
            <a:r>
              <a:rPr lang="en-IN" sz="1800" dirty="0" err="1"/>
              <a:t>surefire</a:t>
            </a:r>
            <a:r>
              <a:rPr lang="en-IN" sz="1800" dirty="0"/>
              <a:t>-report-plugin&lt;/</a:t>
            </a:r>
            <a:r>
              <a:rPr lang="en-IN" sz="1800" dirty="0" err="1"/>
              <a:t>artifactId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&lt;version&gt;</a:t>
            </a:r>
            <a:r>
              <a:rPr lang="en-IN" sz="1800" dirty="0">
                <a:solidFill>
                  <a:srgbClr val="000000"/>
                </a:solidFill>
                <a:latin typeface="Consolas" panose="020B0609020204030204" pitchFamily="49" charset="0"/>
              </a:rPr>
              <a:t>3.0.0-M7</a:t>
            </a:r>
            <a:r>
              <a:rPr lang="en-IN" sz="1800" dirty="0"/>
              <a:t>&lt;/version&gt;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&lt;configuration&gt;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</a:t>
            </a:r>
            <a:r>
              <a:rPr lang="en-IN" sz="1800" dirty="0" err="1"/>
              <a:t>outputName</a:t>
            </a:r>
            <a:r>
              <a:rPr lang="en-IN" sz="1800" dirty="0"/>
              <a:t>&gt;JUnit-Test-Report&lt;/</a:t>
            </a:r>
            <a:r>
              <a:rPr lang="en-IN" sz="1800" dirty="0" err="1"/>
              <a:t>outputName</a:t>
            </a:r>
            <a:r>
              <a:rPr lang="en-IN" sz="1800" dirty="0"/>
              <a:t>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	&lt;/configuration&gt;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	&lt;/plugin&gt;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	&lt;/plugins&gt;</a:t>
            </a:r>
          </a:p>
          <a:p>
            <a:pPr marL="457200" lvl="1" indent="0">
              <a:buFontTx/>
              <a:buNone/>
              <a:defRPr/>
            </a:pPr>
            <a:r>
              <a:rPr lang="en-IN" sz="1800" dirty="0"/>
              <a:t>&lt;/reporting&gt;</a:t>
            </a:r>
          </a:p>
          <a:p>
            <a:pPr marL="457200" lvl="1" indent="0">
              <a:buFontTx/>
              <a:buNone/>
              <a:defRPr/>
            </a:pPr>
            <a:endParaRPr lang="en-IN" sz="1800" dirty="0"/>
          </a:p>
        </p:txBody>
      </p:sp>
    </p:spTree>
  </p:cSld>
  <p:clrMapOvr>
    <a:masterClrMapping/>
  </p:clrMapOvr>
  <p:transition advClick="0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>
            <a:extLst>
              <a:ext uri="{FF2B5EF4-FFF2-40B4-BE49-F238E27FC236}">
                <a16:creationId xmlns:a16="http://schemas.microsoft.com/office/drawing/2014/main" id="{57E388F3-CDE0-6FE8-9A24-AD24733D75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Surefire-plugin</a:t>
            </a:r>
          </a:p>
        </p:txBody>
      </p:sp>
      <p:sp>
        <p:nvSpPr>
          <p:cNvPr id="57347" name="Content Placeholder 2">
            <a:extLst>
              <a:ext uri="{FF2B5EF4-FFF2-40B4-BE49-F238E27FC236}">
                <a16:creationId xmlns:a16="http://schemas.microsoft.com/office/drawing/2014/main" id="{A6F11D0C-0DD9-4967-176A-A33C60A1B6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&lt;build&gt;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&lt;</a:t>
            </a:r>
            <a:r>
              <a:rPr lang="en-IN" altLang="en-US" sz="1800">
                <a:solidFill>
                  <a:srgbClr val="3F7F7F"/>
                </a:solidFill>
                <a:latin typeface="Consolas" panose="020B0609020204030204" pitchFamily="49" charset="0"/>
              </a:rPr>
              <a:t>pluginManagement</a:t>
            </a: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&gt;</a:t>
            </a:r>
            <a:endParaRPr lang="en-IN" altLang="en-US" sz="2000">
              <a:solidFill>
                <a:srgbClr val="00808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  &lt;plugins&gt;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plugin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artifactId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  <a:r>
              <a:rPr lang="en-IN" altLang="en-US" sz="2000">
                <a:solidFill>
                  <a:srgbClr val="000000"/>
                </a:solidFill>
              </a:rPr>
              <a:t>maven-surefire-plugin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artifactId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  </a:t>
            </a:r>
            <a:r>
              <a:rPr lang="en-IN" altLang="en-US" sz="2000">
                <a:solidFill>
                  <a:srgbClr val="008080"/>
                </a:solidFill>
              </a:rPr>
              <a:t>&lt;</a:t>
            </a:r>
            <a:r>
              <a:rPr lang="en-IN" altLang="en-US" sz="2000">
                <a:solidFill>
                  <a:srgbClr val="3F7F7F"/>
                </a:solidFill>
              </a:rPr>
              <a:t>version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  <a:r>
              <a:rPr lang="en-IN" altLang="en-US" sz="2000">
                <a:solidFill>
                  <a:srgbClr val="000000"/>
                </a:solidFill>
              </a:rPr>
              <a:t>3.0.0-M7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version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0000"/>
                </a:solidFill>
              </a:rPr>
              <a:t>        </a:t>
            </a:r>
            <a:r>
              <a:rPr lang="en-IN" altLang="en-US" sz="2000">
                <a:solidFill>
                  <a:srgbClr val="008080"/>
                </a:solidFill>
              </a:rPr>
              <a:t>&lt;/</a:t>
            </a:r>
            <a:r>
              <a:rPr lang="en-IN" altLang="en-US" sz="2000">
                <a:solidFill>
                  <a:srgbClr val="3F7F7F"/>
                </a:solidFill>
              </a:rPr>
              <a:t>plugin</a:t>
            </a:r>
            <a:r>
              <a:rPr lang="en-IN" altLang="en-US" sz="2000">
                <a:solidFill>
                  <a:srgbClr val="008080"/>
                </a:solidFill>
              </a:rPr>
              <a:t>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&lt;/plugins&gt;</a:t>
            </a:r>
          </a:p>
          <a:p>
            <a:pPr marL="457200" lvl="1" indent="0">
              <a:buFontTx/>
              <a:buNone/>
            </a:pP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&lt;/</a:t>
            </a:r>
            <a:r>
              <a:rPr lang="en-IN" altLang="en-US" sz="1800">
                <a:solidFill>
                  <a:srgbClr val="3F7F7F"/>
                </a:solidFill>
                <a:latin typeface="Consolas" panose="020B0609020204030204" pitchFamily="49" charset="0"/>
              </a:rPr>
              <a:t>pluginManagement</a:t>
            </a:r>
            <a:r>
              <a:rPr lang="en-IN" altLang="en-US" sz="1800">
                <a:solidFill>
                  <a:srgbClr val="008080"/>
                </a:solidFill>
                <a:latin typeface="Consolas" panose="020B0609020204030204" pitchFamily="49" charset="0"/>
              </a:rPr>
              <a:t>&gt;</a:t>
            </a:r>
            <a:endParaRPr lang="en-IN" altLang="en-US" sz="2000">
              <a:solidFill>
                <a:srgbClr val="008080"/>
              </a:solidFill>
            </a:endParaRPr>
          </a:p>
          <a:p>
            <a:pPr marL="457200" lvl="1" indent="0">
              <a:buFontTx/>
              <a:buNone/>
            </a:pPr>
            <a:r>
              <a:rPr lang="en-IN" altLang="en-US" sz="2000">
                <a:solidFill>
                  <a:srgbClr val="008080"/>
                </a:solidFill>
              </a:rPr>
              <a:t>&lt;/build&gt;</a:t>
            </a:r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Title 1">
            <a:extLst>
              <a:ext uri="{FF2B5EF4-FFF2-40B4-BE49-F238E27FC236}">
                <a16:creationId xmlns:a16="http://schemas.microsoft.com/office/drawing/2014/main" id="{A5248D78-7744-9279-5B25-FF3CAA622D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Show Failed Tests</a:t>
            </a:r>
            <a:endParaRPr lang="en-IN" altLang="en-US"/>
          </a:p>
        </p:txBody>
      </p:sp>
      <p:sp>
        <p:nvSpPr>
          <p:cNvPr id="58371" name="Content Placeholder 2">
            <a:extLst>
              <a:ext uri="{FF2B5EF4-FFF2-40B4-BE49-F238E27FC236}">
                <a16:creationId xmlns:a16="http://schemas.microsoft.com/office/drawing/2014/main" id="{15F5C84E-CE12-7F70-3CDA-B73050EF68B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&lt;plugin&gt;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&lt;groupId&gt;org.apache.maven.plugins&lt;/groupId&gt;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&lt;artifactId&gt;maven-surefire-report-plugin&lt;/artifactId&gt;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&lt;version&gt;2.22.2&lt;/version&gt;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 &lt;configuration&gt; 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&lt;showSuccess&gt;false&lt;/showSuccess&gt; </a:t>
            </a:r>
          </a:p>
          <a:p>
            <a:pPr marL="457200" lvl="1" indent="0">
              <a:buFontTx/>
              <a:buNone/>
            </a:pPr>
            <a:r>
              <a:rPr lang="en-IN" altLang="en-US" sz="2400">
                <a:solidFill>
                  <a:srgbClr val="1206FA"/>
                </a:solidFill>
                <a:latin typeface="ui-monospace"/>
              </a:rPr>
              <a:t>&lt;/configuration&gt;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 &lt;/plugin&gt;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&lt;/plugins&gt;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&lt;/reporting&gt;</a:t>
            </a:r>
          </a:p>
          <a:p>
            <a:pPr marL="457200" lvl="1" indent="0">
              <a:buFontTx/>
              <a:buNone/>
            </a:pPr>
            <a:endParaRPr lang="en-IN" altLang="en-US" sz="2000" b="1">
              <a:solidFill>
                <a:srgbClr val="395FB0"/>
              </a:solidFill>
              <a:latin typeface="ui-monospace"/>
            </a:endParaRPr>
          </a:p>
        </p:txBody>
      </p:sp>
    </p:spTree>
  </p:cSld>
  <p:clrMapOvr>
    <a:masterClrMapping/>
  </p:clrMapOvr>
  <p:transition advClick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>
            <a:extLst>
              <a:ext uri="{FF2B5EF4-FFF2-40B4-BE49-F238E27FC236}">
                <a16:creationId xmlns:a16="http://schemas.microsoft.com/office/drawing/2014/main" id="{BB782690-C8F0-E37C-D05F-5872E10F8B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Failed Code Line Number</a:t>
            </a:r>
            <a:endParaRPr lang="en-IN" altLang="en-US"/>
          </a:p>
        </p:txBody>
      </p:sp>
      <p:sp>
        <p:nvSpPr>
          <p:cNvPr id="59395" name="Content Placeholder 2">
            <a:extLst>
              <a:ext uri="{FF2B5EF4-FFF2-40B4-BE49-F238E27FC236}">
                <a16:creationId xmlns:a16="http://schemas.microsoft.com/office/drawing/2014/main" id="{92712252-3F1B-F9B8-416A-20B530457C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&lt;plugin&gt;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 &lt;groupId&gt;org.apache.maven.plugins&lt;/groupId&gt;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&lt;artifactId&gt;maven-jxr-plugin&lt;/artifactId&gt;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&lt;version&gt;3.1.1&lt;/version&gt; </a:t>
            </a:r>
          </a:p>
          <a:p>
            <a:pPr marL="457200" lvl="1" indent="0">
              <a:buFontTx/>
              <a:buNone/>
            </a:pPr>
            <a:r>
              <a:rPr lang="en-IN" altLang="en-US" sz="2000">
                <a:latin typeface="ui-monospace"/>
              </a:rPr>
              <a:t>&lt;/plugin&gt; </a:t>
            </a:r>
            <a:br>
              <a:rPr lang="en-IN" altLang="en-US" sz="2000">
                <a:latin typeface="ui-monospace"/>
              </a:rPr>
            </a:br>
            <a:endParaRPr lang="en-IN" altLang="en-US" sz="2000"/>
          </a:p>
        </p:txBody>
      </p:sp>
    </p:spTree>
  </p:cSld>
  <p:clrMapOvr>
    <a:masterClrMapping/>
  </p:clrMapOvr>
  <p:transition advClick="0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tle 1">
            <a:extLst>
              <a:ext uri="{FF2B5EF4-FFF2-40B4-BE49-F238E27FC236}">
                <a16:creationId xmlns:a16="http://schemas.microsoft.com/office/drawing/2014/main" id="{7FAF8F54-3014-FAB3-FB71-2ED73D83FD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Code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FEB8B-FEAB-5679-6977-644CE4A5D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000" dirty="0"/>
              <a:t>Although 100% code coverage may appear like a best possible effort, even 100% code coverage is estimated to only expose about half the faults in a system.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Low code coverage indicates inadequate testing, but high code coverage guarantees nothing.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Some test cases are expensive to reproduce but are highly improbable. 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Code shared among several projects is only partially utilized by the project under test.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Generally, the tester should stop increasing code coverage when the tests become contrived. </a:t>
            </a:r>
          </a:p>
          <a:p>
            <a:pPr lvl="1">
              <a:defRPr/>
            </a:pPr>
            <a:r>
              <a:rPr lang="en-US" sz="1800" dirty="0">
                <a:ea typeface="+mn-ea"/>
                <a:cs typeface="+mn-cs"/>
              </a:rPr>
              <a:t>When you focus more and more on making the coverage numbers better, your motivation shifts away from finding bugs.</a:t>
            </a:r>
          </a:p>
          <a:p>
            <a:pPr>
              <a:defRPr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1423234"/>
      </p:ext>
    </p:extLst>
  </p:cSld>
  <p:clrMapOvr>
    <a:masterClrMapping/>
  </p:clrMapOvr>
  <p:transition advClick="0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01302-4182-DB5B-A203-760552A1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Code Coverage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9F2AFC-DF1C-7E5A-7C88-E2EE0E32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b="1" dirty="0" err="1"/>
              <a:t>JaCoCo</a:t>
            </a:r>
            <a:r>
              <a:rPr lang="en-IN" sz="2000" b="1" dirty="0"/>
              <a:t>, </a:t>
            </a:r>
            <a:r>
              <a:rPr lang="en-IN" sz="2000" dirty="0"/>
              <a:t>a code coverage reports generator for Java projects.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It measures which parts of code are executed by unit tests, generating detailed HTML, XML, or CSV reports.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Provided as maven </a:t>
            </a:r>
            <a:r>
              <a:rPr lang="en-IN" sz="2000" dirty="0" err="1"/>
              <a:t>jacoco</a:t>
            </a:r>
            <a:r>
              <a:rPr lang="en-IN" sz="2000" dirty="0"/>
              <a:t>-maven-plugin to  </a:t>
            </a:r>
            <a:r>
              <a:rPr lang="en-IN" sz="2000" dirty="0" err="1"/>
              <a:t>pom.xml</a:t>
            </a:r>
            <a:r>
              <a:rPr lang="en-IN" sz="2000" dirty="0"/>
              <a:t>, </a:t>
            </a:r>
          </a:p>
          <a:p>
            <a:pPr>
              <a:lnSpc>
                <a:spcPct val="150000"/>
              </a:lnSpc>
            </a:pPr>
            <a:r>
              <a:rPr lang="en-IN" sz="2000" b="1" dirty="0" err="1"/>
              <a:t>mvn</a:t>
            </a:r>
            <a:r>
              <a:rPr lang="en-IN" sz="2000" b="1" dirty="0"/>
              <a:t> install or </a:t>
            </a:r>
            <a:r>
              <a:rPr lang="en-IN" sz="2000" b="1" dirty="0" err="1"/>
              <a:t>mvn</a:t>
            </a:r>
            <a:r>
              <a:rPr lang="en-IN" sz="2000" b="1" dirty="0"/>
              <a:t> package.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The generated report files, are usually found in the target/site/</a:t>
            </a:r>
            <a:r>
              <a:rPr lang="en-IN" sz="2000" dirty="0" err="1"/>
              <a:t>jacoco</a:t>
            </a:r>
            <a:r>
              <a:rPr lang="en-IN" sz="2000" dirty="0"/>
              <a:t>/ directory.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Need to open HTML report, with  </a:t>
            </a:r>
            <a:r>
              <a:rPr lang="en-IN" sz="2000" dirty="0" err="1"/>
              <a:t>index.html</a:t>
            </a:r>
            <a:r>
              <a:rPr lang="en-IN" sz="2000" dirty="0"/>
              <a:t> file in web browser. </a:t>
            </a:r>
          </a:p>
          <a:p>
            <a:pPr>
              <a:lnSpc>
                <a:spcPct val="150000"/>
              </a:lnSpc>
            </a:pPr>
            <a:endParaRPr lang="en-IN" sz="2000" b="1" dirty="0"/>
          </a:p>
          <a:p>
            <a:pPr marL="0" indent="0">
              <a:buNone/>
            </a:pPr>
            <a:br>
              <a:rPr lang="en-IN" sz="2000" dirty="0"/>
            </a:br>
            <a:br>
              <a:rPr lang="en-IN" sz="2000" dirty="0"/>
            </a:br>
            <a:endParaRPr lang="en-IN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82821451"/>
      </p:ext>
    </p:extLst>
  </p:cSld>
  <p:clrMapOvr>
    <a:masterClrMapping/>
  </p:clrMapOvr>
  <p:transition advClick="0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BABA2-C169-2193-8136-F73146533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Plugin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85725-A6C9-44E5-7D02-A93599725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09600"/>
            <a:ext cx="8229600" cy="5516563"/>
          </a:xfrm>
        </p:spPr>
        <p:txBody>
          <a:bodyPr/>
          <a:lstStyle/>
          <a:p>
            <a:pPr marL="457200" lvl="1" indent="0">
              <a:buNone/>
            </a:pPr>
            <a:r>
              <a:rPr lang="en-IN" sz="1400" dirty="0"/>
              <a:t>&lt;plugin&gt;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  <a:r>
              <a:rPr lang="en-IN" sz="1400" dirty="0" err="1"/>
              <a:t>org.jacoco</a:t>
            </a:r>
            <a:r>
              <a:rPr lang="en-IN" sz="1400" dirty="0"/>
              <a:t>&lt;/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  <a:r>
              <a:rPr lang="en-IN" sz="1400" dirty="0" err="1"/>
              <a:t>jacoco</a:t>
            </a:r>
            <a:r>
              <a:rPr lang="en-IN" sz="1400" dirty="0"/>
              <a:t>-maven-plugin&lt;/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&lt;version&gt;0.8.12&lt;/version&gt;</a:t>
            </a:r>
          </a:p>
          <a:p>
            <a:pPr marL="457200" lvl="1" indent="0">
              <a:buNone/>
            </a:pPr>
            <a:r>
              <a:rPr lang="en-IN" sz="1400" dirty="0"/>
              <a:t>            &lt;executions&gt;</a:t>
            </a:r>
          </a:p>
          <a:p>
            <a:pPr marL="457200" lvl="1" indent="0">
              <a:buNone/>
            </a:pPr>
            <a:r>
              <a:rPr lang="en-IN" sz="1400" dirty="0"/>
              <a:t>                &lt;execution&gt;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&lt;id&gt;prepare-agent&lt;/id&gt;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&lt;goals&gt;</a:t>
            </a:r>
          </a:p>
          <a:p>
            <a:pPr marL="457200" lvl="1" indent="0">
              <a:buNone/>
            </a:pPr>
            <a:r>
              <a:rPr lang="en-IN" sz="1400" dirty="0"/>
              <a:t>                        &lt;goal&gt;prepare-agent&lt;/goal&gt;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&lt;/goals&gt;</a:t>
            </a:r>
          </a:p>
          <a:p>
            <a:pPr marL="457200" lvl="1" indent="0">
              <a:buNone/>
            </a:pPr>
            <a:r>
              <a:rPr lang="en-IN" sz="1400" dirty="0"/>
              <a:t>                &lt;/execution&gt;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&lt;execution&gt;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&lt;id&gt;report&lt;/id&gt;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&lt;phase&gt;prepare-package&lt;/phase&gt;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&lt;goals&gt;</a:t>
            </a:r>
          </a:p>
          <a:p>
            <a:pPr marL="457200" lvl="1" indent="0">
              <a:buNone/>
            </a:pPr>
            <a:r>
              <a:rPr lang="en-IN" sz="1400" dirty="0"/>
              <a:t>                        &lt;goal&gt;report&lt;/goal&gt;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&lt;/goals&gt;</a:t>
            </a:r>
          </a:p>
          <a:p>
            <a:pPr marL="457200" lvl="1" indent="0">
              <a:buNone/>
            </a:pPr>
            <a:r>
              <a:rPr lang="en-IN" sz="1400" dirty="0"/>
              <a:t>                &lt;/execution&gt;</a:t>
            </a:r>
          </a:p>
          <a:p>
            <a:pPr marL="457200" lvl="1" indent="0">
              <a:buNone/>
            </a:pPr>
            <a:r>
              <a:rPr lang="en-IN" sz="1400" dirty="0"/>
              <a:t>            &lt;/executions&gt;</a:t>
            </a:r>
          </a:p>
          <a:p>
            <a:pPr marL="457200" lvl="1" indent="0">
              <a:buNone/>
            </a:pPr>
            <a:r>
              <a:rPr lang="en-IN" sz="1400" dirty="0"/>
              <a:t>        &lt;/plugin&gt;</a:t>
            </a:r>
          </a:p>
        </p:txBody>
      </p:sp>
    </p:spTree>
    <p:extLst>
      <p:ext uri="{BB962C8B-B14F-4D97-AF65-F5344CB8AC3E}">
        <p14:creationId xmlns:p14="http://schemas.microsoft.com/office/powerpoint/2010/main" val="2314069857"/>
      </p:ext>
    </p:extLst>
  </p:cSld>
  <p:clrMapOvr>
    <a:masterClrMapping/>
  </p:clrMapOvr>
  <p:transition advClick="0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BFC0D-5708-B866-1B31-DB6FABFD8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Reporting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3AB-37E2-8569-CA1C-CDB99AC62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400" dirty="0"/>
              <a:t>&lt;reporting&gt;</a:t>
            </a:r>
          </a:p>
          <a:p>
            <a:pPr marL="457200" lvl="1" indent="0">
              <a:buNone/>
            </a:pPr>
            <a:r>
              <a:rPr lang="en-IN" sz="1400" dirty="0"/>
              <a:t>    &lt;plugins&gt;</a:t>
            </a:r>
          </a:p>
          <a:p>
            <a:pPr marL="457200" lvl="1" indent="0">
              <a:buNone/>
            </a:pPr>
            <a:r>
              <a:rPr lang="en-IN" sz="1400" dirty="0"/>
              <a:t>        &lt;plugin&gt;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  <a:r>
              <a:rPr lang="en-IN" sz="1400" dirty="0" err="1"/>
              <a:t>org.jacoco</a:t>
            </a:r>
            <a:r>
              <a:rPr lang="en-IN" sz="1400" dirty="0"/>
              <a:t>&lt;/</a:t>
            </a:r>
            <a:r>
              <a:rPr lang="en-IN" sz="1400" dirty="0" err="1"/>
              <a:t>groupId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  <a:r>
              <a:rPr lang="en-IN" sz="1400" dirty="0" err="1"/>
              <a:t>jacoco</a:t>
            </a:r>
            <a:r>
              <a:rPr lang="en-IN" sz="1400" dirty="0"/>
              <a:t>-maven-plugin&lt;/</a:t>
            </a:r>
            <a:r>
              <a:rPr lang="en-IN" sz="1400" dirty="0" err="1"/>
              <a:t>artifactId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&lt;version&gt;0.8.12&lt;/version&gt;</a:t>
            </a:r>
          </a:p>
          <a:p>
            <a:pPr marL="457200" lvl="1" indent="0">
              <a:buNone/>
            </a:pPr>
            <a:r>
              <a:rPr lang="en-IN" sz="1400" dirty="0"/>
              <a:t>            &lt;</a:t>
            </a:r>
            <a:r>
              <a:rPr lang="en-IN" sz="1400" dirty="0" err="1"/>
              <a:t>reportSets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    &lt;</a:t>
            </a:r>
            <a:r>
              <a:rPr lang="en-IN" sz="1400" dirty="0" err="1"/>
              <a:t>reportSet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&lt;reports&gt;</a:t>
            </a:r>
          </a:p>
          <a:p>
            <a:pPr marL="457200" lvl="1" indent="0">
              <a:buNone/>
            </a:pPr>
            <a:r>
              <a:rPr lang="en-IN" sz="1400" dirty="0"/>
              <a:t>		&lt;report&gt;report&lt;/report&gt;</a:t>
            </a:r>
          </a:p>
          <a:p>
            <a:pPr marL="457200" lvl="1" indent="0">
              <a:buNone/>
            </a:pPr>
            <a:r>
              <a:rPr lang="en-IN" sz="1400" dirty="0"/>
              <a:t>                    &lt;/reports&gt;</a:t>
            </a:r>
          </a:p>
          <a:p>
            <a:pPr marL="457200" lvl="1" indent="0">
              <a:buNone/>
            </a:pPr>
            <a:r>
              <a:rPr lang="en-IN" sz="1400" dirty="0"/>
              <a:t>                &lt;/</a:t>
            </a:r>
            <a:r>
              <a:rPr lang="en-IN" sz="1400" dirty="0" err="1"/>
              <a:t>reportSet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    &lt;/</a:t>
            </a:r>
            <a:r>
              <a:rPr lang="en-IN" sz="1400" dirty="0" err="1"/>
              <a:t>reportSets</a:t>
            </a:r>
            <a:r>
              <a:rPr lang="en-IN" sz="1400" dirty="0"/>
              <a:t>&gt;</a:t>
            </a:r>
          </a:p>
          <a:p>
            <a:pPr marL="457200" lvl="1" indent="0">
              <a:buNone/>
            </a:pPr>
            <a:r>
              <a:rPr lang="en-IN" sz="1400" dirty="0"/>
              <a:t>        &lt;/plugin&gt;</a:t>
            </a:r>
          </a:p>
          <a:p>
            <a:pPr marL="457200" lvl="1" indent="0">
              <a:buNone/>
            </a:pPr>
            <a:r>
              <a:rPr lang="en-IN" sz="1400" dirty="0"/>
              <a:t>    &lt;/plugins&gt;</a:t>
            </a:r>
          </a:p>
          <a:p>
            <a:pPr marL="457200" lvl="1" indent="0">
              <a:buNone/>
            </a:pPr>
            <a:r>
              <a:rPr lang="en-IN" sz="1400" dirty="0"/>
              <a:t>&lt;/reporting&gt;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758163"/>
      </p:ext>
    </p:extLst>
  </p:cSld>
  <p:clrMapOvr>
    <a:masterClrMapping/>
  </p:clrMapOvr>
  <p:transition advClick="0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33C6FF-2AE0-39F4-D60C-3FC672EAB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Mockito framework</a:t>
            </a:r>
            <a:endParaRPr lang="en-IN" dirty="0"/>
          </a:p>
        </p:txBody>
      </p:sp>
      <p:sp>
        <p:nvSpPr>
          <p:cNvPr id="30723" name="Text Placeholder 4">
            <a:extLst>
              <a:ext uri="{FF2B5EF4-FFF2-40B4-BE49-F238E27FC236}">
                <a16:creationId xmlns:a16="http://schemas.microsoft.com/office/drawing/2014/main" id="{2593D9E3-9DF7-2754-B7BF-79829A3137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IN" altLang="en-US"/>
          </a:p>
        </p:txBody>
      </p:sp>
    </p:spTree>
  </p:cSld>
  <p:clrMapOvr>
    <a:masterClrMapping/>
  </p:clrMapOvr>
  <p:transition advClick="0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3">
            <a:extLst>
              <a:ext uri="{FF2B5EF4-FFF2-40B4-BE49-F238E27FC236}">
                <a16:creationId xmlns:a16="http://schemas.microsoft.com/office/drawing/2014/main" id="{D00C73E4-D389-CFA6-DFF1-CD6A65720E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Unit testing dependencies.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10243" name="Content Placeholder 4">
            <a:extLst>
              <a:ext uri="{FF2B5EF4-FFF2-40B4-BE49-F238E27FC236}">
                <a16:creationId xmlns:a16="http://schemas.microsoft.com/office/drawing/2014/main" id="{860B12DC-6FD3-3B7C-0906-F9471C4BE3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/>
              <a:t>Unit tests check on the behavior of units. </a:t>
            </a:r>
          </a:p>
          <a:p>
            <a:endParaRPr lang="en-US" altLang="en-US" sz="2000"/>
          </a:p>
          <a:p>
            <a:r>
              <a:rPr lang="en-US" altLang="en-US" sz="2000"/>
              <a:t>Most of the classes must rely on dependencies to perform their tasks.</a:t>
            </a:r>
          </a:p>
          <a:p>
            <a:endParaRPr lang="en-US" altLang="en-US" sz="2000"/>
          </a:p>
          <a:p>
            <a:r>
              <a:rPr lang="en-US" altLang="en-US" sz="2000"/>
              <a:t>Tests for such classes should not use its real dependencies because if the dependencies have defects, the tests fail</a:t>
            </a:r>
          </a:p>
          <a:p>
            <a:pPr lvl="1"/>
            <a:r>
              <a:rPr lang="en-US" altLang="en-US" sz="2000"/>
              <a:t>Even though the code inside the class may be perfectly fine.</a:t>
            </a:r>
          </a:p>
          <a:p>
            <a:endParaRPr lang="en-US" altLang="en-US" sz="2000"/>
          </a:p>
          <a:p>
            <a:r>
              <a:rPr lang="en-US" altLang="en-US" sz="2000"/>
              <a:t>Tests for such classes also may not have those dependencies available </a:t>
            </a:r>
          </a:p>
          <a:p>
            <a:pPr lvl="1"/>
            <a:r>
              <a:rPr lang="en-US" altLang="en-US" sz="2000"/>
              <a:t>While doing unit test these dependency must be set up in the test</a:t>
            </a:r>
          </a:p>
          <a:p>
            <a:endParaRPr lang="en-US" altLang="en-US" sz="2000"/>
          </a:p>
          <a:p>
            <a:endParaRPr lang="en-US" altLang="en-US" sz="2000"/>
          </a:p>
          <a:p>
            <a:endParaRPr lang="en-IN" altLang="en-US" sz="2000"/>
          </a:p>
        </p:txBody>
      </p:sp>
    </p:spTree>
    <p:extLst>
      <p:ext uri="{BB962C8B-B14F-4D97-AF65-F5344CB8AC3E}">
        <p14:creationId xmlns:p14="http://schemas.microsoft.com/office/powerpoint/2010/main" val="4244320201"/>
      </p:ext>
    </p:extLst>
  </p:cSld>
  <p:clrMapOvr>
    <a:masterClrMapping/>
  </p:clrMapOvr>
  <p:transition advClick="0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3B493167-844D-787A-57D4-526355C9EA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Mocks</a:t>
            </a:r>
            <a:endParaRPr lang="en-IN" altLang="en-US"/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0227F7F0-51C3-7A59-BD6B-B0156A9F17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dirty="0">
                <a:solidFill>
                  <a:srgbClr val="029D74"/>
                </a:solidFill>
              </a:rPr>
              <a:t>Mockito</a:t>
            </a:r>
            <a:r>
              <a:rPr lang="en-US" altLang="en-US" sz="2000" dirty="0">
                <a:solidFill>
                  <a:srgbClr val="373535"/>
                </a:solidFill>
              </a:rPr>
              <a:t>  a popular Mocking framework in Java </a:t>
            </a:r>
            <a:r>
              <a:rPr lang="en-US" altLang="en-US" sz="2000" dirty="0"/>
              <a:t>used in conjunction with JUnit. </a:t>
            </a:r>
          </a:p>
          <a:p>
            <a:pPr lvl="1"/>
            <a:r>
              <a:rPr lang="en-US" altLang="en-US" sz="2000" dirty="0"/>
              <a:t>simplified way to  create and configure mock objects </a:t>
            </a:r>
          </a:p>
          <a:p>
            <a:endParaRPr lang="en-US" altLang="en-US" sz="2000" dirty="0"/>
          </a:p>
          <a:p>
            <a:r>
              <a:rPr lang="en-US" altLang="en-US" sz="2000" dirty="0"/>
              <a:t>Can Mock away external dependencies and insert the mocks into the code under test</a:t>
            </a:r>
          </a:p>
          <a:p>
            <a:endParaRPr lang="en-US" altLang="en-US" sz="2000" dirty="0"/>
          </a:p>
          <a:p>
            <a:r>
              <a:rPr lang="en-US" altLang="en-US" sz="2000" dirty="0"/>
              <a:t>Spring Boot Project comes with Mockito </a:t>
            </a:r>
            <a:r>
              <a:rPr lang="en-US" altLang="en-US" sz="2000" dirty="0" err="1"/>
              <a:t>Dependecy</a:t>
            </a:r>
            <a:endParaRPr lang="en-US" altLang="en-US" sz="2000" dirty="0"/>
          </a:p>
          <a:p>
            <a:endParaRPr lang="en-IN" altLang="en-US" sz="2000" dirty="0"/>
          </a:p>
        </p:txBody>
      </p:sp>
    </p:spTree>
  </p:cSld>
  <p:clrMapOvr>
    <a:masterClrMapping/>
  </p:clrMapOvr>
  <p:transition advClick="0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>
            <a:extLst>
              <a:ext uri="{FF2B5EF4-FFF2-40B4-BE49-F238E27FC236}">
                <a16:creationId xmlns:a16="http://schemas.microsoft.com/office/drawing/2014/main" id="{455783EE-7BC5-A9D8-8340-007667BA94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Component Used</a:t>
            </a:r>
          </a:p>
        </p:txBody>
      </p:sp>
      <p:sp>
        <p:nvSpPr>
          <p:cNvPr id="21506" name="Content Placeholder 2">
            <a:extLst>
              <a:ext uri="{FF2B5EF4-FFF2-40B4-BE49-F238E27FC236}">
                <a16:creationId xmlns:a16="http://schemas.microsoft.com/office/drawing/2014/main" id="{FD0F32ED-0715-6164-B52F-E4CF9558F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1800" b="1" dirty="0"/>
              <a:t>@</a:t>
            </a:r>
            <a:r>
              <a:rPr lang="en-IN" altLang="en-US" sz="1800" b="1" dirty="0" err="1"/>
              <a:t>ExtendWith</a:t>
            </a:r>
            <a:r>
              <a:rPr lang="en-IN" altLang="en-US" sz="1800" b="1" dirty="0"/>
              <a:t>(</a:t>
            </a:r>
            <a:r>
              <a:rPr lang="en-IN" altLang="en-US" sz="1800" b="1" dirty="0" err="1"/>
              <a:t>MockitoExtension.class</a:t>
            </a:r>
            <a:r>
              <a:rPr lang="en-IN" altLang="en-US" sz="1800" b="1" dirty="0"/>
              <a:t>)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Integrates Mockito with JUnit 5.</a:t>
            </a:r>
          </a:p>
          <a:p>
            <a:pPr lvl="1">
              <a:lnSpc>
                <a:spcPct val="150000"/>
              </a:lnSpc>
            </a:pPr>
            <a:r>
              <a:rPr lang="en-US" altLang="en-US" sz="1800" dirty="0"/>
              <a:t>Create a mock for every field in test class that is annotated with @Mock. </a:t>
            </a:r>
            <a:endParaRPr lang="en-IN" altLang="en-US" sz="1800" dirty="0"/>
          </a:p>
          <a:p>
            <a:pPr>
              <a:lnSpc>
                <a:spcPct val="150000"/>
              </a:lnSpc>
            </a:pPr>
            <a:r>
              <a:rPr lang="en-IN" altLang="en-US" sz="1800" b="1" dirty="0"/>
              <a:t>@Mock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Creates a dummy version of the Repository and Mapper.</a:t>
            </a:r>
          </a:p>
          <a:p>
            <a:pPr>
              <a:lnSpc>
                <a:spcPct val="150000"/>
              </a:lnSpc>
            </a:pPr>
            <a:r>
              <a:rPr lang="en-IN" altLang="en-US" sz="1800" b="1" dirty="0"/>
              <a:t>@</a:t>
            </a:r>
            <a:r>
              <a:rPr lang="en-IN" altLang="en-US" sz="1800" b="1" dirty="0" err="1"/>
              <a:t>InjectMocks</a:t>
            </a:r>
            <a:r>
              <a:rPr lang="en-IN" altLang="en-US" sz="18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IN" altLang="en-US" sz="1800" dirty="0"/>
              <a:t>Creates the Service instance and injects the @Mock objects into its constructor.</a:t>
            </a:r>
          </a:p>
          <a:p>
            <a:pPr marL="0" indent="0">
              <a:buNone/>
            </a:pPr>
            <a:br>
              <a:rPr lang="en-IN" altLang="en-US" sz="2000" dirty="0"/>
            </a:b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12122109"/>
      </p:ext>
    </p:extLst>
  </p:cSld>
  <p:clrMapOvr>
    <a:masterClrMapping/>
  </p:clrMapOvr>
  <p:transition advClick="0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97DA37CC-CBCD-FE45-2325-096AE350A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en-US"/>
            </a:br>
            <a:r>
              <a:rPr lang="en-US" altLang="en-US"/>
              <a:t>Mockito when() </a:t>
            </a:r>
            <a:br>
              <a:rPr lang="en-US" altLang="en-US"/>
            </a:br>
            <a:endParaRPr lang="en-IN" altLang="en-US"/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9C3514BD-2C45-C428-E66B-2AA132CC63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 sz="2000"/>
          </a:p>
          <a:p>
            <a:pPr>
              <a:lnSpc>
                <a:spcPct val="150000"/>
              </a:lnSpc>
            </a:pPr>
            <a:r>
              <a:rPr lang="en-US" altLang="en-US" sz="2000"/>
              <a:t>Used for stubbing methods 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Used to mock and return specific values on method calls</a:t>
            </a:r>
          </a:p>
          <a:p>
            <a:endParaRPr lang="en-US" altLang="en-US" sz="2000"/>
          </a:p>
          <a:p>
            <a:r>
              <a:rPr lang="en-US" altLang="en-US" sz="2000" b="1"/>
              <a:t>&lt;T&gt; when(T methodCall)</a:t>
            </a:r>
          </a:p>
          <a:p>
            <a:endParaRPr lang="en-US" altLang="en-US" sz="2000"/>
          </a:p>
          <a:p>
            <a:endParaRPr lang="en-US" altLang="en-US" sz="2000"/>
          </a:p>
          <a:p>
            <a:pPr lvl="1"/>
            <a:r>
              <a:rPr lang="en-US" altLang="en-US" sz="1800" b="1">
                <a:solidFill>
                  <a:srgbClr val="002060"/>
                </a:solidFill>
              </a:rPr>
              <a:t>when(mock.someCode ()).thenReturn(5);  </a:t>
            </a:r>
          </a:p>
          <a:p>
            <a:endParaRPr lang="en-IN" altLang="en-US" sz="2000"/>
          </a:p>
        </p:txBody>
      </p:sp>
    </p:spTree>
    <p:extLst>
      <p:ext uri="{BB962C8B-B14F-4D97-AF65-F5344CB8AC3E}">
        <p14:creationId xmlns:p14="http://schemas.microsoft.com/office/powerpoint/2010/main" val="3083747171"/>
      </p:ext>
    </p:extLst>
  </p:cSld>
  <p:clrMapOvr>
    <a:masterClrMapping/>
  </p:clrMapOvr>
  <p:transition advClick="0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16437D1B-C322-932E-E826-B72A4CA171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Verify</a:t>
            </a:r>
            <a:endParaRPr lang="en-IN" altLang="en-US"/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FDC4D0A3-1E6A-F29D-1EF2-D508611270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/>
              <a:t>Mockito keeps track of all the method calls and their parameters to the mock object.</a:t>
            </a:r>
          </a:p>
          <a:p>
            <a:endParaRPr lang="en-US" altLang="en-US" sz="2000"/>
          </a:p>
          <a:p>
            <a:r>
              <a:rPr lang="en-US" altLang="en-US" sz="2000"/>
              <a:t>verify() </a:t>
            </a:r>
          </a:p>
          <a:p>
            <a:pPr lvl="1"/>
            <a:r>
              <a:rPr lang="en-US" altLang="en-US" sz="1800"/>
              <a:t>method is used to check whether some specified methods are called or not.</a:t>
            </a:r>
          </a:p>
          <a:p>
            <a:pPr lvl="1"/>
            <a:r>
              <a:rPr lang="en-US" altLang="en-US" sz="1800"/>
              <a:t>Can verify that a method has been called with certain parameters. </a:t>
            </a:r>
          </a:p>
          <a:p>
            <a:pPr lvl="1"/>
            <a:endParaRPr lang="en-US" altLang="en-US" sz="1800"/>
          </a:p>
          <a:p>
            <a:pPr lvl="1"/>
            <a:r>
              <a:rPr lang="en-US" altLang="en-US" sz="1800"/>
              <a:t>validates the certain behavior happened in a test.</a:t>
            </a:r>
          </a:p>
          <a:p>
            <a:pPr lvl="1"/>
            <a:endParaRPr lang="en-US" altLang="en-US" sz="1800"/>
          </a:p>
          <a:p>
            <a:pPr lvl="1"/>
            <a:r>
              <a:rPr lang="en-US" altLang="en-US" sz="1800"/>
              <a:t>Behavior testing does not check the result of a method call, but it checks that a method is called with the right parameters.</a:t>
            </a:r>
          </a:p>
          <a:p>
            <a:endParaRPr lang="en-US" altLang="en-US" sz="2000"/>
          </a:p>
        </p:txBody>
      </p:sp>
    </p:spTree>
    <p:extLst>
      <p:ext uri="{BB962C8B-B14F-4D97-AF65-F5344CB8AC3E}">
        <p14:creationId xmlns:p14="http://schemas.microsoft.com/office/powerpoint/2010/main" val="1162388282"/>
      </p:ext>
    </p:extLst>
  </p:cSld>
  <p:clrMapOvr>
    <a:masterClrMapping/>
  </p:clrMapOvr>
  <p:transition advClick="0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32AAB598-2B86-1888-1FC1-72E80142C7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dirty="0"/>
              <a:t>Using Mockito to Test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CA0CB-9066-3769-FC01-F8C6B4BE5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ExtendWith</a:t>
            </a:r>
            <a:r>
              <a:rPr lang="en-IN" dirty="0"/>
              <a:t>(</a:t>
            </a:r>
            <a:r>
              <a:rPr lang="en-IN" dirty="0" err="1"/>
              <a:t>MockitoExtension.</a:t>
            </a:r>
            <a:r>
              <a:rPr lang="en-IN" b="1" dirty="0" err="1"/>
              <a:t>class</a:t>
            </a:r>
            <a:r>
              <a:rPr lang="en-IN" dirty="0"/>
              <a:t>) // </a:t>
            </a:r>
            <a:r>
              <a:rPr lang="en-IN" u="sng" dirty="0"/>
              <a:t>Initializes</a:t>
            </a:r>
            <a:r>
              <a:rPr lang="en-IN" dirty="0"/>
              <a:t> mocks</a:t>
            </a:r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LoanApplicationServiceTest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@Mock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LoanApplicationRepo</a:t>
            </a:r>
            <a:r>
              <a:rPr lang="en-IN" dirty="0"/>
              <a:t> repo;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@Mock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LoanApplicationMapper</a:t>
            </a:r>
            <a:r>
              <a:rPr lang="en-IN" dirty="0"/>
              <a:t> mapper;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InjectMocks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LoanApplicationService</a:t>
            </a:r>
            <a:r>
              <a:rPr lang="en-IN" dirty="0"/>
              <a:t> service;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</a:t>
            </a:r>
            <a:r>
              <a:rPr lang="en-IN" dirty="0"/>
              <a:t> entity;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dirty="0" err="1"/>
              <a:t>LoanApplicationDto</a:t>
            </a:r>
            <a:r>
              <a:rPr lang="en-IN" dirty="0"/>
              <a:t> </a:t>
            </a:r>
            <a:r>
              <a:rPr lang="en-IN" dirty="0" err="1"/>
              <a:t>dto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41761595"/>
      </p:ext>
    </p:extLst>
  </p:cSld>
  <p:clrMapOvr>
    <a:masterClrMapping/>
  </p:clrMapOvr>
  <p:transition advClick="0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38AB-1879-24DD-A948-92E14357D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71F5-7837-5E87-04A8-49877B4D3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@Test</a:t>
            </a:r>
          </a:p>
          <a:p>
            <a:pPr marL="457200" lvl="1" indent="0">
              <a:buNone/>
            </a:pP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findById_ShouldReturnDto_WhenIdExists</a:t>
            </a:r>
            <a:r>
              <a:rPr lang="en-IN" dirty="0"/>
              <a:t>()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ResourceNotFoundException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Arrange</a:t>
            </a:r>
          </a:p>
          <a:p>
            <a:pPr marL="457200" lvl="1" indent="0">
              <a:buNone/>
            </a:pPr>
            <a:r>
              <a:rPr lang="en-IN" i="1" dirty="0"/>
              <a:t>when</a:t>
            </a:r>
            <a:r>
              <a:rPr lang="en-IN" dirty="0"/>
              <a:t>(</a:t>
            </a:r>
            <a:r>
              <a:rPr lang="en-IN" dirty="0" err="1"/>
              <a:t>repo.findById</a:t>
            </a:r>
            <a:r>
              <a:rPr lang="en-IN" dirty="0"/>
              <a:t>(1)).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Optional.</a:t>
            </a:r>
            <a:r>
              <a:rPr lang="en-IN" i="1" dirty="0" err="1"/>
              <a:t>of</a:t>
            </a:r>
            <a:r>
              <a:rPr lang="en-IN" dirty="0"/>
              <a:t>(entity));</a:t>
            </a:r>
          </a:p>
          <a:p>
            <a:pPr marL="457200" lvl="1" indent="0">
              <a:buNone/>
            </a:pPr>
            <a:r>
              <a:rPr lang="en-IN" i="1" dirty="0"/>
              <a:t>when</a:t>
            </a:r>
            <a:r>
              <a:rPr lang="en-IN" dirty="0"/>
              <a:t>(</a:t>
            </a:r>
            <a:r>
              <a:rPr lang="en-IN" dirty="0" err="1"/>
              <a:t>mapper.toDto</a:t>
            </a:r>
            <a:r>
              <a:rPr lang="en-IN" dirty="0"/>
              <a:t>(entity)).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dto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Act</a:t>
            </a:r>
          </a:p>
          <a:p>
            <a:pPr marL="457200" lvl="1" indent="0">
              <a:buNone/>
            </a:pPr>
            <a:r>
              <a:rPr lang="en-IN" dirty="0" err="1"/>
              <a:t>LoanApplicationDto</a:t>
            </a:r>
            <a:r>
              <a:rPr lang="en-IN" dirty="0"/>
              <a:t> result = </a:t>
            </a:r>
            <a:r>
              <a:rPr lang="en-IN" dirty="0" err="1"/>
              <a:t>service.findById</a:t>
            </a:r>
            <a:r>
              <a:rPr lang="en-IN" dirty="0"/>
              <a:t>(1);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>
                <a:solidFill>
                  <a:srgbClr val="002060"/>
                </a:solidFill>
              </a:rPr>
              <a:t>// Assert</a:t>
            </a:r>
          </a:p>
          <a:p>
            <a:pPr marL="457200" lvl="1" indent="0">
              <a:buNone/>
            </a:pPr>
            <a:r>
              <a:rPr lang="en-IN" i="1" dirty="0" err="1"/>
              <a:t>assertNotNull</a:t>
            </a:r>
            <a:r>
              <a:rPr lang="en-IN" dirty="0"/>
              <a:t>(result);</a:t>
            </a:r>
          </a:p>
          <a:p>
            <a:pPr marL="457200" lvl="1" indent="0">
              <a:buNone/>
            </a:pPr>
            <a:r>
              <a:rPr lang="en-IN" i="1" dirty="0" err="1"/>
              <a:t>assertEquals</a:t>
            </a:r>
            <a:r>
              <a:rPr lang="en-IN" dirty="0"/>
              <a:t>("John Doe", </a:t>
            </a:r>
            <a:r>
              <a:rPr lang="en-IN" dirty="0" err="1"/>
              <a:t>result.applicantName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i="1" dirty="0"/>
              <a:t>verify</a:t>
            </a:r>
            <a:r>
              <a:rPr lang="en-IN" dirty="0"/>
              <a:t>(repo, </a:t>
            </a:r>
            <a:r>
              <a:rPr lang="en-IN" i="1" dirty="0"/>
              <a:t>times</a:t>
            </a:r>
            <a:r>
              <a:rPr lang="en-IN" dirty="0"/>
              <a:t>(1)).</a:t>
            </a:r>
            <a:r>
              <a:rPr lang="en-IN" dirty="0" err="1"/>
              <a:t>findById</a:t>
            </a:r>
            <a:r>
              <a:rPr lang="en-IN" dirty="0"/>
              <a:t>(1);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240877"/>
      </p:ext>
    </p:extLst>
  </p:cSld>
  <p:clrMapOvr>
    <a:masterClrMapping/>
  </p:clrMapOvr>
  <p:transition advClick="0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88659-27C3-B5D1-7A2D-F030F4F2D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Spring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929F-4A4C-F708-0062-70024CC96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findById_ShouldThrowException_WhenIdDoesNotExist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b="1" dirty="0">
                <a:solidFill>
                  <a:srgbClr val="002060"/>
                </a:solidFill>
              </a:rPr>
              <a:t>// Arrange</a:t>
            </a:r>
          </a:p>
          <a:p>
            <a:pPr marL="457200" lvl="1" indent="0">
              <a:buNone/>
            </a:pPr>
            <a:r>
              <a:rPr lang="en-IN" sz="1800" i="1" dirty="0"/>
              <a:t>when</a:t>
            </a:r>
            <a:r>
              <a:rPr lang="en-IN" sz="1800" dirty="0"/>
              <a:t>(</a:t>
            </a:r>
            <a:r>
              <a:rPr lang="en-IN" sz="1800" dirty="0" err="1"/>
              <a:t>repo.findById</a:t>
            </a:r>
            <a:r>
              <a:rPr lang="en-IN" sz="1800" dirty="0"/>
              <a:t>(1)).</a:t>
            </a:r>
            <a:r>
              <a:rPr lang="en-IN" sz="1800" dirty="0" err="1"/>
              <a:t>thenReturn</a:t>
            </a:r>
            <a:r>
              <a:rPr lang="en-IN" sz="1800" dirty="0"/>
              <a:t>(</a:t>
            </a:r>
            <a:r>
              <a:rPr lang="en-IN" sz="1800" dirty="0" err="1"/>
              <a:t>Optional.</a:t>
            </a:r>
            <a:r>
              <a:rPr lang="en-IN" sz="1800" i="1" dirty="0" err="1"/>
              <a:t>empty</a:t>
            </a:r>
            <a:r>
              <a:rPr lang="en-IN" sz="1800" dirty="0"/>
              <a:t>());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b="1" dirty="0">
                <a:solidFill>
                  <a:srgbClr val="002060"/>
                </a:solidFill>
              </a:rPr>
              <a:t>// Act &amp; Assert</a:t>
            </a:r>
          </a:p>
          <a:p>
            <a:pPr marL="457200" lvl="1" indent="0">
              <a:buNone/>
            </a:pPr>
            <a:r>
              <a:rPr lang="en-IN" sz="1800" i="1" dirty="0" err="1"/>
              <a:t>assertThrows</a:t>
            </a:r>
            <a:r>
              <a:rPr lang="en-IN" sz="1800" dirty="0"/>
              <a:t>(</a:t>
            </a:r>
            <a:r>
              <a:rPr lang="en-IN" sz="1800" dirty="0" err="1"/>
              <a:t>ResourceNotFoundException.</a:t>
            </a:r>
            <a:r>
              <a:rPr lang="en-IN" sz="1800" b="1" dirty="0" err="1"/>
              <a:t>class</a:t>
            </a:r>
            <a:r>
              <a:rPr lang="en-IN" sz="1800" dirty="0"/>
              <a:t>, () -&gt; </a:t>
            </a:r>
            <a:r>
              <a:rPr lang="en-IN" sz="1800" dirty="0" err="1"/>
              <a:t>service.findById</a:t>
            </a:r>
            <a:r>
              <a:rPr lang="en-IN" sz="1800" dirty="0"/>
              <a:t>(1));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76218352"/>
      </p:ext>
    </p:extLst>
  </p:cSld>
  <p:clrMapOvr>
    <a:masterClrMapping/>
  </p:clrMapOvr>
  <p:transition advClick="0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8BE4F-0E5F-0CB7-90B3-E2D501430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987FF-D1A9-A54C-CFFB-C1491A871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WebMvcTest</a:t>
            </a:r>
            <a:r>
              <a:rPr lang="en-IN" sz="2000" dirty="0"/>
              <a:t>(</a:t>
            </a:r>
            <a:r>
              <a:rPr lang="en-IN" sz="2000" dirty="0" err="1"/>
              <a:t>LoanApplicationController.</a:t>
            </a:r>
            <a:r>
              <a:rPr lang="en-IN" sz="2000" b="1" dirty="0" err="1"/>
              <a:t>class</a:t>
            </a:r>
            <a:r>
              <a:rPr lang="en-IN" sz="2000" dirty="0"/>
              <a:t>)</a:t>
            </a:r>
          </a:p>
          <a:p>
            <a:pPr marL="457200" lvl="1" indent="0">
              <a:buNone/>
            </a:pPr>
            <a:r>
              <a:rPr lang="en-IN" sz="2000" b="1" dirty="0"/>
              <a:t>class</a:t>
            </a:r>
            <a:r>
              <a:rPr lang="en-IN" sz="2000" dirty="0"/>
              <a:t> </a:t>
            </a:r>
            <a:r>
              <a:rPr lang="en-IN" sz="2000" dirty="0" err="1"/>
              <a:t>LoanApplicationControllerTest</a:t>
            </a:r>
            <a:r>
              <a:rPr lang="en-IN" sz="2000" dirty="0"/>
              <a:t> {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Autowired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MockMvc</a:t>
            </a:r>
            <a:r>
              <a:rPr lang="en-IN" sz="2000" dirty="0"/>
              <a:t> </a:t>
            </a:r>
            <a:r>
              <a:rPr lang="en-IN" sz="2000" dirty="0" err="1"/>
              <a:t>mockMvc</a:t>
            </a:r>
            <a:r>
              <a:rPr lang="en-IN" sz="2000" dirty="0"/>
              <a:t>;</a:t>
            </a:r>
            <a:br>
              <a:rPr lang="en-IN" sz="2000" dirty="0"/>
            </a:b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MockitoBean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LoanApplicationService</a:t>
            </a:r>
            <a:r>
              <a:rPr lang="en-IN" sz="2000" dirty="0"/>
              <a:t> service;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Autowired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dirty="0" err="1"/>
              <a:t>ObjectMapper</a:t>
            </a:r>
            <a:r>
              <a:rPr lang="en-IN" sz="2000" dirty="0"/>
              <a:t> </a:t>
            </a:r>
            <a:r>
              <a:rPr lang="en-IN" sz="2000" dirty="0" err="1"/>
              <a:t>objectMapper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18654470"/>
      </p:ext>
    </p:extLst>
  </p:cSld>
  <p:clrMapOvr>
    <a:masterClrMapping/>
  </p:clrMapOvr>
  <p:transition advClick="0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D95E1-18A2-E13A-BDF1-8CFCAA7B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AF2F7-0EFD-7A54-6523-EE384A6D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@Test</a:t>
            </a:r>
          </a:p>
          <a:p>
            <a:pPr marL="457200" lvl="1" indent="0">
              <a:buNone/>
            </a:pP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getLoanById_ShouldReturnLoan_WhenIdExists</a:t>
            </a:r>
            <a:r>
              <a:rPr lang="en-IN" dirty="0"/>
              <a:t>() </a:t>
            </a:r>
            <a:r>
              <a:rPr lang="en-IN" b="1" dirty="0"/>
              <a:t>throws</a:t>
            </a:r>
            <a:r>
              <a:rPr lang="en-IN" dirty="0"/>
              <a:t> Exception {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 err="1"/>
              <a:t>LoanApplicationDto</a:t>
            </a:r>
            <a:r>
              <a:rPr lang="en-IN" dirty="0"/>
              <a:t> </a:t>
            </a:r>
            <a:r>
              <a:rPr lang="en-IN" dirty="0" err="1"/>
              <a:t>mockLoan</a:t>
            </a:r>
            <a:r>
              <a:rPr lang="en-IN" dirty="0"/>
              <a:t> =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LoanApplicationDto</a:t>
            </a:r>
            <a:r>
              <a:rPr lang="en-IN" dirty="0"/>
              <a:t>(1, "John Doe", 5000.0);</a:t>
            </a:r>
          </a:p>
          <a:p>
            <a:pPr marL="457200" lvl="1" indent="0">
              <a:buNone/>
            </a:pPr>
            <a:r>
              <a:rPr lang="en-IN" dirty="0" err="1"/>
              <a:t>Mockito.</a:t>
            </a:r>
            <a:r>
              <a:rPr lang="en-IN" i="1" dirty="0" err="1"/>
              <a:t>when</a:t>
            </a:r>
            <a:r>
              <a:rPr lang="en-IN" dirty="0"/>
              <a:t>(</a:t>
            </a:r>
            <a:r>
              <a:rPr lang="en-IN" dirty="0" err="1"/>
              <a:t>service.findById</a:t>
            </a:r>
            <a:r>
              <a:rPr lang="en-IN" dirty="0"/>
              <a:t>(1)).</a:t>
            </a:r>
            <a:r>
              <a:rPr lang="en-IN" dirty="0" err="1"/>
              <a:t>thenReturn</a:t>
            </a:r>
            <a:r>
              <a:rPr lang="en-IN" dirty="0"/>
              <a:t>(</a:t>
            </a:r>
            <a:r>
              <a:rPr lang="en-IN" dirty="0" err="1"/>
              <a:t>mockLoan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dirty="0"/>
              <a:t>// Act &amp; Assert</a:t>
            </a:r>
          </a:p>
          <a:p>
            <a:pPr marL="457200" lvl="1" indent="0">
              <a:buNone/>
            </a:pPr>
            <a:r>
              <a:rPr lang="en-IN" dirty="0" err="1"/>
              <a:t>mockMvc.perform</a:t>
            </a:r>
            <a:r>
              <a:rPr lang="en-IN" dirty="0"/>
              <a:t>(</a:t>
            </a:r>
            <a:r>
              <a:rPr lang="en-IN" i="1" dirty="0"/>
              <a:t>get</a:t>
            </a:r>
            <a:r>
              <a:rPr lang="en-IN" dirty="0"/>
              <a:t>("/</a:t>
            </a:r>
            <a:r>
              <a:rPr lang="en-IN" dirty="0" err="1"/>
              <a:t>api</a:t>
            </a:r>
            <a:r>
              <a:rPr lang="en-IN" dirty="0"/>
              <a:t>/v1/loans/1"))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andExpect</a:t>
            </a:r>
            <a:r>
              <a:rPr lang="en-IN" dirty="0"/>
              <a:t>(</a:t>
            </a:r>
            <a:r>
              <a:rPr lang="en-IN" i="1" dirty="0"/>
              <a:t>status</a:t>
            </a:r>
            <a:r>
              <a:rPr lang="en-IN" dirty="0"/>
              <a:t>().</a:t>
            </a:r>
            <a:r>
              <a:rPr lang="en-IN" dirty="0" err="1"/>
              <a:t>isOk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andExpect</a:t>
            </a:r>
            <a:r>
              <a:rPr lang="en-IN" dirty="0"/>
              <a:t>(</a:t>
            </a:r>
            <a:r>
              <a:rPr lang="en-IN" i="1" dirty="0" err="1"/>
              <a:t>jsonPath</a:t>
            </a:r>
            <a:r>
              <a:rPr lang="en-IN" dirty="0"/>
              <a:t>("$.</a:t>
            </a:r>
            <a:r>
              <a:rPr lang="en-IN" dirty="0" err="1"/>
              <a:t>applicantName</a:t>
            </a:r>
            <a:r>
              <a:rPr lang="en-IN" dirty="0"/>
              <a:t>").value("John Doe"));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789755"/>
      </p:ext>
    </p:extLst>
  </p:cSld>
  <p:clrMapOvr>
    <a:masterClrMapping/>
  </p:clrMapOvr>
  <p:transition advClick="0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AF6A-2853-2EEE-4BDA-9631F63E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5F5AF-4C6B-955B-36C4-9EC6FC073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createLoan_ShouldReturn201() </a:t>
            </a:r>
            <a:r>
              <a:rPr lang="en-IN" sz="1800" b="1" dirty="0"/>
              <a:t>throws</a:t>
            </a:r>
            <a:r>
              <a:rPr lang="en-IN" sz="1800" dirty="0"/>
              <a:t> Exception {</a:t>
            </a:r>
          </a:p>
          <a:p>
            <a:pPr marL="457200" lvl="1" indent="0">
              <a:buNone/>
            </a:pPr>
            <a:r>
              <a:rPr lang="en-IN" sz="1800" dirty="0" err="1"/>
              <a:t>LoanApplicationDto</a:t>
            </a:r>
            <a:r>
              <a:rPr lang="en-IN" sz="1800" dirty="0"/>
              <a:t> </a:t>
            </a:r>
            <a:r>
              <a:rPr lang="en-IN" sz="1800" dirty="0" err="1"/>
              <a:t>dto</a:t>
            </a:r>
            <a:r>
              <a:rPr lang="en-IN" sz="1800" dirty="0"/>
              <a:t>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LoanApplicationDto</a:t>
            </a:r>
            <a:r>
              <a:rPr lang="en-IN" sz="1800" dirty="0"/>
              <a:t>(1, "Jane Doe", 10000.0);</a:t>
            </a:r>
          </a:p>
          <a:p>
            <a:pPr marL="457200" lvl="1" indent="0">
              <a:buNone/>
            </a:pPr>
            <a:r>
              <a:rPr lang="en-IN" sz="1800" dirty="0" err="1"/>
              <a:t>LoanApplicationDto</a:t>
            </a:r>
            <a:r>
              <a:rPr lang="en-IN" sz="1800" dirty="0"/>
              <a:t> </a:t>
            </a:r>
            <a:r>
              <a:rPr lang="en-IN" sz="1800" dirty="0" err="1"/>
              <a:t>savedDto</a:t>
            </a:r>
            <a:r>
              <a:rPr lang="en-IN" sz="1800" dirty="0"/>
              <a:t>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LoanApplicationDto</a:t>
            </a:r>
            <a:r>
              <a:rPr lang="en-IN" sz="1800" dirty="0"/>
              <a:t>(1, "Jane Doe", 10000.0);</a:t>
            </a:r>
          </a:p>
          <a:p>
            <a:pPr marL="457200" lvl="1" indent="0">
              <a:buNone/>
            </a:pPr>
            <a:r>
              <a:rPr lang="en-IN" sz="1800" dirty="0" err="1"/>
              <a:t>Mockito.</a:t>
            </a:r>
            <a:r>
              <a:rPr lang="en-IN" sz="1800" i="1" dirty="0" err="1"/>
              <a:t>when</a:t>
            </a:r>
            <a:r>
              <a:rPr lang="en-IN" sz="1800" dirty="0"/>
              <a:t>(</a:t>
            </a:r>
            <a:r>
              <a:rPr lang="en-IN" sz="1800" dirty="0" err="1"/>
              <a:t>service.save</a:t>
            </a:r>
            <a:r>
              <a:rPr lang="en-IN" sz="1800" dirty="0"/>
              <a:t>(</a:t>
            </a:r>
            <a:r>
              <a:rPr lang="en-IN" sz="1800" i="1" dirty="0"/>
              <a:t>any</a:t>
            </a:r>
            <a:r>
              <a:rPr lang="en-IN" sz="1800" dirty="0"/>
              <a:t>(</a:t>
            </a:r>
            <a:r>
              <a:rPr lang="en-IN" sz="1800" dirty="0" err="1"/>
              <a:t>LoanApplicationDto.</a:t>
            </a:r>
            <a:r>
              <a:rPr lang="en-IN" sz="1800" b="1" dirty="0" err="1"/>
              <a:t>class</a:t>
            </a:r>
            <a:r>
              <a:rPr lang="en-IN" sz="1800" dirty="0"/>
              <a:t>))).</a:t>
            </a:r>
            <a:r>
              <a:rPr lang="en-IN" sz="1800" dirty="0" err="1"/>
              <a:t>thenReturn</a:t>
            </a:r>
            <a:r>
              <a:rPr lang="en-IN" sz="1800" dirty="0"/>
              <a:t>(</a:t>
            </a:r>
            <a:r>
              <a:rPr lang="en-IN" sz="1800" dirty="0" err="1"/>
              <a:t>savedDto</a:t>
            </a:r>
            <a:r>
              <a:rPr lang="en-IN" sz="1800" dirty="0"/>
              <a:t>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 err="1"/>
              <a:t>mockMvc.perform</a:t>
            </a:r>
            <a:r>
              <a:rPr lang="en-IN" sz="1800" dirty="0"/>
              <a:t>(</a:t>
            </a:r>
            <a:r>
              <a:rPr lang="en-IN" sz="1800" i="1" dirty="0"/>
              <a:t>post</a:t>
            </a:r>
            <a:r>
              <a:rPr lang="en-IN" sz="1800" dirty="0"/>
              <a:t>("/</a:t>
            </a:r>
            <a:r>
              <a:rPr lang="en-IN" sz="1800" dirty="0" err="1"/>
              <a:t>api</a:t>
            </a:r>
            <a:r>
              <a:rPr lang="en-IN" sz="1800" dirty="0"/>
              <a:t>/v1/loans")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contentType</a:t>
            </a:r>
            <a:r>
              <a:rPr lang="en-IN" sz="1800" dirty="0"/>
              <a:t>(</a:t>
            </a:r>
            <a:r>
              <a:rPr lang="en-IN" sz="1800" dirty="0" err="1"/>
              <a:t>MediaType.</a:t>
            </a:r>
            <a:r>
              <a:rPr lang="en-IN" sz="1800" b="1" i="1" dirty="0" err="1"/>
              <a:t>APPLICATION_JSON</a:t>
            </a:r>
            <a:r>
              <a:rPr lang="en-IN" sz="1800" dirty="0"/>
              <a:t>)</a:t>
            </a:r>
          </a:p>
          <a:p>
            <a:pPr marL="457200" lvl="1" indent="0">
              <a:buNone/>
            </a:pPr>
            <a:r>
              <a:rPr lang="en-IN" sz="1800" dirty="0"/>
              <a:t>.content(</a:t>
            </a:r>
            <a:r>
              <a:rPr lang="en-IN" sz="1800" dirty="0" err="1"/>
              <a:t>objectMapper.writeValueAsString</a:t>
            </a:r>
            <a:r>
              <a:rPr lang="en-IN" sz="1800" dirty="0"/>
              <a:t>(</a:t>
            </a:r>
            <a:r>
              <a:rPr lang="en-IN" sz="1800" dirty="0" err="1"/>
              <a:t>dto</a:t>
            </a:r>
            <a:r>
              <a:rPr lang="en-IN" sz="1800" dirty="0"/>
              <a:t>)))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andExpect</a:t>
            </a:r>
            <a:r>
              <a:rPr lang="en-IN" sz="1800" dirty="0"/>
              <a:t>(</a:t>
            </a:r>
            <a:r>
              <a:rPr lang="en-IN" sz="1800" i="1" dirty="0"/>
              <a:t>status</a:t>
            </a:r>
            <a:r>
              <a:rPr lang="en-IN" sz="1800" dirty="0"/>
              <a:t>().</a:t>
            </a:r>
            <a:r>
              <a:rPr lang="en-IN" sz="1800" dirty="0" err="1"/>
              <a:t>isCreated</a:t>
            </a:r>
            <a:r>
              <a:rPr lang="en-IN" sz="1800" dirty="0"/>
              <a:t>())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andExpect</a:t>
            </a:r>
            <a:r>
              <a:rPr lang="en-IN" sz="1800" dirty="0"/>
              <a:t>(</a:t>
            </a:r>
            <a:r>
              <a:rPr lang="en-IN" sz="1800" i="1" dirty="0" err="1"/>
              <a:t>jsonPath</a:t>
            </a:r>
            <a:r>
              <a:rPr lang="en-IN" sz="1800" dirty="0"/>
              <a:t>("$.id").value(1));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426427"/>
      </p:ext>
    </p:extLst>
  </p:cSld>
  <p:clrMapOvr>
    <a:masterClrMapping/>
  </p:clrMapOvr>
  <p:transition advClick="0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EA01-06E5-8663-8C8C-28ABCE1F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11FB5-2D2D-7AE4-74BB-C3BD11938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To  </a:t>
            </a:r>
            <a:r>
              <a:rPr lang="en-IN" sz="2000" b="1" dirty="0"/>
              <a:t>load the full application </a:t>
            </a:r>
            <a:r>
              <a:rPr lang="en-IN" sz="2000" b="1" dirty="0" err="1"/>
              <a:t>context</a:t>
            </a:r>
            <a:r>
              <a:rPr lang="en-IN" sz="2000" dirty="0" err="1"/>
              <a:t>,like</a:t>
            </a:r>
            <a:r>
              <a:rPr lang="en-IN" sz="2000" dirty="0"/>
              <a:t>  when the application starts normally.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All @</a:t>
            </a:r>
            <a:r>
              <a:rPr lang="en-IN" sz="1800" dirty="0" err="1"/>
              <a:t>Configurationclasses</a:t>
            </a:r>
            <a:endParaRPr lang="en-IN" sz="1800" dirty="0"/>
          </a:p>
          <a:p>
            <a:pPr lvl="1">
              <a:lnSpc>
                <a:spcPct val="150000"/>
              </a:lnSpc>
            </a:pPr>
            <a:r>
              <a:rPr lang="en-IN" sz="1800" dirty="0"/>
              <a:t>Controllers, services, repositories</a:t>
            </a:r>
          </a:p>
          <a:p>
            <a:pPr lvl="1">
              <a:lnSpc>
                <a:spcPct val="150000"/>
              </a:lnSpc>
            </a:pPr>
            <a:r>
              <a:rPr lang="en-IN" sz="1800" dirty="0" err="1"/>
              <a:t>DataSource</a:t>
            </a:r>
            <a:r>
              <a:rPr lang="en-IN" sz="1800" dirty="0"/>
              <a:t> and JPA configuration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Security configuration (if present)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614122"/>
      </p:ext>
    </p:extLst>
  </p:cSld>
  <p:clrMapOvr>
    <a:masterClrMapping/>
  </p:clrMapOvr>
  <p:transition advClick="0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EC137-5663-3905-3DC7-5AE62FD33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3B5CC-2581-DD2F-92E5-5DF61E04B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Used to Test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Bean Wiring and </a:t>
            </a:r>
            <a:r>
              <a:rPr lang="en-IN" dirty="0" err="1"/>
              <a:t>Depdency</a:t>
            </a:r>
            <a:r>
              <a:rPr lang="en-IN" dirty="0"/>
              <a:t> Injection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Application Context Startup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Multiple layers working together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Real Database behaviour with H2 Test Containers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Security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540472224"/>
      </p:ext>
    </p:extLst>
  </p:cSld>
  <p:clrMapOvr>
    <a:masterClrMapping/>
  </p:clrMapOvr>
  <p:transition advClick="0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CE62B-74C3-C6F1-D5B4-42AC0257E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SpringBootTest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785B6-23CC-420E-C8B5-64B18814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b="1" dirty="0"/>
              <a:t>When Not to Use</a:t>
            </a:r>
          </a:p>
          <a:p>
            <a:pPr lvl="1"/>
            <a:r>
              <a:rPr lang="en-IN" sz="2000" dirty="0"/>
              <a:t>Pure unit tests</a:t>
            </a:r>
          </a:p>
          <a:p>
            <a:pPr lvl="1"/>
            <a:r>
              <a:rPr lang="en-IN" sz="2000" dirty="0"/>
              <a:t>Service logic tests</a:t>
            </a:r>
          </a:p>
          <a:p>
            <a:pPr lvl="1"/>
            <a:r>
              <a:rPr lang="en-IN" sz="2000" dirty="0"/>
              <a:t>Controller request mapping tests</a:t>
            </a:r>
          </a:p>
          <a:p>
            <a:pPr lvl="1"/>
            <a:r>
              <a:rPr lang="en-IN" sz="2000" dirty="0"/>
              <a:t>Simple validation test</a:t>
            </a:r>
            <a:r>
              <a:rPr lang="en-IN" dirty="0"/>
              <a:t>s</a:t>
            </a:r>
          </a:p>
          <a:p>
            <a:pPr lvl="0"/>
            <a:r>
              <a:rPr lang="en-IN" sz="2000" b="1" dirty="0"/>
              <a:t>Using for above will result in</a:t>
            </a:r>
          </a:p>
          <a:p>
            <a:pPr lvl="1"/>
            <a:r>
              <a:rPr lang="en-IN" sz="2000" dirty="0"/>
              <a:t>Slower execution</a:t>
            </a:r>
          </a:p>
          <a:p>
            <a:pPr lvl="1"/>
            <a:r>
              <a:rPr lang="en-IN" sz="2000" dirty="0"/>
              <a:t>Harder to debug</a:t>
            </a:r>
          </a:p>
          <a:p>
            <a:pPr lvl="1"/>
            <a:r>
              <a:rPr lang="en-IN" sz="2000" dirty="0"/>
              <a:t>More brittle tests</a:t>
            </a:r>
          </a:p>
          <a:p>
            <a:endParaRPr lang="en-IN" dirty="0"/>
          </a:p>
          <a:p>
            <a:pPr lvl="1"/>
            <a:r>
              <a:rPr lang="en-IN" sz="2000" i="1" dirty="0">
                <a:solidFill>
                  <a:schemeClr val="bg1">
                    <a:lumMod val="75000"/>
                  </a:schemeClr>
                </a:solidFill>
              </a:rPr>
              <a:t>Mockito alone can test it, do NOT </a:t>
            </a:r>
            <a:r>
              <a:rPr lang="en-IN" sz="2000" i="1" dirty="0" err="1">
                <a:solidFill>
                  <a:schemeClr val="bg1">
                    <a:lumMod val="75000"/>
                  </a:schemeClr>
                </a:solidFill>
              </a:rPr>
              <a:t>use@SpringBootTest</a:t>
            </a:r>
            <a:endParaRPr lang="en-IN" sz="2000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379591"/>
      </p:ext>
    </p:extLst>
  </p:cSld>
  <p:clrMapOvr>
    <a:masterClrMapping/>
  </p:clrMapOvr>
  <p:transition advClick="0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A59C-AE04-0A09-C9A5-C0AB6AD5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80E53-6BF4-D367-5F4A-A8BBC37A5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2000" dirty="0"/>
              <a:t>@Service</a:t>
            </a:r>
          </a:p>
          <a:p>
            <a:pPr marL="457200" lvl="1" indent="0">
              <a:buNone/>
            </a:pPr>
            <a:r>
              <a:rPr lang="en-IN" sz="2000" dirty="0"/>
              <a:t>public class </a:t>
            </a:r>
            <a:r>
              <a:rPr lang="en-IN" sz="2000" dirty="0" err="1"/>
              <a:t>GreetingService</a:t>
            </a:r>
            <a:r>
              <a:rPr lang="en-IN" sz="2000" dirty="0"/>
              <a:t> {</a:t>
            </a:r>
          </a:p>
          <a:p>
            <a:pPr marL="457200" lvl="1" indent="0">
              <a:buNone/>
            </a:pPr>
            <a:r>
              <a:rPr lang="en-IN" sz="2000" dirty="0"/>
              <a:t>    public String </a:t>
            </a:r>
            <a:r>
              <a:rPr lang="en-IN" sz="2000" dirty="0" err="1"/>
              <a:t>getGreeting</a:t>
            </a:r>
            <a:r>
              <a:rPr lang="en-IN" sz="2000" dirty="0"/>
              <a:t>() {</a:t>
            </a:r>
          </a:p>
          <a:p>
            <a:pPr marL="457200" lvl="1" indent="0">
              <a:buNone/>
            </a:pPr>
            <a:r>
              <a:rPr lang="en-IN" sz="2000" dirty="0"/>
              <a:t>        return "Hello, World!";</a:t>
            </a:r>
          </a:p>
          <a:p>
            <a:pPr marL="457200" lvl="1" indent="0">
              <a:buNone/>
            </a:pPr>
            <a:r>
              <a:rPr lang="en-IN" sz="2000" dirty="0"/>
              <a:t>    }</a:t>
            </a:r>
          </a:p>
          <a:p>
            <a:pPr marL="457200" lvl="1" indent="0">
              <a:buNone/>
            </a:pPr>
            <a:r>
              <a:rPr lang="en-IN" sz="2000" dirty="0"/>
              <a:t>}</a:t>
            </a:r>
          </a:p>
          <a:p>
            <a:pPr marL="457200" lvl="1" indent="0">
              <a:buNone/>
            </a:pPr>
            <a:br>
              <a:rPr lang="en-IN" sz="2000" dirty="0"/>
            </a:br>
            <a:endParaRPr lang="en-IN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579373"/>
      </p:ext>
    </p:extLst>
  </p:cSld>
  <p:clrMapOvr>
    <a:masterClrMapping/>
  </p:clrMapOvr>
  <p:transition advClick="0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610E8-2D6C-AEF6-5EEE-57FAE25B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75AB4-2B8C-6A5C-C1ED-5755A5497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SpringBootTest</a:t>
            </a: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class </a:t>
            </a:r>
            <a:r>
              <a:rPr lang="en-IN" sz="1800" dirty="0" err="1"/>
              <a:t>GreetingServiceTest</a:t>
            </a:r>
            <a:r>
              <a:rPr lang="en-IN" sz="1800" dirty="0"/>
              <a:t> {</a:t>
            </a:r>
          </a:p>
          <a:p>
            <a:pPr marL="400050" lvl="1" indent="0">
              <a:buNone/>
            </a:pP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    private </a:t>
            </a:r>
            <a:r>
              <a:rPr lang="en-IN" sz="1800" dirty="0" err="1"/>
              <a:t>GreetingService</a:t>
            </a:r>
            <a:r>
              <a:rPr lang="en-IN" sz="1800" dirty="0"/>
              <a:t> </a:t>
            </a:r>
            <a:r>
              <a:rPr lang="en-IN" sz="1800" dirty="0" err="1"/>
              <a:t>greetingService</a:t>
            </a:r>
            <a:r>
              <a:rPr lang="en-IN" sz="1800" dirty="0"/>
              <a:t>;</a:t>
            </a:r>
          </a:p>
          <a:p>
            <a:pPr marL="400050" lvl="1" indent="0">
              <a:buNone/>
            </a:pPr>
            <a:endParaRPr lang="en-IN" sz="1800" dirty="0"/>
          </a:p>
          <a:p>
            <a:pPr marL="400050" lvl="1" indent="0">
              <a:buNone/>
            </a:pPr>
            <a:r>
              <a:rPr lang="en-IN" sz="1800" dirty="0"/>
              <a:t>    @Test</a:t>
            </a:r>
          </a:p>
          <a:p>
            <a:pPr marL="400050" lvl="1" indent="0">
              <a:buNone/>
            </a:pPr>
            <a:r>
              <a:rPr lang="en-IN" sz="1800" dirty="0"/>
              <a:t>    void </a:t>
            </a:r>
            <a:r>
              <a:rPr lang="en-IN" sz="1800" dirty="0" err="1"/>
              <a:t>testAutowiring</a:t>
            </a:r>
            <a:r>
              <a:rPr lang="en-IN" sz="1800" dirty="0"/>
              <a:t>() {</a:t>
            </a:r>
          </a:p>
          <a:p>
            <a:pPr marL="400050" lvl="1" indent="0">
              <a:buNone/>
            </a:pPr>
            <a:r>
              <a:rPr lang="en-IN" sz="1800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greetingService</a:t>
            </a:r>
            <a:r>
              <a:rPr lang="en-IN" sz="1800" dirty="0"/>
              <a:t>).</a:t>
            </a:r>
            <a:r>
              <a:rPr lang="en-IN" sz="1800" dirty="0" err="1"/>
              <a:t>isNotNull</a:t>
            </a:r>
            <a:r>
              <a:rPr lang="en-IN" sz="1800" dirty="0"/>
              <a:t>();</a:t>
            </a:r>
          </a:p>
          <a:p>
            <a:pPr marL="400050" lvl="1" indent="0">
              <a:buNone/>
            </a:pPr>
            <a:r>
              <a:rPr lang="en-IN" sz="1800" dirty="0"/>
              <a:t>        </a:t>
            </a:r>
          </a:p>
          <a:p>
            <a:pPr marL="400050" lvl="1" indent="0">
              <a:buNone/>
            </a:pPr>
            <a:r>
              <a:rPr lang="en-IN" sz="1800" dirty="0"/>
              <a:t>String result = </a:t>
            </a:r>
            <a:r>
              <a:rPr lang="en-IN" sz="1800" dirty="0" err="1"/>
              <a:t>greetingService.getGreeting</a:t>
            </a:r>
            <a:r>
              <a:rPr lang="en-IN" sz="1800" dirty="0"/>
              <a:t>();</a:t>
            </a:r>
          </a:p>
          <a:p>
            <a:pPr marL="400050" lvl="1" indent="0">
              <a:buNone/>
            </a:pPr>
            <a:r>
              <a:rPr lang="en-IN" sz="1800" dirty="0"/>
              <a:t>        </a:t>
            </a:r>
            <a:r>
              <a:rPr lang="en-IN" sz="1800" dirty="0" err="1"/>
              <a:t>assertThat</a:t>
            </a:r>
            <a:r>
              <a:rPr lang="en-IN" sz="1800" dirty="0"/>
              <a:t>(result).</a:t>
            </a:r>
            <a:r>
              <a:rPr lang="en-IN" sz="1800" dirty="0" err="1"/>
              <a:t>isEqualTo</a:t>
            </a:r>
            <a:r>
              <a:rPr lang="en-IN" sz="1800" dirty="0"/>
              <a:t>("Hello, World!");</a:t>
            </a:r>
          </a:p>
          <a:p>
            <a:pPr marL="400050" lvl="1" indent="0">
              <a:buNone/>
            </a:pPr>
            <a:r>
              <a:rPr lang="en-IN" sz="1800" dirty="0"/>
              <a:t>    }</a:t>
            </a:r>
          </a:p>
          <a:p>
            <a:pPr marL="400050" lvl="1" indent="0">
              <a:buNone/>
            </a:pPr>
            <a:r>
              <a:rPr lang="en-IN" sz="1800" dirty="0"/>
              <a:t>}</a:t>
            </a:r>
          </a:p>
          <a:p>
            <a:br>
              <a:rPr lang="en-IN" sz="1800" dirty="0"/>
            </a:br>
            <a:endParaRPr lang="en-IN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398639461"/>
      </p:ext>
    </p:extLst>
  </p:cSld>
  <p:clrMapOvr>
    <a:masterClrMapping/>
  </p:clrMapOvr>
  <p:transition advClick="0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1">
            <a:extLst>
              <a:ext uri="{FF2B5EF4-FFF2-40B4-BE49-F238E27FC236}">
                <a16:creationId xmlns:a16="http://schemas.microsoft.com/office/drawing/2014/main" id="{2115524D-4E80-6475-4927-2CF1950F40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@</a:t>
            </a:r>
            <a:r>
              <a:rPr lang="en-US" altLang="en-US" dirty="0" err="1"/>
              <a:t>DataJpaTest</a:t>
            </a:r>
            <a:endParaRPr lang="en-US" altLang="en-US" dirty="0"/>
          </a:p>
        </p:txBody>
      </p:sp>
      <p:sp>
        <p:nvSpPr>
          <p:cNvPr id="22530" name="Content Placeholder 2">
            <a:extLst>
              <a:ext uri="{FF2B5EF4-FFF2-40B4-BE49-F238E27FC236}">
                <a16:creationId xmlns:a16="http://schemas.microsoft.com/office/drawing/2014/main" id="{65BAA10F-6495-CC9D-B56D-77D4164CFE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1800" dirty="0"/>
              <a:t>Provides a context that only loads JPA-related components</a:t>
            </a:r>
          </a:p>
          <a:p>
            <a:pPr>
              <a:lnSpc>
                <a:spcPct val="150000"/>
              </a:lnSpc>
            </a:pPr>
            <a:r>
              <a:rPr lang="en-IN" altLang="en-US" sz="1800" dirty="0"/>
              <a:t>Tests will be faster than a full @</a:t>
            </a:r>
            <a:r>
              <a:rPr lang="en-IN" altLang="en-US" sz="1800" dirty="0" err="1"/>
              <a:t>SpringBootTest</a:t>
            </a:r>
            <a:r>
              <a:rPr lang="en-IN" altLang="en-US" sz="1800" dirty="0"/>
              <a:t>. </a:t>
            </a:r>
          </a:p>
          <a:p>
            <a:pPr>
              <a:lnSpc>
                <a:spcPct val="150000"/>
              </a:lnSpc>
            </a:pPr>
            <a:r>
              <a:rPr lang="en-IN" altLang="en-US" sz="1800" dirty="0"/>
              <a:t>By default, it uses an in-memory database (like H2) and rolls back transactions after each test to keep data isolated. </a:t>
            </a:r>
          </a:p>
          <a:p>
            <a:endParaRPr lang="en-IN" altLang="en-US" sz="1800" dirty="0"/>
          </a:p>
          <a:p>
            <a:pPr marL="457200" lvl="1" indent="0">
              <a:buNone/>
            </a:pPr>
            <a:r>
              <a:rPr lang="en-IN" altLang="en-US" sz="1800" dirty="0"/>
              <a:t>&lt;dependency&gt;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</a:t>
            </a:r>
            <a:r>
              <a:rPr lang="en-IN" altLang="en-US" sz="1800" dirty="0" err="1"/>
              <a:t>groupId</a:t>
            </a:r>
            <a:r>
              <a:rPr lang="en-IN" altLang="en-US" sz="1800" dirty="0"/>
              <a:t>&gt;</a:t>
            </a:r>
            <a:r>
              <a:rPr lang="en-IN" altLang="en-US" sz="1800" dirty="0" err="1"/>
              <a:t>org.springframework.boot</a:t>
            </a:r>
            <a:r>
              <a:rPr lang="en-IN" altLang="en-US" sz="1800" dirty="0"/>
              <a:t>&lt;/</a:t>
            </a:r>
            <a:r>
              <a:rPr lang="en-IN" altLang="en-US" sz="1800" dirty="0" err="1"/>
              <a:t>groupId</a:t>
            </a:r>
            <a:r>
              <a:rPr lang="en-IN" altLang="en-US" sz="1800" dirty="0"/>
              <a:t>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</a:t>
            </a:r>
            <a:r>
              <a:rPr lang="en-IN" altLang="en-US" sz="1800" dirty="0" err="1"/>
              <a:t>artifactId</a:t>
            </a:r>
            <a:r>
              <a:rPr lang="en-IN" altLang="en-US" sz="1800" dirty="0"/>
              <a:t>&gt;spring-boot-starter-data-</a:t>
            </a:r>
            <a:r>
              <a:rPr lang="en-IN" altLang="en-US" sz="1800" dirty="0" err="1"/>
              <a:t>jpa</a:t>
            </a:r>
            <a:r>
              <a:rPr lang="en-IN" altLang="en-US" sz="1800" dirty="0"/>
              <a:t>-test&lt;/</a:t>
            </a:r>
            <a:r>
              <a:rPr lang="en-IN" altLang="en-US" sz="1800" dirty="0" err="1"/>
              <a:t>artifactId</a:t>
            </a:r>
            <a:r>
              <a:rPr lang="en-IN" altLang="en-US" sz="1800" dirty="0"/>
              <a:t>&gt;</a:t>
            </a:r>
          </a:p>
          <a:p>
            <a:pPr marL="457200" lvl="1" indent="0">
              <a:buNone/>
            </a:pPr>
            <a:r>
              <a:rPr lang="en-IN" altLang="en-US" sz="1800" dirty="0"/>
              <a:t>    &lt;scope&gt;test&lt;/scope&gt;</a:t>
            </a:r>
          </a:p>
          <a:p>
            <a:pPr marL="457200" lvl="1" indent="0">
              <a:buNone/>
            </a:pPr>
            <a:r>
              <a:rPr lang="en-IN" altLang="en-US" sz="1800" dirty="0"/>
              <a:t>&lt;/dependency&gt;</a:t>
            </a:r>
          </a:p>
          <a:p>
            <a:endParaRPr lang="en-IN" altLang="en-US" sz="1800" dirty="0"/>
          </a:p>
          <a:p>
            <a:pPr marL="0" indent="0">
              <a:buNone/>
            </a:pPr>
            <a:br>
              <a:rPr lang="en-IN" altLang="en-US" sz="1800" dirty="0"/>
            </a:br>
            <a:endParaRPr lang="en-IN" altLang="en-US" sz="1800" dirty="0"/>
          </a:p>
          <a:p>
            <a:endParaRPr lang="en-US" altLang="en-US" sz="1800" dirty="0"/>
          </a:p>
        </p:txBody>
      </p:sp>
    </p:spTree>
  </p:cSld>
  <p:clrMapOvr>
    <a:masterClrMapping/>
  </p:clrMapOvr>
  <p:transition advClick="0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D0A3A-DEE3-5062-CC2D-676EE708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7BDE3-1CDE-4C67-0F97-13141E59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DataJpaTest</a:t>
            </a:r>
            <a:r>
              <a:rPr lang="en-IN" sz="1800" dirty="0"/>
              <a:t> </a:t>
            </a:r>
          </a:p>
          <a:p>
            <a:pPr marL="457200" lvl="1" indent="0">
              <a:buNone/>
            </a:pP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LoanApplicationRepoTest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br>
              <a:rPr lang="en-IN" sz="1800" dirty="0"/>
            </a:b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dirty="0" err="1"/>
              <a:t>LoanApplicationRepo</a:t>
            </a:r>
            <a:r>
              <a:rPr lang="en-IN" sz="1800" dirty="0"/>
              <a:t> repo;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Autowired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dirty="0" err="1"/>
              <a:t>TestEntityManager</a:t>
            </a:r>
            <a:r>
              <a:rPr lang="en-IN" sz="1800" dirty="0"/>
              <a:t> </a:t>
            </a:r>
            <a:r>
              <a:rPr lang="en-IN" sz="1800" u="sng" dirty="0" err="1"/>
              <a:t>entityManager</a:t>
            </a:r>
            <a:r>
              <a:rPr lang="en-IN" sz="1800" dirty="0"/>
              <a:t>; </a:t>
            </a:r>
          </a:p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save_ShouldPersistLoanApplication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r>
              <a:rPr lang="en-IN" sz="1800" dirty="0" err="1"/>
              <a:t>LoanApplication</a:t>
            </a:r>
            <a:r>
              <a:rPr lang="en-IN" sz="1800" dirty="0"/>
              <a:t> loan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LoanApplication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dirty="0" err="1"/>
              <a:t>loan.setApplicantName</a:t>
            </a:r>
            <a:r>
              <a:rPr lang="en-IN" sz="1800" dirty="0"/>
              <a:t>("Alice Smith");</a:t>
            </a:r>
          </a:p>
          <a:p>
            <a:pPr marL="457200" lvl="1" indent="0">
              <a:buNone/>
            </a:pPr>
            <a:r>
              <a:rPr lang="en-IN" sz="1800" dirty="0" err="1"/>
              <a:t>loan.setLoanAmount</a:t>
            </a:r>
            <a:r>
              <a:rPr lang="en-IN" sz="1800" dirty="0"/>
              <a:t>(25000.0);</a:t>
            </a:r>
          </a:p>
        </p:txBody>
      </p:sp>
    </p:spTree>
    <p:extLst>
      <p:ext uri="{BB962C8B-B14F-4D97-AF65-F5344CB8AC3E}">
        <p14:creationId xmlns:p14="http://schemas.microsoft.com/office/powerpoint/2010/main" val="2080502192"/>
      </p:ext>
    </p:extLst>
  </p:cSld>
  <p:clrMapOvr>
    <a:masterClrMapping/>
  </p:clrMapOvr>
  <p:transition advClick="0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82DF3-6C19-FA1D-4FB6-76E67AD99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DBF6E-05C7-FB7A-A7B3-519F08155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// Act</a:t>
            </a:r>
          </a:p>
          <a:p>
            <a:pPr marL="457200" lvl="1" indent="0">
              <a:buNone/>
            </a:pPr>
            <a:r>
              <a:rPr lang="en-IN" sz="1800" dirty="0" err="1"/>
              <a:t>LoanApplication</a:t>
            </a:r>
            <a:r>
              <a:rPr lang="en-IN" sz="1800" dirty="0"/>
              <a:t> </a:t>
            </a:r>
            <a:r>
              <a:rPr lang="en-IN" sz="1800" dirty="0" err="1"/>
              <a:t>savedLoan</a:t>
            </a:r>
            <a:r>
              <a:rPr lang="en-IN" sz="1800" dirty="0"/>
              <a:t> = </a:t>
            </a:r>
            <a:r>
              <a:rPr lang="en-IN" sz="1800" dirty="0" err="1"/>
              <a:t>repo.save</a:t>
            </a:r>
            <a:r>
              <a:rPr lang="en-IN" sz="1800" dirty="0"/>
              <a:t>(loan);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// Assert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savedLoan.getId</a:t>
            </a:r>
            <a:r>
              <a:rPr lang="en-IN" sz="1800" dirty="0"/>
              <a:t>()).</a:t>
            </a:r>
            <a:r>
              <a:rPr lang="en-IN" sz="1800" dirty="0" err="1"/>
              <a:t>isNotNull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</a:t>
            </a:r>
            <a:r>
              <a:rPr lang="en-IN" sz="1800" dirty="0" err="1"/>
              <a:t>savedLoan.getApplicantName</a:t>
            </a:r>
            <a:r>
              <a:rPr lang="en-IN" sz="1800" dirty="0"/>
              <a:t>()).</a:t>
            </a:r>
            <a:r>
              <a:rPr lang="en-IN" sz="1800" dirty="0" err="1"/>
              <a:t>isEqualTo</a:t>
            </a:r>
            <a:r>
              <a:rPr lang="en-IN" sz="1800" dirty="0"/>
              <a:t>("Alice Smith");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@Test</a:t>
            </a:r>
          </a:p>
          <a:p>
            <a:pPr marL="457200" lvl="1" indent="0">
              <a:buNone/>
            </a:pPr>
            <a:r>
              <a:rPr lang="en-IN" sz="1800" b="1" dirty="0"/>
              <a:t>void</a:t>
            </a:r>
            <a:r>
              <a:rPr lang="en-IN" sz="1800" dirty="0"/>
              <a:t> </a:t>
            </a:r>
            <a:r>
              <a:rPr lang="en-IN" sz="1800" dirty="0" err="1"/>
              <a:t>findById_ShouldReturnEmpty_WhenIdDoesNotExist</a:t>
            </a:r>
            <a:r>
              <a:rPr lang="en-IN" sz="1800" dirty="0"/>
              <a:t>() {</a:t>
            </a:r>
          </a:p>
          <a:p>
            <a:pPr marL="457200" lvl="1" indent="0">
              <a:buNone/>
            </a:pPr>
            <a:r>
              <a:rPr lang="en-IN" sz="1800" b="1" dirty="0"/>
              <a:t>var</a:t>
            </a:r>
            <a:r>
              <a:rPr lang="en-IN" sz="1800" dirty="0"/>
              <a:t> result = </a:t>
            </a:r>
            <a:r>
              <a:rPr lang="en-IN" sz="1800" dirty="0" err="1"/>
              <a:t>repo.findById</a:t>
            </a:r>
            <a:r>
              <a:rPr lang="en-IN" sz="1800" dirty="0"/>
              <a:t>(999);</a:t>
            </a:r>
          </a:p>
          <a:p>
            <a:pPr marL="457200" lvl="1" indent="0">
              <a:buNone/>
            </a:pPr>
            <a:r>
              <a:rPr lang="en-IN" sz="1800" i="1" dirty="0" err="1"/>
              <a:t>assertThat</a:t>
            </a:r>
            <a:r>
              <a:rPr lang="en-IN" sz="1800" dirty="0"/>
              <a:t>(result).</a:t>
            </a:r>
            <a:r>
              <a:rPr lang="en-IN" sz="1800" dirty="0" err="1"/>
              <a:t>isEmpty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850700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vees">
  <a:themeElements>
    <a:clrScheme name="vees 14">
      <a:dk1>
        <a:srgbClr val="000000"/>
      </a:dk1>
      <a:lt1>
        <a:srgbClr val="FF99CC"/>
      </a:lt1>
      <a:dk2>
        <a:srgbClr val="1C1C1C"/>
      </a:dk2>
      <a:lt2>
        <a:srgbClr val="4D4D4D"/>
      </a:lt2>
      <a:accent1>
        <a:srgbClr val="FF0000"/>
      </a:accent1>
      <a:accent2>
        <a:srgbClr val="FF99CC"/>
      </a:accent2>
      <a:accent3>
        <a:srgbClr val="FFCAE2"/>
      </a:accent3>
      <a:accent4>
        <a:srgbClr val="000000"/>
      </a:accent4>
      <a:accent5>
        <a:srgbClr val="FFAAAA"/>
      </a:accent5>
      <a:accent6>
        <a:srgbClr val="E78AB9"/>
      </a:accent6>
      <a:hlink>
        <a:srgbClr val="9933FF"/>
      </a:hlink>
      <a:folHlink>
        <a:srgbClr val="44C63A"/>
      </a:folHlink>
    </a:clrScheme>
    <a:fontScheme name="ve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vees 1">
        <a:dk1>
          <a:srgbClr val="C0C0C0"/>
        </a:dk1>
        <a:lt1>
          <a:srgbClr val="FFFFFF"/>
        </a:lt1>
        <a:dk2>
          <a:srgbClr val="000099"/>
        </a:dk2>
        <a:lt2>
          <a:srgbClr val="CCECFF"/>
        </a:lt2>
        <a:accent1>
          <a:srgbClr val="FF3399"/>
        </a:accent1>
        <a:accent2>
          <a:srgbClr val="99CCFF"/>
        </a:accent2>
        <a:accent3>
          <a:srgbClr val="AAAACA"/>
        </a:accent3>
        <a:accent4>
          <a:srgbClr val="DADADA"/>
        </a:accent4>
        <a:accent5>
          <a:srgbClr val="FFADCA"/>
        </a:accent5>
        <a:accent6>
          <a:srgbClr val="8AB9E7"/>
        </a:accent6>
        <a:hlink>
          <a:srgbClr val="FF505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2">
        <a:dk1>
          <a:srgbClr val="000000"/>
        </a:dk1>
        <a:lt1>
          <a:srgbClr val="99CCFF"/>
        </a:lt1>
        <a:dk2>
          <a:srgbClr val="1C1C1C"/>
        </a:dk2>
        <a:lt2>
          <a:srgbClr val="4D4D4D"/>
        </a:lt2>
        <a:accent1>
          <a:srgbClr val="CC0066"/>
        </a:accent1>
        <a:accent2>
          <a:srgbClr val="3366FF"/>
        </a:accent2>
        <a:accent3>
          <a:srgbClr val="CAE2FF"/>
        </a:accent3>
        <a:accent4>
          <a:srgbClr val="000000"/>
        </a:accent4>
        <a:accent5>
          <a:srgbClr val="E2AAB8"/>
        </a:accent5>
        <a:accent6>
          <a:srgbClr val="2D5CE7"/>
        </a:accent6>
        <a:hlink>
          <a:srgbClr val="FF0000"/>
        </a:hlink>
        <a:folHlink>
          <a:srgbClr val="FF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3">
        <a:dk1>
          <a:srgbClr val="C0C0C0"/>
        </a:dk1>
        <a:lt1>
          <a:srgbClr val="FFFFFF"/>
        </a:lt1>
        <a:dk2>
          <a:srgbClr val="800000"/>
        </a:dk2>
        <a:lt2>
          <a:srgbClr val="FFCC99"/>
        </a:lt2>
        <a:accent1>
          <a:srgbClr val="FF9900"/>
        </a:accent1>
        <a:accent2>
          <a:srgbClr val="CC00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B90000"/>
        </a:accent6>
        <a:hlink>
          <a:srgbClr val="FF33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4">
        <a:dk1>
          <a:srgbClr val="000000"/>
        </a:dk1>
        <a:lt1>
          <a:srgbClr val="FF9966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6699"/>
        </a:accent2>
        <a:accent3>
          <a:srgbClr val="FFCAB8"/>
        </a:accent3>
        <a:accent4>
          <a:srgbClr val="000000"/>
        </a:accent4>
        <a:accent5>
          <a:srgbClr val="FFAAAA"/>
        </a:accent5>
        <a:accent6>
          <a:srgbClr val="E75C8A"/>
        </a:accent6>
        <a:hlink>
          <a:srgbClr val="CC00CC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5">
        <a:dk1>
          <a:srgbClr val="C0C0C0"/>
        </a:dk1>
        <a:lt1>
          <a:srgbClr val="FFFFFF"/>
        </a:lt1>
        <a:dk2>
          <a:srgbClr val="008000"/>
        </a:dk2>
        <a:lt2>
          <a:srgbClr val="CCECFF"/>
        </a:lt2>
        <a:accent1>
          <a:srgbClr val="0066FF"/>
        </a:accent1>
        <a:accent2>
          <a:srgbClr val="00FF00"/>
        </a:accent2>
        <a:accent3>
          <a:srgbClr val="AAC0AA"/>
        </a:accent3>
        <a:accent4>
          <a:srgbClr val="DADADA"/>
        </a:accent4>
        <a:accent5>
          <a:srgbClr val="AAB8FF"/>
        </a:accent5>
        <a:accent6>
          <a:srgbClr val="00E700"/>
        </a:accent6>
        <a:hlink>
          <a:srgbClr val="A29E00"/>
        </a:hlink>
        <a:folHlink>
          <a:srgbClr val="EA8B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6">
        <a:dk1>
          <a:srgbClr val="000000"/>
        </a:dk1>
        <a:lt1>
          <a:srgbClr val="97E183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99FF99"/>
        </a:accent2>
        <a:accent3>
          <a:srgbClr val="C9EEC1"/>
        </a:accent3>
        <a:accent4>
          <a:srgbClr val="000000"/>
        </a:accent4>
        <a:accent5>
          <a:srgbClr val="AAB8FF"/>
        </a:accent5>
        <a:accent6>
          <a:srgbClr val="8AE78A"/>
        </a:accent6>
        <a:hlink>
          <a:srgbClr val="CC9900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7">
        <a:dk1>
          <a:srgbClr val="C0C0C0"/>
        </a:dk1>
        <a:lt1>
          <a:srgbClr val="FFFFFF"/>
        </a:lt1>
        <a:dk2>
          <a:srgbClr val="008080"/>
        </a:dk2>
        <a:lt2>
          <a:srgbClr val="CCECFF"/>
        </a:lt2>
        <a:accent1>
          <a:srgbClr val="29A329"/>
        </a:accent1>
        <a:accent2>
          <a:srgbClr val="00FFFF"/>
        </a:accent2>
        <a:accent3>
          <a:srgbClr val="AAC0C0"/>
        </a:accent3>
        <a:accent4>
          <a:srgbClr val="DADADA"/>
        </a:accent4>
        <a:accent5>
          <a:srgbClr val="ACCEAC"/>
        </a:accent5>
        <a:accent6>
          <a:srgbClr val="00E7E7"/>
        </a:accent6>
        <a:hlink>
          <a:srgbClr val="3B6AFF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8">
        <a:dk1>
          <a:srgbClr val="000000"/>
        </a:dk1>
        <a:lt1>
          <a:srgbClr val="64F0BE"/>
        </a:lt1>
        <a:dk2>
          <a:srgbClr val="1C1C1C"/>
        </a:dk2>
        <a:lt2>
          <a:srgbClr val="4D4D4D"/>
        </a:lt2>
        <a:accent1>
          <a:srgbClr val="008000"/>
        </a:accent1>
        <a:accent2>
          <a:srgbClr val="00FFFF"/>
        </a:accent2>
        <a:accent3>
          <a:srgbClr val="B8F6DB"/>
        </a:accent3>
        <a:accent4>
          <a:srgbClr val="000000"/>
        </a:accent4>
        <a:accent5>
          <a:srgbClr val="AAC0AA"/>
        </a:accent5>
        <a:accent6>
          <a:srgbClr val="00E7E7"/>
        </a:accent6>
        <a:hlink>
          <a:srgbClr val="3366FF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9">
        <a:dk1>
          <a:srgbClr val="C0C0C0"/>
        </a:dk1>
        <a:lt1>
          <a:srgbClr val="FFFFFF"/>
        </a:lt1>
        <a:dk2>
          <a:srgbClr val="CC9900"/>
        </a:dk2>
        <a:lt2>
          <a:srgbClr val="FFFFCC"/>
        </a:lt2>
        <a:accent1>
          <a:srgbClr val="FF3300"/>
        </a:accent1>
        <a:accent2>
          <a:srgbClr val="FFCC66"/>
        </a:accent2>
        <a:accent3>
          <a:srgbClr val="E2CAAA"/>
        </a:accent3>
        <a:accent4>
          <a:srgbClr val="DADADA"/>
        </a:accent4>
        <a:accent5>
          <a:srgbClr val="FFADAA"/>
        </a:accent5>
        <a:accent6>
          <a:srgbClr val="E7B95C"/>
        </a:accent6>
        <a:hlink>
          <a:srgbClr val="008080"/>
        </a:hlink>
        <a:folHlink>
          <a:srgbClr val="33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0">
        <a:dk1>
          <a:srgbClr val="000000"/>
        </a:dk1>
        <a:lt1>
          <a:srgbClr val="EFF274"/>
        </a:lt1>
        <a:dk2>
          <a:srgbClr val="1C1C1C"/>
        </a:dk2>
        <a:lt2>
          <a:srgbClr val="4D4D4D"/>
        </a:lt2>
        <a:accent1>
          <a:srgbClr val="9966FF"/>
        </a:accent1>
        <a:accent2>
          <a:srgbClr val="FFFFCC"/>
        </a:accent2>
        <a:accent3>
          <a:srgbClr val="F6F7BC"/>
        </a:accent3>
        <a:accent4>
          <a:srgbClr val="000000"/>
        </a:accent4>
        <a:accent5>
          <a:srgbClr val="CAB8FF"/>
        </a:accent5>
        <a:accent6>
          <a:srgbClr val="E7E7B9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1">
        <a:dk1>
          <a:srgbClr val="C0C0C0"/>
        </a:dk1>
        <a:lt1>
          <a:srgbClr val="FFFFFF"/>
        </a:lt1>
        <a:dk2>
          <a:srgbClr val="6600CC"/>
        </a:dk2>
        <a:lt2>
          <a:srgbClr val="CCCCFF"/>
        </a:lt2>
        <a:accent1>
          <a:srgbClr val="D60093"/>
        </a:accent1>
        <a:accent2>
          <a:srgbClr val="9999FF"/>
        </a:accent2>
        <a:accent3>
          <a:srgbClr val="B8AAE2"/>
        </a:accent3>
        <a:accent4>
          <a:srgbClr val="DADADA"/>
        </a:accent4>
        <a:accent5>
          <a:srgbClr val="E8AAC8"/>
        </a:accent5>
        <a:accent6>
          <a:srgbClr val="8A8AE7"/>
        </a:accent6>
        <a:hlink>
          <a:srgbClr val="008000"/>
        </a:hlink>
        <a:folHlink>
          <a:srgbClr val="FF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2">
        <a:dk1>
          <a:srgbClr val="000000"/>
        </a:dk1>
        <a:lt1>
          <a:srgbClr val="CC99FF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CCCCFF"/>
        </a:accent2>
        <a:accent3>
          <a:srgbClr val="E2CAFF"/>
        </a:accent3>
        <a:accent4>
          <a:srgbClr val="000000"/>
        </a:accent4>
        <a:accent5>
          <a:srgbClr val="AAB8FF"/>
        </a:accent5>
        <a:accent6>
          <a:srgbClr val="B9B9E7"/>
        </a:accent6>
        <a:hlink>
          <a:srgbClr val="FF0066"/>
        </a:hlink>
        <a:folHlink>
          <a:srgbClr val="66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3">
        <a:dk1>
          <a:srgbClr val="C0C0C0"/>
        </a:dk1>
        <a:lt1>
          <a:srgbClr val="FFFFFF"/>
        </a:lt1>
        <a:dk2>
          <a:srgbClr val="CC0066"/>
        </a:dk2>
        <a:lt2>
          <a:srgbClr val="FFCCCC"/>
        </a:lt2>
        <a:accent1>
          <a:srgbClr val="993366"/>
        </a:accent1>
        <a:accent2>
          <a:srgbClr val="FF9999"/>
        </a:accent2>
        <a:accent3>
          <a:srgbClr val="E2AAB8"/>
        </a:accent3>
        <a:accent4>
          <a:srgbClr val="DADADA"/>
        </a:accent4>
        <a:accent5>
          <a:srgbClr val="CAADB8"/>
        </a:accent5>
        <a:accent6>
          <a:srgbClr val="E78A8A"/>
        </a:accent6>
        <a:hlink>
          <a:srgbClr val="009999"/>
        </a:hlink>
        <a:folHlink>
          <a:srgbClr val="FF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4">
        <a:dk1>
          <a:srgbClr val="000000"/>
        </a:dk1>
        <a:lt1>
          <a:srgbClr val="FF99CC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99CC"/>
        </a:accent2>
        <a:accent3>
          <a:srgbClr val="FFCAE2"/>
        </a:accent3>
        <a:accent4>
          <a:srgbClr val="000000"/>
        </a:accent4>
        <a:accent5>
          <a:srgbClr val="FFAAAA"/>
        </a:accent5>
        <a:accent6>
          <a:srgbClr val="E78AB9"/>
        </a:accent6>
        <a:hlink>
          <a:srgbClr val="9933FF"/>
        </a:hlink>
        <a:folHlink>
          <a:srgbClr val="44C63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5">
        <a:dk1>
          <a:srgbClr val="C0C0C0"/>
        </a:dk1>
        <a:lt1>
          <a:srgbClr val="FFFFFF"/>
        </a:lt1>
        <a:dk2>
          <a:srgbClr val="000000"/>
        </a:dk2>
        <a:lt2>
          <a:srgbClr val="DDDDDD"/>
        </a:lt2>
        <a:accent1>
          <a:srgbClr val="4D4D4D"/>
        </a:accent1>
        <a:accent2>
          <a:srgbClr val="C0C0C0"/>
        </a:accent2>
        <a:accent3>
          <a:srgbClr val="AAAAAA"/>
        </a:accent3>
        <a:accent4>
          <a:srgbClr val="DADADA"/>
        </a:accent4>
        <a:accent5>
          <a:srgbClr val="B2B2B2"/>
        </a:accent5>
        <a:accent6>
          <a:srgbClr val="AEAEAE"/>
        </a:accent6>
        <a:hlink>
          <a:srgbClr val="777777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6">
        <a:dk1>
          <a:srgbClr val="000000"/>
        </a:dk1>
        <a:lt1>
          <a:srgbClr val="FFFFFF"/>
        </a:lt1>
        <a:dk2>
          <a:srgbClr val="1C1C1C"/>
        </a:dk2>
        <a:lt2>
          <a:srgbClr val="4D4D4D"/>
        </a:lt2>
        <a:accent1>
          <a:srgbClr val="4D4D4D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B2B2B2"/>
        </a:accent5>
        <a:accent6>
          <a:srgbClr val="C8C8C8"/>
        </a:accent6>
        <a:hlink>
          <a:srgbClr val="808080"/>
        </a:hlink>
        <a:folHlink>
          <a:srgbClr val="F8F8F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040</Template>
  <TotalTime>10329</TotalTime>
  <Words>3265</Words>
  <Application>Microsoft Macintosh PowerPoint</Application>
  <PresentationFormat>On-screen Show (4:3)</PresentationFormat>
  <Paragraphs>621</Paragraphs>
  <Slides>58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MS PGothic</vt:lpstr>
      <vt:lpstr>Arial</vt:lpstr>
      <vt:lpstr>Calibri</vt:lpstr>
      <vt:lpstr>Consolas</vt:lpstr>
      <vt:lpstr>Hand Of Sean</vt:lpstr>
      <vt:lpstr>raleway</vt:lpstr>
      <vt:lpstr>Times New Roman</vt:lpstr>
      <vt:lpstr>ui-monospace</vt:lpstr>
      <vt:lpstr>Verdana</vt:lpstr>
      <vt:lpstr>vees</vt:lpstr>
      <vt:lpstr>Testing Frameworks</vt:lpstr>
      <vt:lpstr>Strategy of testing</vt:lpstr>
      <vt:lpstr>Test Driven Development</vt:lpstr>
      <vt:lpstr>Testing Tools -JUNIT</vt:lpstr>
      <vt:lpstr>Features</vt:lpstr>
      <vt:lpstr>Junit 5</vt:lpstr>
      <vt:lpstr> JUnit Platform  </vt:lpstr>
      <vt:lpstr>Junit Jupiter</vt:lpstr>
      <vt:lpstr>Test Classes and Methods </vt:lpstr>
      <vt:lpstr>Write Unit Test</vt:lpstr>
      <vt:lpstr>Assertions</vt:lpstr>
      <vt:lpstr>Writing a Junit Test – Assert Equals </vt:lpstr>
      <vt:lpstr>Example</vt:lpstr>
      <vt:lpstr>Writing a Junit Test – Assert Not Null</vt:lpstr>
      <vt:lpstr>Writing a Junit Test – Assert All</vt:lpstr>
      <vt:lpstr>Example</vt:lpstr>
      <vt:lpstr>Writing a Junit Test – Assert Throws</vt:lpstr>
      <vt:lpstr> Disabling Tests </vt:lpstr>
      <vt:lpstr> Lifecycle Method  </vt:lpstr>
      <vt:lpstr>@BeforeAll</vt:lpstr>
      <vt:lpstr>Lifecycle Method</vt:lpstr>
      <vt:lpstr>Writing a Junit Test Life Cycle Methods</vt:lpstr>
      <vt:lpstr>Example - Timeouts</vt:lpstr>
      <vt:lpstr>Test Timeouts</vt:lpstr>
      <vt:lpstr> ParameterizedTest </vt:lpstr>
      <vt:lpstr>ParameterizedTest</vt:lpstr>
      <vt:lpstr>ParameterizedTest</vt:lpstr>
      <vt:lpstr>Tips for testing</vt:lpstr>
      <vt:lpstr>Tips for testing-Effective Tests</vt:lpstr>
      <vt:lpstr>JUNIT Test Report</vt:lpstr>
      <vt:lpstr>Test Report</vt:lpstr>
      <vt:lpstr>Surefire-plugin</vt:lpstr>
      <vt:lpstr>Show Failed Tests</vt:lpstr>
      <vt:lpstr>Failed Code Line Number</vt:lpstr>
      <vt:lpstr>Code Coverage</vt:lpstr>
      <vt:lpstr>Java Code Coverage</vt:lpstr>
      <vt:lpstr>Plugin</vt:lpstr>
      <vt:lpstr>Reporting Configuration</vt:lpstr>
      <vt:lpstr>Mockito framework</vt:lpstr>
      <vt:lpstr> Unit testing dependencies.  </vt:lpstr>
      <vt:lpstr>Mocks</vt:lpstr>
      <vt:lpstr>Component Used</vt:lpstr>
      <vt:lpstr> Mockito when()  </vt:lpstr>
      <vt:lpstr>Verify</vt:lpstr>
      <vt:lpstr>Using Mockito to Test Spring Service</vt:lpstr>
      <vt:lpstr>Testing Spring Service</vt:lpstr>
      <vt:lpstr>Testing Spring Service</vt:lpstr>
      <vt:lpstr>Testing Controller</vt:lpstr>
      <vt:lpstr>Testing Controller</vt:lpstr>
      <vt:lpstr>Testing Controller</vt:lpstr>
      <vt:lpstr>@SpringBootTest</vt:lpstr>
      <vt:lpstr>@SpringBootTest</vt:lpstr>
      <vt:lpstr>@SpringBootTest</vt:lpstr>
      <vt:lpstr>Demo</vt:lpstr>
      <vt:lpstr>Demo</vt:lpstr>
      <vt:lpstr>@DataJpaTest</vt:lpstr>
      <vt:lpstr>Testing Repository</vt:lpstr>
      <vt:lpstr>Testing Repository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srivatsan</dc:creator>
  <cp:lastModifiedBy>Srivatsan Krishnamachari</cp:lastModifiedBy>
  <cp:revision>796</cp:revision>
  <dcterms:created xsi:type="dcterms:W3CDTF">1601-01-01T00:00:00Z</dcterms:created>
  <dcterms:modified xsi:type="dcterms:W3CDTF">2026-01-27T03:27:39Z</dcterms:modified>
</cp:coreProperties>
</file>