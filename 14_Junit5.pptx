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9" r:id="rId1"/>
  </p:sldMasterIdLst>
  <p:notesMasterIdLst>
    <p:notesMasterId r:id="rId41"/>
  </p:notesMasterIdLst>
  <p:sldIdLst>
    <p:sldId id="861" r:id="rId2"/>
    <p:sldId id="1042" r:id="rId3"/>
    <p:sldId id="1057" r:id="rId4"/>
    <p:sldId id="893" r:id="rId5"/>
    <p:sldId id="1100" r:id="rId6"/>
    <p:sldId id="1099" r:id="rId7"/>
    <p:sldId id="1101" r:id="rId8"/>
    <p:sldId id="906" r:id="rId9"/>
    <p:sldId id="1107" r:id="rId10"/>
    <p:sldId id="1139" r:id="rId11"/>
    <p:sldId id="1113" r:id="rId12"/>
    <p:sldId id="1137" r:id="rId13"/>
    <p:sldId id="1138" r:id="rId14"/>
    <p:sldId id="937" r:id="rId15"/>
    <p:sldId id="1141" r:id="rId16"/>
    <p:sldId id="1142" r:id="rId17"/>
    <p:sldId id="1143" r:id="rId18"/>
    <p:sldId id="1144" r:id="rId19"/>
    <p:sldId id="1110" r:id="rId20"/>
    <p:sldId id="1104" r:id="rId21"/>
    <p:sldId id="1140" r:id="rId22"/>
    <p:sldId id="863" r:id="rId23"/>
    <p:sldId id="1125" r:id="rId24"/>
    <p:sldId id="1145" r:id="rId25"/>
    <p:sldId id="1112" r:id="rId26"/>
    <p:sldId id="1146" r:id="rId27"/>
    <p:sldId id="1147" r:id="rId28"/>
    <p:sldId id="1114" r:id="rId29"/>
    <p:sldId id="1117" r:id="rId30"/>
    <p:sldId id="1132" r:id="rId31"/>
    <p:sldId id="1115" r:id="rId32"/>
    <p:sldId id="929" r:id="rId33"/>
    <p:sldId id="932" r:id="rId34"/>
    <p:sldId id="953" r:id="rId35"/>
    <p:sldId id="1153" r:id="rId36"/>
    <p:sldId id="1150" r:id="rId37"/>
    <p:sldId id="1155" r:id="rId38"/>
    <p:sldId id="1151" r:id="rId39"/>
    <p:sldId id="1152" r:id="rId4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5392" autoAdjust="0"/>
    <p:restoredTop sz="93767" autoAdjust="0"/>
  </p:normalViewPr>
  <p:slideViewPr>
    <p:cSldViewPr>
      <p:cViewPr varScale="1">
        <p:scale>
          <a:sx n="119" d="100"/>
          <a:sy n="119" d="100"/>
        </p:scale>
        <p:origin x="211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7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4248"/>
    </p:cViewPr>
  </p:sorterViewPr>
  <p:notesViewPr>
    <p:cSldViewPr>
      <p:cViewPr varScale="1">
        <p:scale>
          <a:sx n="41" d="100"/>
          <a:sy n="41" d="100"/>
        </p:scale>
        <p:origin x="-2318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0D5D368-6EFF-2FD8-5928-9F975C1260E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C8E62A0-CC3C-80AC-0E21-CDBADCFBB7A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95EF2259-EA3A-0C01-E3E4-1A512C8E0BF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E0EB0CD8-C941-5321-B425-42BF6BFB76D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6090E8AF-2808-9E55-D478-D723C81A8BF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16E16971-9B53-96E3-FDAC-C551BE47FE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2CEE064-C666-9842-AF8D-A952876FBD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77958072-63CB-595E-A22E-D95529302B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1652C5A-A61D-804E-A2C1-5E2D51F51368}" type="slidenum">
              <a:rPr lang="en-US" altLang="en-US" smtClean="0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F70A52DE-7E8C-95D1-0E1C-A89E1B6A71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4BD1125A-35A1-68E7-3BE5-D07A69E634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86231142"/>
      </p:ext>
    </p:extLst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7119605"/>
      </p:ext>
    </p:extLst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4740307"/>
      </p:ext>
    </p:extLst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38600" cy="5287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8200"/>
            <a:ext cx="4038600" cy="5287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0497422"/>
      </p:ext>
    </p:extLst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4986790"/>
      </p:ext>
    </p:extLst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9311546"/>
      </p:ext>
    </p:extLst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460730"/>
      </p:ext>
    </p:extLst>
  </p:cSld>
  <p:clrMapOvr>
    <a:masterClrMapping/>
  </p:clrMapOvr>
  <p:transition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3516224"/>
      </p:ext>
    </p:extLst>
  </p:cSld>
  <p:clrMapOvr>
    <a:masterClrMapping/>
  </p:clrMapOvr>
  <p:transition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1068240"/>
      </p:ext>
    </p:extLst>
  </p:cSld>
  <p:clrMapOvr>
    <a:masterClrMapping/>
  </p:clrMapOvr>
  <p:transition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91124752"/>
      </p:ext>
    </p:extLst>
  </p:cSld>
  <p:clrMapOvr>
    <a:masterClrMapping/>
  </p:clrMapOvr>
  <p:transition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4854191"/>
      </p:ext>
    </p:extLst>
  </p:cSld>
  <p:clrMapOvr>
    <a:masterClrMapping/>
  </p:clrMapOvr>
  <p:transition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838200"/>
            <a:ext cx="4038600" cy="5287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8200"/>
            <a:ext cx="4038600" cy="5287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8992863"/>
      </p:ext>
    </p:extLst>
  </p:cSld>
  <p:clrMapOvr>
    <a:masterClrMapping/>
  </p:clrMapOvr>
  <p:transition advClick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1364B461-7791-13C5-B381-9F0F7955C710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152400" y="6596063"/>
            <a:ext cx="381000" cy="2619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D75BD60-B26F-404E-8277-97C862BD02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1759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C517BFF2-9EDD-3E6D-4C6E-9C6D66BE3197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152400" y="6596063"/>
            <a:ext cx="381000" cy="2619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C301BF64-0013-364C-B013-9110007A68C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53082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1C67062F-6D5E-06CF-DE7A-9D66EC935F11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152400" y="6596063"/>
            <a:ext cx="381000" cy="2619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CE61D08A-106C-B843-B2BC-1419157C8E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0643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1D64AD93-CBB8-9DE3-1148-CC2D9179D492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152400" y="6596063"/>
            <a:ext cx="381000" cy="2619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3F4EACB-ABD4-D443-9E28-DC932292852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07309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BBD08C7E-E32A-C4C2-7E77-55BB7363F3F7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152400" y="6596063"/>
            <a:ext cx="381000" cy="2619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50E1536-08A0-004C-9232-7AD15FE5480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06862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1F4EC8A4-C15A-6D16-2F5D-6B993B52F1F5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152400" y="6596063"/>
            <a:ext cx="381000" cy="2619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D2A9E6B-5C45-1A43-8910-D6E722FF5A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4411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D1026E3-384B-479F-A8DE-59854B0F81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5F2BC16-8EE5-276B-6E14-44F9A6EFDB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29600" cy="528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99" r:id="rId1"/>
    <p:sldLayoutId id="2147484300" r:id="rId2"/>
    <p:sldLayoutId id="2147484301" r:id="rId3"/>
    <p:sldLayoutId id="2147484302" r:id="rId4"/>
    <p:sldLayoutId id="2147484303" r:id="rId5"/>
    <p:sldLayoutId id="2147484304" r:id="rId6"/>
    <p:sldLayoutId id="2147484305" r:id="rId7"/>
    <p:sldLayoutId id="2147484306" r:id="rId8"/>
    <p:sldLayoutId id="2147484307" r:id="rId9"/>
    <p:sldLayoutId id="2147484308" r:id="rId10"/>
    <p:sldLayoutId id="2147484309" r:id="rId11"/>
    <p:sldLayoutId id="2147484310" r:id="rId12"/>
    <p:sldLayoutId id="2147484311" r:id="rId13"/>
    <p:sldLayoutId id="2147484312" r:id="rId14"/>
    <p:sldLayoutId id="2147484313" r:id="rId15"/>
    <p:sldLayoutId id="2147484314" r:id="rId16"/>
    <p:sldLayoutId id="2147484315" r:id="rId17"/>
    <p:sldLayoutId id="2147484316" r:id="rId18"/>
  </p:sldLayoutIdLst>
  <p:transition advClick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junit.org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junit.org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3">
            <a:extLst>
              <a:ext uri="{FF2B5EF4-FFF2-40B4-BE49-F238E27FC236}">
                <a16:creationId xmlns:a16="http://schemas.microsoft.com/office/drawing/2014/main" id="{F04D74B9-1BB8-295A-DF41-F4DE6ADA899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JUNIT 5.0 with Maven</a:t>
            </a:r>
          </a:p>
        </p:txBody>
      </p:sp>
      <p:pic>
        <p:nvPicPr>
          <p:cNvPr id="9219" name="Picture 4" descr="erichgamma">
            <a:extLst>
              <a:ext uri="{FF2B5EF4-FFF2-40B4-BE49-F238E27FC236}">
                <a16:creationId xmlns:a16="http://schemas.microsoft.com/office/drawing/2014/main" id="{758F3301-10E6-865F-6795-4686491F5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388" y="3276600"/>
            <a:ext cx="2741612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5" descr="kentbeck">
            <a:extLst>
              <a:ext uri="{FF2B5EF4-FFF2-40B4-BE49-F238E27FC236}">
                <a16:creationId xmlns:a16="http://schemas.microsoft.com/office/drawing/2014/main" id="{B45C87AA-324F-656D-4BD3-792197A22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276600"/>
            <a:ext cx="24384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86EE475-568D-5AB6-0829-35BA9771852E}"/>
              </a:ext>
            </a:extLst>
          </p:cNvPr>
          <p:cNvSpPr/>
          <p:nvPr/>
        </p:nvSpPr>
        <p:spPr bwMode="auto">
          <a:xfrm>
            <a:off x="2133600" y="5562600"/>
            <a:ext cx="1752600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lang="en-US" dirty="0"/>
              <a:t>Kent Beck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B48AB5-5809-C591-79E7-4B325B2D493E}"/>
              </a:ext>
            </a:extLst>
          </p:cNvPr>
          <p:cNvSpPr/>
          <p:nvPr/>
        </p:nvSpPr>
        <p:spPr bwMode="auto">
          <a:xfrm>
            <a:off x="5105400" y="5562600"/>
            <a:ext cx="1752600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lang="en-US" dirty="0"/>
              <a:t>Erich Gamma</a:t>
            </a:r>
          </a:p>
        </p:txBody>
      </p:sp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519466D0-1CF6-9727-59CE-19B43CD51B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Test Driven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92377-3B0A-F26D-9C69-632DA5CCE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TDD starts with developing test for each one of the features. 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The test might fail as the tests are developed even before the development. 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Development team then develops and refactors the code to pass the test.</a:t>
            </a:r>
          </a:p>
          <a:p>
            <a:pPr>
              <a:defRPr/>
            </a:pPr>
            <a:endParaRPr lang="en-US" sz="2400" dirty="0"/>
          </a:p>
          <a:p>
            <a:pPr lvl="1">
              <a:defRPr/>
            </a:pPr>
            <a:r>
              <a:rPr lang="en-US" sz="2400" i="1" dirty="0">
                <a:ea typeface="+mn-ea"/>
                <a:cs typeface="+mn-cs"/>
              </a:rPr>
              <a:t>test-first as part of extreme programming concepts.</a:t>
            </a:r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17F6582A-C88B-3EC1-90E5-038A608954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Testing Tools -JUNIT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84DFC24B-EA0A-4CD7-49EB-6E809CE8F8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2000"/>
              <a:t>Open source for automated test ,developed by </a:t>
            </a:r>
            <a:r>
              <a:rPr lang="en-US" altLang="en-US" sz="2000">
                <a:ea typeface="MS PGothic" panose="020B0600070205080204" pitchFamily="34" charset="-128"/>
              </a:rPr>
              <a:t> </a:t>
            </a:r>
            <a:r>
              <a:rPr lang="en-US" altLang="en-US" sz="2000" b="1">
                <a:ea typeface="MS PGothic" panose="020B0600070205080204" pitchFamily="34" charset="-128"/>
              </a:rPr>
              <a:t>Kent Beck</a:t>
            </a:r>
            <a:r>
              <a:rPr lang="en-US" altLang="en-US" sz="2000">
                <a:ea typeface="MS PGothic" panose="020B0600070205080204" pitchFamily="34" charset="-128"/>
              </a:rPr>
              <a:t> and </a:t>
            </a:r>
            <a:r>
              <a:rPr lang="en-US" altLang="en-US" sz="2000" b="1">
                <a:ea typeface="MS PGothic" panose="020B0600070205080204" pitchFamily="34" charset="-128"/>
              </a:rPr>
              <a:t>Erich Gamma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Widely used in industry and can be used as stand alone or within an IDE such as Eclipse.</a:t>
            </a:r>
          </a:p>
          <a:p>
            <a:endParaRPr lang="en-US" altLang="en-US" sz="2000"/>
          </a:p>
          <a:p>
            <a:r>
              <a:rPr lang="en-US" altLang="en-US" sz="2000"/>
              <a:t>Part of a family known as the xUnit </a:t>
            </a:r>
          </a:p>
          <a:p>
            <a:endParaRPr lang="en-US" altLang="en-US" sz="2000"/>
          </a:p>
          <a:p>
            <a:r>
              <a:rPr lang="en-US" altLang="en-US" sz="2000"/>
              <a:t>Linked as a JAR at compile-time and can be used to write repeatable tests</a:t>
            </a:r>
          </a:p>
        </p:txBody>
      </p:sp>
    </p:spTree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7C5C56F3-C142-4DD7-5EC8-99BEC793FA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Features</a:t>
            </a:r>
            <a:endParaRPr lang="en-US" altLang="en-US"/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CEDD447A-3CD8-60CF-4804-4DC39F31DE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 sz="2000">
              <a:hlinkClick r:id="rId2"/>
            </a:endParaRPr>
          </a:p>
          <a:p>
            <a:endParaRPr lang="en-US" altLang="en-US" sz="2000" b="1"/>
          </a:p>
          <a:p>
            <a:pPr lvl="1"/>
            <a:r>
              <a:rPr lang="en-US" altLang="en-US" sz="2000"/>
              <a:t>Assertions for testing expected results.</a:t>
            </a:r>
          </a:p>
          <a:p>
            <a:pPr lvl="1"/>
            <a:endParaRPr lang="en-US" altLang="en-US" sz="2000"/>
          </a:p>
          <a:p>
            <a:pPr lvl="1"/>
            <a:r>
              <a:rPr lang="en-US" altLang="en-US" sz="2000"/>
              <a:t>Test features for sharing common test data.</a:t>
            </a:r>
          </a:p>
          <a:p>
            <a:pPr lvl="1"/>
            <a:endParaRPr lang="en-US" altLang="en-US" sz="2000"/>
          </a:p>
          <a:p>
            <a:pPr lvl="1"/>
            <a:r>
              <a:rPr lang="en-US" altLang="en-US" sz="2000"/>
              <a:t>Test suites for easily organizing and running tests.</a:t>
            </a:r>
          </a:p>
          <a:p>
            <a:pPr lvl="1"/>
            <a:endParaRPr lang="en-US" altLang="en-US" sz="2000"/>
          </a:p>
          <a:p>
            <a:pPr lvl="1"/>
            <a:r>
              <a:rPr lang="en-US" altLang="en-US" sz="2000"/>
              <a:t>Graphical and textual test runners.</a:t>
            </a:r>
          </a:p>
        </p:txBody>
      </p:sp>
    </p:spTree>
  </p:cSld>
  <p:clrMapOvr>
    <a:masterClrMapping/>
  </p:clrMapOvr>
  <p:transition advClick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7B3323A8-88BB-A0E5-8B84-93468A7395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Junit 5</a:t>
            </a:r>
            <a:endParaRPr lang="en-IN" altLang="en-US"/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AD8223DD-6286-9A79-577E-5333DB493F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/>
              <a:t>Composed of  modules from three different sub-projects.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Requires Java 8 (or higher) at runtime. 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Can also test code that has been compiled with previous versions of the JDK.</a:t>
            </a:r>
          </a:p>
          <a:p>
            <a:endParaRPr lang="en-US" altLang="en-US"/>
          </a:p>
          <a:p>
            <a:endParaRPr lang="en-IN" altLang="en-US"/>
          </a:p>
        </p:txBody>
      </p:sp>
      <p:pic>
        <p:nvPicPr>
          <p:cNvPr id="22532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683536DE-D6D2-2E01-FE56-678E10419E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581400"/>
            <a:ext cx="7162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DA136573-91E5-AEBB-DA30-C9C6F118C3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/>
            </a:br>
            <a:r>
              <a:rPr lang="en-US" altLang="en-US"/>
              <a:t>JUnit Platform </a:t>
            </a:r>
            <a:br>
              <a:rPr lang="en-US" altLang="en-US"/>
            </a:br>
            <a:endParaRPr lang="en-IN" altLang="en-US"/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DCCFB929-96B0-B931-51ED-63135532C4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en-US" sz="2000"/>
          </a:p>
          <a:p>
            <a:pPr>
              <a:lnSpc>
                <a:spcPct val="150000"/>
              </a:lnSpc>
            </a:pPr>
            <a:r>
              <a:rPr lang="en-US" altLang="en-US" sz="2000"/>
              <a:t>The Foundation for launching testing frameworks on the JVM. 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Defines the API for developing a testing framework that runs on the platform. 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Provides a Console Launcher to launch the platform from the command line 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Platform also exists in popular IDEs </a:t>
            </a:r>
          </a:p>
          <a:p>
            <a:pPr>
              <a:lnSpc>
                <a:spcPct val="150000"/>
              </a:lnSpc>
            </a:pPr>
            <a:endParaRPr lang="en-IN" altLang="en-US" sz="2000"/>
          </a:p>
        </p:txBody>
      </p:sp>
    </p:spTree>
  </p:cSld>
  <p:clrMapOvr>
    <a:masterClrMapping/>
  </p:clrMapOvr>
  <p:transition advClick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1E9E7F17-47B8-0E92-7E1F-5E4146F1CF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Junit Jupiter</a:t>
            </a:r>
            <a:endParaRPr lang="en-IN" altLang="en-US"/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DFD94F9C-A85B-D2EA-A8BF-DFB3D3A98B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 b="1"/>
              <a:t>JUnit Jupiter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Combination of the new programming model and extension model for writing tests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Provides a TestEngine for running Jupiter based tests on the platform.</a:t>
            </a:r>
          </a:p>
          <a:p>
            <a:pPr>
              <a:lnSpc>
                <a:spcPct val="150000"/>
              </a:lnSpc>
            </a:pPr>
            <a:endParaRPr lang="en-US" altLang="en-US" sz="2000"/>
          </a:p>
          <a:p>
            <a:pPr>
              <a:lnSpc>
                <a:spcPct val="150000"/>
              </a:lnSpc>
            </a:pPr>
            <a:r>
              <a:rPr lang="en-US" altLang="en-US" sz="2000" b="1"/>
              <a:t>JUnit Vintage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A TestEngine for running JUnit 3 and JUnit 4 based tests on the platform.</a:t>
            </a:r>
          </a:p>
          <a:p>
            <a:pPr>
              <a:lnSpc>
                <a:spcPct val="150000"/>
              </a:lnSpc>
            </a:pPr>
            <a:endParaRPr lang="en-IN" altLang="en-US" sz="2000"/>
          </a:p>
        </p:txBody>
      </p:sp>
    </p:spTree>
  </p:cSld>
  <p:clrMapOvr>
    <a:masterClrMapping/>
  </p:clrMapOvr>
  <p:transition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A4F802DC-ECE0-ADAC-563D-5DA44FDE20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Installation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C2613143-C195-C9DC-F743-027BC41604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Download latest version of JUnit jar file from </a:t>
            </a:r>
            <a:r>
              <a:rPr lang="en-US" altLang="en-US" sz="2000">
                <a:hlinkClick r:id="rId2"/>
              </a:rPr>
              <a:t>http://www.junit.org</a:t>
            </a:r>
            <a:r>
              <a:rPr lang="en-US" altLang="en-US" sz="2000"/>
              <a:t>. </a:t>
            </a:r>
          </a:p>
          <a:p>
            <a:endParaRPr lang="en-US" altLang="en-US" sz="2000"/>
          </a:p>
          <a:p>
            <a:r>
              <a:rPr lang="en-US" altLang="en-US" sz="2000"/>
              <a:t>Downloaded Jar File is placed in the classpath</a:t>
            </a:r>
          </a:p>
          <a:p>
            <a:endParaRPr lang="en-US" altLang="en-US" sz="2000"/>
          </a:p>
          <a:p>
            <a:r>
              <a:rPr lang="en-US" altLang="en-US" sz="2000"/>
              <a:t>Can Create a  Stand Alone Java Application to Execute the tests</a:t>
            </a:r>
          </a:p>
          <a:p>
            <a:endParaRPr lang="en-US" altLang="en-US" sz="2000"/>
          </a:p>
          <a:p>
            <a:r>
              <a:rPr lang="en-US" altLang="en-US" sz="2000"/>
              <a:t>Can Also use Popular IDE Like Eclipse, NetBeans to run tests</a:t>
            </a:r>
          </a:p>
        </p:txBody>
      </p:sp>
    </p:spTree>
  </p:cSld>
  <p:clrMapOvr>
    <a:masterClrMapping/>
  </p:clrMapOvr>
  <p:transition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CFD764D4-CC0C-588B-AA54-709A312348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altLang="en-US"/>
              <a:t>Test Classes and Methods</a:t>
            </a:r>
            <a:br>
              <a:rPr lang="en-US" altLang="en-US"/>
            </a:br>
            <a:endParaRPr lang="en-IN" altLang="en-US"/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72FAC7AC-23CF-D531-A5EF-1D0FB5B32C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/>
              <a:t>Test Class</a:t>
            </a:r>
          </a:p>
          <a:p>
            <a:pPr lvl="1"/>
            <a:r>
              <a:rPr lang="en-US" altLang="en-US" sz="2000"/>
              <a:t>Top-level class,</a:t>
            </a:r>
            <a:r>
              <a:rPr lang="en-US" altLang="en-US" sz="2000" i="1"/>
              <a:t> Must</a:t>
            </a:r>
            <a:r>
              <a:rPr lang="en-US" altLang="en-US" sz="2000" b="1" i="1">
                <a:solidFill>
                  <a:srgbClr val="C00000"/>
                </a:solidFill>
              </a:rPr>
              <a:t> NOT be abstract</a:t>
            </a:r>
          </a:p>
          <a:p>
            <a:pPr lvl="1"/>
            <a:r>
              <a:rPr lang="en-US" altLang="en-US" sz="2000"/>
              <a:t>Static member class,</a:t>
            </a:r>
          </a:p>
          <a:p>
            <a:pPr lvl="1"/>
            <a:r>
              <a:rPr lang="en-US" altLang="en-US" sz="2000"/>
              <a:t>@Nested class that contains at least one test method.</a:t>
            </a:r>
          </a:p>
          <a:p>
            <a:pPr lvl="1"/>
            <a:r>
              <a:rPr lang="en-US" altLang="en-US" sz="2000" b="1"/>
              <a:t>Can </a:t>
            </a:r>
            <a:r>
              <a:rPr lang="en-US" altLang="en-US" sz="2000"/>
              <a:t>declare custom display name with @DisplayName</a:t>
            </a:r>
          </a:p>
          <a:p>
            <a:endParaRPr lang="en-US" altLang="en-US" sz="2000" b="1"/>
          </a:p>
          <a:p>
            <a:r>
              <a:rPr lang="en-US" altLang="en-US" sz="2000" b="1"/>
              <a:t>Test Method: </a:t>
            </a:r>
          </a:p>
          <a:p>
            <a:pPr lvl="1"/>
            <a:r>
              <a:rPr lang="en-US" altLang="en-US" sz="2000" b="1">
                <a:solidFill>
                  <a:srgbClr val="7030A0"/>
                </a:solidFill>
              </a:rPr>
              <a:t>Instance method</a:t>
            </a:r>
            <a:r>
              <a:rPr lang="en-US" altLang="en-US" sz="2000"/>
              <a:t> annotated with </a:t>
            </a:r>
            <a:r>
              <a:rPr lang="en-US" altLang="en-US" sz="2000" b="1">
                <a:solidFill>
                  <a:srgbClr val="7030A0"/>
                </a:solidFill>
              </a:rPr>
              <a:t>@Test</a:t>
            </a:r>
          </a:p>
          <a:p>
            <a:pPr lvl="1"/>
            <a:r>
              <a:rPr lang="en-US" altLang="en-US" sz="2000" b="1" i="1">
                <a:solidFill>
                  <a:srgbClr val="C00000"/>
                </a:solidFill>
              </a:rPr>
              <a:t>Method </a:t>
            </a:r>
            <a:r>
              <a:rPr lang="en-US" altLang="en-US" sz="2000" i="1"/>
              <a:t>must </a:t>
            </a:r>
            <a:r>
              <a:rPr lang="en-US" altLang="en-US" sz="2000" b="1" i="1">
                <a:solidFill>
                  <a:srgbClr val="C00000"/>
                </a:solidFill>
              </a:rPr>
              <a:t>be void</a:t>
            </a:r>
          </a:p>
          <a:p>
            <a:pPr lvl="1"/>
            <a:r>
              <a:rPr lang="en-US" altLang="en-US" sz="2000"/>
              <a:t>Need not be Public but </a:t>
            </a:r>
            <a:r>
              <a:rPr lang="en-US" altLang="en-US" sz="2000" b="1">
                <a:solidFill>
                  <a:srgbClr val="00B0F0"/>
                </a:solidFill>
              </a:rPr>
              <a:t>should not be private</a:t>
            </a:r>
          </a:p>
          <a:p>
            <a:pPr lvl="1"/>
            <a:r>
              <a:rPr lang="en-US" altLang="en-US" sz="2000" b="1"/>
              <a:t>Can </a:t>
            </a:r>
            <a:r>
              <a:rPr lang="en-US" altLang="en-US" sz="2000"/>
              <a:t>declare custom display name with @DisplayName</a:t>
            </a:r>
          </a:p>
          <a:p>
            <a:pPr lvl="1"/>
            <a:r>
              <a:rPr lang="en-US" altLang="en-US" sz="2000"/>
              <a:t>Can also have following annotations</a:t>
            </a:r>
          </a:p>
          <a:p>
            <a:pPr lvl="2"/>
            <a:r>
              <a:rPr lang="en-US" altLang="en-US" sz="2000"/>
              <a:t>@RepeatedTest, @ParameterizedTest</a:t>
            </a:r>
          </a:p>
        </p:txBody>
      </p:sp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62889CAE-9A32-A073-EA54-4D5C71FDE0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Write Unit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3A2D6-BF16-C466-D9F9-549668DA8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FontTx/>
              <a:buNone/>
              <a:defRPr/>
            </a:pPr>
            <a:r>
              <a:rPr lang="en-IN" sz="2000" b="1" dirty="0">
                <a:solidFill>
                  <a:srgbClr val="7F0055"/>
                </a:solidFill>
              </a:rPr>
              <a:t>public</a:t>
            </a:r>
            <a:r>
              <a:rPr lang="en-IN" sz="2000" b="1" dirty="0">
                <a:solidFill>
                  <a:srgbClr val="000000"/>
                </a:solidFill>
              </a:rPr>
              <a:t> </a:t>
            </a:r>
            <a:r>
              <a:rPr lang="en-IN" sz="2000" b="1" dirty="0">
                <a:solidFill>
                  <a:srgbClr val="7F0055"/>
                </a:solidFill>
              </a:rPr>
              <a:t>class</a:t>
            </a:r>
            <a:r>
              <a:rPr lang="en-IN" sz="2000" b="1" dirty="0">
                <a:solidFill>
                  <a:srgbClr val="000000"/>
                </a:solidFill>
              </a:rPr>
              <a:t> Greeting {</a:t>
            </a:r>
          </a:p>
          <a:p>
            <a:pPr marL="457200" lvl="1" indent="0">
              <a:buFontTx/>
              <a:buNone/>
              <a:defRPr/>
            </a:pPr>
            <a:endParaRPr lang="en-IN" sz="2000" dirty="0"/>
          </a:p>
          <a:p>
            <a:pPr marL="457200" lvl="1" indent="0">
              <a:buFontTx/>
              <a:buNone/>
              <a:defRPr/>
            </a:pPr>
            <a:endParaRPr lang="en-IN" sz="2000" dirty="0"/>
          </a:p>
          <a:p>
            <a:pPr marL="457200" lvl="1" indent="0">
              <a:buFontTx/>
              <a:buNone/>
              <a:defRPr/>
            </a:pPr>
            <a:r>
              <a:rPr lang="en-IN" sz="2000" b="1" dirty="0">
                <a:solidFill>
                  <a:srgbClr val="7F0055"/>
                </a:solidFill>
              </a:rPr>
              <a:t>public</a:t>
            </a:r>
            <a:r>
              <a:rPr lang="en-IN" sz="2000" b="1" dirty="0">
                <a:solidFill>
                  <a:srgbClr val="000000"/>
                </a:solidFill>
              </a:rPr>
              <a:t> String </a:t>
            </a:r>
            <a:r>
              <a:rPr lang="en-IN" sz="2000" b="1" dirty="0" err="1">
                <a:solidFill>
                  <a:srgbClr val="000000"/>
                </a:solidFill>
              </a:rPr>
              <a:t>getMessage</a:t>
            </a:r>
            <a:r>
              <a:rPr lang="en-IN" sz="2000" b="1" dirty="0">
                <a:solidFill>
                  <a:srgbClr val="000000"/>
                </a:solidFill>
              </a:rPr>
              <a:t>() {</a:t>
            </a:r>
          </a:p>
          <a:p>
            <a:pPr marL="457200" lvl="1" indent="0">
              <a:buFontTx/>
              <a:buNone/>
              <a:defRPr/>
            </a:pPr>
            <a:endParaRPr lang="en-IN" sz="2000" dirty="0"/>
          </a:p>
          <a:p>
            <a:pPr marL="457200" lvl="1" indent="0">
              <a:buFontTx/>
              <a:buNone/>
              <a:defRPr/>
            </a:pPr>
            <a:r>
              <a:rPr lang="en-US" sz="2000" b="1" dirty="0">
                <a:solidFill>
                  <a:srgbClr val="7F0055"/>
                </a:solidFill>
              </a:rPr>
              <a:t>    return</a:t>
            </a:r>
            <a:r>
              <a:rPr lang="en-US" sz="2000" b="1" dirty="0">
                <a:solidFill>
                  <a:srgbClr val="000000"/>
                </a:solidFill>
              </a:rPr>
              <a:t> </a:t>
            </a:r>
            <a:r>
              <a:rPr lang="en-US" sz="2000" b="1" u="sng" dirty="0">
                <a:solidFill>
                  <a:srgbClr val="2A00FF"/>
                </a:solidFill>
              </a:rPr>
              <a:t>"Welcome to Java Programming"</a:t>
            </a:r>
            <a:r>
              <a:rPr lang="en-US" sz="2000" b="1" u="sng" dirty="0">
                <a:solidFill>
                  <a:srgbClr val="000000"/>
                </a:solidFill>
              </a:rPr>
              <a:t>;</a:t>
            </a:r>
          </a:p>
          <a:p>
            <a:pPr marL="457200" lvl="1" indent="0">
              <a:buFontTx/>
              <a:buNone/>
              <a:defRPr/>
            </a:pPr>
            <a:endParaRPr lang="en-US" sz="2000" b="1" u="sng" dirty="0">
              <a:solidFill>
                <a:srgbClr val="000000"/>
              </a:solidFill>
            </a:endParaRPr>
          </a:p>
          <a:p>
            <a:pPr marL="457200" lvl="1" indent="0">
              <a:buFontTx/>
              <a:buNone/>
              <a:defRPr/>
            </a:pPr>
            <a:r>
              <a:rPr lang="en-IN" sz="2000" dirty="0">
                <a:solidFill>
                  <a:srgbClr val="000000"/>
                </a:solidFill>
              </a:rPr>
              <a:t> }</a:t>
            </a:r>
          </a:p>
          <a:p>
            <a:pPr marL="457200" lvl="1" indent="0">
              <a:buFontTx/>
              <a:buNone/>
              <a:defRPr/>
            </a:pPr>
            <a:endParaRPr lang="en-IN" sz="2000" dirty="0">
              <a:solidFill>
                <a:srgbClr val="000000"/>
              </a:solidFill>
            </a:endParaRPr>
          </a:p>
          <a:p>
            <a:pPr marL="457200" lvl="1" indent="0">
              <a:buFontTx/>
              <a:buNone/>
              <a:defRPr/>
            </a:pPr>
            <a:r>
              <a:rPr lang="en-IN" sz="2000" dirty="0">
                <a:solidFill>
                  <a:srgbClr val="000000"/>
                </a:solidFill>
              </a:rPr>
              <a:t>}</a:t>
            </a:r>
          </a:p>
          <a:p>
            <a:pPr marL="914400" lvl="2" indent="0">
              <a:buFontTx/>
              <a:buNone/>
              <a:defRPr/>
            </a:pPr>
            <a:endParaRPr lang="en-US" sz="2000" b="1" dirty="0">
              <a:ea typeface="+mn-ea"/>
              <a:cs typeface="+mn-cs"/>
            </a:endParaRPr>
          </a:p>
        </p:txBody>
      </p:sp>
    </p:spTree>
  </p:cSld>
  <p:clrMapOvr>
    <a:masterClrMapping/>
  </p:clrMapOvr>
  <p:transition advClick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9AE09512-7AAA-8866-3DA0-D7A078A952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br>
              <a:rPr lang="en-US" altLang="en-US"/>
            </a:br>
            <a:r>
              <a:rPr lang="en-US" altLang="en-US"/>
              <a:t>Assertions &amp; Assumptions</a:t>
            </a:r>
            <a:br>
              <a:rPr lang="en-US" altLang="en-US"/>
            </a:br>
            <a:endParaRPr lang="en-IN" altLang="en-US"/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7619AFD0-4180-F8BF-B208-928A2BA1B2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 b="1"/>
              <a:t>Assertions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Static methods in </a:t>
            </a:r>
            <a:r>
              <a:rPr lang="en-US" altLang="en-US" sz="2000" b="1">
                <a:solidFill>
                  <a:srgbClr val="C00000"/>
                </a:solidFill>
              </a:rPr>
              <a:t>org.junit.jupiter.api.Assertions</a:t>
            </a:r>
            <a:r>
              <a:rPr lang="en-US" altLang="en-US" sz="2000"/>
              <a:t> class.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Used to support asserting conditions in a Test Method</a:t>
            </a:r>
          </a:p>
          <a:p>
            <a:pPr>
              <a:lnSpc>
                <a:spcPct val="150000"/>
              </a:lnSpc>
            </a:pPr>
            <a:r>
              <a:rPr lang="en-US" altLang="en-US" sz="2000" b="1"/>
              <a:t>Assumptions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Static methods in the </a:t>
            </a:r>
            <a:r>
              <a:rPr lang="en-US" altLang="en-US" sz="2000" b="1">
                <a:solidFill>
                  <a:srgbClr val="C00000"/>
                </a:solidFill>
              </a:rPr>
              <a:t>org.junit.jupiter.api.Assumptions </a:t>
            </a:r>
            <a:r>
              <a:rPr lang="en-US" altLang="en-US" sz="2000"/>
              <a:t>class.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Execute a test only when the specified condition met </a:t>
            </a:r>
          </a:p>
          <a:p>
            <a:pPr lvl="2">
              <a:lnSpc>
                <a:spcPct val="150000"/>
              </a:lnSpc>
            </a:pPr>
            <a:r>
              <a:rPr lang="en-US" altLang="en-US" sz="2000"/>
              <a:t>If not met Test will be aborted. </a:t>
            </a:r>
          </a:p>
          <a:p>
            <a:pPr lvl="2">
              <a:lnSpc>
                <a:spcPct val="150000"/>
              </a:lnSpc>
            </a:pPr>
            <a:r>
              <a:rPr lang="en-US" altLang="en-US" sz="2000"/>
              <a:t>The aborted test will not cause build failure. </a:t>
            </a:r>
          </a:p>
          <a:p>
            <a:pPr lvl="3">
              <a:lnSpc>
                <a:spcPct val="150000"/>
              </a:lnSpc>
            </a:pPr>
            <a:r>
              <a:rPr lang="en-US" altLang="en-US"/>
              <a:t>But Throws </a:t>
            </a:r>
            <a:r>
              <a:rPr lang="en-US" altLang="en-US" b="1" i="1"/>
              <a:t>TestAbortedException</a:t>
            </a:r>
            <a:r>
              <a:rPr lang="en-US" altLang="en-US"/>
              <a:t> and the test is skipped.</a:t>
            </a:r>
          </a:p>
        </p:txBody>
      </p:sp>
    </p:spTree>
  </p:cSld>
  <p:clrMapOvr>
    <a:masterClrMapping/>
  </p:clrMapOvr>
  <p:transition advClick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85367B0E-C325-5F20-C6EB-BE772D7C87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Assertions</a:t>
            </a:r>
            <a:endParaRPr lang="en-IN" altLang="en-US"/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082D1B80-9DEF-86B4-F5E6-51E038B6A5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 b="1"/>
              <a:t>assertEquals(expected, actual)	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Fails when expected does not equal actual</a:t>
            </a:r>
          </a:p>
          <a:p>
            <a:pPr>
              <a:lnSpc>
                <a:spcPct val="150000"/>
              </a:lnSpc>
            </a:pPr>
            <a:r>
              <a:rPr lang="en-US" altLang="en-US" sz="2000" b="1"/>
              <a:t>assertNull(actual)	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Fails when actual is not null</a:t>
            </a:r>
          </a:p>
          <a:p>
            <a:pPr>
              <a:lnSpc>
                <a:spcPct val="150000"/>
              </a:lnSpc>
            </a:pPr>
            <a:r>
              <a:rPr lang="en-US" altLang="en-US" sz="2000" b="1"/>
              <a:t>assertAll()	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Group many assertions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Every assertion is executed even if one or more of them fails</a:t>
            </a:r>
          </a:p>
          <a:p>
            <a:pPr>
              <a:lnSpc>
                <a:spcPct val="150000"/>
              </a:lnSpc>
            </a:pPr>
            <a:r>
              <a:rPr lang="en-US" altLang="en-US" sz="2000" b="1"/>
              <a:t>assertThrows()	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Class to be tested is expected to throw an exception</a:t>
            </a:r>
          </a:p>
          <a:p>
            <a:pPr>
              <a:lnSpc>
                <a:spcPct val="150000"/>
              </a:lnSpc>
            </a:pPr>
            <a:endParaRPr lang="en-IN" altLang="en-US"/>
          </a:p>
        </p:txBody>
      </p:sp>
    </p:spTree>
  </p:cSld>
  <p:clrMapOvr>
    <a:masterClrMapping/>
  </p:clrMapOvr>
  <p:transition advClick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EA665A32-98A2-21FD-93CC-B8B2196205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3838"/>
            <a:ext cx="8229600" cy="334962"/>
          </a:xfrm>
        </p:spPr>
        <p:txBody>
          <a:bodyPr/>
          <a:lstStyle/>
          <a:p>
            <a:r>
              <a:rPr lang="en-US" altLang="en-US"/>
              <a:t>Writing a Junit Test – Assert Equals </a:t>
            </a:r>
            <a:endParaRPr lang="en-IN" altLang="en-US"/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5FE815F4-7678-BA97-B79F-195BACC649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784225"/>
            <a:ext cx="8229600" cy="5287963"/>
          </a:xfrm>
        </p:spPr>
        <p:txBody>
          <a:bodyPr/>
          <a:lstStyle/>
          <a:p>
            <a:pPr marL="457200" lvl="1" indent="0">
              <a:buFontTx/>
              <a:buNone/>
            </a:pPr>
            <a:r>
              <a:rPr lang="en-IN" altLang="en-US" sz="1800" b="1">
                <a:solidFill>
                  <a:srgbClr val="7F0055"/>
                </a:solidFill>
              </a:rPr>
              <a:t>import</a:t>
            </a:r>
            <a:r>
              <a:rPr lang="en-IN" altLang="en-US" sz="1800" b="1">
                <a:solidFill>
                  <a:srgbClr val="000000"/>
                </a:solidFill>
              </a:rPr>
              <a:t> </a:t>
            </a:r>
            <a:r>
              <a:rPr lang="en-IN" altLang="en-US" sz="1800" b="1">
                <a:solidFill>
                  <a:srgbClr val="7F0055"/>
                </a:solidFill>
              </a:rPr>
              <a:t>static</a:t>
            </a:r>
            <a:r>
              <a:rPr lang="en-IN" altLang="en-US" sz="1800" b="1">
                <a:solidFill>
                  <a:srgbClr val="000000"/>
                </a:solidFill>
              </a:rPr>
              <a:t> org.junit.jupiter.api.</a:t>
            </a:r>
            <a:r>
              <a:rPr lang="en-IN" altLang="en-US" sz="1800" b="1">
                <a:solidFill>
                  <a:srgbClr val="7030A0"/>
                </a:solidFill>
              </a:rPr>
              <a:t>Assertions.*</a:t>
            </a:r>
            <a:r>
              <a:rPr lang="en-IN" altLang="en-US" sz="1800" b="1">
                <a:solidFill>
                  <a:srgbClr val="000000"/>
                </a:solidFill>
              </a:rPr>
              <a:t>;</a:t>
            </a:r>
          </a:p>
          <a:p>
            <a:pPr marL="457200" lvl="1" indent="0">
              <a:buFontTx/>
              <a:buNone/>
            </a:pPr>
            <a:r>
              <a:rPr lang="en-IN" altLang="en-US" sz="1800" b="1">
                <a:solidFill>
                  <a:srgbClr val="7F0055"/>
                </a:solidFill>
              </a:rPr>
              <a:t>import</a:t>
            </a:r>
            <a:r>
              <a:rPr lang="en-IN" altLang="en-US" sz="1800" b="1">
                <a:solidFill>
                  <a:srgbClr val="000000"/>
                </a:solidFill>
              </a:rPr>
              <a:t> org.junit.jupiter.api.Test;</a:t>
            </a:r>
          </a:p>
          <a:p>
            <a:pPr marL="457200" lvl="1" indent="0">
              <a:buFontTx/>
              <a:buNone/>
            </a:pPr>
            <a:endParaRPr lang="en-IN" altLang="en-US" sz="1800"/>
          </a:p>
          <a:p>
            <a:pPr marL="457200" lvl="1" indent="0">
              <a:buFontTx/>
              <a:buNone/>
            </a:pPr>
            <a:r>
              <a:rPr lang="en-IN" altLang="en-US" sz="1800" b="1">
                <a:solidFill>
                  <a:srgbClr val="7F0055"/>
                </a:solidFill>
              </a:rPr>
              <a:t>class</a:t>
            </a:r>
            <a:r>
              <a:rPr lang="en-IN" altLang="en-US" sz="1800" b="1">
                <a:solidFill>
                  <a:srgbClr val="000000"/>
                </a:solidFill>
              </a:rPr>
              <a:t> TestGreeting {</a:t>
            </a:r>
          </a:p>
          <a:p>
            <a:pPr marL="457200" lvl="1" indent="0">
              <a:buFontTx/>
              <a:buNone/>
            </a:pPr>
            <a:endParaRPr lang="en-IN" altLang="en-US" sz="1800"/>
          </a:p>
          <a:p>
            <a:pPr marL="457200" lvl="1" indent="0">
              <a:buFontTx/>
              <a:buNone/>
            </a:pPr>
            <a:r>
              <a:rPr lang="en-US" altLang="en-US" sz="1800" b="1">
                <a:solidFill>
                  <a:srgbClr val="7F0055"/>
                </a:solidFill>
              </a:rPr>
              <a:t>private</a:t>
            </a:r>
            <a:r>
              <a:rPr lang="en-US" altLang="en-US" sz="1800" b="1">
                <a:solidFill>
                  <a:srgbClr val="000000"/>
                </a:solidFill>
              </a:rPr>
              <a:t>  Greeting </a:t>
            </a:r>
            <a:r>
              <a:rPr lang="en-US" altLang="en-US" sz="1800" b="1">
                <a:solidFill>
                  <a:srgbClr val="0000C0"/>
                </a:solidFill>
              </a:rPr>
              <a:t>grtObj</a:t>
            </a:r>
            <a:r>
              <a:rPr lang="en-US" altLang="en-US" sz="1800" b="1">
                <a:solidFill>
                  <a:srgbClr val="000000"/>
                </a:solidFill>
              </a:rPr>
              <a:t> =  </a:t>
            </a:r>
            <a:r>
              <a:rPr lang="en-US" altLang="en-US" sz="1800" b="1">
                <a:solidFill>
                  <a:srgbClr val="7F0055"/>
                </a:solidFill>
              </a:rPr>
              <a:t>new</a:t>
            </a:r>
            <a:r>
              <a:rPr lang="en-US" altLang="en-US" sz="1800" b="1">
                <a:solidFill>
                  <a:srgbClr val="000000"/>
                </a:solidFill>
              </a:rPr>
              <a:t> Greeting();</a:t>
            </a:r>
          </a:p>
          <a:p>
            <a:pPr marL="457200" lvl="1" indent="0">
              <a:buFontTx/>
              <a:buNone/>
            </a:pPr>
            <a:endParaRPr lang="en-IN" altLang="en-US" sz="1800"/>
          </a:p>
          <a:p>
            <a:pPr marL="457200" lvl="1" indent="0">
              <a:buFontTx/>
              <a:buNone/>
            </a:pPr>
            <a:r>
              <a:rPr lang="en-IN" altLang="en-US" sz="1800" b="1">
                <a:solidFill>
                  <a:srgbClr val="C00000"/>
                </a:solidFill>
              </a:rPr>
              <a:t>@Test</a:t>
            </a:r>
          </a:p>
          <a:p>
            <a:pPr marL="457200" lvl="1" indent="0">
              <a:buFontTx/>
              <a:buNone/>
            </a:pPr>
            <a:r>
              <a:rPr lang="en-IN" altLang="en-US" sz="1800" b="1">
                <a:solidFill>
                  <a:srgbClr val="7F0055"/>
                </a:solidFill>
              </a:rPr>
              <a:t>void</a:t>
            </a:r>
            <a:r>
              <a:rPr lang="en-IN" altLang="en-US" sz="1800" b="1">
                <a:solidFill>
                  <a:srgbClr val="000000"/>
                </a:solidFill>
              </a:rPr>
              <a:t> testGetMessageLength() {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</a:rPr>
              <a:t>        </a:t>
            </a:r>
          </a:p>
          <a:p>
            <a:pPr marL="457200" lvl="1" indent="0">
              <a:buFontTx/>
              <a:buNone/>
            </a:pPr>
            <a:r>
              <a:rPr lang="en-US" altLang="en-US" sz="1800" b="1">
                <a:solidFill>
                  <a:srgbClr val="7F0055"/>
                </a:solidFill>
              </a:rPr>
              <a:t>    int</a:t>
            </a:r>
            <a:r>
              <a:rPr lang="en-US" altLang="en-US" sz="1800" b="1">
                <a:solidFill>
                  <a:srgbClr val="000000"/>
                </a:solidFill>
              </a:rPr>
              <a:t> </a:t>
            </a:r>
            <a:r>
              <a:rPr lang="en-US" altLang="en-US" sz="1800" b="1">
                <a:solidFill>
                  <a:srgbClr val="6A3E3E"/>
                </a:solidFill>
              </a:rPr>
              <a:t>actual</a:t>
            </a:r>
            <a:r>
              <a:rPr lang="en-US" altLang="en-US" sz="1800" b="1">
                <a:solidFill>
                  <a:srgbClr val="000000"/>
                </a:solidFill>
              </a:rPr>
              <a:t> = </a:t>
            </a:r>
            <a:r>
              <a:rPr lang="en-US" altLang="en-US" sz="1800" b="1">
                <a:solidFill>
                  <a:srgbClr val="0000C0"/>
                </a:solidFill>
              </a:rPr>
              <a:t>grtObj</a:t>
            </a:r>
            <a:r>
              <a:rPr lang="en-US" altLang="en-US" sz="1800" b="1">
                <a:solidFill>
                  <a:srgbClr val="000000"/>
                </a:solidFill>
              </a:rPr>
              <a:t>.getMessage().length();</a:t>
            </a:r>
          </a:p>
          <a:p>
            <a:pPr marL="457200" lvl="1" indent="0">
              <a:buFontTx/>
              <a:buNone/>
            </a:pPr>
            <a:endParaRPr lang="en-IN" altLang="en-US" sz="1800"/>
          </a:p>
          <a:p>
            <a:pPr marL="457200" lvl="1" indent="0">
              <a:buFontTx/>
              <a:buNone/>
            </a:pPr>
            <a:r>
              <a:rPr lang="en-IN" altLang="en-US" sz="1800" i="1">
                <a:solidFill>
                  <a:srgbClr val="000000"/>
                </a:solidFill>
              </a:rPr>
              <a:t>       </a:t>
            </a:r>
            <a:r>
              <a:rPr lang="en-IN" altLang="en-US" sz="1800" b="1" i="1">
                <a:solidFill>
                  <a:srgbClr val="7030A0"/>
                </a:solidFill>
              </a:rPr>
              <a:t>assertEquals(5,actual)</a:t>
            </a:r>
            <a:r>
              <a:rPr lang="en-IN" altLang="en-US" sz="1800" i="1">
                <a:solidFill>
                  <a:srgbClr val="000000"/>
                </a:solidFill>
              </a:rPr>
              <a:t>;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</a:rPr>
              <a:t>  }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</a:rPr>
              <a:t>}</a:t>
            </a:r>
          </a:p>
          <a:p>
            <a:pPr marL="457200" lvl="1" indent="0">
              <a:buFontTx/>
              <a:buNone/>
            </a:pPr>
            <a:endParaRPr lang="en-IN" altLang="en-US" sz="1800"/>
          </a:p>
        </p:txBody>
      </p:sp>
    </p:spTree>
  </p:cSld>
  <p:clrMapOvr>
    <a:masterClrMapping/>
  </p:clrMapOvr>
  <p:transition advClick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65A15B8A-0D96-D5D3-A21A-760E614B73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52164BDE-E71E-0B8E-F50F-0A8466E0D3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00050" lvl="1" indent="0">
              <a:buFontTx/>
              <a:buNone/>
            </a:pPr>
            <a:r>
              <a:rPr lang="en-IN" altLang="en-US" sz="2000" b="1">
                <a:solidFill>
                  <a:srgbClr val="7F0055"/>
                </a:solidFill>
              </a:rPr>
              <a:t>public</a:t>
            </a:r>
            <a:r>
              <a:rPr lang="en-IN" altLang="en-US" sz="2000" b="1">
                <a:solidFill>
                  <a:srgbClr val="000000"/>
                </a:solidFill>
              </a:rPr>
              <a:t> String findResult(</a:t>
            </a:r>
            <a:r>
              <a:rPr lang="en-IN" altLang="en-US" sz="2000" b="1">
                <a:solidFill>
                  <a:srgbClr val="7F0055"/>
                </a:solidFill>
              </a:rPr>
              <a:t>int</a:t>
            </a:r>
            <a:r>
              <a:rPr lang="en-IN" altLang="en-US" sz="2000" b="1">
                <a:solidFill>
                  <a:srgbClr val="000000"/>
                </a:solidFill>
              </a:rPr>
              <a:t> </a:t>
            </a:r>
            <a:r>
              <a:rPr lang="en-IN" altLang="en-US" sz="2000" b="1">
                <a:solidFill>
                  <a:srgbClr val="6A3E3E"/>
                </a:solidFill>
              </a:rPr>
              <a:t>mark</a:t>
            </a:r>
            <a:r>
              <a:rPr lang="en-IN" altLang="en-US" sz="2000" b="1">
                <a:solidFill>
                  <a:srgbClr val="000000"/>
                </a:solidFill>
              </a:rPr>
              <a:t>){</a:t>
            </a:r>
          </a:p>
          <a:p>
            <a:pPr marL="400050" lvl="1" indent="0">
              <a:buFontTx/>
              <a:buNone/>
            </a:pPr>
            <a:endParaRPr lang="en-IN" altLang="en-US" sz="2000"/>
          </a:p>
          <a:p>
            <a:pPr marL="40005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String </a:t>
            </a:r>
            <a:r>
              <a:rPr lang="en-IN" altLang="en-US" sz="2000">
                <a:solidFill>
                  <a:srgbClr val="6A3E3E"/>
                </a:solidFill>
              </a:rPr>
              <a:t>result</a:t>
            </a:r>
            <a:r>
              <a:rPr lang="en-IN" altLang="en-US" sz="2000">
                <a:solidFill>
                  <a:srgbClr val="000000"/>
                </a:solidFill>
              </a:rPr>
              <a:t> =</a:t>
            </a:r>
            <a:r>
              <a:rPr lang="en-IN" altLang="en-US" sz="2000" b="1">
                <a:solidFill>
                  <a:srgbClr val="7F0055"/>
                </a:solidFill>
              </a:rPr>
              <a:t>null</a:t>
            </a:r>
            <a:r>
              <a:rPr lang="en-IN" altLang="en-US" sz="2000" b="1">
                <a:solidFill>
                  <a:srgbClr val="000000"/>
                </a:solidFill>
              </a:rPr>
              <a:t>;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</a:t>
            </a:r>
            <a:r>
              <a:rPr lang="en-IN" altLang="en-US" sz="2000" b="1">
                <a:solidFill>
                  <a:srgbClr val="7F0055"/>
                </a:solidFill>
              </a:rPr>
              <a:t>if</a:t>
            </a:r>
            <a:r>
              <a:rPr lang="en-IN" altLang="en-US" sz="2000" b="1">
                <a:solidFill>
                  <a:srgbClr val="000000"/>
                </a:solidFill>
              </a:rPr>
              <a:t>(</a:t>
            </a:r>
            <a:r>
              <a:rPr lang="en-IN" altLang="en-US" sz="2000" b="1">
                <a:solidFill>
                  <a:srgbClr val="6A3E3E"/>
                </a:solidFill>
              </a:rPr>
              <a:t>mark</a:t>
            </a:r>
            <a:r>
              <a:rPr lang="en-IN" altLang="en-US" sz="2000" b="1">
                <a:solidFill>
                  <a:srgbClr val="000000"/>
                </a:solidFill>
              </a:rPr>
              <a:t>&lt;60)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{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       </a:t>
            </a:r>
            <a:r>
              <a:rPr lang="en-IN" altLang="en-US" sz="2000">
                <a:solidFill>
                  <a:srgbClr val="6A3E3E"/>
                </a:solidFill>
              </a:rPr>
              <a:t>result</a:t>
            </a:r>
            <a:r>
              <a:rPr lang="en-IN" altLang="en-US" sz="2000">
                <a:solidFill>
                  <a:srgbClr val="000000"/>
                </a:solidFill>
              </a:rPr>
              <a:t>=</a:t>
            </a:r>
            <a:r>
              <a:rPr lang="en-IN" altLang="en-US" sz="2000">
                <a:solidFill>
                  <a:srgbClr val="2A00FF"/>
                </a:solidFill>
              </a:rPr>
              <a:t>"B"</a:t>
            </a:r>
            <a:r>
              <a:rPr lang="en-IN" altLang="en-US" sz="2000">
                <a:solidFill>
                  <a:srgbClr val="000000"/>
                </a:solidFill>
              </a:rPr>
              <a:t>;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}</a:t>
            </a:r>
          </a:p>
          <a:p>
            <a:pPr marL="400050" lvl="1" indent="0">
              <a:buFontTx/>
              <a:buNone/>
            </a:pPr>
            <a:r>
              <a:rPr lang="de-DE" altLang="en-US" sz="2000">
                <a:solidFill>
                  <a:srgbClr val="000000"/>
                </a:solidFill>
              </a:rPr>
              <a:t>   </a:t>
            </a:r>
            <a:r>
              <a:rPr lang="de-DE" altLang="en-US" sz="2000" b="1">
                <a:solidFill>
                  <a:srgbClr val="7F0055"/>
                </a:solidFill>
              </a:rPr>
              <a:t>if</a:t>
            </a:r>
            <a:r>
              <a:rPr lang="de-DE" altLang="en-US" sz="2000" b="1">
                <a:solidFill>
                  <a:srgbClr val="000000"/>
                </a:solidFill>
              </a:rPr>
              <a:t>(</a:t>
            </a:r>
            <a:r>
              <a:rPr lang="de-DE" altLang="en-US" sz="2000" b="1">
                <a:solidFill>
                  <a:srgbClr val="6A3E3E"/>
                </a:solidFill>
              </a:rPr>
              <a:t>mark</a:t>
            </a:r>
            <a:r>
              <a:rPr lang="de-DE" altLang="en-US" sz="2000" b="1">
                <a:solidFill>
                  <a:srgbClr val="000000"/>
                </a:solidFill>
              </a:rPr>
              <a:t>&gt;60 &amp;&amp; </a:t>
            </a:r>
            <a:r>
              <a:rPr lang="de-DE" altLang="en-US" sz="2000" b="1">
                <a:solidFill>
                  <a:srgbClr val="6A3E3E"/>
                </a:solidFill>
              </a:rPr>
              <a:t>mark</a:t>
            </a:r>
            <a:r>
              <a:rPr lang="de-DE" altLang="en-US" sz="2000" b="1">
                <a:solidFill>
                  <a:srgbClr val="000000"/>
                </a:solidFill>
              </a:rPr>
              <a:t>&lt;80)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{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     </a:t>
            </a:r>
            <a:r>
              <a:rPr lang="en-IN" altLang="en-US" sz="2000">
                <a:solidFill>
                  <a:srgbClr val="6A3E3E"/>
                </a:solidFill>
              </a:rPr>
              <a:t>result</a:t>
            </a:r>
            <a:r>
              <a:rPr lang="en-IN" altLang="en-US" sz="2000">
                <a:solidFill>
                  <a:srgbClr val="000000"/>
                </a:solidFill>
              </a:rPr>
              <a:t> =</a:t>
            </a:r>
            <a:r>
              <a:rPr lang="en-IN" altLang="en-US" sz="2000">
                <a:solidFill>
                  <a:srgbClr val="2A00FF"/>
                </a:solidFill>
              </a:rPr>
              <a:t>"C"</a:t>
            </a:r>
            <a:r>
              <a:rPr lang="en-IN" altLang="en-US" sz="2000">
                <a:solidFill>
                  <a:srgbClr val="000000"/>
                </a:solidFill>
              </a:rPr>
              <a:t>;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}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</a:t>
            </a:r>
            <a:r>
              <a:rPr lang="en-IN" altLang="en-US" sz="2000" b="1">
                <a:solidFill>
                  <a:srgbClr val="7F0055"/>
                </a:solidFill>
              </a:rPr>
              <a:t>return</a:t>
            </a:r>
            <a:r>
              <a:rPr lang="en-IN" altLang="en-US" sz="2000" b="1">
                <a:solidFill>
                  <a:srgbClr val="000000"/>
                </a:solidFill>
              </a:rPr>
              <a:t> </a:t>
            </a:r>
            <a:r>
              <a:rPr lang="en-IN" altLang="en-US" sz="2000" b="1">
                <a:solidFill>
                  <a:srgbClr val="6A3E3E"/>
                </a:solidFill>
              </a:rPr>
              <a:t>result</a:t>
            </a:r>
            <a:r>
              <a:rPr lang="en-IN" altLang="en-US" sz="2000" b="1">
                <a:solidFill>
                  <a:srgbClr val="000000"/>
                </a:solidFill>
              </a:rPr>
              <a:t>;</a:t>
            </a:r>
          </a:p>
          <a:p>
            <a:pPr marL="400050" lvl="1" indent="0">
              <a:buFontTx/>
              <a:buNone/>
            </a:pPr>
            <a:endParaRPr lang="en-IN" altLang="en-US" sz="2000"/>
          </a:p>
          <a:p>
            <a:pPr marL="40005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}</a:t>
            </a:r>
            <a:endParaRPr lang="en-US" altLang="en-US" sz="2000"/>
          </a:p>
        </p:txBody>
      </p:sp>
    </p:spTree>
  </p:cSld>
  <p:clrMapOvr>
    <a:masterClrMapping/>
  </p:clrMapOvr>
  <p:transition advClick="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B1384C15-A988-3815-48A9-8F15A0C125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Writing a Junit Test – Assert Not Null</a:t>
            </a:r>
            <a:endParaRPr lang="en-IN" altLang="en-US"/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2088701F-6907-6A26-607D-92BE9E64CE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lnSpc>
                <a:spcPct val="150000"/>
              </a:lnSpc>
              <a:buFontTx/>
              <a:buNone/>
            </a:pPr>
            <a:r>
              <a:rPr lang="en-IN" altLang="en-US" sz="2000">
                <a:solidFill>
                  <a:srgbClr val="646464"/>
                </a:solidFill>
              </a:rPr>
              <a:t>@Test</a:t>
            </a:r>
          </a:p>
          <a:p>
            <a:pPr marL="457200" lvl="1" indent="0">
              <a:lnSpc>
                <a:spcPct val="150000"/>
              </a:lnSpc>
              <a:buFontTx/>
              <a:buNone/>
            </a:pPr>
            <a:r>
              <a:rPr lang="en-US" altLang="en-US" sz="2000">
                <a:solidFill>
                  <a:srgbClr val="646464"/>
                </a:solidFill>
              </a:rPr>
              <a:t>@DisplayName</a:t>
            </a:r>
            <a:r>
              <a:rPr lang="en-US" altLang="en-US" sz="2000">
                <a:solidFill>
                  <a:srgbClr val="000000"/>
                </a:solidFill>
              </a:rPr>
              <a:t>(</a:t>
            </a:r>
            <a:r>
              <a:rPr lang="en-US" altLang="en-US" sz="2000">
                <a:solidFill>
                  <a:srgbClr val="2A00FF"/>
                </a:solidFill>
              </a:rPr>
              <a:t>"Test for Method  Should Not Throw  Null Value"</a:t>
            </a:r>
            <a:r>
              <a:rPr lang="en-US" altLang="en-US" sz="2000">
                <a:solidFill>
                  <a:srgbClr val="000000"/>
                </a:solidFill>
              </a:rPr>
              <a:t>)</a:t>
            </a:r>
          </a:p>
          <a:p>
            <a:pPr marL="457200" lvl="1" indent="0">
              <a:lnSpc>
                <a:spcPct val="150000"/>
              </a:lnSpc>
              <a:buFontTx/>
              <a:buNone/>
            </a:pPr>
            <a:r>
              <a:rPr lang="en-IN" altLang="en-US" sz="2000" b="1">
                <a:solidFill>
                  <a:srgbClr val="7F0055"/>
                </a:solidFill>
              </a:rPr>
              <a:t>void</a:t>
            </a:r>
            <a:r>
              <a:rPr lang="en-IN" altLang="en-US" sz="2000" b="1">
                <a:solidFill>
                  <a:srgbClr val="000000"/>
                </a:solidFill>
              </a:rPr>
              <a:t> testFindResultForNotNull() {</a:t>
            </a:r>
          </a:p>
          <a:p>
            <a:pPr marL="457200" lvl="1" indent="0">
              <a:lnSpc>
                <a:spcPct val="150000"/>
              </a:lnSpc>
              <a:buFontTx/>
              <a:buNone/>
            </a:pPr>
            <a:endParaRPr lang="en-IN" altLang="en-US" sz="2000"/>
          </a:p>
          <a:p>
            <a:pPr marL="457200" lvl="1" indent="0">
              <a:lnSpc>
                <a:spcPct val="150000"/>
              </a:lnSpc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      String </a:t>
            </a:r>
            <a:r>
              <a:rPr lang="en-US" altLang="en-US" sz="2000">
                <a:solidFill>
                  <a:srgbClr val="6A3E3E"/>
                </a:solidFill>
              </a:rPr>
              <a:t>actual</a:t>
            </a:r>
            <a:r>
              <a:rPr lang="en-US" altLang="en-US" sz="2000">
                <a:solidFill>
                  <a:srgbClr val="000000"/>
                </a:solidFill>
              </a:rPr>
              <a:t> = </a:t>
            </a:r>
            <a:r>
              <a:rPr lang="en-US" altLang="en-US" sz="2000">
                <a:solidFill>
                  <a:srgbClr val="0000C0"/>
                </a:solidFill>
              </a:rPr>
              <a:t>grtObj</a:t>
            </a:r>
            <a:r>
              <a:rPr lang="en-US" altLang="en-US" sz="2000">
                <a:solidFill>
                  <a:srgbClr val="000000"/>
                </a:solidFill>
              </a:rPr>
              <a:t>.findResult(95);</a:t>
            </a:r>
          </a:p>
          <a:p>
            <a:pPr marL="457200" lvl="1" indent="0">
              <a:lnSpc>
                <a:spcPct val="150000"/>
              </a:lnSpc>
              <a:buFontTx/>
              <a:buNone/>
            </a:pPr>
            <a:r>
              <a:rPr lang="en-IN" altLang="en-US" sz="2000" i="1">
                <a:solidFill>
                  <a:srgbClr val="000000"/>
                </a:solidFill>
              </a:rPr>
              <a:t>      </a:t>
            </a:r>
          </a:p>
          <a:p>
            <a:pPr marL="457200" lvl="1" indent="0">
              <a:lnSpc>
                <a:spcPct val="150000"/>
              </a:lnSpc>
              <a:buFontTx/>
              <a:buNone/>
            </a:pPr>
            <a:r>
              <a:rPr lang="en-IN" altLang="en-US" sz="2000" b="1" i="1">
                <a:solidFill>
                  <a:srgbClr val="C00000"/>
                </a:solidFill>
              </a:rPr>
              <a:t>           assertNotNull(actual);</a:t>
            </a:r>
          </a:p>
          <a:p>
            <a:pPr marL="457200" lvl="1" indent="0">
              <a:lnSpc>
                <a:spcPct val="150000"/>
              </a:lnSpc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}</a:t>
            </a:r>
            <a:endParaRPr lang="en-IN" altLang="en-US" sz="2000"/>
          </a:p>
        </p:txBody>
      </p:sp>
    </p:spTree>
  </p:cSld>
  <p:clrMapOvr>
    <a:masterClrMapping/>
  </p:clrMapOvr>
  <p:transition advClick="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6F508964-AEF9-D062-9271-558112A9FF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Writing a Junit Test – Assert All</a:t>
            </a:r>
            <a:endParaRPr lang="en-IN" altLang="en-US"/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68085FAB-A7B1-DFFF-4520-410B35DB6E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646464"/>
                </a:solidFill>
              </a:rPr>
              <a:t>@Test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646464"/>
                </a:solidFill>
              </a:rPr>
              <a:t>@DisplayName</a:t>
            </a:r>
            <a:r>
              <a:rPr lang="en-IN" altLang="en-US" sz="2000">
                <a:solidFill>
                  <a:srgbClr val="000000"/>
                </a:solidFill>
              </a:rPr>
              <a:t>(</a:t>
            </a:r>
            <a:r>
              <a:rPr lang="en-IN" altLang="en-US" sz="2000">
                <a:solidFill>
                  <a:srgbClr val="2A00FF"/>
                </a:solidFill>
              </a:rPr>
              <a:t>"Using Assert All"</a:t>
            </a:r>
            <a:r>
              <a:rPr lang="en-IN" altLang="en-US" sz="2000">
                <a:solidFill>
                  <a:srgbClr val="000000"/>
                </a:solidFill>
              </a:rPr>
              <a:t>)</a:t>
            </a:r>
          </a:p>
          <a:p>
            <a:pPr marL="457200" lvl="1" indent="0">
              <a:buFontTx/>
              <a:buNone/>
            </a:pPr>
            <a:r>
              <a:rPr lang="en-IN" altLang="en-US" sz="2000" b="1">
                <a:solidFill>
                  <a:srgbClr val="7F0055"/>
                </a:solidFill>
              </a:rPr>
              <a:t>void</a:t>
            </a:r>
            <a:r>
              <a:rPr lang="en-IN" altLang="en-US" sz="2000" b="1">
                <a:solidFill>
                  <a:srgbClr val="000000"/>
                </a:solidFill>
              </a:rPr>
              <a:t> testFindUsingAssertAll() {</a:t>
            </a:r>
          </a:p>
          <a:p>
            <a:pPr marL="457200" lvl="1" indent="0">
              <a:buFontTx/>
              <a:buNone/>
            </a:pPr>
            <a:endParaRPr lang="en-IN" altLang="en-US" sz="2000"/>
          </a:p>
          <a:p>
            <a:pPr marL="0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    </a:t>
            </a:r>
            <a:r>
              <a:rPr lang="en-IN" altLang="en-US" sz="2000" i="1">
                <a:solidFill>
                  <a:srgbClr val="000000"/>
                </a:solidFill>
              </a:rPr>
              <a:t>assertAll(</a:t>
            </a:r>
            <a:r>
              <a:rPr lang="en-IN" altLang="en-US" sz="2000" i="1">
                <a:solidFill>
                  <a:srgbClr val="2A00FF"/>
                </a:solidFill>
              </a:rPr>
              <a:t>"Testing Cases"</a:t>
            </a:r>
            <a:r>
              <a:rPr lang="en-IN" altLang="en-US" sz="2000" i="1">
                <a:solidFill>
                  <a:srgbClr val="000000"/>
                </a:solidFill>
              </a:rPr>
              <a:t>,</a:t>
            </a:r>
          </a:p>
          <a:p>
            <a:pPr marL="0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      () -&gt; {</a:t>
            </a:r>
          </a:p>
          <a:p>
            <a:pPr marL="0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               String </a:t>
            </a:r>
            <a:r>
              <a:rPr lang="en-IN" altLang="en-US" sz="2000">
                <a:solidFill>
                  <a:srgbClr val="6A3E3E"/>
                </a:solidFill>
              </a:rPr>
              <a:t>expected</a:t>
            </a:r>
            <a:r>
              <a:rPr lang="en-IN" altLang="en-US" sz="2000">
                <a:solidFill>
                  <a:srgbClr val="000000"/>
                </a:solidFill>
              </a:rPr>
              <a:t> = </a:t>
            </a:r>
            <a:r>
              <a:rPr lang="en-IN" altLang="en-US" sz="2000">
                <a:solidFill>
                  <a:srgbClr val="0000C0"/>
                </a:solidFill>
              </a:rPr>
              <a:t>grtObj</a:t>
            </a:r>
            <a:r>
              <a:rPr lang="en-IN" altLang="en-US" sz="2000">
                <a:solidFill>
                  <a:srgbClr val="000000"/>
                </a:solidFill>
              </a:rPr>
              <a:t>.getMessage();</a:t>
            </a:r>
          </a:p>
          <a:p>
            <a:pPr marL="0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               </a:t>
            </a:r>
            <a:r>
              <a:rPr lang="en-IN" altLang="en-US" sz="2000" i="1">
                <a:solidFill>
                  <a:srgbClr val="000000"/>
                </a:solidFill>
              </a:rPr>
              <a:t>assertNotNull(</a:t>
            </a:r>
            <a:r>
              <a:rPr lang="en-IN" altLang="en-US" sz="2000" i="1">
                <a:solidFill>
                  <a:srgbClr val="6A3E3E"/>
                </a:solidFill>
              </a:rPr>
              <a:t>expected</a:t>
            </a:r>
            <a:r>
              <a:rPr lang="en-IN" altLang="en-US" sz="2000" i="1">
                <a:solidFill>
                  <a:srgbClr val="000000"/>
                </a:solidFill>
              </a:rPr>
              <a:t>);</a:t>
            </a:r>
          </a:p>
          <a:p>
            <a:pPr marL="0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             },</a:t>
            </a:r>
          </a:p>
          <a:p>
            <a:pPr marL="0" indent="0"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              () -&gt; </a:t>
            </a:r>
            <a:r>
              <a:rPr lang="en-US" altLang="en-US" sz="2000" i="1">
                <a:solidFill>
                  <a:srgbClr val="000000"/>
                </a:solidFill>
              </a:rPr>
              <a:t>assertEquals(</a:t>
            </a:r>
            <a:r>
              <a:rPr lang="en-US" altLang="en-US" sz="2000" i="1">
                <a:solidFill>
                  <a:srgbClr val="2A00FF"/>
                </a:solidFill>
              </a:rPr>
              <a:t>"Hello World"</a:t>
            </a:r>
            <a:r>
              <a:rPr lang="en-US" altLang="en-US" sz="2000" i="1">
                <a:solidFill>
                  <a:srgbClr val="000000"/>
                </a:solidFill>
              </a:rPr>
              <a:t>,</a:t>
            </a:r>
            <a:r>
              <a:rPr lang="en-US" altLang="en-US" sz="2000" i="1">
                <a:solidFill>
                  <a:srgbClr val="0000C0"/>
                </a:solidFill>
              </a:rPr>
              <a:t>grtObj</a:t>
            </a:r>
            <a:r>
              <a:rPr lang="en-US" altLang="en-US" sz="2000" i="1">
                <a:solidFill>
                  <a:srgbClr val="000000"/>
                </a:solidFill>
              </a:rPr>
              <a:t>.getMessage())</a:t>
            </a:r>
          </a:p>
          <a:p>
            <a:pPr marL="0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           );</a:t>
            </a:r>
          </a:p>
          <a:p>
            <a:pPr marL="0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     }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 }</a:t>
            </a:r>
          </a:p>
          <a:p>
            <a:pPr marL="457200" lvl="1" indent="0">
              <a:buFontTx/>
              <a:buNone/>
            </a:pPr>
            <a:endParaRPr lang="en-IN" altLang="en-US" sz="2000"/>
          </a:p>
        </p:txBody>
      </p:sp>
    </p:spTree>
  </p:cSld>
  <p:clrMapOvr>
    <a:masterClrMapping/>
  </p:clrMapOvr>
  <p:transition advClick="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9516A692-AB5B-1719-7166-A54C9B4DBF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</a:t>
            </a:r>
            <a:endParaRPr lang="en-IN" altLang="en-US"/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1CFF8BF7-FCB4-8F46-041F-13C9CF3A18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 </a:t>
            </a:r>
            <a:r>
              <a:rPr lang="en-US" altLang="en-US" sz="2000" b="1">
                <a:solidFill>
                  <a:srgbClr val="7F0055"/>
                </a:solidFill>
              </a:rPr>
              <a:t>public</a:t>
            </a:r>
            <a:r>
              <a:rPr lang="en-US" altLang="en-US" sz="2000" b="1">
                <a:solidFill>
                  <a:srgbClr val="000000"/>
                </a:solidFill>
              </a:rPr>
              <a:t> String checkUserId(String ... </a:t>
            </a:r>
            <a:r>
              <a:rPr lang="en-US" altLang="en-US" sz="2000" b="1">
                <a:solidFill>
                  <a:srgbClr val="6A3E3E"/>
                </a:solidFill>
              </a:rPr>
              <a:t>values</a:t>
            </a:r>
            <a:r>
              <a:rPr lang="en-US" altLang="en-US" sz="2000" b="1">
                <a:solidFill>
                  <a:srgbClr val="000000"/>
                </a:solidFill>
              </a:rPr>
              <a:t>)  {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String </a:t>
            </a:r>
            <a:r>
              <a:rPr lang="en-IN" altLang="en-US" sz="2000">
                <a:solidFill>
                  <a:srgbClr val="6A3E3E"/>
                </a:solidFill>
              </a:rPr>
              <a:t>message</a:t>
            </a:r>
            <a:r>
              <a:rPr lang="en-IN" altLang="en-US" sz="2000">
                <a:solidFill>
                  <a:srgbClr val="000000"/>
                </a:solidFill>
              </a:rPr>
              <a:t> = </a:t>
            </a:r>
            <a:r>
              <a:rPr lang="en-IN" altLang="en-US" sz="2000">
                <a:solidFill>
                  <a:srgbClr val="2A00FF"/>
                </a:solidFill>
              </a:rPr>
              <a:t>"invalid"</a:t>
            </a:r>
            <a:r>
              <a:rPr lang="en-IN" altLang="en-US" sz="2000">
                <a:solidFill>
                  <a:srgbClr val="000000"/>
                </a:solidFill>
              </a:rPr>
              <a:t>;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   </a:t>
            </a:r>
            <a:r>
              <a:rPr lang="en-IN" altLang="en-US" sz="2000" b="1">
                <a:solidFill>
                  <a:srgbClr val="7F0055"/>
                </a:solidFill>
              </a:rPr>
              <a:t>try</a:t>
            </a:r>
            <a:r>
              <a:rPr lang="en-IN" altLang="en-US" sz="2000" b="1">
                <a:solidFill>
                  <a:srgbClr val="000000"/>
                </a:solidFill>
              </a:rPr>
              <a:t> {</a:t>
            </a:r>
          </a:p>
          <a:p>
            <a:pPr marL="457200" lvl="1" indent="0">
              <a:buFontTx/>
              <a:buNone/>
            </a:pPr>
            <a:endParaRPr lang="en-IN" altLang="en-US" sz="2000"/>
          </a:p>
          <a:p>
            <a:pPr marL="457200" lvl="1" indent="0">
              <a:buFontTx/>
              <a:buNone/>
            </a:pPr>
            <a:r>
              <a:rPr lang="nn-NO" altLang="en-US" sz="2000">
                <a:solidFill>
                  <a:srgbClr val="000000"/>
                </a:solidFill>
              </a:rPr>
              <a:t>   </a:t>
            </a:r>
            <a:r>
              <a:rPr lang="nn-NO" altLang="en-US" sz="2000" b="1">
                <a:solidFill>
                  <a:srgbClr val="7F0055"/>
                </a:solidFill>
              </a:rPr>
              <a:t>int</a:t>
            </a:r>
            <a:r>
              <a:rPr lang="nn-NO" altLang="en-US" sz="2000" b="1">
                <a:solidFill>
                  <a:srgbClr val="000000"/>
                </a:solidFill>
              </a:rPr>
              <a:t> </a:t>
            </a:r>
            <a:r>
              <a:rPr lang="nn-NO" altLang="en-US" sz="2000" b="1">
                <a:solidFill>
                  <a:srgbClr val="6A3E3E"/>
                </a:solidFill>
              </a:rPr>
              <a:t>id</a:t>
            </a:r>
            <a:r>
              <a:rPr lang="nn-NO" altLang="en-US" sz="2000" b="1">
                <a:solidFill>
                  <a:srgbClr val="000000"/>
                </a:solidFill>
              </a:rPr>
              <a:t> = Integer.</a:t>
            </a:r>
            <a:r>
              <a:rPr lang="nn-NO" altLang="en-US" sz="2000" b="1" i="1">
                <a:solidFill>
                  <a:srgbClr val="000000"/>
                </a:solidFill>
              </a:rPr>
              <a:t>parseInt(</a:t>
            </a:r>
            <a:r>
              <a:rPr lang="nn-NO" altLang="en-US" sz="2000" b="1" i="1">
                <a:solidFill>
                  <a:srgbClr val="6A3E3E"/>
                </a:solidFill>
              </a:rPr>
              <a:t>values</a:t>
            </a:r>
            <a:r>
              <a:rPr lang="nn-NO" altLang="en-US" sz="2000" b="1" i="1">
                <a:solidFill>
                  <a:srgbClr val="000000"/>
                </a:solidFill>
              </a:rPr>
              <a:t>[1]);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   </a:t>
            </a:r>
            <a:r>
              <a:rPr lang="en-IN" altLang="en-US" sz="2000">
                <a:solidFill>
                  <a:srgbClr val="6A3E3E"/>
                </a:solidFill>
              </a:rPr>
              <a:t>message</a:t>
            </a:r>
            <a:r>
              <a:rPr lang="en-IN" altLang="en-US" sz="2000">
                <a:solidFill>
                  <a:srgbClr val="000000"/>
                </a:solidFill>
              </a:rPr>
              <a:t>=</a:t>
            </a:r>
            <a:r>
              <a:rPr lang="en-IN" altLang="en-US" sz="2000">
                <a:solidFill>
                  <a:srgbClr val="2A00FF"/>
                </a:solidFill>
              </a:rPr>
              <a:t>"valid"</a:t>
            </a:r>
            <a:r>
              <a:rPr lang="en-IN" altLang="en-US" sz="2000">
                <a:solidFill>
                  <a:srgbClr val="000000"/>
                </a:solidFill>
              </a:rPr>
              <a:t>;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} </a:t>
            </a:r>
            <a:r>
              <a:rPr lang="en-IN" altLang="en-US" sz="2000" b="1">
                <a:solidFill>
                  <a:srgbClr val="7F0055"/>
                </a:solidFill>
              </a:rPr>
              <a:t>catch</a:t>
            </a:r>
            <a:r>
              <a:rPr lang="en-IN" altLang="en-US" sz="2000" b="1">
                <a:solidFill>
                  <a:srgbClr val="000000"/>
                </a:solidFill>
              </a:rPr>
              <a:t> (NumberFormatException </a:t>
            </a:r>
            <a:r>
              <a:rPr lang="en-IN" altLang="en-US" sz="2000" b="1">
                <a:solidFill>
                  <a:srgbClr val="6A3E3E"/>
                </a:solidFill>
              </a:rPr>
              <a:t>e</a:t>
            </a:r>
            <a:r>
              <a:rPr lang="en-IN" altLang="en-US" sz="2000" b="1">
                <a:solidFill>
                  <a:srgbClr val="000000"/>
                </a:solidFill>
              </a:rPr>
              <a:t>) {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     System.</a:t>
            </a:r>
            <a:r>
              <a:rPr lang="en-IN" altLang="en-US" sz="2000" b="1" i="1">
                <a:solidFill>
                  <a:srgbClr val="0000C0"/>
                </a:solidFill>
              </a:rPr>
              <a:t>err</a:t>
            </a:r>
            <a:r>
              <a:rPr lang="en-IN" altLang="en-US" sz="2000" b="1" i="1">
                <a:solidFill>
                  <a:srgbClr val="000000"/>
                </a:solidFill>
              </a:rPr>
              <a:t>.println(</a:t>
            </a:r>
            <a:r>
              <a:rPr lang="en-IN" altLang="en-US" sz="2000" b="1" i="1">
                <a:solidFill>
                  <a:srgbClr val="6A3E3E"/>
                </a:solidFill>
              </a:rPr>
              <a:t>e</a:t>
            </a:r>
            <a:r>
              <a:rPr lang="en-IN" altLang="en-US" sz="2000" b="1" i="1">
                <a:solidFill>
                  <a:srgbClr val="000000"/>
                </a:solidFill>
              </a:rPr>
              <a:t>.getMessage());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}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 </a:t>
            </a:r>
            <a:r>
              <a:rPr lang="en-IN" altLang="en-US" sz="2000" b="1">
                <a:solidFill>
                  <a:srgbClr val="7F0055"/>
                </a:solidFill>
              </a:rPr>
              <a:t>return</a:t>
            </a:r>
            <a:r>
              <a:rPr lang="en-IN" altLang="en-US" sz="2000" b="1">
                <a:solidFill>
                  <a:srgbClr val="000000"/>
                </a:solidFill>
              </a:rPr>
              <a:t> </a:t>
            </a:r>
            <a:r>
              <a:rPr lang="en-IN" altLang="en-US" sz="2000" b="1">
                <a:solidFill>
                  <a:srgbClr val="6A3E3E"/>
                </a:solidFill>
              </a:rPr>
              <a:t>message</a:t>
            </a:r>
            <a:r>
              <a:rPr lang="en-IN" altLang="en-US" sz="2000" b="1">
                <a:solidFill>
                  <a:srgbClr val="000000"/>
                </a:solidFill>
              </a:rPr>
              <a:t>;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}</a:t>
            </a:r>
            <a:endParaRPr lang="en-IN" altLang="en-US" sz="2000"/>
          </a:p>
        </p:txBody>
      </p:sp>
    </p:spTree>
  </p:cSld>
  <p:clrMapOvr>
    <a:masterClrMapping/>
  </p:clrMapOvr>
  <p:transition advClick="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539FD1D1-23C9-77A3-5648-B68D372FCA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Writing a Junit Test – Assert Throws</a:t>
            </a:r>
            <a:endParaRPr lang="en-IN" altLang="en-US"/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D77E9C82-04EE-6A0C-19C6-C602F87232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lnSpc>
                <a:spcPct val="150000"/>
              </a:lnSpc>
              <a:buFontTx/>
              <a:buNone/>
            </a:pPr>
            <a:r>
              <a:rPr lang="en-IN" altLang="en-US" sz="2000">
                <a:solidFill>
                  <a:srgbClr val="646464"/>
                </a:solidFill>
              </a:rPr>
              <a:t>@Test</a:t>
            </a:r>
          </a:p>
          <a:p>
            <a:pPr marL="457200" lvl="1" indent="0">
              <a:lnSpc>
                <a:spcPct val="150000"/>
              </a:lnSpc>
              <a:buFontTx/>
              <a:buNone/>
            </a:pPr>
            <a:r>
              <a:rPr lang="en-US" altLang="en-US" sz="2000">
                <a:solidFill>
                  <a:srgbClr val="646464"/>
                </a:solidFill>
              </a:rPr>
              <a:t>@DisplayName</a:t>
            </a:r>
            <a:r>
              <a:rPr lang="en-US" altLang="en-US" sz="2000">
                <a:solidFill>
                  <a:srgbClr val="000000"/>
                </a:solidFill>
              </a:rPr>
              <a:t>(</a:t>
            </a:r>
            <a:r>
              <a:rPr lang="en-US" altLang="en-US" sz="2000">
                <a:solidFill>
                  <a:srgbClr val="2A00FF"/>
                </a:solidFill>
              </a:rPr>
              <a:t>"Test For Number Format Exception "</a:t>
            </a:r>
            <a:r>
              <a:rPr lang="en-US" altLang="en-US" sz="2000">
                <a:solidFill>
                  <a:srgbClr val="000000"/>
                </a:solidFill>
              </a:rPr>
              <a:t>)</a:t>
            </a:r>
          </a:p>
          <a:p>
            <a:pPr marL="457200" lvl="1" indent="0">
              <a:lnSpc>
                <a:spcPct val="150000"/>
              </a:lnSpc>
              <a:buFontTx/>
              <a:buNone/>
            </a:pPr>
            <a:r>
              <a:rPr lang="en-IN" altLang="en-US" sz="2000" b="1">
                <a:solidFill>
                  <a:srgbClr val="7F0055"/>
                </a:solidFill>
              </a:rPr>
              <a:t>void</a:t>
            </a:r>
            <a:r>
              <a:rPr lang="en-IN" altLang="en-US" sz="2000" b="1">
                <a:solidFill>
                  <a:srgbClr val="000000"/>
                </a:solidFill>
              </a:rPr>
              <a:t> testForException() {</a:t>
            </a:r>
          </a:p>
          <a:p>
            <a:pPr marL="457200" lvl="1" indent="0">
              <a:lnSpc>
                <a:spcPct val="150000"/>
              </a:lnSpc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Throwable </a:t>
            </a:r>
            <a:r>
              <a:rPr lang="en-IN" altLang="en-US" sz="2000" b="1">
                <a:solidFill>
                  <a:srgbClr val="00B050"/>
                </a:solidFill>
              </a:rPr>
              <a:t>exception</a:t>
            </a:r>
            <a:r>
              <a:rPr lang="en-IN" altLang="en-US" sz="2000">
                <a:solidFill>
                  <a:srgbClr val="000000"/>
                </a:solidFill>
              </a:rPr>
              <a:t> =</a:t>
            </a:r>
          </a:p>
          <a:p>
            <a:pPr marL="457200" lvl="1" indent="0">
              <a:lnSpc>
                <a:spcPct val="150000"/>
              </a:lnSpc>
              <a:buFontTx/>
              <a:buNone/>
            </a:pPr>
            <a:r>
              <a:rPr lang="en-IN" altLang="en-US" sz="2000" i="1">
                <a:solidFill>
                  <a:srgbClr val="000000"/>
                </a:solidFill>
              </a:rPr>
              <a:t>            </a:t>
            </a:r>
            <a:r>
              <a:rPr lang="en-IN" altLang="en-US" sz="2000" b="1" i="1">
                <a:solidFill>
                  <a:srgbClr val="C00000"/>
                </a:solidFill>
              </a:rPr>
              <a:t>assertThrows</a:t>
            </a:r>
            <a:r>
              <a:rPr lang="en-IN" altLang="en-US" sz="2000" i="1">
                <a:solidFill>
                  <a:srgbClr val="000000"/>
                </a:solidFill>
              </a:rPr>
              <a:t>(NumberFormatException.</a:t>
            </a:r>
            <a:r>
              <a:rPr lang="en-IN" altLang="en-US" sz="2000" b="1" i="1">
                <a:solidFill>
                  <a:srgbClr val="7F0055"/>
                </a:solidFill>
              </a:rPr>
              <a:t>class</a:t>
            </a:r>
            <a:r>
              <a:rPr lang="en-IN" altLang="en-US" sz="2000" b="1" i="1">
                <a:solidFill>
                  <a:srgbClr val="000000"/>
                </a:solidFill>
              </a:rPr>
              <a:t>, ()-&gt;                    		</a:t>
            </a:r>
            <a:r>
              <a:rPr lang="en-IN" altLang="en-US" sz="2000" b="1" i="1">
                <a:solidFill>
                  <a:srgbClr val="0000C0"/>
                </a:solidFill>
              </a:rPr>
              <a:t>grtObj</a:t>
            </a:r>
            <a:r>
              <a:rPr lang="en-IN" altLang="en-US" sz="2000" b="1" i="1">
                <a:solidFill>
                  <a:srgbClr val="000000"/>
                </a:solidFill>
              </a:rPr>
              <a:t>.checkUserId(</a:t>
            </a:r>
            <a:r>
              <a:rPr lang="en-IN" altLang="en-US" sz="2000" b="1" i="1">
                <a:solidFill>
                  <a:srgbClr val="2A00FF"/>
                </a:solidFill>
              </a:rPr>
              <a:t>"fourTwenty"</a:t>
            </a:r>
            <a:r>
              <a:rPr lang="en-IN" altLang="en-US" sz="2000" b="1" i="1">
                <a:solidFill>
                  <a:srgbClr val="000000"/>
                </a:solidFill>
              </a:rPr>
              <a:t>));</a:t>
            </a:r>
          </a:p>
          <a:p>
            <a:pPr marL="457200" lvl="1" indent="0">
              <a:lnSpc>
                <a:spcPct val="150000"/>
              </a:lnSpc>
              <a:buFontTx/>
              <a:buNone/>
            </a:pPr>
            <a:r>
              <a:rPr lang="en-US" altLang="en-US" sz="2000" i="1">
                <a:solidFill>
                  <a:srgbClr val="000000"/>
                </a:solidFill>
              </a:rPr>
              <a:t>	</a:t>
            </a:r>
            <a:r>
              <a:rPr lang="en-US" altLang="en-US" sz="2000" b="1" i="1">
                <a:solidFill>
                  <a:srgbClr val="7030A0"/>
                </a:solidFill>
              </a:rPr>
              <a:t>assertEquals</a:t>
            </a:r>
            <a:r>
              <a:rPr lang="en-US" altLang="en-US" sz="2000" i="1">
                <a:solidFill>
                  <a:srgbClr val="000000"/>
                </a:solidFill>
              </a:rPr>
              <a:t>(</a:t>
            </a:r>
            <a:r>
              <a:rPr lang="en-US" altLang="en-US" sz="2000" i="1">
                <a:solidFill>
                  <a:srgbClr val="2A00FF"/>
                </a:solidFill>
              </a:rPr>
              <a:t>"Invalid Number"</a:t>
            </a:r>
            <a:r>
              <a:rPr lang="en-US" altLang="en-US" sz="2000" i="1">
                <a:solidFill>
                  <a:srgbClr val="000000"/>
                </a:solidFill>
              </a:rPr>
              <a:t>,</a:t>
            </a:r>
            <a:r>
              <a:rPr lang="en-US" altLang="en-US" sz="2000" b="1" i="1">
                <a:solidFill>
                  <a:srgbClr val="00B050"/>
                </a:solidFill>
              </a:rPr>
              <a:t>exception</a:t>
            </a:r>
            <a:r>
              <a:rPr lang="en-US" altLang="en-US" sz="2000" i="1">
                <a:solidFill>
                  <a:srgbClr val="000000"/>
                </a:solidFill>
              </a:rPr>
              <a:t>.getMessage());</a:t>
            </a:r>
          </a:p>
          <a:p>
            <a:pPr marL="457200" lvl="1" indent="0">
              <a:lnSpc>
                <a:spcPct val="150000"/>
              </a:lnSpc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    }</a:t>
            </a:r>
          </a:p>
          <a:p>
            <a:pPr marL="0" indent="0">
              <a:buFontTx/>
              <a:buNone/>
            </a:pPr>
            <a:endParaRPr lang="en-IN" altLang="en-US"/>
          </a:p>
        </p:txBody>
      </p:sp>
    </p:spTree>
  </p:cSld>
  <p:clrMapOvr>
    <a:masterClrMapping/>
  </p:clrMapOvr>
  <p:transition advClick="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D2C44A7D-88BE-E2E3-A619-012627B831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/>
            </a:br>
            <a:r>
              <a:rPr lang="en-US" altLang="en-US"/>
              <a:t>Disabling Tests</a:t>
            </a:r>
            <a:br>
              <a:rPr lang="en-US" altLang="en-US"/>
            </a:br>
            <a:endParaRPr lang="en-IN" altLang="en-US"/>
          </a:p>
        </p:txBody>
      </p:sp>
      <p:sp>
        <p:nvSpPr>
          <p:cNvPr id="73731" name="Content Placeholder 2">
            <a:extLst>
              <a:ext uri="{FF2B5EF4-FFF2-40B4-BE49-F238E27FC236}">
                <a16:creationId xmlns:a16="http://schemas.microsoft.com/office/drawing/2014/main" id="{2CF7DCF1-F8F6-DA05-15BE-3AF4DC5817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000" dirty="0"/>
              <a:t>@Disabled </a:t>
            </a:r>
          </a:p>
          <a:p>
            <a:pPr lvl="1" indent="-342900">
              <a:defRPr/>
            </a:pPr>
            <a:r>
              <a:rPr lang="en-US" altLang="en-US" sz="2000" dirty="0"/>
              <a:t>Entire test classes or individual test methods can  be disabled</a:t>
            </a:r>
          </a:p>
          <a:p>
            <a:pPr lvl="1" indent="-342900">
              <a:defRPr/>
            </a:pPr>
            <a:r>
              <a:rPr lang="en-US" altLang="en-US" sz="2000" dirty="0"/>
              <a:t>Can also be declared without providing a reason</a:t>
            </a:r>
          </a:p>
          <a:p>
            <a:pPr lvl="1" indent="-342900">
              <a:defRPr/>
            </a:pPr>
            <a:endParaRPr lang="en-US" altLang="en-US" sz="2000" dirty="0"/>
          </a:p>
          <a:p>
            <a:pPr marL="400050" lvl="1" indent="0">
              <a:buFontTx/>
              <a:buNone/>
              <a:defRPr/>
            </a:pPr>
            <a:endParaRPr lang="en-US" altLang="en-US" sz="2000" dirty="0"/>
          </a:p>
          <a:p>
            <a:pPr marL="400050" lvl="1" indent="0">
              <a:buFontTx/>
              <a:buNone/>
              <a:defRPr/>
            </a:pPr>
            <a:r>
              <a:rPr lang="en-US" altLang="en-US" sz="2000" b="1" dirty="0"/>
              <a:t>@</a:t>
            </a:r>
            <a:r>
              <a:rPr lang="en-US" altLang="en-US" sz="2000" b="1" dirty="0">
                <a:solidFill>
                  <a:srgbClr val="FF0000"/>
                </a:solidFill>
              </a:rPr>
              <a:t>Disabled</a:t>
            </a:r>
            <a:r>
              <a:rPr lang="en-US" altLang="en-US" sz="2000" b="1" dirty="0"/>
              <a:t>("Disabled until bug #560 has been fixed")</a:t>
            </a:r>
          </a:p>
          <a:p>
            <a:pPr marL="400050" lvl="1" indent="0">
              <a:buFontTx/>
              <a:buNone/>
              <a:defRPr/>
            </a:pPr>
            <a:r>
              <a:rPr lang="en-US" altLang="en-US" sz="2000" dirty="0"/>
              <a:t>class </a:t>
            </a:r>
            <a:r>
              <a:rPr lang="en-US" altLang="en-US" sz="2000" dirty="0" err="1"/>
              <a:t>DisabledClassDemo</a:t>
            </a:r>
            <a:r>
              <a:rPr lang="en-US" altLang="en-US" sz="2000" dirty="0"/>
              <a:t> {</a:t>
            </a:r>
          </a:p>
          <a:p>
            <a:pPr marL="400050" lvl="1" indent="0">
              <a:buFontTx/>
              <a:buNone/>
              <a:defRPr/>
            </a:pPr>
            <a:endParaRPr lang="en-US" altLang="en-US" sz="2000" dirty="0"/>
          </a:p>
          <a:p>
            <a:pPr marL="400050" lvl="1" indent="0">
              <a:buFontTx/>
              <a:buNone/>
              <a:defRPr/>
            </a:pPr>
            <a:r>
              <a:rPr lang="en-US" altLang="en-US" sz="2000" dirty="0"/>
              <a:t>    @Test</a:t>
            </a:r>
          </a:p>
          <a:p>
            <a:pPr marL="400050" lvl="1" indent="0">
              <a:buFontTx/>
              <a:buNone/>
              <a:defRPr/>
            </a:pPr>
            <a:r>
              <a:rPr lang="en-US" altLang="en-US" sz="2000" dirty="0"/>
              <a:t>    void </a:t>
            </a:r>
            <a:r>
              <a:rPr lang="en-US" altLang="en-US" sz="2000" dirty="0" err="1"/>
              <a:t>testWillBeSkipped</a:t>
            </a:r>
            <a:r>
              <a:rPr lang="en-US" altLang="en-US" sz="2000" dirty="0"/>
              <a:t>() {</a:t>
            </a:r>
          </a:p>
          <a:p>
            <a:pPr marL="400050" lvl="1" indent="0">
              <a:buFontTx/>
              <a:buNone/>
              <a:defRPr/>
            </a:pPr>
            <a:r>
              <a:rPr lang="en-US" altLang="en-US" sz="2000" dirty="0"/>
              <a:t>    }</a:t>
            </a:r>
          </a:p>
          <a:p>
            <a:pPr marL="400050" lvl="1" indent="0">
              <a:buFontTx/>
              <a:buNone/>
              <a:defRPr/>
            </a:pPr>
            <a:endParaRPr lang="en-US" altLang="en-US" sz="2000" dirty="0"/>
          </a:p>
          <a:p>
            <a:pPr marL="400050" lvl="1" indent="0">
              <a:buFontTx/>
              <a:buNone/>
              <a:defRPr/>
            </a:pPr>
            <a:r>
              <a:rPr lang="en-US" altLang="en-US" sz="2000" dirty="0"/>
              <a:t>}</a:t>
            </a:r>
          </a:p>
        </p:txBody>
      </p:sp>
    </p:spTree>
  </p:cSld>
  <p:clrMapOvr>
    <a:masterClrMapping/>
  </p:clrMapOvr>
  <p:transition advClick="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D43F9BB9-24B7-B3B2-48F7-66BCB4CA2F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/>
            </a:br>
            <a:r>
              <a:rPr lang="en-US" altLang="en-US"/>
              <a:t>Lifecycle Method </a:t>
            </a:r>
            <a:br>
              <a:rPr lang="en-US" altLang="en-US"/>
            </a:br>
            <a:endParaRPr lang="en-IN" altLang="en-US"/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A4420901-31FF-D6B0-142C-496FC3AF52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 b="1"/>
              <a:t>@BeforeAll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Denotes that the annotated method should be executed once  before all Test Methods</a:t>
            </a:r>
          </a:p>
          <a:p>
            <a:pPr lvl="1">
              <a:lnSpc>
                <a:spcPct val="150000"/>
              </a:lnSpc>
            </a:pPr>
            <a:r>
              <a:rPr lang="en-US" altLang="en-US" sz="2000" b="1" i="1">
                <a:solidFill>
                  <a:srgbClr val="7030A0"/>
                </a:solidFill>
              </a:rPr>
              <a:t>Methods must be static </a:t>
            </a:r>
          </a:p>
          <a:p>
            <a:pPr lvl="1">
              <a:lnSpc>
                <a:spcPct val="150000"/>
              </a:lnSpc>
            </a:pPr>
            <a:r>
              <a:rPr lang="en-US" altLang="en-US" sz="2000">
                <a:solidFill>
                  <a:srgbClr val="333333"/>
                </a:solidFill>
              </a:rPr>
              <a:t>Used for expensive common operation like database connection or the startup of a server.</a:t>
            </a:r>
            <a:endParaRPr lang="en-US" altLang="en-US" sz="2000" b="1" i="1">
              <a:solidFill>
                <a:srgbClr val="7030A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en-US" sz="2000" b="1"/>
              <a:t>@AfterAll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Denotes that the annotated method should be executed after all the Test Methods</a:t>
            </a:r>
          </a:p>
          <a:p>
            <a:pPr lvl="1">
              <a:lnSpc>
                <a:spcPct val="150000"/>
              </a:lnSpc>
            </a:pPr>
            <a:r>
              <a:rPr lang="en-US" altLang="en-US" sz="2000" b="1" i="1">
                <a:solidFill>
                  <a:srgbClr val="7030A0"/>
                </a:solidFill>
              </a:rPr>
              <a:t>Methods must be static</a:t>
            </a:r>
            <a:r>
              <a:rPr lang="en-US" altLang="en-US" sz="2000" i="1"/>
              <a:t> </a:t>
            </a:r>
          </a:p>
          <a:p>
            <a:pPr lvl="1">
              <a:lnSpc>
                <a:spcPct val="150000"/>
              </a:lnSpc>
            </a:pPr>
            <a:endParaRPr lang="en-US" altLang="en-US" sz="2000" b="1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endParaRPr lang="en-US" altLang="en-US" sz="2000"/>
          </a:p>
        </p:txBody>
      </p:sp>
    </p:spTree>
  </p:cSld>
  <p:clrMapOvr>
    <a:masterClrMapping/>
  </p:clrMapOvr>
  <p:transition advClick="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37350F8D-05CB-73F8-8C7C-8E4363B215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Lifecycle Method</a:t>
            </a:r>
            <a:endParaRPr lang="en-IN" altLang="en-US"/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487A13ED-3CEE-3C67-568D-AE08753EF4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 b="1"/>
              <a:t>@BeforeEach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Denotes that the annotated method should be executed </a:t>
            </a:r>
            <a:r>
              <a:rPr lang="en-US" altLang="en-US" sz="2000" b="1">
                <a:solidFill>
                  <a:srgbClr val="C00000"/>
                </a:solidFill>
              </a:rPr>
              <a:t>before EACH Test Method</a:t>
            </a:r>
          </a:p>
          <a:p>
            <a:pPr lvl="1">
              <a:lnSpc>
                <a:spcPct val="150000"/>
              </a:lnSpc>
            </a:pPr>
            <a:r>
              <a:rPr lang="en-US" altLang="en-US" sz="2000">
                <a:solidFill>
                  <a:srgbClr val="333333"/>
                </a:solidFill>
              </a:rPr>
              <a:t>To execute some common code before running a test</a:t>
            </a:r>
            <a:endParaRPr lang="en-US" altLang="en-US" sz="2000" b="1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endParaRPr lang="en-US" altLang="en-US" sz="2000" b="1"/>
          </a:p>
          <a:p>
            <a:pPr>
              <a:lnSpc>
                <a:spcPct val="150000"/>
              </a:lnSpc>
            </a:pPr>
            <a:r>
              <a:rPr lang="en-US" altLang="en-US" sz="2000" b="1"/>
              <a:t>@AfterEach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Denotes that the annotated method should be executed</a:t>
            </a:r>
            <a:r>
              <a:rPr lang="en-US" altLang="en-US" sz="2000" b="1">
                <a:solidFill>
                  <a:srgbClr val="C00000"/>
                </a:solidFill>
              </a:rPr>
              <a:t> after EACH Test Method</a:t>
            </a:r>
          </a:p>
          <a:p>
            <a:pPr>
              <a:lnSpc>
                <a:spcPct val="150000"/>
              </a:lnSpc>
            </a:pPr>
            <a:endParaRPr lang="en-IN" altLang="en-US"/>
          </a:p>
        </p:txBody>
      </p:sp>
    </p:spTree>
  </p:cSld>
  <p:clrMapOvr>
    <a:masterClrMapping/>
  </p:clrMapOvr>
  <p:transition advClick="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DCE5F487-6079-279E-9379-789D7610B8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Writing a Junit Test Life Cycle Methods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7D8461FC-8939-04A9-44DD-21D5251B63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IN" altLang="en-US" sz="2000" b="1">
                <a:solidFill>
                  <a:srgbClr val="C00000"/>
                </a:solidFill>
              </a:rPr>
              <a:t>@BeforeEach</a:t>
            </a:r>
          </a:p>
          <a:p>
            <a:pPr marL="457200" lvl="1" indent="0">
              <a:buFontTx/>
              <a:buNone/>
            </a:pPr>
            <a:r>
              <a:rPr lang="en-US" altLang="en-US" sz="2000" b="1">
                <a:solidFill>
                  <a:srgbClr val="7F0055"/>
                </a:solidFill>
              </a:rPr>
              <a:t>void</a:t>
            </a:r>
            <a:r>
              <a:rPr lang="en-US" altLang="en-US" sz="2000">
                <a:solidFill>
                  <a:srgbClr val="000000"/>
                </a:solidFill>
              </a:rPr>
              <a:t> setUp</a:t>
            </a:r>
            <a:r>
              <a:rPr lang="en-US" altLang="en-US" sz="2000" b="1">
                <a:solidFill>
                  <a:srgbClr val="000000"/>
                </a:solidFill>
              </a:rPr>
              <a:t>(TestInfo </a:t>
            </a:r>
            <a:r>
              <a:rPr lang="en-US" altLang="en-US" sz="2000" b="1">
                <a:solidFill>
                  <a:srgbClr val="6A3E3E"/>
                </a:solidFill>
              </a:rPr>
              <a:t>info</a:t>
            </a:r>
            <a:r>
              <a:rPr lang="en-US" altLang="en-US" sz="2000" b="1">
                <a:solidFill>
                  <a:srgbClr val="000000"/>
                </a:solidFill>
              </a:rPr>
              <a:t>) </a:t>
            </a:r>
            <a:r>
              <a:rPr lang="en-US" altLang="en-US" sz="2000" b="1">
                <a:solidFill>
                  <a:srgbClr val="7F0055"/>
                </a:solidFill>
              </a:rPr>
              <a:t>throws</a:t>
            </a:r>
            <a:r>
              <a:rPr lang="en-US" altLang="en-US" sz="2000" b="1">
                <a:solidFill>
                  <a:srgbClr val="000000"/>
                </a:solidFill>
              </a:rPr>
              <a:t> Exception {</a:t>
            </a:r>
          </a:p>
          <a:p>
            <a:pPr marL="457200" lvl="1" indent="0">
              <a:buFontTx/>
              <a:buNone/>
            </a:pPr>
            <a:endParaRPr lang="en-IN" altLang="en-US" sz="2000"/>
          </a:p>
          <a:p>
            <a:pPr marL="457200" lvl="1" indent="0"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System.</a:t>
            </a:r>
            <a:r>
              <a:rPr lang="en-US" altLang="en-US" sz="2000" i="1">
                <a:solidFill>
                  <a:srgbClr val="0000C0"/>
                </a:solidFill>
              </a:rPr>
              <a:t>out</a:t>
            </a:r>
            <a:r>
              <a:rPr lang="en-US" altLang="en-US" sz="2000" i="1">
                <a:solidFill>
                  <a:srgbClr val="000000"/>
                </a:solidFill>
              </a:rPr>
              <a:t>.println(</a:t>
            </a:r>
            <a:r>
              <a:rPr lang="en-US" altLang="en-US" sz="2000" i="1">
                <a:solidFill>
                  <a:srgbClr val="2A00FF"/>
                </a:solidFill>
              </a:rPr>
              <a:t>"</a:t>
            </a:r>
            <a:r>
              <a:rPr lang="en-US" altLang="en-US" sz="2000" i="1"/>
              <a:t>BEFORE EACH Called on </a:t>
            </a:r>
            <a:r>
              <a:rPr lang="en-US" altLang="en-US" sz="2000" i="1">
                <a:solidFill>
                  <a:srgbClr val="2A00FF"/>
                </a:solidFill>
              </a:rPr>
              <a:t>"</a:t>
            </a:r>
            <a:r>
              <a:rPr lang="en-US" altLang="en-US" sz="2000" i="1">
                <a:solidFill>
                  <a:srgbClr val="000000"/>
                </a:solidFill>
              </a:rPr>
              <a:t>+          			</a:t>
            </a:r>
            <a:r>
              <a:rPr lang="en-US" altLang="en-US" sz="2000" i="1">
                <a:solidFill>
                  <a:srgbClr val="1206FA"/>
                </a:solidFill>
              </a:rPr>
              <a:t>info.getDisplayName</a:t>
            </a:r>
            <a:r>
              <a:rPr lang="en-US" altLang="en-US" sz="2000" i="1">
                <a:solidFill>
                  <a:srgbClr val="000000"/>
                </a:solidFill>
              </a:rPr>
              <a:t>());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}</a:t>
            </a:r>
          </a:p>
          <a:p>
            <a:pPr marL="457200" lvl="1" indent="0">
              <a:buFontTx/>
              <a:buNone/>
            </a:pPr>
            <a:endParaRPr lang="en-IN" altLang="en-US" sz="2000" b="1">
              <a:solidFill>
                <a:srgbClr val="C00000"/>
              </a:solidFill>
            </a:endParaRPr>
          </a:p>
          <a:p>
            <a:pPr marL="457200" lvl="1" indent="0">
              <a:buFontTx/>
              <a:buNone/>
            </a:pPr>
            <a:r>
              <a:rPr lang="en-IN" altLang="en-US" sz="2000" b="1">
                <a:solidFill>
                  <a:srgbClr val="C00000"/>
                </a:solidFill>
              </a:rPr>
              <a:t>@AfterEach</a:t>
            </a:r>
          </a:p>
          <a:p>
            <a:pPr marL="457200" lvl="1" indent="0">
              <a:buFontTx/>
              <a:buNone/>
            </a:pPr>
            <a:r>
              <a:rPr lang="en-US" altLang="en-US" sz="2000" b="1">
                <a:solidFill>
                  <a:srgbClr val="7F0055"/>
                </a:solidFill>
              </a:rPr>
              <a:t>void</a:t>
            </a:r>
            <a:r>
              <a:rPr lang="en-US" altLang="en-US" sz="2000" b="1">
                <a:solidFill>
                  <a:srgbClr val="000000"/>
                </a:solidFill>
              </a:rPr>
              <a:t> </a:t>
            </a:r>
            <a:r>
              <a:rPr lang="en-US" altLang="en-US" sz="2000">
                <a:solidFill>
                  <a:srgbClr val="000000"/>
                </a:solidFill>
              </a:rPr>
              <a:t>tearDown</a:t>
            </a:r>
            <a:r>
              <a:rPr lang="en-US" altLang="en-US" sz="2000" b="1">
                <a:solidFill>
                  <a:srgbClr val="000000"/>
                </a:solidFill>
              </a:rPr>
              <a:t>(TestInfo </a:t>
            </a:r>
            <a:r>
              <a:rPr lang="en-US" altLang="en-US" sz="2000" b="1">
                <a:solidFill>
                  <a:srgbClr val="6A3E3E"/>
                </a:solidFill>
              </a:rPr>
              <a:t>info</a:t>
            </a:r>
            <a:r>
              <a:rPr lang="en-US" altLang="en-US" sz="2000" b="1">
                <a:solidFill>
                  <a:srgbClr val="000000"/>
                </a:solidFill>
              </a:rPr>
              <a:t>) </a:t>
            </a:r>
            <a:r>
              <a:rPr lang="en-US" altLang="en-US" sz="2000" b="1">
                <a:solidFill>
                  <a:srgbClr val="7F0055"/>
                </a:solidFill>
              </a:rPr>
              <a:t>throws</a:t>
            </a:r>
            <a:r>
              <a:rPr lang="en-US" altLang="en-US" sz="2000" b="1">
                <a:solidFill>
                  <a:srgbClr val="000000"/>
                </a:solidFill>
              </a:rPr>
              <a:t> Exception {</a:t>
            </a:r>
          </a:p>
          <a:p>
            <a:pPr marL="457200" lvl="1" indent="0">
              <a:buFontTx/>
              <a:buNone/>
            </a:pPr>
            <a:endParaRPr lang="en-IN" altLang="en-US" sz="2000"/>
          </a:p>
          <a:p>
            <a:pPr marL="457200" lvl="1" indent="0"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System.</a:t>
            </a:r>
            <a:r>
              <a:rPr lang="en-US" altLang="en-US" sz="2000" b="1" i="1">
                <a:solidFill>
                  <a:srgbClr val="0000C0"/>
                </a:solidFill>
              </a:rPr>
              <a:t>out</a:t>
            </a:r>
            <a:r>
              <a:rPr lang="en-US" altLang="en-US" sz="2000" b="1" i="1">
                <a:solidFill>
                  <a:srgbClr val="000000"/>
                </a:solidFill>
              </a:rPr>
              <a:t>.println(</a:t>
            </a:r>
            <a:r>
              <a:rPr lang="en-US" altLang="en-US" sz="2000" b="1" i="1">
                <a:solidFill>
                  <a:srgbClr val="2A00FF"/>
                </a:solidFill>
              </a:rPr>
              <a:t>"</a:t>
            </a:r>
            <a:r>
              <a:rPr lang="en-US" altLang="en-US" sz="2000" i="1"/>
              <a:t>AFTER EACH Called on</a:t>
            </a:r>
            <a:r>
              <a:rPr lang="en-US" altLang="en-US" sz="2000" b="1" i="1">
                <a:solidFill>
                  <a:srgbClr val="2A00FF"/>
                </a:solidFill>
              </a:rPr>
              <a:t>"</a:t>
            </a:r>
            <a:r>
              <a:rPr lang="en-US" altLang="en-US" sz="2000" b="1" i="1">
                <a:solidFill>
                  <a:srgbClr val="000000"/>
                </a:solidFill>
              </a:rPr>
              <a:t>+                        			</a:t>
            </a:r>
            <a:r>
              <a:rPr lang="en-US" altLang="en-US" sz="2000" i="1">
                <a:solidFill>
                  <a:srgbClr val="1206FA"/>
                </a:solidFill>
              </a:rPr>
              <a:t>info.getDisplayName());</a:t>
            </a:r>
          </a:p>
          <a:p>
            <a:pPr marL="457200" lvl="1" indent="0">
              <a:buFontTx/>
              <a:buNone/>
            </a:pPr>
            <a:endParaRPr lang="en-IN" altLang="en-US" sz="2000"/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}</a:t>
            </a:r>
          </a:p>
          <a:p>
            <a:pPr marL="857250" lvl="2" indent="0">
              <a:buFontTx/>
              <a:buNone/>
            </a:pPr>
            <a:endParaRPr lang="en-IN" altLang="en-US" sz="2000"/>
          </a:p>
          <a:p>
            <a:pPr marL="1314450" lvl="3" indent="0">
              <a:lnSpc>
                <a:spcPct val="90000"/>
              </a:lnSpc>
              <a:buFontTx/>
              <a:buNone/>
            </a:pPr>
            <a:endParaRPr lang="en-US" altLang="en-US"/>
          </a:p>
        </p:txBody>
      </p:sp>
    </p:spTree>
  </p:cSld>
  <p:clrMapOvr>
    <a:masterClrMapping/>
  </p:clrMapOvr>
  <p:transition advClick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92AF0F5C-6B03-0366-A46B-9EDD1533D1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- Timeouts</a:t>
            </a:r>
            <a:endParaRPr lang="en-IN" altLang="en-US"/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F783DA3F-715D-6072-1145-554473F30A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endParaRPr lang="en-IN" altLang="en-US" sz="2000"/>
          </a:p>
          <a:p>
            <a:pPr marL="457200" lvl="1" indent="0">
              <a:buFontTx/>
              <a:buNone/>
            </a:pPr>
            <a:r>
              <a:rPr lang="en-IN" altLang="en-US" sz="2000"/>
              <a:t>    </a:t>
            </a:r>
            <a:r>
              <a:rPr lang="en-IN" altLang="en-US" sz="2000">
                <a:solidFill>
                  <a:srgbClr val="000000"/>
                </a:solidFill>
              </a:rPr>
              <a:t> </a:t>
            </a:r>
            <a:r>
              <a:rPr lang="en-IN" altLang="en-US" sz="2000" b="1">
                <a:solidFill>
                  <a:srgbClr val="7F0055"/>
                </a:solidFill>
              </a:rPr>
              <a:t>public</a:t>
            </a:r>
            <a:r>
              <a:rPr lang="en-IN" altLang="en-US" sz="2000" b="1">
                <a:solidFill>
                  <a:srgbClr val="000000"/>
                </a:solidFill>
              </a:rPr>
              <a:t> String getMessage() {</a:t>
            </a:r>
          </a:p>
          <a:p>
            <a:pPr marL="457200" lvl="1" indent="0">
              <a:buFontTx/>
              <a:buNone/>
            </a:pPr>
            <a:endParaRPr lang="en-IN" altLang="en-US" sz="2000"/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</a:t>
            </a:r>
            <a:r>
              <a:rPr lang="en-IN" altLang="en-US" sz="2000" b="1">
                <a:solidFill>
                  <a:srgbClr val="7F0055"/>
                </a:solidFill>
              </a:rPr>
              <a:t>try</a:t>
            </a:r>
            <a:r>
              <a:rPr lang="en-IN" altLang="en-US" sz="2000" b="1">
                <a:solidFill>
                  <a:srgbClr val="000000"/>
                </a:solidFill>
              </a:rPr>
              <a:t> {</a:t>
            </a:r>
          </a:p>
          <a:p>
            <a:pPr marL="457200" lvl="1" indent="0">
              <a:buFontTx/>
              <a:buNone/>
            </a:pPr>
            <a:endParaRPr lang="en-IN" altLang="en-US" sz="2000">
              <a:solidFill>
                <a:srgbClr val="000000"/>
              </a:solidFill>
            </a:endParaRP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Thread.</a:t>
            </a:r>
            <a:r>
              <a:rPr lang="en-IN" altLang="en-US" sz="2000" i="1">
                <a:solidFill>
                  <a:srgbClr val="000000"/>
                </a:solidFill>
              </a:rPr>
              <a:t>sleep(5000);</a:t>
            </a:r>
          </a:p>
          <a:p>
            <a:pPr marL="457200" lvl="1" indent="0">
              <a:buFontTx/>
              <a:buNone/>
            </a:pPr>
            <a:endParaRPr lang="en-IN" altLang="en-US" sz="2000" i="1">
              <a:solidFill>
                <a:srgbClr val="000000"/>
              </a:solidFill>
            </a:endParaRP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} </a:t>
            </a:r>
            <a:r>
              <a:rPr lang="en-IN" altLang="en-US" sz="2000" b="1">
                <a:solidFill>
                  <a:srgbClr val="7F0055"/>
                </a:solidFill>
              </a:rPr>
              <a:t>catch</a:t>
            </a:r>
            <a:r>
              <a:rPr lang="en-IN" altLang="en-US" sz="2000" b="1">
                <a:solidFill>
                  <a:srgbClr val="000000"/>
                </a:solidFill>
              </a:rPr>
              <a:t> (InterruptedException </a:t>
            </a:r>
            <a:r>
              <a:rPr lang="en-IN" altLang="en-US" sz="2000" b="1">
                <a:solidFill>
                  <a:srgbClr val="6A3E3E"/>
                </a:solidFill>
              </a:rPr>
              <a:t>e</a:t>
            </a:r>
            <a:r>
              <a:rPr lang="en-IN" altLang="en-US" sz="2000" b="1">
                <a:solidFill>
                  <a:srgbClr val="000000"/>
                </a:solidFill>
              </a:rPr>
              <a:t>) {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6A3E3E"/>
                </a:solidFill>
              </a:rPr>
              <a:t>       e</a:t>
            </a:r>
            <a:r>
              <a:rPr lang="en-IN" altLang="en-US" sz="2000">
                <a:solidFill>
                  <a:srgbClr val="000000"/>
                </a:solidFill>
              </a:rPr>
              <a:t>.printStackTrace();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}</a:t>
            </a:r>
          </a:p>
          <a:p>
            <a:pPr marL="457200" lvl="1" indent="0">
              <a:buFontTx/>
              <a:buNone/>
            </a:pPr>
            <a:r>
              <a:rPr lang="en-US" altLang="en-US" sz="2000" b="1">
                <a:solidFill>
                  <a:srgbClr val="7F0055"/>
                </a:solidFill>
              </a:rPr>
              <a:t>    return</a:t>
            </a:r>
            <a:r>
              <a:rPr lang="en-US" altLang="en-US" sz="2000" b="1">
                <a:solidFill>
                  <a:srgbClr val="000000"/>
                </a:solidFill>
              </a:rPr>
              <a:t>  </a:t>
            </a:r>
            <a:r>
              <a:rPr lang="en-US" altLang="en-US" sz="2000" b="1">
                <a:solidFill>
                  <a:srgbClr val="2A00FF"/>
                </a:solidFill>
              </a:rPr>
              <a:t>"Welcome to Java Programming"</a:t>
            </a:r>
            <a:r>
              <a:rPr lang="en-US" altLang="en-US" sz="2000" b="1">
                <a:solidFill>
                  <a:srgbClr val="000000"/>
                </a:solidFill>
              </a:rPr>
              <a:t>;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}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</a:t>
            </a:r>
            <a:endParaRPr lang="en-IN" altLang="en-US" sz="2000"/>
          </a:p>
        </p:txBody>
      </p:sp>
    </p:spTree>
  </p:cSld>
  <p:clrMapOvr>
    <a:masterClrMapping/>
  </p:clrMapOvr>
  <p:transition advClick="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2AD4F9A2-A0F8-54E9-4009-B917AE1CA2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Test Timeouts</a:t>
            </a:r>
            <a:endParaRPr lang="en-IN" altLang="en-US"/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8E399A64-0993-9F49-EFA5-FC097EE993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IN" altLang="en-US" sz="1800" b="1">
                <a:solidFill>
                  <a:srgbClr val="7F0055"/>
                </a:solidFill>
              </a:rPr>
              <a:t>import</a:t>
            </a:r>
            <a:r>
              <a:rPr lang="en-IN" altLang="en-US" sz="1800" b="1">
                <a:solidFill>
                  <a:srgbClr val="000000"/>
                </a:solidFill>
              </a:rPr>
              <a:t> </a:t>
            </a:r>
            <a:r>
              <a:rPr lang="en-IN" altLang="en-US" sz="1800" b="1">
                <a:solidFill>
                  <a:srgbClr val="7F0055"/>
                </a:solidFill>
              </a:rPr>
              <a:t>static</a:t>
            </a:r>
            <a:r>
              <a:rPr lang="en-IN" altLang="en-US" sz="1800" b="1">
                <a:solidFill>
                  <a:srgbClr val="000000"/>
                </a:solidFill>
              </a:rPr>
              <a:t> java.time.Duration.</a:t>
            </a:r>
            <a:r>
              <a:rPr lang="en-IN" altLang="en-US" sz="1800" b="1" i="1">
                <a:solidFill>
                  <a:srgbClr val="000000"/>
                </a:solidFill>
              </a:rPr>
              <a:t>ofMillis;</a:t>
            </a:r>
          </a:p>
          <a:p>
            <a:pPr marL="0" indent="0">
              <a:buFontTx/>
              <a:buNone/>
            </a:pPr>
            <a:r>
              <a:rPr lang="en-IN" altLang="en-US" sz="1800" b="1">
                <a:solidFill>
                  <a:srgbClr val="7F0055"/>
                </a:solidFill>
              </a:rPr>
              <a:t>import</a:t>
            </a:r>
            <a:r>
              <a:rPr lang="en-IN" altLang="en-US" sz="1800" b="1">
                <a:solidFill>
                  <a:srgbClr val="000000"/>
                </a:solidFill>
              </a:rPr>
              <a:t> </a:t>
            </a:r>
            <a:r>
              <a:rPr lang="en-IN" altLang="en-US" sz="1800" b="1">
                <a:solidFill>
                  <a:srgbClr val="7F0055"/>
                </a:solidFill>
              </a:rPr>
              <a:t>static</a:t>
            </a:r>
            <a:r>
              <a:rPr lang="en-IN" altLang="en-US" sz="1800" b="1">
                <a:solidFill>
                  <a:srgbClr val="000000"/>
                </a:solidFill>
              </a:rPr>
              <a:t> org.junit.jupiter.api.Assertions.</a:t>
            </a:r>
            <a:r>
              <a:rPr lang="en-IN" altLang="en-US" sz="1800" b="1" i="1">
                <a:solidFill>
                  <a:srgbClr val="000000"/>
                </a:solidFill>
              </a:rPr>
              <a:t>assertTimeout;</a:t>
            </a:r>
          </a:p>
          <a:p>
            <a:pPr marL="400050" lvl="1" indent="0">
              <a:lnSpc>
                <a:spcPct val="150000"/>
              </a:lnSpc>
              <a:buFontTx/>
              <a:buNone/>
            </a:pPr>
            <a:endParaRPr lang="en-IN" altLang="en-US" sz="2000">
              <a:solidFill>
                <a:srgbClr val="646464"/>
              </a:solidFill>
            </a:endParaRPr>
          </a:p>
          <a:p>
            <a:pPr marL="400050" lvl="1" indent="0">
              <a:lnSpc>
                <a:spcPct val="150000"/>
              </a:lnSpc>
              <a:buFontTx/>
              <a:buNone/>
            </a:pPr>
            <a:r>
              <a:rPr lang="en-IN" altLang="en-US" sz="2000">
                <a:solidFill>
                  <a:srgbClr val="646464"/>
                </a:solidFill>
              </a:rPr>
              <a:t>@Test</a:t>
            </a:r>
          </a:p>
          <a:p>
            <a:pPr marL="400050" lvl="1" indent="0">
              <a:lnSpc>
                <a:spcPct val="150000"/>
              </a:lnSpc>
              <a:buFontTx/>
              <a:buNone/>
            </a:pPr>
            <a:r>
              <a:rPr lang="en-IN" altLang="en-US" sz="2000">
                <a:solidFill>
                  <a:srgbClr val="646464"/>
                </a:solidFill>
              </a:rPr>
              <a:t>@DisplayName</a:t>
            </a:r>
            <a:r>
              <a:rPr lang="en-IN" altLang="en-US" sz="2000">
                <a:solidFill>
                  <a:srgbClr val="000000"/>
                </a:solidFill>
              </a:rPr>
              <a:t>(</a:t>
            </a:r>
            <a:r>
              <a:rPr lang="en-IN" altLang="en-US" sz="2000">
                <a:solidFill>
                  <a:srgbClr val="2A00FF"/>
                </a:solidFill>
              </a:rPr>
              <a:t>"Testing For Timeout"</a:t>
            </a:r>
            <a:r>
              <a:rPr lang="en-IN" altLang="en-US" sz="2000">
                <a:solidFill>
                  <a:srgbClr val="000000"/>
                </a:solidFill>
              </a:rPr>
              <a:t>)</a:t>
            </a:r>
          </a:p>
          <a:p>
            <a:pPr marL="400050" lvl="1" indent="0">
              <a:lnSpc>
                <a:spcPct val="150000"/>
              </a:lnSpc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 </a:t>
            </a:r>
            <a:r>
              <a:rPr lang="en-IN" altLang="en-US" sz="2000" b="1">
                <a:solidFill>
                  <a:srgbClr val="7F0055"/>
                </a:solidFill>
              </a:rPr>
              <a:t>void</a:t>
            </a:r>
            <a:r>
              <a:rPr lang="en-IN" altLang="en-US" sz="2000" b="1">
                <a:solidFill>
                  <a:srgbClr val="000000"/>
                </a:solidFill>
              </a:rPr>
              <a:t> timeoutNotExceededWithMethod() {</a:t>
            </a:r>
          </a:p>
          <a:p>
            <a:pPr marL="400050" lvl="1" indent="0">
              <a:lnSpc>
                <a:spcPct val="150000"/>
              </a:lnSpc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      String </a:t>
            </a:r>
            <a:r>
              <a:rPr lang="en-US" altLang="en-US" sz="2000">
                <a:solidFill>
                  <a:srgbClr val="6A3E3E"/>
                </a:solidFill>
              </a:rPr>
              <a:t>actualGreeting</a:t>
            </a:r>
            <a:r>
              <a:rPr lang="en-US" altLang="en-US" sz="2000">
                <a:solidFill>
                  <a:srgbClr val="000000"/>
                </a:solidFill>
              </a:rPr>
              <a:t> = </a:t>
            </a:r>
            <a:r>
              <a:rPr lang="en-US" altLang="en-US" sz="2000" i="1">
                <a:solidFill>
                  <a:srgbClr val="C00000"/>
                </a:solidFill>
              </a:rPr>
              <a:t>assertTimeout</a:t>
            </a:r>
            <a:r>
              <a:rPr lang="en-US" altLang="en-US" sz="2000" i="1">
                <a:solidFill>
                  <a:srgbClr val="000000"/>
                </a:solidFill>
              </a:rPr>
              <a:t>(</a:t>
            </a:r>
            <a:r>
              <a:rPr lang="en-US" altLang="en-US" sz="2000" b="1" i="1">
                <a:solidFill>
                  <a:srgbClr val="7030A0"/>
                </a:solidFill>
              </a:rPr>
              <a:t>ofMillis</a:t>
            </a:r>
            <a:r>
              <a:rPr lang="en-US" altLang="en-US" sz="2000" i="1">
                <a:solidFill>
                  <a:srgbClr val="000000"/>
                </a:solidFill>
              </a:rPr>
              <a:t>(1000),</a:t>
            </a:r>
            <a:r>
              <a:rPr lang="en-US" altLang="en-US" sz="2000" b="1" i="1">
                <a:solidFill>
                  <a:srgbClr val="000000"/>
                </a:solidFill>
              </a:rPr>
              <a:t>()</a:t>
            </a:r>
            <a:r>
              <a:rPr lang="en-US" altLang="en-US" sz="2000" i="1">
                <a:solidFill>
                  <a:srgbClr val="000000"/>
                </a:solidFill>
              </a:rPr>
              <a:t> -&gt;                            			</a:t>
            </a:r>
            <a:r>
              <a:rPr lang="en-US" altLang="en-US" sz="2000" i="1">
                <a:solidFill>
                  <a:srgbClr val="0000C0"/>
                </a:solidFill>
              </a:rPr>
              <a:t>grtObj</a:t>
            </a:r>
            <a:r>
              <a:rPr lang="en-US" altLang="en-US" sz="2000" i="1">
                <a:solidFill>
                  <a:srgbClr val="000000"/>
                </a:solidFill>
              </a:rPr>
              <a:t>.getMessage());</a:t>
            </a:r>
          </a:p>
          <a:p>
            <a:pPr marL="400050" lvl="1" indent="0">
              <a:lnSpc>
                <a:spcPct val="150000"/>
              </a:lnSpc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     </a:t>
            </a:r>
            <a:r>
              <a:rPr lang="en-IN" altLang="en-US" sz="2000" i="1">
                <a:solidFill>
                  <a:srgbClr val="000000"/>
                </a:solidFill>
              </a:rPr>
              <a:t>assertEquals(</a:t>
            </a:r>
            <a:r>
              <a:rPr lang="en-IN" altLang="en-US" sz="2000" i="1">
                <a:solidFill>
                  <a:srgbClr val="2A00FF"/>
                </a:solidFill>
              </a:rPr>
              <a:t>"Hello, World!"</a:t>
            </a:r>
            <a:r>
              <a:rPr lang="en-IN" altLang="en-US" sz="2000" i="1">
                <a:solidFill>
                  <a:srgbClr val="000000"/>
                </a:solidFill>
              </a:rPr>
              <a:t>, </a:t>
            </a:r>
            <a:r>
              <a:rPr lang="en-IN" altLang="en-US" sz="2000" i="1">
                <a:solidFill>
                  <a:srgbClr val="6A3E3E"/>
                </a:solidFill>
              </a:rPr>
              <a:t>actualGreeting</a:t>
            </a:r>
            <a:r>
              <a:rPr lang="en-IN" altLang="en-US" sz="2000" i="1">
                <a:solidFill>
                  <a:srgbClr val="000000"/>
                </a:solidFill>
              </a:rPr>
              <a:t>);</a:t>
            </a:r>
          </a:p>
          <a:p>
            <a:pPr marL="400050" lvl="1" indent="0">
              <a:lnSpc>
                <a:spcPct val="150000"/>
              </a:lnSpc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 }</a:t>
            </a:r>
          </a:p>
          <a:p>
            <a:pPr marL="400050" lvl="1" indent="0">
              <a:lnSpc>
                <a:spcPct val="150000"/>
              </a:lnSpc>
              <a:buFontTx/>
              <a:buNone/>
            </a:pPr>
            <a:endParaRPr lang="en-IN" altLang="en-US" sz="2000"/>
          </a:p>
        </p:txBody>
      </p:sp>
    </p:spTree>
  </p:cSld>
  <p:clrMapOvr>
    <a:masterClrMapping/>
  </p:clrMapOvr>
  <p:transition advClick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17BA037D-2E31-6B33-9248-01B317B5FB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/>
            </a:br>
            <a:r>
              <a:rPr lang="en-US" altLang="en-US"/>
              <a:t>ParameterizedTest</a:t>
            </a:r>
            <a:br>
              <a:rPr lang="en-US" altLang="en-US"/>
            </a:br>
            <a:endParaRPr lang="en-IN" altLang="en-US"/>
          </a:p>
        </p:txBody>
      </p:sp>
      <p:sp>
        <p:nvSpPr>
          <p:cNvPr id="76803" name="Content Placeholder 2">
            <a:extLst>
              <a:ext uri="{FF2B5EF4-FFF2-40B4-BE49-F238E27FC236}">
                <a16:creationId xmlns:a16="http://schemas.microsoft.com/office/drawing/2014/main" id="{68FEDFEE-B4CC-1149-DB1A-BE80205C95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en-US" sz="2000" b="1" dirty="0"/>
              <a:t>@ParameterizedTest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en-US" sz="2000" dirty="0"/>
              <a:t>Denotes that a method is a parameterized test. 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en-US" sz="2000" dirty="0"/>
              <a:t>When executing the parameterized test method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en-US" sz="2000" dirty="0"/>
              <a:t>Each invocation will be passed with arguments and reported separately.</a:t>
            </a:r>
          </a:p>
          <a:p>
            <a:pPr>
              <a:lnSpc>
                <a:spcPct val="150000"/>
              </a:lnSpc>
              <a:defRPr/>
            </a:pPr>
            <a:endParaRPr lang="en-US" sz="1200" b="1" dirty="0">
              <a:solidFill>
                <a:srgbClr val="333333"/>
              </a:solidFill>
              <a:latin typeface="raleway"/>
            </a:endParaRPr>
          </a:p>
          <a:p>
            <a:pPr>
              <a:lnSpc>
                <a:spcPct val="150000"/>
              </a:lnSpc>
              <a:defRPr/>
            </a:pPr>
            <a:r>
              <a:rPr lang="en-US" sz="1200" b="1" dirty="0">
                <a:solidFill>
                  <a:srgbClr val="333333"/>
                </a:solidFill>
                <a:latin typeface="raleway"/>
              </a:rPr>
              <a:t> </a:t>
            </a:r>
            <a:r>
              <a:rPr lang="en-US" sz="2000" b="1" dirty="0"/>
              <a:t>@ValueSource 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/>
              <a:t>Used to pass an array of values to the test method.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/>
              <a:t>Values can be </a:t>
            </a:r>
            <a:r>
              <a:rPr lang="en-US" sz="2000" dirty="0" err="1"/>
              <a:t>int,byte,short</a:t>
            </a:r>
            <a:r>
              <a:rPr lang="en-US" sz="2000" dirty="0"/>
              <a:t> ,</a:t>
            </a:r>
            <a:r>
              <a:rPr lang="en-US" sz="2000" dirty="0" err="1"/>
              <a:t>double,char,String</a:t>
            </a:r>
            <a:endParaRPr lang="en-US" sz="2000" dirty="0"/>
          </a:p>
          <a:p>
            <a:pPr lvl="1">
              <a:lnSpc>
                <a:spcPct val="150000"/>
              </a:lnSpc>
              <a:defRPr/>
            </a:pPr>
            <a:r>
              <a:rPr lang="en-US" sz="2000" dirty="0"/>
              <a:t>Can Pass Only one Argument to the method.</a:t>
            </a:r>
          </a:p>
          <a:p>
            <a:pPr>
              <a:lnSpc>
                <a:spcPct val="150000"/>
              </a:lnSpc>
              <a:defRPr/>
            </a:pPr>
            <a:endParaRPr lang="en-US" altLang="en-US" sz="2000" dirty="0"/>
          </a:p>
          <a:p>
            <a:pPr marL="457200" lvl="1" indent="0">
              <a:lnSpc>
                <a:spcPct val="150000"/>
              </a:lnSpc>
              <a:buFontTx/>
              <a:buNone/>
              <a:defRPr/>
            </a:pPr>
            <a:endParaRPr lang="en-IN" sz="200" b="1" dirty="0">
              <a:solidFill>
                <a:srgbClr val="7F0055"/>
              </a:solidFill>
            </a:endParaRPr>
          </a:p>
          <a:p>
            <a:pPr marL="457200" lvl="1" indent="0">
              <a:lnSpc>
                <a:spcPct val="150000"/>
              </a:lnSpc>
              <a:buFontTx/>
              <a:buNone/>
              <a:defRPr/>
            </a:pPr>
            <a:r>
              <a:rPr lang="en-IN" sz="200" b="1" dirty="0">
                <a:solidFill>
                  <a:srgbClr val="7F0055"/>
                </a:solidFill>
              </a:rPr>
              <a:t> </a:t>
            </a:r>
            <a:endParaRPr lang="en-IN" altLang="en-US" sz="2000" dirty="0"/>
          </a:p>
        </p:txBody>
      </p:sp>
    </p:spTree>
  </p:cSld>
  <p:clrMapOvr>
    <a:masterClrMapping/>
  </p:clrMapOvr>
  <p:transition advClick="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08045AD1-09AA-4F4F-CF9B-6E7FE4F403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ParameterizedTest</a:t>
            </a:r>
            <a:endParaRPr lang="en-IN" altLang="en-US"/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A4D45C4C-47C8-C061-7F14-3CD4B26FE0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00050" lvl="1" indent="0">
              <a:lnSpc>
                <a:spcPct val="150000"/>
              </a:lnSpc>
              <a:buFontTx/>
              <a:buNone/>
              <a:defRPr/>
            </a:pPr>
            <a:r>
              <a:rPr lang="en-US" altLang="en-US" sz="2000" dirty="0">
                <a:solidFill>
                  <a:srgbClr val="646464"/>
                </a:solidFill>
              </a:rPr>
              <a:t>@DisplayName</a:t>
            </a:r>
            <a:r>
              <a:rPr lang="en-US" altLang="en-US" sz="2000" dirty="0">
                <a:solidFill>
                  <a:srgbClr val="000000"/>
                </a:solidFill>
              </a:rPr>
              <a:t>(</a:t>
            </a:r>
            <a:r>
              <a:rPr lang="en-US" altLang="en-US" sz="2000" dirty="0">
                <a:solidFill>
                  <a:srgbClr val="2A00FF"/>
                </a:solidFill>
              </a:rPr>
              <a:t>"Testing For elements in even position should not be null"</a:t>
            </a:r>
            <a:r>
              <a:rPr lang="en-US" altLang="en-US" sz="2000" dirty="0">
                <a:solidFill>
                  <a:srgbClr val="000000"/>
                </a:solidFill>
              </a:rPr>
              <a:t>)</a:t>
            </a:r>
          </a:p>
          <a:p>
            <a:pPr marL="400050" lvl="1" indent="0">
              <a:lnSpc>
                <a:spcPct val="150000"/>
              </a:lnSpc>
              <a:buFontTx/>
              <a:buNone/>
              <a:defRPr/>
            </a:pPr>
            <a:r>
              <a:rPr lang="en-IN" altLang="en-US" sz="2000" b="1" dirty="0">
                <a:solidFill>
                  <a:srgbClr val="00B0F0"/>
                </a:solidFill>
              </a:rPr>
              <a:t>@ParameterizedTest</a:t>
            </a:r>
          </a:p>
          <a:p>
            <a:pPr marL="400050" lvl="1" indent="0">
              <a:lnSpc>
                <a:spcPct val="150000"/>
              </a:lnSpc>
              <a:buFontTx/>
              <a:buNone/>
              <a:defRPr/>
            </a:pPr>
            <a:r>
              <a:rPr lang="en-IN" altLang="en-US" sz="2000" b="1" dirty="0">
                <a:solidFill>
                  <a:schemeClr val="accent6">
                    <a:lumMod val="50000"/>
                  </a:schemeClr>
                </a:solidFill>
              </a:rPr>
              <a:t>@ValueSource</a:t>
            </a:r>
            <a:r>
              <a:rPr lang="en-IN" altLang="en-US" sz="2000" dirty="0">
                <a:solidFill>
                  <a:srgbClr val="000000"/>
                </a:solidFill>
              </a:rPr>
              <a:t>(ints = {0,2,4,6})</a:t>
            </a:r>
          </a:p>
          <a:p>
            <a:pPr marL="400050" lvl="1" indent="0">
              <a:lnSpc>
                <a:spcPct val="150000"/>
              </a:lnSpc>
              <a:buFontTx/>
              <a:buNone/>
              <a:defRPr/>
            </a:pPr>
            <a:r>
              <a:rPr lang="en-IN" altLang="en-US" sz="2000" dirty="0">
                <a:solidFill>
                  <a:srgbClr val="000000"/>
                </a:solidFill>
              </a:rPr>
              <a:t>    </a:t>
            </a:r>
            <a:r>
              <a:rPr lang="en-IN" altLang="en-US" sz="2000" b="1" dirty="0">
                <a:solidFill>
                  <a:srgbClr val="7F0055"/>
                </a:solidFill>
              </a:rPr>
              <a:t>void</a:t>
            </a:r>
            <a:r>
              <a:rPr lang="en-IN" altLang="en-US" sz="2000" b="1" dirty="0">
                <a:solidFill>
                  <a:srgbClr val="000000"/>
                </a:solidFill>
              </a:rPr>
              <a:t> </a:t>
            </a:r>
            <a:r>
              <a:rPr lang="en-IN" altLang="en-US" sz="2000" b="1" dirty="0" err="1">
                <a:solidFill>
                  <a:srgbClr val="000000"/>
                </a:solidFill>
              </a:rPr>
              <a:t>checkingForNullInList</a:t>
            </a:r>
            <a:r>
              <a:rPr lang="en-IN" altLang="en-US" sz="2000" b="1" dirty="0">
                <a:solidFill>
                  <a:srgbClr val="000000"/>
                </a:solidFill>
              </a:rPr>
              <a:t>(</a:t>
            </a:r>
            <a:r>
              <a:rPr lang="en-IN" altLang="en-US" sz="2000" b="1" dirty="0">
                <a:solidFill>
                  <a:srgbClr val="7F0055"/>
                </a:solidFill>
              </a:rPr>
              <a:t>int</a:t>
            </a:r>
            <a:r>
              <a:rPr lang="en-IN" altLang="en-US" sz="2000" b="1" dirty="0">
                <a:solidFill>
                  <a:srgbClr val="000000"/>
                </a:solidFill>
              </a:rPr>
              <a:t> </a:t>
            </a:r>
            <a:r>
              <a:rPr lang="en-IN" altLang="en-US" sz="2000" b="1" dirty="0" err="1">
                <a:solidFill>
                  <a:srgbClr val="6A3E3E"/>
                </a:solidFill>
              </a:rPr>
              <a:t>idxPos</a:t>
            </a:r>
            <a:r>
              <a:rPr lang="en-IN" altLang="en-US" sz="2000" b="1" dirty="0">
                <a:solidFill>
                  <a:srgbClr val="000000"/>
                </a:solidFill>
              </a:rPr>
              <a:t>) {</a:t>
            </a:r>
          </a:p>
          <a:p>
            <a:pPr marL="400050" lvl="1" indent="0">
              <a:lnSpc>
                <a:spcPct val="150000"/>
              </a:lnSpc>
              <a:buFontTx/>
              <a:buNone/>
              <a:defRPr/>
            </a:pPr>
            <a:r>
              <a:rPr lang="en-IN" altLang="en-US" sz="2000" dirty="0">
                <a:solidFill>
                  <a:srgbClr val="000000"/>
                </a:solidFill>
              </a:rPr>
              <a:t>      </a:t>
            </a:r>
          </a:p>
          <a:p>
            <a:pPr marL="400050" lvl="1" indent="0">
              <a:lnSpc>
                <a:spcPct val="150000"/>
              </a:lnSpc>
              <a:buFontTx/>
              <a:buNone/>
              <a:defRPr/>
            </a:pPr>
            <a:r>
              <a:rPr lang="en-IN" altLang="en-US" sz="2000" i="1" dirty="0" err="1">
                <a:solidFill>
                  <a:srgbClr val="000000"/>
                </a:solidFill>
              </a:rPr>
              <a:t>assertNotNull</a:t>
            </a:r>
            <a:r>
              <a:rPr lang="en-IN" altLang="en-US" sz="2000" i="1" dirty="0">
                <a:solidFill>
                  <a:srgbClr val="000000"/>
                </a:solidFill>
              </a:rPr>
              <a:t>(</a:t>
            </a:r>
            <a:r>
              <a:rPr lang="en-IN" altLang="en-US" sz="2000" i="1" dirty="0" err="1">
                <a:solidFill>
                  <a:srgbClr val="0000C0"/>
                </a:solidFill>
              </a:rPr>
              <a:t>grtObj</a:t>
            </a:r>
            <a:r>
              <a:rPr lang="en-IN" altLang="en-US" sz="2000" i="1" dirty="0" err="1">
                <a:solidFill>
                  <a:srgbClr val="000000"/>
                </a:solidFill>
              </a:rPr>
              <a:t>.findElement</a:t>
            </a:r>
            <a:r>
              <a:rPr lang="en-IN" altLang="en-US" sz="2000" i="1" dirty="0">
                <a:solidFill>
                  <a:srgbClr val="000000"/>
                </a:solidFill>
              </a:rPr>
              <a:t>(</a:t>
            </a:r>
            <a:r>
              <a:rPr lang="en-IN" altLang="en-US" sz="2000" i="1" dirty="0" err="1">
                <a:solidFill>
                  <a:srgbClr val="6A3E3E"/>
                </a:solidFill>
              </a:rPr>
              <a:t>idxPos</a:t>
            </a:r>
            <a:r>
              <a:rPr lang="en-IN" altLang="en-US" sz="2000" i="1" dirty="0">
                <a:solidFill>
                  <a:srgbClr val="000000"/>
                </a:solidFill>
              </a:rPr>
              <a:t>));</a:t>
            </a:r>
          </a:p>
          <a:p>
            <a:pPr marL="400050" lvl="1" indent="0">
              <a:lnSpc>
                <a:spcPct val="150000"/>
              </a:lnSpc>
              <a:buFontTx/>
              <a:buNone/>
              <a:defRPr/>
            </a:pPr>
            <a:r>
              <a:rPr lang="en-IN" altLang="en-US" sz="2000" dirty="0">
                <a:solidFill>
                  <a:srgbClr val="000000"/>
                </a:solidFill>
              </a:rPr>
              <a:t>    }</a:t>
            </a:r>
          </a:p>
          <a:p>
            <a:pPr marL="400050" lvl="1" indent="0">
              <a:lnSpc>
                <a:spcPct val="150000"/>
              </a:lnSpc>
              <a:buFontTx/>
              <a:buNone/>
              <a:defRPr/>
            </a:pPr>
            <a:endParaRPr lang="en-IN" altLang="en-US" sz="2000" dirty="0"/>
          </a:p>
        </p:txBody>
      </p:sp>
    </p:spTree>
  </p:cSld>
  <p:clrMapOvr>
    <a:masterClrMapping/>
  </p:clrMapOvr>
  <p:transition advClick="0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F03126F6-DF9A-A02A-7EA6-B92752B634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ParameterizedTest</a:t>
            </a:r>
            <a:endParaRPr lang="en-IN" altLang="en-US"/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B026DA65-BDA2-FC8A-5061-C361EF2E85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lnSpc>
                <a:spcPct val="150000"/>
              </a:lnSpc>
              <a:buFontTx/>
              <a:buNone/>
            </a:pPr>
            <a:r>
              <a:rPr lang="en-IN" altLang="en-US" sz="2000" b="1">
                <a:solidFill>
                  <a:srgbClr val="7F0055"/>
                </a:solidFill>
              </a:rPr>
              <a:t>public</a:t>
            </a:r>
            <a:r>
              <a:rPr lang="en-IN" altLang="en-US" sz="2000" b="1">
                <a:solidFill>
                  <a:srgbClr val="000000"/>
                </a:solidFill>
              </a:rPr>
              <a:t> String findElement(</a:t>
            </a:r>
            <a:r>
              <a:rPr lang="en-IN" altLang="en-US" sz="2000" b="1">
                <a:solidFill>
                  <a:srgbClr val="7F0055"/>
                </a:solidFill>
              </a:rPr>
              <a:t>int</a:t>
            </a:r>
            <a:r>
              <a:rPr lang="en-IN" altLang="en-US" sz="2000" b="1">
                <a:solidFill>
                  <a:srgbClr val="000000"/>
                </a:solidFill>
              </a:rPr>
              <a:t> </a:t>
            </a:r>
            <a:r>
              <a:rPr lang="en-IN" altLang="en-US" sz="2000" b="1">
                <a:solidFill>
                  <a:srgbClr val="6A3E3E"/>
                </a:solidFill>
              </a:rPr>
              <a:t>idxPos</a:t>
            </a:r>
            <a:r>
              <a:rPr lang="en-IN" altLang="en-US" sz="2000" b="1">
                <a:solidFill>
                  <a:srgbClr val="000000"/>
                </a:solidFill>
              </a:rPr>
              <a:t>) {</a:t>
            </a:r>
          </a:p>
          <a:p>
            <a:pPr marL="457200" lvl="1" indent="0">
              <a:lnSpc>
                <a:spcPct val="150000"/>
              </a:lnSpc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</a:t>
            </a:r>
          </a:p>
          <a:p>
            <a:pPr marL="457200" lvl="1" indent="0">
              <a:lnSpc>
                <a:spcPct val="150000"/>
              </a:lnSpc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  List&lt;String&gt; </a:t>
            </a:r>
            <a:r>
              <a:rPr lang="en-IN" altLang="en-US" sz="2000">
                <a:solidFill>
                  <a:srgbClr val="6A3E3E"/>
                </a:solidFill>
              </a:rPr>
              <a:t>names</a:t>
            </a:r>
            <a:r>
              <a:rPr lang="en-IN" altLang="en-US" sz="2000">
                <a:solidFill>
                  <a:srgbClr val="000000"/>
                </a:solidFill>
              </a:rPr>
              <a:t> = </a:t>
            </a:r>
          </a:p>
          <a:p>
            <a:pPr marL="457200" lvl="1" indent="0">
              <a:lnSpc>
                <a:spcPct val="150000"/>
              </a:lnSpc>
              <a:buFontTx/>
              <a:buNone/>
            </a:pPr>
            <a:endParaRPr lang="en-IN" altLang="en-US" sz="2000">
              <a:solidFill>
                <a:srgbClr val="000000"/>
              </a:solidFill>
            </a:endParaRPr>
          </a:p>
          <a:p>
            <a:pPr marL="457200" lvl="1" indent="0">
              <a:lnSpc>
                <a:spcPct val="150000"/>
              </a:lnSpc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Arrays.</a:t>
            </a:r>
            <a:r>
              <a:rPr lang="en-IN" altLang="en-US" sz="2000" i="1">
                <a:solidFill>
                  <a:srgbClr val="000000"/>
                </a:solidFill>
              </a:rPr>
              <a:t>asList(</a:t>
            </a:r>
            <a:r>
              <a:rPr lang="en-IN" altLang="en-US" sz="2000" i="1">
                <a:solidFill>
                  <a:srgbClr val="2A00FF"/>
                </a:solidFill>
              </a:rPr>
              <a:t>"Ramesh"</a:t>
            </a:r>
            <a:r>
              <a:rPr lang="en-IN" altLang="en-US" sz="2000" i="1">
                <a:solidFill>
                  <a:srgbClr val="000000"/>
                </a:solidFill>
              </a:rPr>
              <a:t>,</a:t>
            </a:r>
            <a:r>
              <a:rPr lang="en-IN" altLang="en-US" sz="2000" i="1">
                <a:solidFill>
                  <a:srgbClr val="2A00FF"/>
                </a:solidFill>
              </a:rPr>
              <a:t>"Suresh"</a:t>
            </a:r>
            <a:r>
              <a:rPr lang="en-IN" altLang="en-US" sz="2000" i="1">
                <a:solidFill>
                  <a:srgbClr val="000000"/>
                </a:solidFill>
              </a:rPr>
              <a:t>,</a:t>
            </a:r>
            <a:r>
              <a:rPr lang="en-IN" altLang="en-US" sz="2000" b="1" i="1">
                <a:solidFill>
                  <a:srgbClr val="7F0055"/>
                </a:solidFill>
              </a:rPr>
              <a:t>null</a:t>
            </a:r>
            <a:r>
              <a:rPr lang="en-IN" altLang="en-US" sz="2000" b="1" i="1">
                <a:solidFill>
                  <a:srgbClr val="000000"/>
                </a:solidFill>
              </a:rPr>
              <a:t>,</a:t>
            </a:r>
            <a:r>
              <a:rPr lang="en-IN" altLang="en-US" sz="2000" b="1" i="1">
                <a:solidFill>
                  <a:srgbClr val="2A00FF"/>
                </a:solidFill>
              </a:rPr>
              <a:t>"magesh"</a:t>
            </a:r>
            <a:r>
              <a:rPr lang="en-IN" altLang="en-US" sz="2000" b="1" i="1">
                <a:solidFill>
                  <a:srgbClr val="000000"/>
                </a:solidFill>
              </a:rPr>
              <a:t>,</a:t>
            </a:r>
            <a:r>
              <a:rPr lang="en-IN" altLang="en-US" sz="2000" b="1" i="1">
                <a:solidFill>
                  <a:srgbClr val="7F0055"/>
                </a:solidFill>
              </a:rPr>
              <a:t>null</a:t>
            </a:r>
            <a:r>
              <a:rPr lang="en-IN" altLang="en-US" sz="2000" b="1" i="1">
                <a:solidFill>
                  <a:srgbClr val="000000"/>
                </a:solidFill>
              </a:rPr>
              <a:t>,</a:t>
            </a:r>
            <a:r>
              <a:rPr lang="en-IN" altLang="en-US" sz="2000" b="1" i="1">
                <a:solidFill>
                  <a:srgbClr val="2A00FF"/>
                </a:solidFill>
              </a:rPr>
              <a:t>"Rajesh"</a:t>
            </a:r>
            <a:r>
              <a:rPr lang="en-IN" altLang="en-US" sz="2000" b="1" i="1">
                <a:solidFill>
                  <a:srgbClr val="000000"/>
                </a:solidFill>
              </a:rPr>
              <a:t>,</a:t>
            </a:r>
            <a:r>
              <a:rPr lang="en-IN" altLang="en-US" sz="2000" b="1" i="1">
                <a:solidFill>
                  <a:srgbClr val="2A00FF"/>
                </a:solidFill>
              </a:rPr>
              <a:t>"Siva"</a:t>
            </a:r>
            <a:r>
              <a:rPr lang="en-IN" altLang="en-US" sz="2000" b="1" i="1">
                <a:solidFill>
                  <a:srgbClr val="000000"/>
                </a:solidFill>
              </a:rPr>
              <a:t>);</a:t>
            </a:r>
          </a:p>
          <a:p>
            <a:pPr marL="457200" lvl="1" indent="0">
              <a:lnSpc>
                <a:spcPct val="150000"/>
              </a:lnSpc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       </a:t>
            </a:r>
            <a:r>
              <a:rPr lang="en-IN" altLang="en-US" sz="2000" b="1">
                <a:solidFill>
                  <a:srgbClr val="7F0055"/>
                </a:solidFill>
              </a:rPr>
              <a:t>return</a:t>
            </a:r>
            <a:r>
              <a:rPr lang="en-IN" altLang="en-US" sz="2000" b="1">
                <a:solidFill>
                  <a:srgbClr val="000000"/>
                </a:solidFill>
              </a:rPr>
              <a:t> </a:t>
            </a:r>
            <a:r>
              <a:rPr lang="en-IN" altLang="en-US" sz="2000" b="1">
                <a:solidFill>
                  <a:srgbClr val="6A3E3E"/>
                </a:solidFill>
              </a:rPr>
              <a:t>names</a:t>
            </a:r>
            <a:r>
              <a:rPr lang="en-IN" altLang="en-US" sz="2000" b="1">
                <a:solidFill>
                  <a:srgbClr val="000000"/>
                </a:solidFill>
              </a:rPr>
              <a:t>.get(</a:t>
            </a:r>
            <a:r>
              <a:rPr lang="en-IN" altLang="en-US" sz="2000" b="1">
                <a:solidFill>
                  <a:srgbClr val="6A3E3E"/>
                </a:solidFill>
              </a:rPr>
              <a:t>idxPos</a:t>
            </a:r>
            <a:r>
              <a:rPr lang="en-IN" altLang="en-US" sz="2000" b="1">
                <a:solidFill>
                  <a:srgbClr val="000000"/>
                </a:solidFill>
              </a:rPr>
              <a:t>);</a:t>
            </a:r>
          </a:p>
          <a:p>
            <a:pPr marL="457200" lvl="1" indent="0">
              <a:lnSpc>
                <a:spcPct val="150000"/>
              </a:lnSpc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  }</a:t>
            </a:r>
            <a:endParaRPr lang="en-US" altLang="en-US" sz="2000"/>
          </a:p>
          <a:p>
            <a:pPr>
              <a:lnSpc>
                <a:spcPct val="150000"/>
              </a:lnSpc>
            </a:pPr>
            <a:endParaRPr lang="en-IN" altLang="en-US" sz="2000"/>
          </a:p>
          <a:p>
            <a:pPr>
              <a:lnSpc>
                <a:spcPct val="150000"/>
              </a:lnSpc>
            </a:pPr>
            <a:endParaRPr lang="en-IN" altLang="en-US"/>
          </a:p>
        </p:txBody>
      </p:sp>
    </p:spTree>
  </p:cSld>
  <p:clrMapOvr>
    <a:masterClrMapping/>
  </p:clrMapOvr>
  <p:transition advClick="0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CC94BC6D-C705-CCC3-8448-A112452CBC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/>
            </a:br>
            <a:r>
              <a:rPr lang="en-US" altLang="en-US"/>
              <a:t>Assumptions</a:t>
            </a:r>
            <a:br>
              <a:rPr lang="en-US" altLang="en-US"/>
            </a:br>
            <a:endParaRPr lang="en-IN" altLang="en-US"/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0D9D73EA-2C15-7800-6CE0-73AE7FD276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 b="1"/>
              <a:t>assumeTrue</a:t>
            </a:r>
            <a:r>
              <a:rPr lang="en-US" altLang="en-US" sz="2000"/>
              <a:t>	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Execute the body of lambda when the positive condition hold else test will be skipped</a:t>
            </a:r>
          </a:p>
          <a:p>
            <a:pPr>
              <a:lnSpc>
                <a:spcPct val="150000"/>
              </a:lnSpc>
            </a:pPr>
            <a:r>
              <a:rPr lang="en-US" altLang="en-US" sz="2000" b="1"/>
              <a:t>assumeFalse	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Execute the body of lambda when the negative condition hold else test will be skipped</a:t>
            </a:r>
          </a:p>
          <a:p>
            <a:pPr>
              <a:lnSpc>
                <a:spcPct val="150000"/>
              </a:lnSpc>
            </a:pPr>
            <a:r>
              <a:rPr lang="en-US" altLang="en-US" sz="2000" b="1"/>
              <a:t>assumingThat	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Flexible, If condition is true then executes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Else do not abort test continue rest of code in test.</a:t>
            </a:r>
          </a:p>
          <a:p>
            <a:pPr lvl="1">
              <a:lnSpc>
                <a:spcPct val="150000"/>
              </a:lnSpc>
            </a:pPr>
            <a:endParaRPr lang="en-US" altLang="en-US" sz="2000"/>
          </a:p>
        </p:txBody>
      </p:sp>
    </p:spTree>
  </p:cSld>
  <p:clrMapOvr>
    <a:masterClrMapping/>
  </p:clrMapOvr>
  <p:transition advClick="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0ACD0B6C-6000-6D17-B815-0248EC3DFE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/>
            </a:br>
            <a:r>
              <a:rPr lang="en-US" altLang="en-US"/>
              <a:t>Assumptions vs Assertions</a:t>
            </a:r>
            <a:br>
              <a:rPr lang="en-US" altLang="en-US"/>
            </a:br>
            <a:endParaRPr lang="en-IN" altLang="en-US"/>
          </a:p>
        </p:txBody>
      </p:sp>
      <p:sp>
        <p:nvSpPr>
          <p:cNvPr id="49155" name="Text Placeholder 1">
            <a:extLst>
              <a:ext uri="{FF2B5EF4-FFF2-40B4-BE49-F238E27FC236}">
                <a16:creationId xmlns:a16="http://schemas.microsoft.com/office/drawing/2014/main" id="{AE3C0221-A27B-D8CA-4BF4-E679C8E771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Assertions</a:t>
            </a:r>
            <a:endParaRPr lang="en-IN" altLang="en-US"/>
          </a:p>
        </p:txBody>
      </p:sp>
      <p:sp>
        <p:nvSpPr>
          <p:cNvPr id="49156" name="Content Placeholder 2">
            <a:extLst>
              <a:ext uri="{FF2B5EF4-FFF2-40B4-BE49-F238E27FC236}">
                <a16:creationId xmlns:a16="http://schemas.microsoft.com/office/drawing/2014/main" id="{272F1236-17A6-92E8-297E-6562831EC5F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endParaRPr lang="en-US" altLang="en-US" sz="2000"/>
          </a:p>
          <a:p>
            <a:r>
              <a:rPr lang="en-US" altLang="en-US" sz="2000"/>
              <a:t>Assertions  is used to write testing scenarios for test methods. </a:t>
            </a:r>
          </a:p>
          <a:p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Assertions fail, the test fails. </a:t>
            </a:r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</p:txBody>
      </p:sp>
      <p:sp>
        <p:nvSpPr>
          <p:cNvPr id="49157" name="Text Placeholder 2">
            <a:extLst>
              <a:ext uri="{FF2B5EF4-FFF2-40B4-BE49-F238E27FC236}">
                <a16:creationId xmlns:a16="http://schemas.microsoft.com/office/drawing/2014/main" id="{2BB891FC-565E-5D26-1F08-7B2113EE22F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en-US"/>
              <a:t>Assumptions</a:t>
            </a:r>
            <a:endParaRPr lang="en-IN" altLang="en-US"/>
          </a:p>
        </p:txBody>
      </p:sp>
      <p:sp>
        <p:nvSpPr>
          <p:cNvPr id="49158" name="Content Placeholder 3">
            <a:extLst>
              <a:ext uri="{FF2B5EF4-FFF2-40B4-BE49-F238E27FC236}">
                <a16:creationId xmlns:a16="http://schemas.microsoft.com/office/drawing/2014/main" id="{E3F7BE4F-9B77-62F9-C497-DE2492F39F3A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/>
        <p:txBody>
          <a:bodyPr/>
          <a:lstStyle/>
          <a:p>
            <a:endParaRPr lang="en-US" altLang="en-US" sz="2000"/>
          </a:p>
          <a:p>
            <a:r>
              <a:rPr lang="en-US" altLang="en-US" sz="2000"/>
              <a:t>Assumptions are used to validate favorable conditions for test cases.</a:t>
            </a:r>
          </a:p>
          <a:p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Assumptions fails then test method is skipped.</a:t>
            </a:r>
          </a:p>
          <a:p>
            <a:endParaRPr lang="en-IN" altLang="en-US" sz="2000"/>
          </a:p>
        </p:txBody>
      </p:sp>
    </p:spTree>
  </p:cSld>
  <p:clrMapOvr>
    <a:masterClrMapping/>
  </p:clrMapOvr>
  <p:transition advClick="0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FF3D2D28-FDD8-EFDB-AA1D-3C0AEBB1E3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Assumptions -AssumeTrue</a:t>
            </a:r>
            <a:endParaRPr lang="en-IN" altLang="en-US"/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8F237DEA-D55E-9FB4-D949-CD0EBCE8C3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US" altLang="en-US" sz="2000">
                <a:solidFill>
                  <a:srgbClr val="646464"/>
                </a:solidFill>
              </a:rPr>
              <a:t>@DisplayName</a:t>
            </a:r>
            <a:r>
              <a:rPr lang="en-US" altLang="en-US" sz="2000">
                <a:solidFill>
                  <a:srgbClr val="000000"/>
                </a:solidFill>
              </a:rPr>
              <a:t>(</a:t>
            </a:r>
            <a:r>
              <a:rPr lang="en-US" altLang="en-US" sz="2000">
                <a:solidFill>
                  <a:srgbClr val="2A00FF"/>
                </a:solidFill>
              </a:rPr>
              <a:t>"Testing For elements in even position should not be null"</a:t>
            </a:r>
            <a:r>
              <a:rPr lang="en-US" altLang="en-US" sz="2000">
                <a:solidFill>
                  <a:srgbClr val="000000"/>
                </a:solidFill>
              </a:rPr>
              <a:t>)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646464"/>
                </a:solidFill>
              </a:rPr>
              <a:t>@ParameterizedTest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646464"/>
                </a:solidFill>
              </a:rPr>
              <a:t>@ValueSource</a:t>
            </a:r>
            <a:r>
              <a:rPr lang="en-IN" altLang="en-US" sz="2000">
                <a:solidFill>
                  <a:srgbClr val="000000"/>
                </a:solidFill>
              </a:rPr>
              <a:t>(ints = {0,2,4,6})</a:t>
            </a:r>
          </a:p>
          <a:p>
            <a:pPr marL="457200" lvl="1" indent="0">
              <a:buFontTx/>
              <a:buNone/>
            </a:pPr>
            <a:endParaRPr lang="en-IN" altLang="en-US" sz="2000">
              <a:solidFill>
                <a:srgbClr val="000000"/>
              </a:solidFill>
            </a:endParaRP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 </a:t>
            </a:r>
            <a:r>
              <a:rPr lang="en-IN" altLang="en-US" sz="2000" b="1">
                <a:solidFill>
                  <a:srgbClr val="7F0055"/>
                </a:solidFill>
              </a:rPr>
              <a:t>void</a:t>
            </a:r>
            <a:r>
              <a:rPr lang="en-IN" altLang="en-US" sz="2000" b="1">
                <a:solidFill>
                  <a:srgbClr val="000000"/>
                </a:solidFill>
              </a:rPr>
              <a:t> checkingForNullInList(</a:t>
            </a:r>
            <a:r>
              <a:rPr lang="en-IN" altLang="en-US" sz="2000" b="1">
                <a:solidFill>
                  <a:srgbClr val="7F0055"/>
                </a:solidFill>
              </a:rPr>
              <a:t>int</a:t>
            </a:r>
            <a:r>
              <a:rPr lang="en-IN" altLang="en-US" sz="2000" b="1">
                <a:solidFill>
                  <a:srgbClr val="000000"/>
                </a:solidFill>
              </a:rPr>
              <a:t> </a:t>
            </a:r>
            <a:r>
              <a:rPr lang="en-IN" altLang="en-US" sz="2000" b="1">
                <a:solidFill>
                  <a:srgbClr val="6A3E3E"/>
                </a:solidFill>
              </a:rPr>
              <a:t>idxPos</a:t>
            </a:r>
            <a:r>
              <a:rPr lang="en-IN" altLang="en-US" sz="2000" b="1">
                <a:solidFill>
                  <a:srgbClr val="000000"/>
                </a:solidFill>
              </a:rPr>
              <a:t>) {</a:t>
            </a:r>
          </a:p>
          <a:p>
            <a:pPr marL="457200" lvl="1" indent="0">
              <a:buFontTx/>
              <a:buNone/>
            </a:pPr>
            <a:endParaRPr lang="en-IN" altLang="en-US" sz="2000">
              <a:solidFill>
                <a:srgbClr val="000000"/>
              </a:solidFill>
            </a:endParaRP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  LocalDateTime </a:t>
            </a:r>
            <a:r>
              <a:rPr lang="en-IN" altLang="en-US" sz="2000">
                <a:solidFill>
                  <a:srgbClr val="6A3E3E"/>
                </a:solidFill>
              </a:rPr>
              <a:t>dt</a:t>
            </a:r>
            <a:r>
              <a:rPr lang="en-IN" altLang="en-US" sz="2000">
                <a:solidFill>
                  <a:srgbClr val="000000"/>
                </a:solidFill>
              </a:rPr>
              <a:t> = LocalDateTime.</a:t>
            </a:r>
            <a:r>
              <a:rPr lang="en-IN" altLang="en-US" sz="2000" i="1">
                <a:solidFill>
                  <a:srgbClr val="000000"/>
                </a:solidFill>
              </a:rPr>
              <a:t>now();</a:t>
            </a:r>
          </a:p>
          <a:p>
            <a:pPr marL="457200" lvl="1" indent="0">
              <a:buFontTx/>
              <a:buNone/>
            </a:pPr>
            <a:endParaRPr lang="en-IN" altLang="en-US" sz="2000">
              <a:solidFill>
                <a:srgbClr val="000000"/>
              </a:solidFill>
            </a:endParaRPr>
          </a:p>
          <a:p>
            <a:pPr marL="457200" lvl="1" indent="0">
              <a:buFontTx/>
              <a:buNone/>
            </a:pPr>
            <a:r>
              <a:rPr lang="en-IN" altLang="en-US" sz="2000" b="1">
                <a:solidFill>
                  <a:srgbClr val="C00000"/>
                </a:solidFill>
              </a:rPr>
              <a:t>     </a:t>
            </a:r>
            <a:r>
              <a:rPr lang="en-IN" altLang="en-US" sz="2000" b="1" i="1">
                <a:solidFill>
                  <a:srgbClr val="C00000"/>
                </a:solidFill>
              </a:rPr>
              <a:t>assumeTrue(dt.getDayOfWeek().getValue() == 6);</a:t>
            </a:r>
          </a:p>
          <a:p>
            <a:pPr marL="457200" lvl="1" indent="0">
              <a:buFontTx/>
              <a:buNone/>
            </a:pPr>
            <a:endParaRPr lang="en-IN" altLang="en-US" sz="2000"/>
          </a:p>
          <a:p>
            <a:pPr marL="457200" lvl="1" indent="0">
              <a:buFontTx/>
              <a:buNone/>
            </a:pPr>
            <a:r>
              <a:rPr lang="en-IN" altLang="en-US" sz="2000" i="1">
                <a:solidFill>
                  <a:srgbClr val="000000"/>
                </a:solidFill>
              </a:rPr>
              <a:t>assertNotNull(</a:t>
            </a:r>
            <a:r>
              <a:rPr lang="en-IN" altLang="en-US" sz="2000" i="1">
                <a:solidFill>
                  <a:srgbClr val="0000C0"/>
                </a:solidFill>
              </a:rPr>
              <a:t>grtObj</a:t>
            </a:r>
            <a:r>
              <a:rPr lang="en-IN" altLang="en-US" sz="2000" i="1">
                <a:solidFill>
                  <a:srgbClr val="000000"/>
                </a:solidFill>
              </a:rPr>
              <a:t>.findElement(</a:t>
            </a:r>
            <a:r>
              <a:rPr lang="en-IN" altLang="en-US" sz="2000" i="1">
                <a:solidFill>
                  <a:srgbClr val="6A3E3E"/>
                </a:solidFill>
              </a:rPr>
              <a:t>idxPos</a:t>
            </a:r>
            <a:r>
              <a:rPr lang="en-IN" altLang="en-US" sz="2000" i="1">
                <a:solidFill>
                  <a:srgbClr val="000000"/>
                </a:solidFill>
              </a:rPr>
              <a:t>));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 }</a:t>
            </a:r>
          </a:p>
          <a:p>
            <a:pPr marL="457200" lvl="1" indent="0">
              <a:buFontTx/>
              <a:buNone/>
            </a:pPr>
            <a:endParaRPr lang="en-IN" altLang="en-US" sz="2000"/>
          </a:p>
        </p:txBody>
      </p:sp>
    </p:spTree>
  </p:cSld>
  <p:clrMapOvr>
    <a:masterClrMapping/>
  </p:clrMapOvr>
  <p:transition advClick="0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09E71083-7F14-636C-6B34-4B0B1F2C56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/>
            </a:br>
            <a:r>
              <a:rPr lang="en-US" altLang="en-US"/>
              <a:t>Assumptions -AssumingThat</a:t>
            </a:r>
            <a:br>
              <a:rPr lang="en-US" altLang="en-US"/>
            </a:br>
            <a:endParaRPr lang="en-IN" altLang="en-US"/>
          </a:p>
        </p:txBody>
      </p:sp>
      <p:sp>
        <p:nvSpPr>
          <p:cNvPr id="51203" name="Content Placeholder 2">
            <a:extLst>
              <a:ext uri="{FF2B5EF4-FFF2-40B4-BE49-F238E27FC236}">
                <a16:creationId xmlns:a16="http://schemas.microsoft.com/office/drawing/2014/main" id="{17389B8D-40BD-06CD-5071-E91FAB2F06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00050" lvl="1" indent="0">
              <a:buFontTx/>
              <a:buNone/>
            </a:pPr>
            <a:endParaRPr lang="en-IN" altLang="en-US" sz="2000">
              <a:solidFill>
                <a:srgbClr val="000000"/>
              </a:solidFill>
            </a:endParaRPr>
          </a:p>
          <a:p>
            <a:pPr marL="40005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System.</a:t>
            </a:r>
            <a:r>
              <a:rPr lang="en-IN" altLang="en-US" sz="2000" i="1">
                <a:solidFill>
                  <a:srgbClr val="000000"/>
                </a:solidFill>
              </a:rPr>
              <a:t>setProperty(</a:t>
            </a:r>
            <a:r>
              <a:rPr lang="en-IN" altLang="en-US" sz="2000" i="1">
                <a:solidFill>
                  <a:srgbClr val="2A00FF"/>
                </a:solidFill>
              </a:rPr>
              <a:t>"env"</a:t>
            </a:r>
            <a:r>
              <a:rPr lang="en-IN" altLang="en-US" sz="2000" i="1">
                <a:solidFill>
                  <a:srgbClr val="000000"/>
                </a:solidFill>
              </a:rPr>
              <a:t>, </a:t>
            </a:r>
            <a:r>
              <a:rPr lang="en-IN" altLang="en-US" sz="2000" i="1">
                <a:solidFill>
                  <a:srgbClr val="2A00FF"/>
                </a:solidFill>
              </a:rPr>
              <a:t>"test"</a:t>
            </a:r>
            <a:r>
              <a:rPr lang="en-IN" altLang="en-US" sz="2000" i="1">
                <a:solidFill>
                  <a:srgbClr val="000000"/>
                </a:solidFill>
              </a:rPr>
              <a:t>);</a:t>
            </a:r>
          </a:p>
          <a:p>
            <a:pPr marL="400050" lvl="1" indent="0">
              <a:buFontTx/>
              <a:buNone/>
            </a:pPr>
            <a:endParaRPr lang="en-IN" altLang="en-US" sz="2000" i="1">
              <a:solidFill>
                <a:srgbClr val="000000"/>
              </a:solidFill>
            </a:endParaRPr>
          </a:p>
          <a:p>
            <a:pPr marL="400050" lvl="1" indent="0"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     </a:t>
            </a:r>
            <a:r>
              <a:rPr lang="en-US" altLang="en-US" sz="2000" i="1">
                <a:solidFill>
                  <a:srgbClr val="000000"/>
                </a:solidFill>
              </a:rPr>
              <a:t>assumingThat(</a:t>
            </a:r>
            <a:r>
              <a:rPr lang="en-US" altLang="en-US" sz="2000" i="1">
                <a:solidFill>
                  <a:srgbClr val="2A00FF"/>
                </a:solidFill>
              </a:rPr>
              <a:t>"test"</a:t>
            </a:r>
            <a:r>
              <a:rPr lang="en-US" altLang="en-US" sz="2000" i="1">
                <a:solidFill>
                  <a:srgbClr val="000000"/>
                </a:solidFill>
              </a:rPr>
              <a:t>.equals(System.getProperty(</a:t>
            </a:r>
            <a:r>
              <a:rPr lang="en-US" altLang="en-US" sz="2000" i="1">
                <a:solidFill>
                  <a:srgbClr val="2A00FF"/>
                </a:solidFill>
              </a:rPr>
              <a:t>"os.name"</a:t>
            </a:r>
            <a:r>
              <a:rPr lang="en-US" altLang="en-US" sz="2000" i="1">
                <a:solidFill>
                  <a:srgbClr val="000000"/>
                </a:solidFill>
              </a:rPr>
              <a:t>)),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       () -&gt; {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            </a:t>
            </a:r>
            <a:r>
              <a:rPr lang="en-IN" altLang="en-US" sz="2000" i="1">
                <a:solidFill>
                  <a:srgbClr val="000000"/>
                </a:solidFill>
              </a:rPr>
              <a:t>assertEquals(10, 10);</a:t>
            </a:r>
          </a:p>
          <a:p>
            <a:pPr marL="400050" lvl="1" indent="0"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               System.</a:t>
            </a:r>
            <a:r>
              <a:rPr lang="en-US" altLang="en-US" sz="2000" b="1" i="1">
                <a:solidFill>
                  <a:srgbClr val="0000C0"/>
                </a:solidFill>
              </a:rPr>
              <a:t>out</a:t>
            </a:r>
            <a:r>
              <a:rPr lang="en-US" altLang="en-US" sz="2000" b="1" i="1">
                <a:solidFill>
                  <a:srgbClr val="000000"/>
                </a:solidFill>
              </a:rPr>
              <a:t>.println(</a:t>
            </a:r>
            <a:r>
              <a:rPr lang="en-US" altLang="en-US" sz="2000" b="1" i="1">
                <a:solidFill>
                  <a:srgbClr val="2A00FF"/>
                </a:solidFill>
              </a:rPr>
              <a:t>"perform below assertions only on the test env"</a:t>
            </a:r>
            <a:r>
              <a:rPr lang="en-US" altLang="en-US" sz="2000" b="1" i="1">
                <a:solidFill>
                  <a:srgbClr val="000000"/>
                </a:solidFill>
              </a:rPr>
              <a:t>);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            });</a:t>
            </a:r>
          </a:p>
          <a:p>
            <a:pPr marL="400050" lvl="1" indent="0">
              <a:buFontTx/>
              <a:buNone/>
            </a:pPr>
            <a:endParaRPr lang="en-IN" altLang="en-US" sz="2000"/>
          </a:p>
          <a:p>
            <a:pPr marL="40005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  </a:t>
            </a:r>
            <a:r>
              <a:rPr lang="en-IN" altLang="en-US" sz="2000" i="1">
                <a:solidFill>
                  <a:srgbClr val="000000"/>
                </a:solidFill>
              </a:rPr>
              <a:t>assertEquals(20, 20);</a:t>
            </a:r>
          </a:p>
          <a:p>
            <a:pPr marL="400050" lvl="1" indent="0"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     System.</a:t>
            </a:r>
            <a:r>
              <a:rPr lang="en-US" altLang="en-US" sz="2000" b="1" i="1">
                <a:solidFill>
                  <a:srgbClr val="0000C0"/>
                </a:solidFill>
              </a:rPr>
              <a:t>out</a:t>
            </a:r>
            <a:r>
              <a:rPr lang="en-US" altLang="en-US" sz="2000" b="1" i="1">
                <a:solidFill>
                  <a:srgbClr val="000000"/>
                </a:solidFill>
              </a:rPr>
              <a:t>.println(</a:t>
            </a:r>
            <a:r>
              <a:rPr lang="en-US" altLang="en-US" sz="2000" b="1" i="1">
                <a:solidFill>
                  <a:srgbClr val="2A00FF"/>
                </a:solidFill>
              </a:rPr>
              <a:t>"perform below assertions on all env"</a:t>
            </a:r>
            <a:r>
              <a:rPr lang="en-US" altLang="en-US" sz="2000" b="1" i="1">
                <a:solidFill>
                  <a:srgbClr val="000000"/>
                </a:solidFill>
              </a:rPr>
              <a:t>);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}</a:t>
            </a:r>
          </a:p>
        </p:txBody>
      </p:sp>
    </p:spTree>
  </p:cSld>
  <p:clrMapOvr>
    <a:masterClrMapping/>
  </p:clrMapOvr>
  <p:transition advClick="0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8EE295CD-9CD6-06AB-B58C-8779918538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Tips for testing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BA7864BC-CA23-609C-2D9D-D0C93DC2CD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>
                <a:solidFill>
                  <a:srgbClr val="262626"/>
                </a:solidFill>
              </a:rPr>
              <a:t>You cannot test every possible input, parameter value, etc.</a:t>
            </a:r>
          </a:p>
          <a:p>
            <a:pPr lvl="1"/>
            <a:r>
              <a:rPr lang="en-US" altLang="en-US" sz="2000">
                <a:solidFill>
                  <a:srgbClr val="404040"/>
                </a:solidFill>
              </a:rPr>
              <a:t>So you must think of a limited set of tests likely to expose bugs.</a:t>
            </a:r>
          </a:p>
          <a:p>
            <a:pPr lvl="1"/>
            <a:endParaRPr lang="en-US" altLang="en-US" sz="2000">
              <a:solidFill>
                <a:srgbClr val="404040"/>
              </a:solidFill>
            </a:endParaRPr>
          </a:p>
          <a:p>
            <a:r>
              <a:rPr lang="en-US" altLang="en-US" sz="2000" b="1">
                <a:solidFill>
                  <a:srgbClr val="262626"/>
                </a:solidFill>
              </a:rPr>
              <a:t>Think about boundary cases</a:t>
            </a:r>
          </a:p>
          <a:p>
            <a:pPr lvl="1"/>
            <a:r>
              <a:rPr lang="en-US" altLang="en-US" sz="2000">
                <a:solidFill>
                  <a:srgbClr val="404040"/>
                </a:solidFill>
              </a:rPr>
              <a:t>positive; zero; negative numbers</a:t>
            </a:r>
          </a:p>
          <a:p>
            <a:pPr lvl="1"/>
            <a:r>
              <a:rPr lang="en-US" altLang="en-US" sz="2000">
                <a:solidFill>
                  <a:srgbClr val="404040"/>
                </a:solidFill>
              </a:rPr>
              <a:t>right at the edge of an array or collection's size</a:t>
            </a:r>
          </a:p>
          <a:p>
            <a:pPr lvl="1"/>
            <a:endParaRPr lang="en-US" altLang="en-US" sz="2000">
              <a:solidFill>
                <a:srgbClr val="404040"/>
              </a:solidFill>
            </a:endParaRPr>
          </a:p>
          <a:p>
            <a:r>
              <a:rPr lang="en-US" altLang="en-US" sz="2000" b="1">
                <a:solidFill>
                  <a:srgbClr val="262626"/>
                </a:solidFill>
              </a:rPr>
              <a:t>Think about empty cases and error cases</a:t>
            </a:r>
          </a:p>
          <a:p>
            <a:pPr lvl="1"/>
            <a:r>
              <a:rPr lang="en-US" altLang="en-US" sz="2000">
                <a:solidFill>
                  <a:srgbClr val="404040"/>
                </a:solidFill>
              </a:rPr>
              <a:t>0, -1, null;  an empty list or array</a:t>
            </a:r>
          </a:p>
          <a:p>
            <a:pPr lvl="1"/>
            <a:endParaRPr lang="en-US" altLang="en-US" sz="2000">
              <a:solidFill>
                <a:srgbClr val="404040"/>
              </a:solidFill>
            </a:endParaRPr>
          </a:p>
          <a:p>
            <a:r>
              <a:rPr lang="en-US" altLang="en-US" sz="2000" b="1">
                <a:solidFill>
                  <a:srgbClr val="262626"/>
                </a:solidFill>
              </a:rPr>
              <a:t>test behavior in combination</a:t>
            </a:r>
          </a:p>
          <a:p>
            <a:pPr lvl="1"/>
            <a:r>
              <a:rPr lang="en-US" altLang="en-US" sz="2000">
                <a:solidFill>
                  <a:srgbClr val="404040"/>
                </a:solidFill>
              </a:rPr>
              <a:t>maybe add usually works, but fails after you call remove</a:t>
            </a:r>
          </a:p>
          <a:p>
            <a:pPr lvl="1"/>
            <a:r>
              <a:rPr lang="en-US" altLang="en-US" sz="2000">
                <a:solidFill>
                  <a:srgbClr val="404040"/>
                </a:solidFill>
              </a:rPr>
              <a:t>make multiple calls;  maybe size fails the second time only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51AF6A93-1748-D65A-0257-66A3905AD9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Tips for testing-Effective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7D3D-5292-9F8F-39B9-A5111D81A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b="1" u="sng" dirty="0"/>
              <a:t>Should Not Test</a:t>
            </a:r>
          </a:p>
          <a:p>
            <a:pPr>
              <a:defRPr/>
            </a:pPr>
            <a:endParaRPr lang="en-US" sz="2000" b="1" u="sng" dirty="0"/>
          </a:p>
          <a:p>
            <a:pPr lvl="1">
              <a:defRPr/>
            </a:pPr>
            <a:r>
              <a:rPr lang="en-US" sz="2000" dirty="0"/>
              <a:t>Other framework libraries (you should assume they work correctly)</a:t>
            </a:r>
          </a:p>
          <a:p>
            <a:pPr lvl="1">
              <a:defRPr/>
            </a:pPr>
            <a:r>
              <a:rPr lang="en-US" sz="2000" dirty="0"/>
              <a:t>The database (you should assume it works correctly when it is available)</a:t>
            </a:r>
          </a:p>
          <a:p>
            <a:pPr lvl="1">
              <a:defRPr/>
            </a:pPr>
            <a:r>
              <a:rPr lang="en-US" sz="2000" dirty="0"/>
              <a:t>Other external resources (again you assume they work correctly when available)</a:t>
            </a:r>
          </a:p>
          <a:p>
            <a:pPr lvl="1">
              <a:defRPr/>
            </a:pPr>
            <a:r>
              <a:rPr lang="en-US" sz="2000" dirty="0"/>
              <a:t>Really trivial code (like getters and setters for example)</a:t>
            </a:r>
          </a:p>
          <a:p>
            <a:pPr lvl="1">
              <a:defRPr/>
            </a:pPr>
            <a:endParaRPr lang="en-US" sz="2000" dirty="0"/>
          </a:p>
          <a:p>
            <a:pPr>
              <a:defRPr/>
            </a:pPr>
            <a:r>
              <a:rPr lang="en-US" sz="2400" u="sng" dirty="0"/>
              <a:t>Should Test</a:t>
            </a:r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Tests should cover code with “business logic”. </a:t>
            </a:r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Core code that is accessed by a lot of other modules</a:t>
            </a:r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Code that seems to gather a lot of bugs</a:t>
            </a:r>
          </a:p>
          <a:p>
            <a:pPr lvl="1">
              <a:defRPr/>
            </a:pPr>
            <a:endParaRPr lang="en-US" sz="2000" dirty="0"/>
          </a:p>
        </p:txBody>
      </p:sp>
    </p:spTree>
  </p:cSld>
  <p:clrMapOvr>
    <a:masterClrMapping/>
  </p:clrMapOvr>
  <p:transition advClick="0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7FAF8F54-3014-FAB3-FB71-2ED73D83FD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Code Coverage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FEB8B-FEAB-5679-6977-644CE4A5D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Although 100% code coverage may appear like a best possible effort, even 100% code coverage is estimated to only expose about half the faults in a system. 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Low code coverage indicates inadequate testing, but high code coverage guarantees nothing.</a:t>
            </a:r>
          </a:p>
          <a:p>
            <a:pPr>
              <a:defRPr/>
            </a:pPr>
            <a:endParaRPr lang="en-US" sz="2000" dirty="0"/>
          </a:p>
          <a:p>
            <a:pPr lvl="1">
              <a:defRPr/>
            </a:pPr>
            <a:r>
              <a:rPr lang="en-US" sz="1800" dirty="0">
                <a:ea typeface="+mn-ea"/>
                <a:cs typeface="+mn-cs"/>
              </a:rPr>
              <a:t>Some test cases are expensive to reproduce but are highly improbable. </a:t>
            </a:r>
          </a:p>
          <a:p>
            <a:pPr lvl="1">
              <a:defRPr/>
            </a:pPr>
            <a:r>
              <a:rPr lang="en-US" sz="1800" dirty="0">
                <a:ea typeface="+mn-ea"/>
                <a:cs typeface="+mn-cs"/>
              </a:rPr>
              <a:t>Code shared among several projects is only partially utilized by the project under test.</a:t>
            </a:r>
          </a:p>
          <a:p>
            <a:pPr lvl="1">
              <a:defRPr/>
            </a:pPr>
            <a:r>
              <a:rPr lang="en-US" sz="1800" dirty="0">
                <a:ea typeface="+mn-ea"/>
                <a:cs typeface="+mn-cs"/>
              </a:rPr>
              <a:t>Generally, the tester should stop increasing code coverage when the tests become contrived. </a:t>
            </a:r>
          </a:p>
          <a:p>
            <a:pPr lvl="1">
              <a:defRPr/>
            </a:pPr>
            <a:r>
              <a:rPr lang="en-US" sz="1800" dirty="0">
                <a:ea typeface="+mn-ea"/>
                <a:cs typeface="+mn-cs"/>
              </a:rPr>
              <a:t>When you focus more and more on making the coverage numbers better, your motivation shifts away from finding bugs.</a:t>
            </a:r>
          </a:p>
          <a:p>
            <a:pPr>
              <a:defRPr/>
            </a:pPr>
            <a:endParaRPr lang="en-US" sz="2000" dirty="0"/>
          </a:p>
        </p:txBody>
      </p:sp>
    </p:spTree>
  </p:cSld>
  <p:clrMapOvr>
    <a:masterClrMapping/>
  </p:clrMapOvr>
  <p:transition advClick="0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DF787A0A-42BF-04A2-4872-6D94F7E4EBB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IN" altLang="en-US"/>
              <a:t>JUNIT Test Report</a:t>
            </a:r>
          </a:p>
        </p:txBody>
      </p:sp>
      <p:sp>
        <p:nvSpPr>
          <p:cNvPr id="55299" name="Subtitle 2">
            <a:extLst>
              <a:ext uri="{FF2B5EF4-FFF2-40B4-BE49-F238E27FC236}">
                <a16:creationId xmlns:a16="http://schemas.microsoft.com/office/drawing/2014/main" id="{A2FD415D-F0EA-0AEF-4979-B5F2A7E6449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IN" altLang="en-US"/>
          </a:p>
        </p:txBody>
      </p:sp>
    </p:spTree>
  </p:cSld>
  <p:clrMapOvr>
    <a:masterClrMapping/>
  </p:clrMapOvr>
  <p:transition advClick="0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EF29B165-0EFF-C6C1-2A4A-87D75C0A4F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Test Report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391D9-820D-11C4-7813-988A6107E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/>
            </a:pPr>
            <a:r>
              <a:rPr lang="en-IN" sz="1800" b="1" dirty="0">
                <a:solidFill>
                  <a:srgbClr val="1206FA"/>
                </a:solidFill>
              </a:rPr>
              <a:t>Generate Report by  : </a:t>
            </a:r>
            <a:r>
              <a:rPr lang="en-IN" sz="1800" b="1" dirty="0" err="1">
                <a:solidFill>
                  <a:srgbClr val="1206FA"/>
                </a:solidFill>
              </a:rPr>
              <a:t>mvn</a:t>
            </a:r>
            <a:r>
              <a:rPr lang="en-IN" sz="1800" b="1" dirty="0">
                <a:solidFill>
                  <a:srgbClr val="1206FA"/>
                </a:solidFill>
              </a:rPr>
              <a:t>  site</a:t>
            </a:r>
          </a:p>
          <a:p>
            <a:pPr marL="457200" lvl="1" indent="0">
              <a:buFontTx/>
              <a:buNone/>
              <a:defRPr/>
            </a:pPr>
            <a:r>
              <a:rPr lang="en-IN" sz="1800" dirty="0"/>
              <a:t>&lt;reporting&gt;</a:t>
            </a:r>
          </a:p>
          <a:p>
            <a:pPr marL="457200" lvl="1" indent="0">
              <a:buFontTx/>
              <a:buNone/>
              <a:defRPr/>
            </a:pPr>
            <a:r>
              <a:rPr lang="en-IN" sz="1800" dirty="0"/>
              <a:t>	&lt;plugins&gt;</a:t>
            </a:r>
          </a:p>
          <a:p>
            <a:pPr marL="457200" lvl="1" indent="0">
              <a:buFontTx/>
              <a:buNone/>
              <a:defRPr/>
            </a:pPr>
            <a:r>
              <a:rPr lang="en-IN" sz="1800" dirty="0"/>
              <a:t>		&lt;plugin&gt;</a:t>
            </a:r>
          </a:p>
          <a:p>
            <a:pPr marL="457200" lvl="1" indent="0">
              <a:buFontTx/>
              <a:buNone/>
              <a:defRPr/>
            </a:pPr>
            <a:r>
              <a:rPr lang="en-IN" sz="1800" dirty="0"/>
              <a:t>			&lt;</a:t>
            </a:r>
            <a:r>
              <a:rPr lang="en-IN" sz="1800" dirty="0" err="1"/>
              <a:t>groupId</a:t>
            </a:r>
            <a:r>
              <a:rPr lang="en-IN" sz="1800" dirty="0"/>
              <a:t>&gt;</a:t>
            </a:r>
            <a:r>
              <a:rPr lang="en-IN" sz="1800" dirty="0" err="1"/>
              <a:t>org.apache.maven.plugins</a:t>
            </a:r>
            <a:r>
              <a:rPr lang="en-IN" sz="1800" dirty="0"/>
              <a:t>&lt;/</a:t>
            </a:r>
            <a:r>
              <a:rPr lang="en-IN" sz="1800" dirty="0" err="1"/>
              <a:t>groupId</a:t>
            </a:r>
            <a:r>
              <a:rPr lang="en-IN" sz="1800" dirty="0"/>
              <a:t>&gt;</a:t>
            </a:r>
          </a:p>
          <a:p>
            <a:pPr marL="457200" lvl="1" indent="0">
              <a:buFontTx/>
              <a:buNone/>
              <a:defRPr/>
            </a:pPr>
            <a:r>
              <a:rPr lang="en-IN" sz="1800" dirty="0"/>
              <a:t>			&lt;</a:t>
            </a:r>
            <a:r>
              <a:rPr lang="en-IN" sz="1800" dirty="0" err="1"/>
              <a:t>artifactId</a:t>
            </a:r>
            <a:r>
              <a:rPr lang="en-IN" sz="1800" dirty="0"/>
              <a:t>&gt;maven-</a:t>
            </a:r>
            <a:r>
              <a:rPr lang="en-IN" sz="1800" dirty="0" err="1"/>
              <a:t>surefire</a:t>
            </a:r>
            <a:r>
              <a:rPr lang="en-IN" sz="1800" dirty="0"/>
              <a:t>-report-plugin&lt;/</a:t>
            </a:r>
            <a:r>
              <a:rPr lang="en-IN" sz="1800" dirty="0" err="1"/>
              <a:t>artifactId</a:t>
            </a:r>
            <a:r>
              <a:rPr lang="en-IN" sz="1800" dirty="0"/>
              <a:t>&gt;</a:t>
            </a:r>
          </a:p>
          <a:p>
            <a:pPr marL="457200" lvl="1" indent="0">
              <a:buFontTx/>
              <a:buNone/>
              <a:defRPr/>
            </a:pPr>
            <a:r>
              <a:rPr lang="en-IN" sz="1800" dirty="0"/>
              <a:t>			&lt;version&gt;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3.0.0-M7</a:t>
            </a:r>
            <a:r>
              <a:rPr lang="en-IN" sz="1800" dirty="0"/>
              <a:t>&lt;/version&gt;</a:t>
            </a:r>
          </a:p>
          <a:p>
            <a:pPr marL="457200" lvl="1" indent="0">
              <a:buFontTx/>
              <a:buNone/>
              <a:defRPr/>
            </a:pPr>
            <a:r>
              <a:rPr lang="en-IN" sz="1800" dirty="0"/>
              <a:t>			&lt;configuration&gt;</a:t>
            </a:r>
          </a:p>
          <a:p>
            <a:pPr marL="457200" lvl="1" indent="0">
              <a:buFontTx/>
              <a:buNone/>
              <a:defRPr/>
            </a:pPr>
            <a:r>
              <a:rPr lang="en-IN" sz="1800" dirty="0"/>
              <a:t>			&lt;</a:t>
            </a:r>
            <a:r>
              <a:rPr lang="en-IN" sz="1800" dirty="0" err="1"/>
              <a:t>outputName</a:t>
            </a:r>
            <a:r>
              <a:rPr lang="en-IN" sz="1800" dirty="0"/>
              <a:t>&gt;JUnit-Test-Report&lt;/</a:t>
            </a:r>
            <a:r>
              <a:rPr lang="en-IN" sz="1800" dirty="0" err="1"/>
              <a:t>outputName</a:t>
            </a:r>
            <a:r>
              <a:rPr lang="en-IN" sz="1800" dirty="0"/>
              <a:t>&gt;</a:t>
            </a:r>
          </a:p>
          <a:p>
            <a:pPr marL="457200" lvl="1" indent="0">
              <a:buFontTx/>
              <a:buNone/>
              <a:defRPr/>
            </a:pPr>
            <a:r>
              <a:rPr lang="en-IN" sz="1800" dirty="0"/>
              <a:t>			&lt;/configuration&gt;</a:t>
            </a:r>
          </a:p>
          <a:p>
            <a:pPr marL="457200" lvl="1" indent="0">
              <a:buFontTx/>
              <a:buNone/>
              <a:defRPr/>
            </a:pPr>
            <a:r>
              <a:rPr lang="en-IN" sz="1800" dirty="0"/>
              <a:t>		&lt;/plugin&gt;</a:t>
            </a:r>
          </a:p>
          <a:p>
            <a:pPr marL="457200" lvl="1" indent="0">
              <a:buFontTx/>
              <a:buNone/>
              <a:defRPr/>
            </a:pPr>
            <a:r>
              <a:rPr lang="en-IN" sz="1800" dirty="0"/>
              <a:t>	&lt;/plugins&gt;</a:t>
            </a:r>
          </a:p>
          <a:p>
            <a:pPr marL="457200" lvl="1" indent="0">
              <a:buFontTx/>
              <a:buNone/>
              <a:defRPr/>
            </a:pPr>
            <a:r>
              <a:rPr lang="en-IN" sz="1800" dirty="0"/>
              <a:t>&lt;/reporting&gt;</a:t>
            </a:r>
          </a:p>
          <a:p>
            <a:pPr marL="457200" lvl="1" indent="0">
              <a:buFontTx/>
              <a:buNone/>
              <a:defRPr/>
            </a:pPr>
            <a:endParaRPr lang="en-IN" sz="1800" dirty="0"/>
          </a:p>
        </p:txBody>
      </p:sp>
    </p:spTree>
  </p:cSld>
  <p:clrMapOvr>
    <a:masterClrMapping/>
  </p:clrMapOvr>
  <p:transition advClick="0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57E388F3-CDE0-6FE8-9A24-AD24733D7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Surefire-plugin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A6F11D0C-0DD9-4967-176A-A33C60A1B6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8080"/>
                </a:solidFill>
              </a:rPr>
              <a:t>&lt;build&gt;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IN" altLang="en-US" sz="1800">
                <a:solidFill>
                  <a:srgbClr val="3F7F7F"/>
                </a:solidFill>
                <a:latin typeface="Consolas" panose="020B0609020204030204" pitchFamily="49" charset="0"/>
              </a:rPr>
              <a:t>pluginManagement</a:t>
            </a:r>
            <a:r>
              <a:rPr lang="en-IN" altLang="en-US" sz="180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IN" altLang="en-US" sz="2000">
              <a:solidFill>
                <a:srgbClr val="008080"/>
              </a:solidFill>
            </a:endParaRP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8080"/>
                </a:solidFill>
              </a:rPr>
              <a:t>  &lt;plugins&gt;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8080"/>
                </a:solidFill>
              </a:rPr>
              <a:t>&lt;</a:t>
            </a:r>
            <a:r>
              <a:rPr lang="en-IN" altLang="en-US" sz="2000">
                <a:solidFill>
                  <a:srgbClr val="3F7F7F"/>
                </a:solidFill>
              </a:rPr>
              <a:t>plugin</a:t>
            </a:r>
            <a:r>
              <a:rPr lang="en-IN" altLang="en-US" sz="2000">
                <a:solidFill>
                  <a:srgbClr val="008080"/>
                </a:solidFill>
              </a:rPr>
              <a:t>&gt;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       </a:t>
            </a:r>
            <a:r>
              <a:rPr lang="en-IN" altLang="en-US" sz="2000">
                <a:solidFill>
                  <a:srgbClr val="008080"/>
                </a:solidFill>
              </a:rPr>
              <a:t>&lt;</a:t>
            </a:r>
            <a:r>
              <a:rPr lang="en-IN" altLang="en-US" sz="2000">
                <a:solidFill>
                  <a:srgbClr val="3F7F7F"/>
                </a:solidFill>
              </a:rPr>
              <a:t>artifactId</a:t>
            </a:r>
            <a:r>
              <a:rPr lang="en-IN" altLang="en-US" sz="2000">
                <a:solidFill>
                  <a:srgbClr val="008080"/>
                </a:solidFill>
              </a:rPr>
              <a:t>&gt;</a:t>
            </a:r>
            <a:r>
              <a:rPr lang="en-IN" altLang="en-US" sz="2000">
                <a:solidFill>
                  <a:srgbClr val="000000"/>
                </a:solidFill>
              </a:rPr>
              <a:t>maven-surefire-plugin</a:t>
            </a:r>
            <a:r>
              <a:rPr lang="en-IN" altLang="en-US" sz="2000">
                <a:solidFill>
                  <a:srgbClr val="008080"/>
                </a:solidFill>
              </a:rPr>
              <a:t>&lt;/</a:t>
            </a:r>
            <a:r>
              <a:rPr lang="en-IN" altLang="en-US" sz="2000">
                <a:solidFill>
                  <a:srgbClr val="3F7F7F"/>
                </a:solidFill>
              </a:rPr>
              <a:t>artifactId</a:t>
            </a:r>
            <a:r>
              <a:rPr lang="en-IN" altLang="en-US" sz="2000">
                <a:solidFill>
                  <a:srgbClr val="008080"/>
                </a:solidFill>
              </a:rPr>
              <a:t>&gt;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       </a:t>
            </a:r>
            <a:r>
              <a:rPr lang="en-IN" altLang="en-US" sz="2000">
                <a:solidFill>
                  <a:srgbClr val="008080"/>
                </a:solidFill>
              </a:rPr>
              <a:t>&lt;</a:t>
            </a:r>
            <a:r>
              <a:rPr lang="en-IN" altLang="en-US" sz="2000">
                <a:solidFill>
                  <a:srgbClr val="3F7F7F"/>
                </a:solidFill>
              </a:rPr>
              <a:t>version</a:t>
            </a:r>
            <a:r>
              <a:rPr lang="en-IN" altLang="en-US" sz="2000">
                <a:solidFill>
                  <a:srgbClr val="008080"/>
                </a:solidFill>
              </a:rPr>
              <a:t>&gt;</a:t>
            </a:r>
            <a:r>
              <a:rPr lang="en-IN" altLang="en-US" sz="2000">
                <a:solidFill>
                  <a:srgbClr val="000000"/>
                </a:solidFill>
              </a:rPr>
              <a:t>3.0.0-M7</a:t>
            </a:r>
            <a:r>
              <a:rPr lang="en-IN" altLang="en-US" sz="2000">
                <a:solidFill>
                  <a:srgbClr val="008080"/>
                </a:solidFill>
              </a:rPr>
              <a:t>&lt;/</a:t>
            </a:r>
            <a:r>
              <a:rPr lang="en-IN" altLang="en-US" sz="2000">
                <a:solidFill>
                  <a:srgbClr val="3F7F7F"/>
                </a:solidFill>
              </a:rPr>
              <a:t>version</a:t>
            </a:r>
            <a:r>
              <a:rPr lang="en-IN" altLang="en-US" sz="2000">
                <a:solidFill>
                  <a:srgbClr val="008080"/>
                </a:solidFill>
              </a:rPr>
              <a:t>&gt;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0000"/>
                </a:solidFill>
              </a:rPr>
              <a:t>        </a:t>
            </a:r>
            <a:r>
              <a:rPr lang="en-IN" altLang="en-US" sz="2000">
                <a:solidFill>
                  <a:srgbClr val="008080"/>
                </a:solidFill>
              </a:rPr>
              <a:t>&lt;/</a:t>
            </a:r>
            <a:r>
              <a:rPr lang="en-IN" altLang="en-US" sz="2000">
                <a:solidFill>
                  <a:srgbClr val="3F7F7F"/>
                </a:solidFill>
              </a:rPr>
              <a:t>plugin</a:t>
            </a:r>
            <a:r>
              <a:rPr lang="en-IN" altLang="en-US" sz="2000">
                <a:solidFill>
                  <a:srgbClr val="008080"/>
                </a:solidFill>
              </a:rPr>
              <a:t>&gt;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8080"/>
                </a:solidFill>
              </a:rPr>
              <a:t>&lt;/plugins&gt;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IN" altLang="en-US" sz="1800">
                <a:solidFill>
                  <a:srgbClr val="3F7F7F"/>
                </a:solidFill>
                <a:latin typeface="Consolas" panose="020B0609020204030204" pitchFamily="49" charset="0"/>
              </a:rPr>
              <a:t>pluginManagement</a:t>
            </a:r>
            <a:r>
              <a:rPr lang="en-IN" altLang="en-US" sz="180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IN" altLang="en-US" sz="2000">
              <a:solidFill>
                <a:srgbClr val="008080"/>
              </a:solidFill>
            </a:endParaRPr>
          </a:p>
          <a:p>
            <a:pPr marL="457200" lvl="1" indent="0">
              <a:buFontTx/>
              <a:buNone/>
            </a:pPr>
            <a:r>
              <a:rPr lang="en-IN" altLang="en-US" sz="2000">
                <a:solidFill>
                  <a:srgbClr val="008080"/>
                </a:solidFill>
              </a:rPr>
              <a:t>&lt;/build&gt;</a:t>
            </a:r>
            <a:endParaRPr lang="en-IN" altLang="en-US" sz="2000"/>
          </a:p>
          <a:p>
            <a:pPr marL="457200" lvl="1" indent="0">
              <a:buFontTx/>
              <a:buNone/>
            </a:pPr>
            <a:r>
              <a:rPr lang="en-IN" altLang="en-US" sz="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IN" altLang="en-US" sz="2000"/>
          </a:p>
        </p:txBody>
      </p:sp>
    </p:spTree>
  </p:cSld>
  <p:clrMapOvr>
    <a:masterClrMapping/>
  </p:clrMapOvr>
  <p:transition advClick="0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A5248D78-7744-9279-5B25-FF3CAA622D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Show Failed Tests</a:t>
            </a:r>
            <a:endParaRPr lang="en-IN" altLang="en-US"/>
          </a:p>
        </p:txBody>
      </p:sp>
      <p:sp>
        <p:nvSpPr>
          <p:cNvPr id="58371" name="Content Placeholder 2">
            <a:extLst>
              <a:ext uri="{FF2B5EF4-FFF2-40B4-BE49-F238E27FC236}">
                <a16:creationId xmlns:a16="http://schemas.microsoft.com/office/drawing/2014/main" id="{15F5C84E-CE12-7F70-3CDA-B73050EF68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IN" altLang="en-US" sz="2000">
                <a:latin typeface="ui-monospace"/>
              </a:rPr>
              <a:t>&lt;plugin&gt; 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latin typeface="ui-monospace"/>
              </a:rPr>
              <a:t>&lt;groupId&gt;org.apache.maven.plugins&lt;/groupId&gt; 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latin typeface="ui-monospace"/>
              </a:rPr>
              <a:t>&lt;artifactId&gt;maven-surefire-report-plugin&lt;/artifactId&gt; 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latin typeface="ui-monospace"/>
              </a:rPr>
              <a:t>&lt;version&gt;2.22.2&lt;/version&gt;</a:t>
            </a:r>
          </a:p>
          <a:p>
            <a:pPr marL="457200" lvl="1" indent="0">
              <a:buFontTx/>
              <a:buNone/>
            </a:pPr>
            <a:r>
              <a:rPr lang="en-IN" altLang="en-US" sz="2400">
                <a:solidFill>
                  <a:srgbClr val="1206FA"/>
                </a:solidFill>
                <a:latin typeface="ui-monospace"/>
              </a:rPr>
              <a:t> &lt;configuration&gt; </a:t>
            </a:r>
          </a:p>
          <a:p>
            <a:pPr marL="457200" lvl="1" indent="0">
              <a:buFontTx/>
              <a:buNone/>
            </a:pPr>
            <a:r>
              <a:rPr lang="en-IN" altLang="en-US" sz="2400">
                <a:solidFill>
                  <a:srgbClr val="1206FA"/>
                </a:solidFill>
                <a:latin typeface="ui-monospace"/>
              </a:rPr>
              <a:t>&lt;showSuccess&gt;false&lt;/showSuccess&gt; </a:t>
            </a:r>
          </a:p>
          <a:p>
            <a:pPr marL="457200" lvl="1" indent="0">
              <a:buFontTx/>
              <a:buNone/>
            </a:pPr>
            <a:r>
              <a:rPr lang="en-IN" altLang="en-US" sz="2400">
                <a:solidFill>
                  <a:srgbClr val="1206FA"/>
                </a:solidFill>
                <a:latin typeface="ui-monospace"/>
              </a:rPr>
              <a:t>&lt;/configuration&gt;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latin typeface="ui-monospace"/>
              </a:rPr>
              <a:t> &lt;/plugin&gt; 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latin typeface="ui-monospace"/>
              </a:rPr>
              <a:t>&lt;/plugins&gt; 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latin typeface="ui-monospace"/>
              </a:rPr>
              <a:t>&lt;/reporting&gt;</a:t>
            </a:r>
          </a:p>
          <a:p>
            <a:pPr marL="457200" lvl="1" indent="0">
              <a:buFontTx/>
              <a:buNone/>
            </a:pPr>
            <a:endParaRPr lang="en-IN" altLang="en-US" sz="2000" b="1">
              <a:solidFill>
                <a:srgbClr val="395FB0"/>
              </a:solidFill>
              <a:latin typeface="ui-monospace"/>
            </a:endParaRPr>
          </a:p>
        </p:txBody>
      </p:sp>
    </p:spTree>
  </p:cSld>
  <p:clrMapOvr>
    <a:masterClrMapping/>
  </p:clrMapOvr>
  <p:transition advClick="0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BB782690-C8F0-E37C-D05F-5872E10F8B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Failed Code Line Number</a:t>
            </a:r>
            <a:endParaRPr lang="en-IN" altLang="en-US"/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92712252-3F1B-F9B8-416A-20B530457C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IN" altLang="en-US" sz="2000">
                <a:latin typeface="ui-monospace"/>
              </a:rPr>
              <a:t>&lt;plugin&gt;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latin typeface="ui-monospace"/>
              </a:rPr>
              <a:t> &lt;groupId&gt;org.apache.maven.plugins&lt;/groupId&gt; 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latin typeface="ui-monospace"/>
              </a:rPr>
              <a:t>&lt;artifactId&gt;maven-jxr-plugin&lt;/artifactId&gt; 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latin typeface="ui-monospace"/>
              </a:rPr>
              <a:t>&lt;version&gt;3.1.1&lt;/version&gt; 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latin typeface="ui-monospace"/>
              </a:rPr>
              <a:t>&lt;/plugin&gt; </a:t>
            </a:r>
            <a:br>
              <a:rPr lang="en-IN" altLang="en-US" sz="2000">
                <a:latin typeface="ui-monospace"/>
              </a:rPr>
            </a:br>
            <a:endParaRPr lang="en-IN" altLang="en-US" sz="2000"/>
          </a:p>
        </p:txBody>
      </p: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vees">
  <a:themeElements>
    <a:clrScheme name="vees 14">
      <a:dk1>
        <a:srgbClr val="000000"/>
      </a:dk1>
      <a:lt1>
        <a:srgbClr val="FF99CC"/>
      </a:lt1>
      <a:dk2>
        <a:srgbClr val="1C1C1C"/>
      </a:dk2>
      <a:lt2>
        <a:srgbClr val="4D4D4D"/>
      </a:lt2>
      <a:accent1>
        <a:srgbClr val="FF0000"/>
      </a:accent1>
      <a:accent2>
        <a:srgbClr val="FF99CC"/>
      </a:accent2>
      <a:accent3>
        <a:srgbClr val="FFCAE2"/>
      </a:accent3>
      <a:accent4>
        <a:srgbClr val="000000"/>
      </a:accent4>
      <a:accent5>
        <a:srgbClr val="FFAAAA"/>
      </a:accent5>
      <a:accent6>
        <a:srgbClr val="E78AB9"/>
      </a:accent6>
      <a:hlink>
        <a:srgbClr val="9933FF"/>
      </a:hlink>
      <a:folHlink>
        <a:srgbClr val="44C63A"/>
      </a:folHlink>
    </a:clrScheme>
    <a:fontScheme name="ve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vees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040</Template>
  <TotalTime>9662</TotalTime>
  <Words>2162</Words>
  <Application>Microsoft Macintosh PowerPoint</Application>
  <PresentationFormat>On-screen Show (4:3)</PresentationFormat>
  <Paragraphs>401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8" baseType="lpstr">
      <vt:lpstr>MS PGothic</vt:lpstr>
      <vt:lpstr>Arial</vt:lpstr>
      <vt:lpstr>Calibri</vt:lpstr>
      <vt:lpstr>Consolas</vt:lpstr>
      <vt:lpstr>Hand Of Sean</vt:lpstr>
      <vt:lpstr>raleway</vt:lpstr>
      <vt:lpstr>Times New Roman</vt:lpstr>
      <vt:lpstr>ui-monospace</vt:lpstr>
      <vt:lpstr>vees</vt:lpstr>
      <vt:lpstr>JUNIT 5.0 with Maven</vt:lpstr>
      <vt:lpstr>Test Driven Development</vt:lpstr>
      <vt:lpstr>Testing Tools -JUNIT</vt:lpstr>
      <vt:lpstr>Features</vt:lpstr>
      <vt:lpstr>Junit 5</vt:lpstr>
      <vt:lpstr> JUnit Platform  </vt:lpstr>
      <vt:lpstr>Junit Jupiter</vt:lpstr>
      <vt:lpstr>Installation</vt:lpstr>
      <vt:lpstr>Test Classes and Methods </vt:lpstr>
      <vt:lpstr>Write Unit Test</vt:lpstr>
      <vt:lpstr> Assertions &amp; Assumptions </vt:lpstr>
      <vt:lpstr>Assertions</vt:lpstr>
      <vt:lpstr>Writing a Junit Test – Assert Equals </vt:lpstr>
      <vt:lpstr>Example</vt:lpstr>
      <vt:lpstr>Writing a Junit Test – Assert Not Null</vt:lpstr>
      <vt:lpstr>Writing a Junit Test – Assert All</vt:lpstr>
      <vt:lpstr>Example</vt:lpstr>
      <vt:lpstr>Writing a Junit Test – Assert Throws</vt:lpstr>
      <vt:lpstr> Disabling Tests </vt:lpstr>
      <vt:lpstr> Lifecycle Method  </vt:lpstr>
      <vt:lpstr>Lifecycle Method</vt:lpstr>
      <vt:lpstr>Writing a Junit Test Life Cycle Methods</vt:lpstr>
      <vt:lpstr>Example - Timeouts</vt:lpstr>
      <vt:lpstr>Test Timeouts</vt:lpstr>
      <vt:lpstr> ParameterizedTest </vt:lpstr>
      <vt:lpstr>ParameterizedTest</vt:lpstr>
      <vt:lpstr>ParameterizedTest</vt:lpstr>
      <vt:lpstr> Assumptions </vt:lpstr>
      <vt:lpstr> Assumptions vs Assertions </vt:lpstr>
      <vt:lpstr>Assumptions -AssumeTrue</vt:lpstr>
      <vt:lpstr> Assumptions -AssumingThat </vt:lpstr>
      <vt:lpstr>Tips for testing</vt:lpstr>
      <vt:lpstr>Tips for testing-Effective Tests</vt:lpstr>
      <vt:lpstr>Code Coverage</vt:lpstr>
      <vt:lpstr>JUNIT Test Report</vt:lpstr>
      <vt:lpstr>Test Report</vt:lpstr>
      <vt:lpstr>Surefire-plugin</vt:lpstr>
      <vt:lpstr>Show Failed Tests</vt:lpstr>
      <vt:lpstr>Failed Code Line Number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srivatsan</dc:creator>
  <cp:lastModifiedBy>Srivatsan Krishnamachari</cp:lastModifiedBy>
  <cp:revision>783</cp:revision>
  <dcterms:created xsi:type="dcterms:W3CDTF">1601-01-01T00:00:00Z</dcterms:created>
  <dcterms:modified xsi:type="dcterms:W3CDTF">2026-01-23T03:06:41Z</dcterms:modified>
</cp:coreProperties>
</file>